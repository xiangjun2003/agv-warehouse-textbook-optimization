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1695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7819829" y="1066800"/>
            <a:ext cx="3133647" cy="2362200"/>
          </a:xfrm>
          <a:prstGeom prst="rect">
            <a:avLst/>
          </a:prstGeom>
          <a:solidFill>
            <a:srgbClr val="0E151B"/>
          </a:solidFill>
          <a:ln w="12700">
            <a:solidFill>
              <a:srgbClr val="243342"/>
            </a:solidFill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7876978" y="1190625"/>
            <a:ext cx="2981250" cy="2114550"/>
          </a:xfrm>
          <a:prstGeom prst="rect">
            <a:avLst/>
          </a:prstGeom>
          <a:solidFill>
            <a:srgbClr val="172333"/>
          </a:solidFill>
          <a:ln w="12700">
            <a:solidFill>
              <a:srgbClr val="293847"/>
            </a:solidFill>
          </a:ln>
        </p:spPr>
        <p:txBody>
          <a:bodyPr/>
          <a:lstStyle/>
          <a:p/>
        </p:txBody>
      </p:sp>
      <p:sp>
        <p:nvSpPr>
          <p:cNvPr id="4" name="Line 4"/>
          <p:cNvSpPr/>
          <p:nvPr/>
        </p:nvSpPr>
        <p:spPr>
          <a:xfrm>
            <a:off x="7972226" y="1238250"/>
            <a:ext cx="0" cy="201930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5" name="Line 5"/>
          <p:cNvSpPr/>
          <p:nvPr/>
        </p:nvSpPr>
        <p:spPr>
          <a:xfrm>
            <a:off x="8067473" y="1238250"/>
            <a:ext cx="0" cy="201930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6" name="Line 6"/>
          <p:cNvSpPr/>
          <p:nvPr/>
        </p:nvSpPr>
        <p:spPr>
          <a:xfrm>
            <a:off x="8162721" y="1238250"/>
            <a:ext cx="0" cy="201930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7" name="Line 7"/>
          <p:cNvSpPr/>
          <p:nvPr/>
        </p:nvSpPr>
        <p:spPr>
          <a:xfrm>
            <a:off x="8257969" y="1238250"/>
            <a:ext cx="0" cy="201930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8" name="Line 8"/>
          <p:cNvSpPr/>
          <p:nvPr/>
        </p:nvSpPr>
        <p:spPr>
          <a:xfrm>
            <a:off x="8353216" y="1238250"/>
            <a:ext cx="0" cy="201930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9" name="Line 9"/>
          <p:cNvSpPr/>
          <p:nvPr/>
        </p:nvSpPr>
        <p:spPr>
          <a:xfrm>
            <a:off x="8448464" y="1238250"/>
            <a:ext cx="0" cy="201930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10" name="Line 10"/>
          <p:cNvSpPr/>
          <p:nvPr/>
        </p:nvSpPr>
        <p:spPr>
          <a:xfrm>
            <a:off x="8543711" y="1238250"/>
            <a:ext cx="0" cy="201930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11" name="Line 11"/>
          <p:cNvSpPr/>
          <p:nvPr/>
        </p:nvSpPr>
        <p:spPr>
          <a:xfrm>
            <a:off x="8638959" y="1238250"/>
            <a:ext cx="0" cy="201930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12" name="Line 12"/>
          <p:cNvSpPr/>
          <p:nvPr/>
        </p:nvSpPr>
        <p:spPr>
          <a:xfrm>
            <a:off x="8734207" y="1238250"/>
            <a:ext cx="0" cy="201930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13" name="Line 13"/>
          <p:cNvSpPr/>
          <p:nvPr/>
        </p:nvSpPr>
        <p:spPr>
          <a:xfrm>
            <a:off x="8829454" y="1238250"/>
            <a:ext cx="0" cy="201930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14" name="Line 14"/>
          <p:cNvSpPr/>
          <p:nvPr/>
        </p:nvSpPr>
        <p:spPr>
          <a:xfrm>
            <a:off x="8924702" y="1238250"/>
            <a:ext cx="0" cy="201930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15" name="Line 15"/>
          <p:cNvSpPr/>
          <p:nvPr/>
        </p:nvSpPr>
        <p:spPr>
          <a:xfrm>
            <a:off x="9019949" y="1238250"/>
            <a:ext cx="0" cy="201930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16" name="Line 16"/>
          <p:cNvSpPr/>
          <p:nvPr/>
        </p:nvSpPr>
        <p:spPr>
          <a:xfrm>
            <a:off x="9115197" y="1238250"/>
            <a:ext cx="0" cy="201930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17" name="Line 17"/>
          <p:cNvSpPr/>
          <p:nvPr/>
        </p:nvSpPr>
        <p:spPr>
          <a:xfrm>
            <a:off x="9210445" y="1238250"/>
            <a:ext cx="0" cy="201930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18" name="Line 18"/>
          <p:cNvSpPr/>
          <p:nvPr/>
        </p:nvSpPr>
        <p:spPr>
          <a:xfrm>
            <a:off x="9305692" y="1238250"/>
            <a:ext cx="0" cy="201930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>
            <a:off x="9400940" y="1238250"/>
            <a:ext cx="0" cy="201930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20" name="Line 20"/>
          <p:cNvSpPr/>
          <p:nvPr/>
        </p:nvSpPr>
        <p:spPr>
          <a:xfrm>
            <a:off x="9496188" y="1238250"/>
            <a:ext cx="0" cy="201930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>
            <a:off x="9591435" y="1238250"/>
            <a:ext cx="0" cy="201930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22" name="Line 22"/>
          <p:cNvSpPr/>
          <p:nvPr/>
        </p:nvSpPr>
        <p:spPr>
          <a:xfrm>
            <a:off x="9686683" y="1238250"/>
            <a:ext cx="0" cy="201930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23" name="Line 23"/>
          <p:cNvSpPr/>
          <p:nvPr/>
        </p:nvSpPr>
        <p:spPr>
          <a:xfrm>
            <a:off x="9781930" y="1238250"/>
            <a:ext cx="0" cy="201930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24" name="Line 24"/>
          <p:cNvSpPr/>
          <p:nvPr/>
        </p:nvSpPr>
        <p:spPr>
          <a:xfrm>
            <a:off x="9877178" y="1238250"/>
            <a:ext cx="0" cy="201930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9972426" y="1238250"/>
            <a:ext cx="0" cy="201930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10067673" y="1238250"/>
            <a:ext cx="0" cy="201930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>
            <a:off x="10162921" y="1238250"/>
            <a:ext cx="0" cy="201930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>
            <a:off x="10258169" y="1238250"/>
            <a:ext cx="0" cy="201930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>
            <a:off x="10353416" y="1238250"/>
            <a:ext cx="0" cy="201930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>
            <a:off x="10448664" y="1238250"/>
            <a:ext cx="0" cy="201930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10543911" y="1238250"/>
            <a:ext cx="0" cy="201930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10639159" y="1238250"/>
            <a:ext cx="0" cy="201930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>
            <a:off x="10734407" y="1238250"/>
            <a:ext cx="0" cy="201930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10829654" y="1238250"/>
            <a:ext cx="0" cy="201930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>
            <a:off x="7943651" y="1238250"/>
            <a:ext cx="2905052" cy="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>
            <a:off x="7943651" y="1333500"/>
            <a:ext cx="2905052" cy="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7943651" y="1428750"/>
            <a:ext cx="2905052" cy="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7943651" y="1524000"/>
            <a:ext cx="2905052" cy="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7943651" y="1619250"/>
            <a:ext cx="2905052" cy="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7943651" y="1714500"/>
            <a:ext cx="2905052" cy="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>
            <a:off x="7943651" y="1809750"/>
            <a:ext cx="2905052" cy="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>
            <a:off x="7943651" y="1905000"/>
            <a:ext cx="2905052" cy="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>
            <a:off x="7943651" y="2000250"/>
            <a:ext cx="2905052" cy="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44" name="Line 44"/>
          <p:cNvSpPr/>
          <p:nvPr/>
        </p:nvSpPr>
        <p:spPr>
          <a:xfrm>
            <a:off x="7943651" y="2095500"/>
            <a:ext cx="2905052" cy="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>
            <a:off x="7943651" y="2190750"/>
            <a:ext cx="2905052" cy="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>
            <a:off x="7943651" y="2286000"/>
            <a:ext cx="2905052" cy="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>
            <a:off x="7943651" y="2381250"/>
            <a:ext cx="2905052" cy="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>
            <a:off x="7943651" y="2476500"/>
            <a:ext cx="2905052" cy="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>
            <a:off x="7943651" y="2571750"/>
            <a:ext cx="2905052" cy="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>
            <a:off x="7943651" y="2667000"/>
            <a:ext cx="2905052" cy="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>
            <a:off x="7943651" y="2762250"/>
            <a:ext cx="2905052" cy="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52" name="Line 52"/>
          <p:cNvSpPr/>
          <p:nvPr/>
        </p:nvSpPr>
        <p:spPr>
          <a:xfrm>
            <a:off x="7943651" y="2857500"/>
            <a:ext cx="2905052" cy="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>
            <a:off x="7943651" y="2952750"/>
            <a:ext cx="2905052" cy="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54" name="Line 54"/>
          <p:cNvSpPr/>
          <p:nvPr/>
        </p:nvSpPr>
        <p:spPr>
          <a:xfrm>
            <a:off x="7943651" y="3048000"/>
            <a:ext cx="2905052" cy="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55" name="Line 55"/>
          <p:cNvSpPr/>
          <p:nvPr/>
        </p:nvSpPr>
        <p:spPr>
          <a:xfrm>
            <a:off x="7943651" y="3143250"/>
            <a:ext cx="2905052" cy="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56" name="Line 56"/>
          <p:cNvSpPr/>
          <p:nvPr/>
        </p:nvSpPr>
        <p:spPr>
          <a:xfrm>
            <a:off x="7943651" y="3238500"/>
            <a:ext cx="2905052" cy="0"/>
          </a:xfrm>
          <a:prstGeom prst="line">
            <a:avLst/>
          </a:prstGeom>
          <a:noFill/>
          <a:ln w="5715">
            <a:solidFill>
              <a:srgbClr val="2A3947"/>
            </a:solidFill>
          </a:ln>
        </p:spPr>
        <p:txBody>
          <a:bodyPr/>
          <a:lstStyle/>
          <a:p/>
        </p:txBody>
      </p:sp>
      <p:sp>
        <p:nvSpPr>
          <p:cNvPr id="57" name="Rect 57"/>
          <p:cNvSpPr/>
          <p:nvPr/>
        </p:nvSpPr>
        <p:spPr>
          <a:xfrm>
            <a:off x="7896028" y="4019550"/>
            <a:ext cx="3105072" cy="990600"/>
          </a:xfrm>
          <a:prstGeom prst="rect">
            <a:avLst/>
          </a:prstGeom>
          <a:solidFill>
            <a:srgbClr val="121A22"/>
          </a:solidFill>
          <a:ln w="12700">
            <a:solidFill>
              <a:srgbClr val="263545"/>
            </a:solidFill>
          </a:ln>
        </p:spPr>
        <p:txBody>
          <a:bodyPr/>
          <a:lstStyle/>
          <a:p/>
        </p:txBody>
      </p:sp>
      <p:sp>
        <p:nvSpPr>
          <p:cNvPr id="58" name="Ellipse 58"/>
          <p:cNvSpPr/>
          <p:nvPr/>
        </p:nvSpPr>
        <p:spPr>
          <a:xfrm>
            <a:off x="8597050" y="17297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Ellipse 59"/>
          <p:cNvSpPr/>
          <p:nvPr/>
        </p:nvSpPr>
        <p:spPr>
          <a:xfrm>
            <a:off x="8692298" y="17297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Ellipse 60"/>
          <p:cNvSpPr/>
          <p:nvPr/>
        </p:nvSpPr>
        <p:spPr>
          <a:xfrm>
            <a:off x="8787545" y="17297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Ellipse 61"/>
          <p:cNvSpPr/>
          <p:nvPr/>
        </p:nvSpPr>
        <p:spPr>
          <a:xfrm>
            <a:off x="8882793" y="17297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Ellipse 62"/>
          <p:cNvSpPr/>
          <p:nvPr/>
        </p:nvSpPr>
        <p:spPr>
          <a:xfrm>
            <a:off x="8978041" y="17297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Ellipse 63"/>
          <p:cNvSpPr/>
          <p:nvPr/>
        </p:nvSpPr>
        <p:spPr>
          <a:xfrm>
            <a:off x="9073288" y="17297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Ellipse 64"/>
          <p:cNvSpPr/>
          <p:nvPr/>
        </p:nvSpPr>
        <p:spPr>
          <a:xfrm>
            <a:off x="9168536" y="17297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Ellipse 65"/>
          <p:cNvSpPr/>
          <p:nvPr/>
        </p:nvSpPr>
        <p:spPr>
          <a:xfrm>
            <a:off x="8406555" y="18249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Ellipse 66"/>
          <p:cNvSpPr/>
          <p:nvPr/>
        </p:nvSpPr>
        <p:spPr>
          <a:xfrm>
            <a:off x="8501802" y="18249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Ellipse 67"/>
          <p:cNvSpPr/>
          <p:nvPr/>
        </p:nvSpPr>
        <p:spPr>
          <a:xfrm>
            <a:off x="8597050" y="18249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Ellipse 68"/>
          <p:cNvSpPr/>
          <p:nvPr/>
        </p:nvSpPr>
        <p:spPr>
          <a:xfrm>
            <a:off x="8692298" y="18249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Ellipse 69"/>
          <p:cNvSpPr/>
          <p:nvPr/>
        </p:nvSpPr>
        <p:spPr>
          <a:xfrm>
            <a:off x="8787545" y="18249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Ellipse 70"/>
          <p:cNvSpPr/>
          <p:nvPr/>
        </p:nvSpPr>
        <p:spPr>
          <a:xfrm>
            <a:off x="8882793" y="18249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Ellipse 71"/>
          <p:cNvSpPr/>
          <p:nvPr/>
        </p:nvSpPr>
        <p:spPr>
          <a:xfrm>
            <a:off x="8978041" y="18249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Ellipse 72"/>
          <p:cNvSpPr/>
          <p:nvPr/>
        </p:nvSpPr>
        <p:spPr>
          <a:xfrm>
            <a:off x="9073288" y="18249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Ellipse 73"/>
          <p:cNvSpPr/>
          <p:nvPr/>
        </p:nvSpPr>
        <p:spPr>
          <a:xfrm>
            <a:off x="9168536" y="18249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Ellipse 74"/>
          <p:cNvSpPr/>
          <p:nvPr/>
        </p:nvSpPr>
        <p:spPr>
          <a:xfrm>
            <a:off x="8406555" y="19202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Ellipse 75"/>
          <p:cNvSpPr/>
          <p:nvPr/>
        </p:nvSpPr>
        <p:spPr>
          <a:xfrm>
            <a:off x="8501802" y="19202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76" name="Ellipse 76"/>
          <p:cNvSpPr/>
          <p:nvPr/>
        </p:nvSpPr>
        <p:spPr>
          <a:xfrm>
            <a:off x="8597050" y="19202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Ellipse 77"/>
          <p:cNvSpPr/>
          <p:nvPr/>
        </p:nvSpPr>
        <p:spPr>
          <a:xfrm>
            <a:off x="8692298" y="19202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Ellipse 78"/>
          <p:cNvSpPr/>
          <p:nvPr/>
        </p:nvSpPr>
        <p:spPr>
          <a:xfrm>
            <a:off x="8787545" y="19202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79" name="Ellipse 79"/>
          <p:cNvSpPr/>
          <p:nvPr/>
        </p:nvSpPr>
        <p:spPr>
          <a:xfrm>
            <a:off x="8882793" y="19202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80" name="Ellipse 80"/>
          <p:cNvSpPr/>
          <p:nvPr/>
        </p:nvSpPr>
        <p:spPr>
          <a:xfrm>
            <a:off x="8978041" y="19202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Ellipse 81"/>
          <p:cNvSpPr/>
          <p:nvPr/>
        </p:nvSpPr>
        <p:spPr>
          <a:xfrm>
            <a:off x="9073288" y="19202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Ellipse 82"/>
          <p:cNvSpPr/>
          <p:nvPr/>
        </p:nvSpPr>
        <p:spPr>
          <a:xfrm>
            <a:off x="9168536" y="19202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Ellipse 83"/>
          <p:cNvSpPr/>
          <p:nvPr/>
        </p:nvSpPr>
        <p:spPr>
          <a:xfrm>
            <a:off x="8406555" y="20154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84" name="Ellipse 84"/>
          <p:cNvSpPr/>
          <p:nvPr/>
        </p:nvSpPr>
        <p:spPr>
          <a:xfrm>
            <a:off x="8501802" y="20154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Ellipse 85"/>
          <p:cNvSpPr/>
          <p:nvPr/>
        </p:nvSpPr>
        <p:spPr>
          <a:xfrm>
            <a:off x="8597050" y="20154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Ellipse 86"/>
          <p:cNvSpPr/>
          <p:nvPr/>
        </p:nvSpPr>
        <p:spPr>
          <a:xfrm>
            <a:off x="8692298" y="20154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" name="Ellipse 87"/>
          <p:cNvSpPr/>
          <p:nvPr/>
        </p:nvSpPr>
        <p:spPr>
          <a:xfrm>
            <a:off x="8787545" y="20154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" name="Ellipse 88"/>
          <p:cNvSpPr/>
          <p:nvPr/>
        </p:nvSpPr>
        <p:spPr>
          <a:xfrm>
            <a:off x="8882793" y="20154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Ellipse 89"/>
          <p:cNvSpPr/>
          <p:nvPr/>
        </p:nvSpPr>
        <p:spPr>
          <a:xfrm>
            <a:off x="8978041" y="20154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Ellipse 90"/>
          <p:cNvSpPr/>
          <p:nvPr/>
        </p:nvSpPr>
        <p:spPr>
          <a:xfrm>
            <a:off x="9073288" y="20154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91" name="Ellipse 91"/>
          <p:cNvSpPr/>
          <p:nvPr/>
        </p:nvSpPr>
        <p:spPr>
          <a:xfrm>
            <a:off x="9168536" y="20154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Ellipse 92"/>
          <p:cNvSpPr/>
          <p:nvPr/>
        </p:nvSpPr>
        <p:spPr>
          <a:xfrm>
            <a:off x="8406555" y="21107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93" name="Ellipse 93"/>
          <p:cNvSpPr/>
          <p:nvPr/>
        </p:nvSpPr>
        <p:spPr>
          <a:xfrm>
            <a:off x="8501802" y="21107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94" name="Ellipse 94"/>
          <p:cNvSpPr/>
          <p:nvPr/>
        </p:nvSpPr>
        <p:spPr>
          <a:xfrm>
            <a:off x="8597050" y="21107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Ellipse 95"/>
          <p:cNvSpPr/>
          <p:nvPr/>
        </p:nvSpPr>
        <p:spPr>
          <a:xfrm>
            <a:off x="8692298" y="21107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96" name="Ellipse 96"/>
          <p:cNvSpPr/>
          <p:nvPr/>
        </p:nvSpPr>
        <p:spPr>
          <a:xfrm>
            <a:off x="8787545" y="21107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97" name="Ellipse 97"/>
          <p:cNvSpPr/>
          <p:nvPr/>
        </p:nvSpPr>
        <p:spPr>
          <a:xfrm>
            <a:off x="8882793" y="21107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98" name="Ellipse 98"/>
          <p:cNvSpPr/>
          <p:nvPr/>
        </p:nvSpPr>
        <p:spPr>
          <a:xfrm>
            <a:off x="8978041" y="21107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99" name="Ellipse 99"/>
          <p:cNvSpPr/>
          <p:nvPr/>
        </p:nvSpPr>
        <p:spPr>
          <a:xfrm>
            <a:off x="9073288" y="21107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" name="Ellipse 100"/>
          <p:cNvSpPr/>
          <p:nvPr/>
        </p:nvSpPr>
        <p:spPr>
          <a:xfrm>
            <a:off x="9168536" y="21107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Ellipse 101"/>
          <p:cNvSpPr/>
          <p:nvPr/>
        </p:nvSpPr>
        <p:spPr>
          <a:xfrm>
            <a:off x="8406555" y="23869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Ellipse 102"/>
          <p:cNvSpPr/>
          <p:nvPr/>
        </p:nvSpPr>
        <p:spPr>
          <a:xfrm>
            <a:off x="8501802" y="23869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Ellipse 103"/>
          <p:cNvSpPr/>
          <p:nvPr/>
        </p:nvSpPr>
        <p:spPr>
          <a:xfrm>
            <a:off x="8597050" y="23869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Ellipse 104"/>
          <p:cNvSpPr/>
          <p:nvPr/>
        </p:nvSpPr>
        <p:spPr>
          <a:xfrm>
            <a:off x="8692298" y="23869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Ellipse 105"/>
          <p:cNvSpPr/>
          <p:nvPr/>
        </p:nvSpPr>
        <p:spPr>
          <a:xfrm>
            <a:off x="8787545" y="23869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" name="Ellipse 106"/>
          <p:cNvSpPr/>
          <p:nvPr/>
        </p:nvSpPr>
        <p:spPr>
          <a:xfrm>
            <a:off x="8882793" y="23869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Ellipse 107"/>
          <p:cNvSpPr/>
          <p:nvPr/>
        </p:nvSpPr>
        <p:spPr>
          <a:xfrm>
            <a:off x="8978041" y="23869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" name="Ellipse 108"/>
          <p:cNvSpPr/>
          <p:nvPr/>
        </p:nvSpPr>
        <p:spPr>
          <a:xfrm>
            <a:off x="9073288" y="23869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" name="Ellipse 109"/>
          <p:cNvSpPr/>
          <p:nvPr/>
        </p:nvSpPr>
        <p:spPr>
          <a:xfrm>
            <a:off x="9168536" y="23869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" name="Ellipse 110"/>
          <p:cNvSpPr/>
          <p:nvPr/>
        </p:nvSpPr>
        <p:spPr>
          <a:xfrm>
            <a:off x="8406555" y="24822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" name="Ellipse 111"/>
          <p:cNvSpPr/>
          <p:nvPr/>
        </p:nvSpPr>
        <p:spPr>
          <a:xfrm>
            <a:off x="8501802" y="24822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Ellipse 112"/>
          <p:cNvSpPr/>
          <p:nvPr/>
        </p:nvSpPr>
        <p:spPr>
          <a:xfrm>
            <a:off x="8597050" y="24822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" name="Ellipse 113"/>
          <p:cNvSpPr/>
          <p:nvPr/>
        </p:nvSpPr>
        <p:spPr>
          <a:xfrm>
            <a:off x="8692298" y="24822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" name="Ellipse 114"/>
          <p:cNvSpPr/>
          <p:nvPr/>
        </p:nvSpPr>
        <p:spPr>
          <a:xfrm>
            <a:off x="8787545" y="24822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" name="Ellipse 115"/>
          <p:cNvSpPr/>
          <p:nvPr/>
        </p:nvSpPr>
        <p:spPr>
          <a:xfrm>
            <a:off x="8882793" y="24822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" name="Ellipse 116"/>
          <p:cNvSpPr/>
          <p:nvPr/>
        </p:nvSpPr>
        <p:spPr>
          <a:xfrm>
            <a:off x="8978041" y="24822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" name="Ellipse 117"/>
          <p:cNvSpPr/>
          <p:nvPr/>
        </p:nvSpPr>
        <p:spPr>
          <a:xfrm>
            <a:off x="9073288" y="24822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" name="Ellipse 118"/>
          <p:cNvSpPr/>
          <p:nvPr/>
        </p:nvSpPr>
        <p:spPr>
          <a:xfrm>
            <a:off x="9168536" y="24822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" name="Ellipse 119"/>
          <p:cNvSpPr/>
          <p:nvPr/>
        </p:nvSpPr>
        <p:spPr>
          <a:xfrm>
            <a:off x="8406555" y="25774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" name="Ellipse 120"/>
          <p:cNvSpPr/>
          <p:nvPr/>
        </p:nvSpPr>
        <p:spPr>
          <a:xfrm>
            <a:off x="8501802" y="25774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" name="Ellipse 121"/>
          <p:cNvSpPr/>
          <p:nvPr/>
        </p:nvSpPr>
        <p:spPr>
          <a:xfrm>
            <a:off x="8597050" y="25774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" name="Ellipse 122"/>
          <p:cNvSpPr/>
          <p:nvPr/>
        </p:nvSpPr>
        <p:spPr>
          <a:xfrm>
            <a:off x="8692298" y="25774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" name="Ellipse 123"/>
          <p:cNvSpPr/>
          <p:nvPr/>
        </p:nvSpPr>
        <p:spPr>
          <a:xfrm>
            <a:off x="8787545" y="25774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" name="Ellipse 124"/>
          <p:cNvSpPr/>
          <p:nvPr/>
        </p:nvSpPr>
        <p:spPr>
          <a:xfrm>
            <a:off x="8882793" y="25774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" name="Ellipse 125"/>
          <p:cNvSpPr/>
          <p:nvPr/>
        </p:nvSpPr>
        <p:spPr>
          <a:xfrm>
            <a:off x="8978041" y="25774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" name="Ellipse 126"/>
          <p:cNvSpPr/>
          <p:nvPr/>
        </p:nvSpPr>
        <p:spPr>
          <a:xfrm>
            <a:off x="9073288" y="25774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" name="Ellipse 127"/>
          <p:cNvSpPr/>
          <p:nvPr/>
        </p:nvSpPr>
        <p:spPr>
          <a:xfrm>
            <a:off x="9168536" y="25774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" name="Ellipse 128"/>
          <p:cNvSpPr/>
          <p:nvPr/>
        </p:nvSpPr>
        <p:spPr>
          <a:xfrm>
            <a:off x="8406555" y="26727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" name="Ellipse 129"/>
          <p:cNvSpPr/>
          <p:nvPr/>
        </p:nvSpPr>
        <p:spPr>
          <a:xfrm>
            <a:off x="8501802" y="26727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" name="Ellipse 130"/>
          <p:cNvSpPr/>
          <p:nvPr/>
        </p:nvSpPr>
        <p:spPr>
          <a:xfrm>
            <a:off x="8597050" y="26727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" name="Ellipse 131"/>
          <p:cNvSpPr/>
          <p:nvPr/>
        </p:nvSpPr>
        <p:spPr>
          <a:xfrm>
            <a:off x="8692298" y="26727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" name="Ellipse 132"/>
          <p:cNvSpPr/>
          <p:nvPr/>
        </p:nvSpPr>
        <p:spPr>
          <a:xfrm>
            <a:off x="8787545" y="26727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" name="Ellipse 133"/>
          <p:cNvSpPr/>
          <p:nvPr/>
        </p:nvSpPr>
        <p:spPr>
          <a:xfrm>
            <a:off x="8882793" y="26727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" name="Ellipse 134"/>
          <p:cNvSpPr/>
          <p:nvPr/>
        </p:nvSpPr>
        <p:spPr>
          <a:xfrm>
            <a:off x="8978041" y="26727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" name="Ellipse 135"/>
          <p:cNvSpPr/>
          <p:nvPr/>
        </p:nvSpPr>
        <p:spPr>
          <a:xfrm>
            <a:off x="9073288" y="26727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" name="Ellipse 136"/>
          <p:cNvSpPr/>
          <p:nvPr/>
        </p:nvSpPr>
        <p:spPr>
          <a:xfrm>
            <a:off x="9168536" y="26727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" name="Ellipse 137"/>
          <p:cNvSpPr/>
          <p:nvPr/>
        </p:nvSpPr>
        <p:spPr>
          <a:xfrm>
            <a:off x="9435229" y="17297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" name="Ellipse 138"/>
          <p:cNvSpPr/>
          <p:nvPr/>
        </p:nvSpPr>
        <p:spPr>
          <a:xfrm>
            <a:off x="9530477" y="17297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" name="Ellipse 139"/>
          <p:cNvSpPr/>
          <p:nvPr/>
        </p:nvSpPr>
        <p:spPr>
          <a:xfrm>
            <a:off x="9625724" y="17297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" name="Ellipse 140"/>
          <p:cNvSpPr/>
          <p:nvPr/>
        </p:nvSpPr>
        <p:spPr>
          <a:xfrm>
            <a:off x="9720972" y="17297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" name="Ellipse 141"/>
          <p:cNvSpPr/>
          <p:nvPr/>
        </p:nvSpPr>
        <p:spPr>
          <a:xfrm>
            <a:off x="9816220" y="17297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" name="Ellipse 142"/>
          <p:cNvSpPr/>
          <p:nvPr/>
        </p:nvSpPr>
        <p:spPr>
          <a:xfrm>
            <a:off x="9911467" y="17297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" name="Ellipse 143"/>
          <p:cNvSpPr/>
          <p:nvPr/>
        </p:nvSpPr>
        <p:spPr>
          <a:xfrm>
            <a:off x="10006715" y="17297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" name="Ellipse 144"/>
          <p:cNvSpPr/>
          <p:nvPr/>
        </p:nvSpPr>
        <p:spPr>
          <a:xfrm>
            <a:off x="10101962" y="17297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" name="Ellipse 145"/>
          <p:cNvSpPr/>
          <p:nvPr/>
        </p:nvSpPr>
        <p:spPr>
          <a:xfrm>
            <a:off x="10197210" y="17297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" name="Ellipse 146"/>
          <p:cNvSpPr/>
          <p:nvPr/>
        </p:nvSpPr>
        <p:spPr>
          <a:xfrm>
            <a:off x="10292458" y="17297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" name="Ellipse 147"/>
          <p:cNvSpPr/>
          <p:nvPr/>
        </p:nvSpPr>
        <p:spPr>
          <a:xfrm>
            <a:off x="10387705" y="17297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" name="Ellipse 148"/>
          <p:cNvSpPr/>
          <p:nvPr/>
        </p:nvSpPr>
        <p:spPr>
          <a:xfrm>
            <a:off x="9435229" y="18249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" name="Ellipse 149"/>
          <p:cNvSpPr/>
          <p:nvPr/>
        </p:nvSpPr>
        <p:spPr>
          <a:xfrm>
            <a:off x="9530477" y="18249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" name="Ellipse 150"/>
          <p:cNvSpPr/>
          <p:nvPr/>
        </p:nvSpPr>
        <p:spPr>
          <a:xfrm>
            <a:off x="9625724" y="18249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1" name="Ellipse 151"/>
          <p:cNvSpPr/>
          <p:nvPr/>
        </p:nvSpPr>
        <p:spPr>
          <a:xfrm>
            <a:off x="9720972" y="18249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" name="Ellipse 152"/>
          <p:cNvSpPr/>
          <p:nvPr/>
        </p:nvSpPr>
        <p:spPr>
          <a:xfrm>
            <a:off x="9816220" y="18249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" name="Ellipse 153"/>
          <p:cNvSpPr/>
          <p:nvPr/>
        </p:nvSpPr>
        <p:spPr>
          <a:xfrm>
            <a:off x="9911467" y="18249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" name="Ellipse 154"/>
          <p:cNvSpPr/>
          <p:nvPr/>
        </p:nvSpPr>
        <p:spPr>
          <a:xfrm>
            <a:off x="10006715" y="18249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" name="Ellipse 155"/>
          <p:cNvSpPr/>
          <p:nvPr/>
        </p:nvSpPr>
        <p:spPr>
          <a:xfrm>
            <a:off x="10101962" y="18249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" name="Ellipse 156"/>
          <p:cNvSpPr/>
          <p:nvPr/>
        </p:nvSpPr>
        <p:spPr>
          <a:xfrm>
            <a:off x="10197210" y="18249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" name="Ellipse 157"/>
          <p:cNvSpPr/>
          <p:nvPr/>
        </p:nvSpPr>
        <p:spPr>
          <a:xfrm>
            <a:off x="10292458" y="18249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" name="Ellipse 158"/>
          <p:cNvSpPr/>
          <p:nvPr/>
        </p:nvSpPr>
        <p:spPr>
          <a:xfrm>
            <a:off x="10387705" y="18249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9" name="Ellipse 159"/>
          <p:cNvSpPr/>
          <p:nvPr/>
        </p:nvSpPr>
        <p:spPr>
          <a:xfrm>
            <a:off x="9435229" y="19202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60" name="Ellipse 160"/>
          <p:cNvSpPr/>
          <p:nvPr/>
        </p:nvSpPr>
        <p:spPr>
          <a:xfrm>
            <a:off x="9530477" y="19202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61" name="Ellipse 161"/>
          <p:cNvSpPr/>
          <p:nvPr/>
        </p:nvSpPr>
        <p:spPr>
          <a:xfrm>
            <a:off x="9625724" y="19202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62" name="Ellipse 162"/>
          <p:cNvSpPr/>
          <p:nvPr/>
        </p:nvSpPr>
        <p:spPr>
          <a:xfrm>
            <a:off x="9720972" y="19202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63" name="Ellipse 163"/>
          <p:cNvSpPr/>
          <p:nvPr/>
        </p:nvSpPr>
        <p:spPr>
          <a:xfrm>
            <a:off x="9816220" y="19202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64" name="Ellipse 164"/>
          <p:cNvSpPr/>
          <p:nvPr/>
        </p:nvSpPr>
        <p:spPr>
          <a:xfrm>
            <a:off x="9911467" y="19202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65" name="Ellipse 165"/>
          <p:cNvSpPr/>
          <p:nvPr/>
        </p:nvSpPr>
        <p:spPr>
          <a:xfrm>
            <a:off x="10006715" y="19202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66" name="Ellipse 166"/>
          <p:cNvSpPr/>
          <p:nvPr/>
        </p:nvSpPr>
        <p:spPr>
          <a:xfrm>
            <a:off x="10101962" y="19202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67" name="Ellipse 167"/>
          <p:cNvSpPr/>
          <p:nvPr/>
        </p:nvSpPr>
        <p:spPr>
          <a:xfrm>
            <a:off x="10197210" y="19202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68" name="Ellipse 168"/>
          <p:cNvSpPr/>
          <p:nvPr/>
        </p:nvSpPr>
        <p:spPr>
          <a:xfrm>
            <a:off x="10292458" y="19202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69" name="Ellipse 169"/>
          <p:cNvSpPr/>
          <p:nvPr/>
        </p:nvSpPr>
        <p:spPr>
          <a:xfrm>
            <a:off x="10387705" y="19202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0" name="Ellipse 170"/>
          <p:cNvSpPr/>
          <p:nvPr/>
        </p:nvSpPr>
        <p:spPr>
          <a:xfrm>
            <a:off x="9435229" y="20154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1" name="Ellipse 171"/>
          <p:cNvSpPr/>
          <p:nvPr/>
        </p:nvSpPr>
        <p:spPr>
          <a:xfrm>
            <a:off x="9530477" y="20154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2" name="Ellipse 172"/>
          <p:cNvSpPr/>
          <p:nvPr/>
        </p:nvSpPr>
        <p:spPr>
          <a:xfrm>
            <a:off x="9625724" y="20154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3" name="Ellipse 173"/>
          <p:cNvSpPr/>
          <p:nvPr/>
        </p:nvSpPr>
        <p:spPr>
          <a:xfrm>
            <a:off x="9720972" y="20154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4" name="Ellipse 174"/>
          <p:cNvSpPr/>
          <p:nvPr/>
        </p:nvSpPr>
        <p:spPr>
          <a:xfrm>
            <a:off x="9816220" y="20154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5" name="Ellipse 175"/>
          <p:cNvSpPr/>
          <p:nvPr/>
        </p:nvSpPr>
        <p:spPr>
          <a:xfrm>
            <a:off x="9911467" y="20154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6" name="Ellipse 176"/>
          <p:cNvSpPr/>
          <p:nvPr/>
        </p:nvSpPr>
        <p:spPr>
          <a:xfrm>
            <a:off x="10006715" y="20154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7" name="Ellipse 177"/>
          <p:cNvSpPr/>
          <p:nvPr/>
        </p:nvSpPr>
        <p:spPr>
          <a:xfrm>
            <a:off x="10101962" y="20154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8" name="Ellipse 178"/>
          <p:cNvSpPr/>
          <p:nvPr/>
        </p:nvSpPr>
        <p:spPr>
          <a:xfrm>
            <a:off x="10197210" y="201549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9" name="Ellipse 179"/>
          <p:cNvSpPr/>
          <p:nvPr/>
        </p:nvSpPr>
        <p:spPr>
          <a:xfrm>
            <a:off x="9435229" y="21107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80" name="Ellipse 180"/>
          <p:cNvSpPr/>
          <p:nvPr/>
        </p:nvSpPr>
        <p:spPr>
          <a:xfrm>
            <a:off x="9530477" y="21107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81" name="Ellipse 181"/>
          <p:cNvSpPr/>
          <p:nvPr/>
        </p:nvSpPr>
        <p:spPr>
          <a:xfrm>
            <a:off x="9625724" y="21107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82" name="Ellipse 182"/>
          <p:cNvSpPr/>
          <p:nvPr/>
        </p:nvSpPr>
        <p:spPr>
          <a:xfrm>
            <a:off x="9720972" y="21107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83" name="Ellipse 183"/>
          <p:cNvSpPr/>
          <p:nvPr/>
        </p:nvSpPr>
        <p:spPr>
          <a:xfrm>
            <a:off x="9816220" y="21107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84" name="Ellipse 184"/>
          <p:cNvSpPr/>
          <p:nvPr/>
        </p:nvSpPr>
        <p:spPr>
          <a:xfrm>
            <a:off x="9911467" y="21107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85" name="Ellipse 185"/>
          <p:cNvSpPr/>
          <p:nvPr/>
        </p:nvSpPr>
        <p:spPr>
          <a:xfrm>
            <a:off x="10006715" y="21107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86" name="Ellipse 186"/>
          <p:cNvSpPr/>
          <p:nvPr/>
        </p:nvSpPr>
        <p:spPr>
          <a:xfrm>
            <a:off x="10101962" y="21107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87" name="Ellipse 187"/>
          <p:cNvSpPr/>
          <p:nvPr/>
        </p:nvSpPr>
        <p:spPr>
          <a:xfrm>
            <a:off x="10197210" y="2110740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88" name="Ellipse 188"/>
          <p:cNvSpPr/>
          <p:nvPr/>
        </p:nvSpPr>
        <p:spPr>
          <a:xfrm>
            <a:off x="9435229" y="23869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89" name="Ellipse 189"/>
          <p:cNvSpPr/>
          <p:nvPr/>
        </p:nvSpPr>
        <p:spPr>
          <a:xfrm>
            <a:off x="9530477" y="23869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90" name="Ellipse 190"/>
          <p:cNvSpPr/>
          <p:nvPr/>
        </p:nvSpPr>
        <p:spPr>
          <a:xfrm>
            <a:off x="9625724" y="23869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91" name="Ellipse 191"/>
          <p:cNvSpPr/>
          <p:nvPr/>
        </p:nvSpPr>
        <p:spPr>
          <a:xfrm>
            <a:off x="9720972" y="23869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92" name="Ellipse 192"/>
          <p:cNvSpPr/>
          <p:nvPr/>
        </p:nvSpPr>
        <p:spPr>
          <a:xfrm>
            <a:off x="9816220" y="23869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93" name="Ellipse 193"/>
          <p:cNvSpPr/>
          <p:nvPr/>
        </p:nvSpPr>
        <p:spPr>
          <a:xfrm>
            <a:off x="9911467" y="23869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94" name="Ellipse 194"/>
          <p:cNvSpPr/>
          <p:nvPr/>
        </p:nvSpPr>
        <p:spPr>
          <a:xfrm>
            <a:off x="10006715" y="23869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95" name="Ellipse 195"/>
          <p:cNvSpPr/>
          <p:nvPr/>
        </p:nvSpPr>
        <p:spPr>
          <a:xfrm>
            <a:off x="10101962" y="23869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96" name="Ellipse 196"/>
          <p:cNvSpPr/>
          <p:nvPr/>
        </p:nvSpPr>
        <p:spPr>
          <a:xfrm>
            <a:off x="10197210" y="23869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97" name="Ellipse 197"/>
          <p:cNvSpPr/>
          <p:nvPr/>
        </p:nvSpPr>
        <p:spPr>
          <a:xfrm>
            <a:off x="10292458" y="23869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98" name="Ellipse 198"/>
          <p:cNvSpPr/>
          <p:nvPr/>
        </p:nvSpPr>
        <p:spPr>
          <a:xfrm>
            <a:off x="10387705" y="23869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199" name="Ellipse 199"/>
          <p:cNvSpPr/>
          <p:nvPr/>
        </p:nvSpPr>
        <p:spPr>
          <a:xfrm>
            <a:off x="9435229" y="24822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0" name="Ellipse 200"/>
          <p:cNvSpPr/>
          <p:nvPr/>
        </p:nvSpPr>
        <p:spPr>
          <a:xfrm>
            <a:off x="9530477" y="24822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Ellipse 201"/>
          <p:cNvSpPr/>
          <p:nvPr/>
        </p:nvSpPr>
        <p:spPr>
          <a:xfrm>
            <a:off x="9625724" y="24822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Ellipse 202"/>
          <p:cNvSpPr/>
          <p:nvPr/>
        </p:nvSpPr>
        <p:spPr>
          <a:xfrm>
            <a:off x="9720972" y="24822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Ellipse 203"/>
          <p:cNvSpPr/>
          <p:nvPr/>
        </p:nvSpPr>
        <p:spPr>
          <a:xfrm>
            <a:off x="9816220" y="24822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Ellipse 204"/>
          <p:cNvSpPr/>
          <p:nvPr/>
        </p:nvSpPr>
        <p:spPr>
          <a:xfrm>
            <a:off x="9911467" y="24822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Ellipse 205"/>
          <p:cNvSpPr/>
          <p:nvPr/>
        </p:nvSpPr>
        <p:spPr>
          <a:xfrm>
            <a:off x="10006715" y="24822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6" name="Ellipse 206"/>
          <p:cNvSpPr/>
          <p:nvPr/>
        </p:nvSpPr>
        <p:spPr>
          <a:xfrm>
            <a:off x="10101962" y="24822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7" name="Ellipse 207"/>
          <p:cNvSpPr/>
          <p:nvPr/>
        </p:nvSpPr>
        <p:spPr>
          <a:xfrm>
            <a:off x="10197210" y="24822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8" name="Ellipse 208"/>
          <p:cNvSpPr/>
          <p:nvPr/>
        </p:nvSpPr>
        <p:spPr>
          <a:xfrm>
            <a:off x="10292458" y="24822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9" name="Ellipse 209"/>
          <p:cNvSpPr/>
          <p:nvPr/>
        </p:nvSpPr>
        <p:spPr>
          <a:xfrm>
            <a:off x="10387705" y="24822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210" name="Ellipse 210"/>
          <p:cNvSpPr/>
          <p:nvPr/>
        </p:nvSpPr>
        <p:spPr>
          <a:xfrm>
            <a:off x="9435229" y="25774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211" name="Ellipse 211"/>
          <p:cNvSpPr/>
          <p:nvPr/>
        </p:nvSpPr>
        <p:spPr>
          <a:xfrm>
            <a:off x="9530477" y="25774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212" name="Ellipse 212"/>
          <p:cNvSpPr/>
          <p:nvPr/>
        </p:nvSpPr>
        <p:spPr>
          <a:xfrm>
            <a:off x="9625724" y="25774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213" name="Ellipse 213"/>
          <p:cNvSpPr/>
          <p:nvPr/>
        </p:nvSpPr>
        <p:spPr>
          <a:xfrm>
            <a:off x="9720972" y="25774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214" name="Ellipse 214"/>
          <p:cNvSpPr/>
          <p:nvPr/>
        </p:nvSpPr>
        <p:spPr>
          <a:xfrm>
            <a:off x="9816220" y="25774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215" name="Ellipse 215"/>
          <p:cNvSpPr/>
          <p:nvPr/>
        </p:nvSpPr>
        <p:spPr>
          <a:xfrm>
            <a:off x="9911467" y="25774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216" name="Ellipse 216"/>
          <p:cNvSpPr/>
          <p:nvPr/>
        </p:nvSpPr>
        <p:spPr>
          <a:xfrm>
            <a:off x="10006715" y="25774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217" name="Ellipse 217"/>
          <p:cNvSpPr/>
          <p:nvPr/>
        </p:nvSpPr>
        <p:spPr>
          <a:xfrm>
            <a:off x="10101962" y="25774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218" name="Ellipse 218"/>
          <p:cNvSpPr/>
          <p:nvPr/>
        </p:nvSpPr>
        <p:spPr>
          <a:xfrm>
            <a:off x="10197210" y="25774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219" name="Ellipse 219"/>
          <p:cNvSpPr/>
          <p:nvPr/>
        </p:nvSpPr>
        <p:spPr>
          <a:xfrm>
            <a:off x="10292458" y="25774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" name="Ellipse 220"/>
          <p:cNvSpPr/>
          <p:nvPr/>
        </p:nvSpPr>
        <p:spPr>
          <a:xfrm>
            <a:off x="10387705" y="257746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" name="Ellipse 221"/>
          <p:cNvSpPr/>
          <p:nvPr/>
        </p:nvSpPr>
        <p:spPr>
          <a:xfrm>
            <a:off x="9435229" y="26727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" name="Ellipse 222"/>
          <p:cNvSpPr/>
          <p:nvPr/>
        </p:nvSpPr>
        <p:spPr>
          <a:xfrm>
            <a:off x="9530477" y="26727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" name="Ellipse 223"/>
          <p:cNvSpPr/>
          <p:nvPr/>
        </p:nvSpPr>
        <p:spPr>
          <a:xfrm>
            <a:off x="9625724" y="26727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224" name="Ellipse 224"/>
          <p:cNvSpPr/>
          <p:nvPr/>
        </p:nvSpPr>
        <p:spPr>
          <a:xfrm>
            <a:off x="9720972" y="26727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225" name="Ellipse 225"/>
          <p:cNvSpPr/>
          <p:nvPr/>
        </p:nvSpPr>
        <p:spPr>
          <a:xfrm>
            <a:off x="9816220" y="26727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226" name="Ellipse 226"/>
          <p:cNvSpPr/>
          <p:nvPr/>
        </p:nvSpPr>
        <p:spPr>
          <a:xfrm>
            <a:off x="9911467" y="26727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227" name="Ellipse 227"/>
          <p:cNvSpPr/>
          <p:nvPr/>
        </p:nvSpPr>
        <p:spPr>
          <a:xfrm>
            <a:off x="10006715" y="26727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228" name="Ellipse 228"/>
          <p:cNvSpPr/>
          <p:nvPr/>
        </p:nvSpPr>
        <p:spPr>
          <a:xfrm>
            <a:off x="10101962" y="26727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229" name="Ellipse 229"/>
          <p:cNvSpPr/>
          <p:nvPr/>
        </p:nvSpPr>
        <p:spPr>
          <a:xfrm>
            <a:off x="10197210" y="26727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0" name="Ellipse 230"/>
          <p:cNvSpPr/>
          <p:nvPr/>
        </p:nvSpPr>
        <p:spPr>
          <a:xfrm>
            <a:off x="10292458" y="26727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1" name="Ellipse 231"/>
          <p:cNvSpPr/>
          <p:nvPr/>
        </p:nvSpPr>
        <p:spPr>
          <a:xfrm>
            <a:off x="10387705" y="2672715"/>
            <a:ext cx="26669" cy="26670"/>
          </a:xfrm>
          <a:prstGeom prst="ellipse">
            <a:avLst/>
          </a:prstGeom>
          <a:solidFill>
            <a:srgbClr val="68798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2" name="Rect 232"/>
          <p:cNvSpPr/>
          <p:nvPr/>
        </p:nvSpPr>
        <p:spPr>
          <a:xfrm>
            <a:off x="723882" y="2781300"/>
            <a:ext cx="4000400" cy="38100"/>
          </a:xfrm>
          <a:prstGeom prst="rect">
            <a:avLst/>
          </a:prstGeom>
          <a:solidFill>
            <a:srgbClr val="2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33" name="Rect 233"/>
          <p:cNvSpPr/>
          <p:nvPr/>
        </p:nvSpPr>
        <p:spPr>
          <a:xfrm>
            <a:off x="685783" y="6248400"/>
            <a:ext cx="2857429" cy="9525"/>
          </a:xfrm>
          <a:prstGeom prst="rect">
            <a:avLst/>
          </a:prstGeom>
          <a:solidFill>
            <a:srgbClr val="25313B"/>
          </a:solidFill>
          <a:ln>
            <a:noFill/>
          </a:ln>
        </p:spPr>
        <p:txBody>
          <a:bodyPr/>
          <a:lstStyle/>
          <a:p/>
        </p:txBody>
      </p:sp>
      <p:sp>
        <p:nvSpPr>
          <p:cNvPr id="234" name="Rect 234"/>
          <p:cNvSpPr/>
          <p:nvPr/>
        </p:nvSpPr>
        <p:spPr>
          <a:xfrm>
            <a:off x="7848404" y="4019550"/>
            <a:ext cx="47624" cy="990600"/>
          </a:xfrm>
          <a:prstGeom prst="rect">
            <a:avLst/>
          </a:prstGeom>
          <a:solidFill>
            <a:srgbClr val="2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35" name="Ellipse 235"/>
          <p:cNvSpPr/>
          <p:nvPr/>
        </p:nvSpPr>
        <p:spPr>
          <a:xfrm>
            <a:off x="9567623" y="1719262"/>
            <a:ext cx="28574" cy="28575"/>
          </a:xfrm>
          <a:prstGeom prst="ellipse">
            <a:avLst/>
          </a:prstGeom>
          <a:solidFill>
            <a:srgbClr val="8FA0A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6" name="Ellipse 236"/>
          <p:cNvSpPr/>
          <p:nvPr/>
        </p:nvSpPr>
        <p:spPr>
          <a:xfrm>
            <a:off x="9681920" y="1719262"/>
            <a:ext cx="28574" cy="28575"/>
          </a:xfrm>
          <a:prstGeom prst="ellipse">
            <a:avLst/>
          </a:prstGeom>
          <a:solidFill>
            <a:srgbClr val="8FA0A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7" name="Ellipse 237"/>
          <p:cNvSpPr/>
          <p:nvPr/>
        </p:nvSpPr>
        <p:spPr>
          <a:xfrm>
            <a:off x="9786693" y="1719262"/>
            <a:ext cx="28574" cy="28575"/>
          </a:xfrm>
          <a:prstGeom prst="ellipse">
            <a:avLst/>
          </a:prstGeom>
          <a:solidFill>
            <a:srgbClr val="8FA0A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8" name="Ellipse 238"/>
          <p:cNvSpPr/>
          <p:nvPr/>
        </p:nvSpPr>
        <p:spPr>
          <a:xfrm>
            <a:off x="9891465" y="1719262"/>
            <a:ext cx="28574" cy="28575"/>
          </a:xfrm>
          <a:prstGeom prst="ellipse">
            <a:avLst/>
          </a:prstGeom>
          <a:solidFill>
            <a:srgbClr val="8FA0AD"/>
          </a:solidFill>
          <a:ln>
            <a:noFill/>
          </a:ln>
        </p:spPr>
        <p:txBody>
          <a:bodyPr/>
          <a:lstStyle/>
          <a:p/>
        </p:txBody>
      </p:sp>
      <p:sp>
        <p:nvSpPr>
          <p:cNvPr id="239" name="Ellipse 239"/>
          <p:cNvSpPr/>
          <p:nvPr/>
        </p:nvSpPr>
        <p:spPr>
          <a:xfrm>
            <a:off x="10367703" y="2738438"/>
            <a:ext cx="28574" cy="28575"/>
          </a:xfrm>
          <a:prstGeom prst="ellipse">
            <a:avLst/>
          </a:prstGeom>
          <a:solidFill>
            <a:srgbClr val="8FA0AD"/>
          </a:solidFill>
          <a:ln>
            <a:noFill/>
          </a:ln>
        </p:spPr>
        <p:txBody>
          <a:bodyPr/>
          <a:lstStyle/>
          <a:p/>
        </p:txBody>
      </p:sp>
      <p:sp>
        <p:nvSpPr>
          <p:cNvPr id="240" name="Rect 240"/>
          <p:cNvSpPr/>
          <p:nvPr/>
        </p:nvSpPr>
        <p:spPr>
          <a:xfrm>
            <a:off x="685783" y="638175"/>
            <a:ext cx="66673" cy="66675"/>
          </a:xfrm>
          <a:prstGeom prst="rect">
            <a:avLst/>
          </a:prstGeom>
          <a:solidFill>
            <a:srgbClr val="2B7D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41" name="Line 241"/>
          <p:cNvSpPr/>
          <p:nvPr/>
        </p:nvSpPr>
        <p:spPr>
          <a:xfrm>
            <a:off x="8057949" y="1466850"/>
            <a:ext cx="647684" cy="0"/>
          </a:xfrm>
          <a:prstGeom prst="line">
            <a:avLst/>
          </a:prstGeom>
          <a:noFill/>
          <a:ln w="25400">
            <a:solidFill>
              <a:srgbClr val="FF624F"/>
            </a:solidFill>
          </a:ln>
        </p:spPr>
        <p:txBody>
          <a:bodyPr/>
          <a:lstStyle/>
          <a:p/>
        </p:txBody>
      </p:sp>
      <p:sp>
        <p:nvSpPr>
          <p:cNvPr id="242" name="Line 242"/>
          <p:cNvSpPr/>
          <p:nvPr/>
        </p:nvSpPr>
        <p:spPr>
          <a:xfrm>
            <a:off x="8153196" y="1562100"/>
            <a:ext cx="466713" cy="0"/>
          </a:xfrm>
          <a:prstGeom prst="line">
            <a:avLst/>
          </a:prstGeom>
          <a:noFill/>
          <a:ln w="25400">
            <a:solidFill>
              <a:srgbClr val="FF624F"/>
            </a:solidFill>
          </a:ln>
        </p:spPr>
        <p:txBody>
          <a:bodyPr/>
          <a:lstStyle/>
          <a:p/>
        </p:txBody>
      </p:sp>
      <p:sp>
        <p:nvSpPr>
          <p:cNvPr id="243" name="Line 243"/>
          <p:cNvSpPr/>
          <p:nvPr/>
        </p:nvSpPr>
        <p:spPr>
          <a:xfrm>
            <a:off x="8705632" y="1466850"/>
            <a:ext cx="0" cy="276225"/>
          </a:xfrm>
          <a:prstGeom prst="line">
            <a:avLst/>
          </a:prstGeom>
          <a:noFill/>
          <a:ln w="25400">
            <a:solidFill>
              <a:srgbClr val="FF624F"/>
            </a:solidFill>
          </a:ln>
        </p:spPr>
        <p:txBody>
          <a:bodyPr/>
          <a:lstStyle/>
          <a:p/>
        </p:txBody>
      </p:sp>
      <p:sp>
        <p:nvSpPr>
          <p:cNvPr id="244" name="Line 244"/>
          <p:cNvSpPr/>
          <p:nvPr/>
        </p:nvSpPr>
        <p:spPr>
          <a:xfrm>
            <a:off x="8619909" y="1562100"/>
            <a:ext cx="0" cy="190500"/>
          </a:xfrm>
          <a:prstGeom prst="line">
            <a:avLst/>
          </a:prstGeom>
          <a:noFill/>
          <a:ln w="25400">
            <a:solidFill>
              <a:srgbClr val="FF624F"/>
            </a:solidFill>
          </a:ln>
        </p:spPr>
        <p:txBody>
          <a:bodyPr/>
          <a:lstStyle/>
          <a:p/>
        </p:txBody>
      </p:sp>
      <p:sp>
        <p:nvSpPr>
          <p:cNvPr id="245" name="Line 245"/>
          <p:cNvSpPr/>
          <p:nvPr/>
        </p:nvSpPr>
        <p:spPr>
          <a:xfrm>
            <a:off x="8619909" y="1752600"/>
            <a:ext cx="180970" cy="0"/>
          </a:xfrm>
          <a:prstGeom prst="line">
            <a:avLst/>
          </a:prstGeom>
          <a:noFill/>
          <a:ln w="25400">
            <a:solidFill>
              <a:srgbClr val="FF624F"/>
            </a:solidFill>
          </a:ln>
        </p:spPr>
        <p:txBody>
          <a:bodyPr/>
          <a:lstStyle/>
          <a:p/>
        </p:txBody>
      </p:sp>
      <p:sp>
        <p:nvSpPr>
          <p:cNvPr id="246" name="Line 246"/>
          <p:cNvSpPr/>
          <p:nvPr/>
        </p:nvSpPr>
        <p:spPr>
          <a:xfrm>
            <a:off x="8800880" y="1295400"/>
            <a:ext cx="0" cy="457200"/>
          </a:xfrm>
          <a:prstGeom prst="line">
            <a:avLst/>
          </a:prstGeom>
          <a:noFill/>
          <a:ln w="25400">
            <a:solidFill>
              <a:srgbClr val="F4A329"/>
            </a:solidFill>
          </a:ln>
        </p:spPr>
        <p:txBody>
          <a:bodyPr/>
          <a:lstStyle/>
          <a:p/>
        </p:txBody>
      </p:sp>
      <p:sp>
        <p:nvSpPr>
          <p:cNvPr id="247" name="Line 247"/>
          <p:cNvSpPr/>
          <p:nvPr/>
        </p:nvSpPr>
        <p:spPr>
          <a:xfrm>
            <a:off x="8886603" y="1295400"/>
            <a:ext cx="0" cy="457200"/>
          </a:xfrm>
          <a:prstGeom prst="line">
            <a:avLst/>
          </a:prstGeom>
          <a:noFill/>
          <a:ln w="25400">
            <a:solidFill>
              <a:srgbClr val="F4A329"/>
            </a:solidFill>
          </a:ln>
        </p:spPr>
        <p:txBody>
          <a:bodyPr/>
          <a:lstStyle/>
          <a:p/>
        </p:txBody>
      </p:sp>
      <p:sp>
        <p:nvSpPr>
          <p:cNvPr id="248" name="Line 248"/>
          <p:cNvSpPr/>
          <p:nvPr/>
        </p:nvSpPr>
        <p:spPr>
          <a:xfrm>
            <a:off x="7972226" y="2295525"/>
            <a:ext cx="466713" cy="0"/>
          </a:xfrm>
          <a:prstGeom prst="line">
            <a:avLst/>
          </a:prstGeom>
          <a:noFill/>
          <a:ln w="25400">
            <a:solidFill>
              <a:srgbClr val="FF624F"/>
            </a:solidFill>
          </a:ln>
        </p:spPr>
        <p:txBody>
          <a:bodyPr/>
          <a:lstStyle/>
          <a:p/>
        </p:txBody>
      </p:sp>
      <p:sp>
        <p:nvSpPr>
          <p:cNvPr id="249" name="Line 249"/>
          <p:cNvSpPr/>
          <p:nvPr/>
        </p:nvSpPr>
        <p:spPr>
          <a:xfrm>
            <a:off x="8438939" y="2295525"/>
            <a:ext cx="0" cy="381000"/>
          </a:xfrm>
          <a:prstGeom prst="line">
            <a:avLst/>
          </a:prstGeom>
          <a:noFill/>
          <a:ln w="25400">
            <a:solidFill>
              <a:srgbClr val="FF624F"/>
            </a:solidFill>
          </a:ln>
        </p:spPr>
        <p:txBody>
          <a:bodyPr/>
          <a:lstStyle/>
          <a:p/>
        </p:txBody>
      </p:sp>
      <p:sp>
        <p:nvSpPr>
          <p:cNvPr id="250" name="Line 250"/>
          <p:cNvSpPr/>
          <p:nvPr/>
        </p:nvSpPr>
        <p:spPr>
          <a:xfrm>
            <a:off x="8438939" y="2676525"/>
            <a:ext cx="171446" cy="0"/>
          </a:xfrm>
          <a:prstGeom prst="line">
            <a:avLst/>
          </a:prstGeom>
          <a:noFill/>
          <a:ln w="25400">
            <a:solidFill>
              <a:srgbClr val="F4A329"/>
            </a:solidFill>
          </a:ln>
        </p:spPr>
        <p:txBody>
          <a:bodyPr/>
          <a:lstStyle/>
          <a:p/>
        </p:txBody>
      </p:sp>
      <p:sp>
        <p:nvSpPr>
          <p:cNvPr id="251" name="Line 251"/>
          <p:cNvSpPr/>
          <p:nvPr/>
        </p:nvSpPr>
        <p:spPr>
          <a:xfrm>
            <a:off x="8610385" y="2676525"/>
            <a:ext cx="0" cy="533400"/>
          </a:xfrm>
          <a:prstGeom prst="line">
            <a:avLst/>
          </a:prstGeom>
          <a:noFill/>
          <a:ln w="25400">
            <a:solidFill>
              <a:srgbClr val="F4A329"/>
            </a:solidFill>
          </a:ln>
        </p:spPr>
        <p:txBody>
          <a:bodyPr/>
          <a:lstStyle/>
          <a:p/>
        </p:txBody>
      </p:sp>
      <p:sp>
        <p:nvSpPr>
          <p:cNvPr id="252" name="Line 252"/>
          <p:cNvSpPr/>
          <p:nvPr/>
        </p:nvSpPr>
        <p:spPr>
          <a:xfrm flipH="1">
            <a:off x="10086723" y="1285875"/>
            <a:ext cx="257169" cy="0"/>
          </a:xfrm>
          <a:prstGeom prst="line">
            <a:avLst/>
          </a:prstGeom>
          <a:noFill/>
          <a:ln w="25400">
            <a:solidFill>
              <a:srgbClr val="FF624F"/>
            </a:solidFill>
          </a:ln>
        </p:spPr>
        <p:txBody>
          <a:bodyPr/>
          <a:lstStyle/>
          <a:p/>
        </p:txBody>
      </p:sp>
      <p:sp>
        <p:nvSpPr>
          <p:cNvPr id="253" name="Line 253"/>
          <p:cNvSpPr/>
          <p:nvPr/>
        </p:nvSpPr>
        <p:spPr>
          <a:xfrm>
            <a:off x="10086723" y="1285875"/>
            <a:ext cx="0" cy="723900"/>
          </a:xfrm>
          <a:prstGeom prst="line">
            <a:avLst/>
          </a:prstGeom>
          <a:noFill/>
          <a:ln w="25400">
            <a:solidFill>
              <a:srgbClr val="F4A329"/>
            </a:solidFill>
          </a:ln>
        </p:spPr>
        <p:txBody>
          <a:bodyPr/>
          <a:lstStyle/>
          <a:p/>
        </p:txBody>
      </p:sp>
      <p:sp>
        <p:nvSpPr>
          <p:cNvPr id="254" name="Line 254"/>
          <p:cNvSpPr/>
          <p:nvPr/>
        </p:nvSpPr>
        <p:spPr>
          <a:xfrm>
            <a:off x="10086723" y="1647825"/>
            <a:ext cx="266693" cy="0"/>
          </a:xfrm>
          <a:prstGeom prst="line">
            <a:avLst/>
          </a:prstGeom>
          <a:noFill/>
          <a:ln w="25400">
            <a:solidFill>
              <a:srgbClr val="FF624F"/>
            </a:solidFill>
          </a:ln>
        </p:spPr>
        <p:txBody>
          <a:bodyPr/>
          <a:lstStyle/>
          <a:p/>
        </p:txBody>
      </p:sp>
      <p:sp>
        <p:nvSpPr>
          <p:cNvPr id="255" name="Line 255"/>
          <p:cNvSpPr/>
          <p:nvPr/>
        </p:nvSpPr>
        <p:spPr>
          <a:xfrm>
            <a:off x="9886703" y="2009775"/>
            <a:ext cx="200020" cy="0"/>
          </a:xfrm>
          <a:prstGeom prst="line">
            <a:avLst/>
          </a:prstGeom>
          <a:noFill/>
          <a:ln w="25400">
            <a:solidFill>
              <a:srgbClr val="FF624F"/>
            </a:solidFill>
          </a:ln>
        </p:spPr>
        <p:txBody>
          <a:bodyPr/>
          <a:lstStyle/>
          <a:p/>
        </p:txBody>
      </p:sp>
      <p:sp>
        <p:nvSpPr>
          <p:cNvPr id="256" name="Line 256"/>
          <p:cNvSpPr/>
          <p:nvPr/>
        </p:nvSpPr>
        <p:spPr>
          <a:xfrm>
            <a:off x="9981950" y="2381250"/>
            <a:ext cx="0" cy="828675"/>
          </a:xfrm>
          <a:prstGeom prst="line">
            <a:avLst/>
          </a:prstGeom>
          <a:noFill/>
          <a:ln w="25400">
            <a:solidFill>
              <a:srgbClr val="F4A329"/>
            </a:solidFill>
          </a:ln>
        </p:spPr>
        <p:txBody>
          <a:bodyPr/>
          <a:lstStyle/>
          <a:p/>
        </p:txBody>
      </p:sp>
      <p:sp>
        <p:nvSpPr>
          <p:cNvPr id="257" name="Line 257"/>
          <p:cNvSpPr/>
          <p:nvPr/>
        </p:nvSpPr>
        <p:spPr>
          <a:xfrm>
            <a:off x="9886703" y="2838450"/>
            <a:ext cx="0" cy="371475"/>
          </a:xfrm>
          <a:prstGeom prst="line">
            <a:avLst/>
          </a:prstGeom>
          <a:noFill/>
          <a:ln w="25400">
            <a:solidFill>
              <a:srgbClr val="F4A329"/>
            </a:solidFill>
          </a:ln>
        </p:spPr>
        <p:txBody>
          <a:bodyPr/>
          <a:lstStyle/>
          <a:p/>
        </p:txBody>
      </p:sp>
      <p:sp>
        <p:nvSpPr>
          <p:cNvPr id="258" name="Line 258"/>
          <p:cNvSpPr/>
          <p:nvPr/>
        </p:nvSpPr>
        <p:spPr>
          <a:xfrm>
            <a:off x="9981950" y="2476500"/>
            <a:ext cx="285743" cy="0"/>
          </a:xfrm>
          <a:prstGeom prst="line">
            <a:avLst/>
          </a:prstGeom>
          <a:noFill/>
          <a:ln w="25400">
            <a:solidFill>
              <a:srgbClr val="FF624F"/>
            </a:solidFill>
          </a:ln>
        </p:spPr>
        <p:txBody>
          <a:bodyPr/>
          <a:lstStyle/>
          <a:p/>
        </p:txBody>
      </p:sp>
      <p:sp>
        <p:nvSpPr>
          <p:cNvPr id="259" name="Line 259"/>
          <p:cNvSpPr/>
          <p:nvPr/>
        </p:nvSpPr>
        <p:spPr>
          <a:xfrm>
            <a:off x="10267693" y="2476500"/>
            <a:ext cx="504812" cy="0"/>
          </a:xfrm>
          <a:prstGeom prst="line">
            <a:avLst/>
          </a:prstGeom>
          <a:noFill/>
          <a:ln w="25400">
            <a:solidFill>
              <a:srgbClr val="F4A329"/>
            </a:solidFill>
          </a:ln>
        </p:spPr>
        <p:txBody>
          <a:bodyPr/>
          <a:lstStyle/>
          <a:p/>
        </p:txBody>
      </p:sp>
      <p:sp>
        <p:nvSpPr>
          <p:cNvPr id="260" name="Line 260"/>
          <p:cNvSpPr/>
          <p:nvPr/>
        </p:nvSpPr>
        <p:spPr>
          <a:xfrm>
            <a:off x="9981950" y="2838450"/>
            <a:ext cx="0" cy="371475"/>
          </a:xfrm>
          <a:prstGeom prst="line">
            <a:avLst/>
          </a:prstGeom>
          <a:noFill/>
          <a:ln w="25400">
            <a:solidFill>
              <a:srgbClr val="F4A329"/>
            </a:solidFill>
          </a:ln>
        </p:spPr>
        <p:txBody>
          <a:bodyPr/>
          <a:lstStyle/>
          <a:p/>
        </p:txBody>
      </p:sp>
      <p:sp>
        <p:nvSpPr>
          <p:cNvPr id="261" name="Rect 261"/>
          <p:cNvSpPr/>
          <p:nvPr/>
        </p:nvSpPr>
        <p:spPr>
          <a:xfrm>
            <a:off x="8848504" y="1247775"/>
            <a:ext cx="85723" cy="85725"/>
          </a:xfrm>
          <a:prstGeom prst="rect">
            <a:avLst/>
          </a:prstGeom>
          <a:solidFill>
            <a:srgbClr val="2F7EFF"/>
          </a:solidFill>
          <a:ln w="8890">
            <a:solidFill>
              <a:srgbClr val="D6EBFF"/>
            </a:solidFill>
          </a:ln>
        </p:spPr>
        <p:txBody>
          <a:bodyPr/>
          <a:lstStyle/>
          <a:p/>
        </p:txBody>
      </p:sp>
      <p:sp>
        <p:nvSpPr>
          <p:cNvPr id="262" name="Rect 262"/>
          <p:cNvSpPr/>
          <p:nvPr/>
        </p:nvSpPr>
        <p:spPr>
          <a:xfrm>
            <a:off x="8943751" y="1247775"/>
            <a:ext cx="85723" cy="85725"/>
          </a:xfrm>
          <a:prstGeom prst="rect">
            <a:avLst/>
          </a:prstGeom>
          <a:solidFill>
            <a:srgbClr val="2F7EFF"/>
          </a:solidFill>
          <a:ln w="8890">
            <a:solidFill>
              <a:srgbClr val="D6EBFF"/>
            </a:solidFill>
          </a:ln>
        </p:spPr>
        <p:txBody>
          <a:bodyPr/>
          <a:lstStyle/>
          <a:p/>
        </p:txBody>
      </p:sp>
      <p:sp>
        <p:nvSpPr>
          <p:cNvPr id="263" name="Rect 263"/>
          <p:cNvSpPr/>
          <p:nvPr/>
        </p:nvSpPr>
        <p:spPr>
          <a:xfrm>
            <a:off x="9038999" y="1247775"/>
            <a:ext cx="85723" cy="85725"/>
          </a:xfrm>
          <a:prstGeom prst="rect">
            <a:avLst/>
          </a:prstGeom>
          <a:solidFill>
            <a:srgbClr val="2F7EFF"/>
          </a:solidFill>
          <a:ln w="8890">
            <a:solidFill>
              <a:srgbClr val="D6EBFF"/>
            </a:solidFill>
          </a:ln>
        </p:spPr>
        <p:txBody>
          <a:bodyPr/>
          <a:lstStyle/>
          <a:p/>
        </p:txBody>
      </p:sp>
      <p:sp>
        <p:nvSpPr>
          <p:cNvPr id="264" name="Rect 264"/>
          <p:cNvSpPr/>
          <p:nvPr/>
        </p:nvSpPr>
        <p:spPr>
          <a:xfrm>
            <a:off x="10039099" y="1247775"/>
            <a:ext cx="85723" cy="85725"/>
          </a:xfrm>
          <a:prstGeom prst="rect">
            <a:avLst/>
          </a:prstGeom>
          <a:solidFill>
            <a:srgbClr val="2F7EFF"/>
          </a:solidFill>
          <a:ln w="8890">
            <a:solidFill>
              <a:srgbClr val="D6EBFF"/>
            </a:solidFill>
          </a:ln>
        </p:spPr>
        <p:txBody>
          <a:bodyPr/>
          <a:lstStyle/>
          <a:p/>
        </p:txBody>
      </p:sp>
      <p:sp>
        <p:nvSpPr>
          <p:cNvPr id="265" name="Rect 265"/>
          <p:cNvSpPr/>
          <p:nvPr/>
        </p:nvSpPr>
        <p:spPr>
          <a:xfrm>
            <a:off x="10134347" y="1247775"/>
            <a:ext cx="85723" cy="85725"/>
          </a:xfrm>
          <a:prstGeom prst="rect">
            <a:avLst/>
          </a:prstGeom>
          <a:solidFill>
            <a:srgbClr val="2F7EFF"/>
          </a:solidFill>
          <a:ln w="8890">
            <a:solidFill>
              <a:srgbClr val="D6EBFF"/>
            </a:solidFill>
          </a:ln>
        </p:spPr>
        <p:txBody>
          <a:bodyPr/>
          <a:lstStyle/>
          <a:p/>
        </p:txBody>
      </p:sp>
      <p:sp>
        <p:nvSpPr>
          <p:cNvPr id="266" name="Rect 266"/>
          <p:cNvSpPr/>
          <p:nvPr/>
        </p:nvSpPr>
        <p:spPr>
          <a:xfrm>
            <a:off x="10229594" y="1247775"/>
            <a:ext cx="85723" cy="85725"/>
          </a:xfrm>
          <a:prstGeom prst="rect">
            <a:avLst/>
          </a:prstGeom>
          <a:solidFill>
            <a:srgbClr val="2F7EFF"/>
          </a:solidFill>
          <a:ln w="8890">
            <a:solidFill>
              <a:srgbClr val="D6EBFF"/>
            </a:solidFill>
          </a:ln>
        </p:spPr>
        <p:txBody>
          <a:bodyPr/>
          <a:lstStyle/>
          <a:p/>
        </p:txBody>
      </p:sp>
      <p:sp>
        <p:nvSpPr>
          <p:cNvPr id="267" name="Rect 267"/>
          <p:cNvSpPr/>
          <p:nvPr/>
        </p:nvSpPr>
        <p:spPr>
          <a:xfrm>
            <a:off x="10762981" y="1714500"/>
            <a:ext cx="85723" cy="85725"/>
          </a:xfrm>
          <a:prstGeom prst="rect">
            <a:avLst/>
          </a:prstGeom>
          <a:solidFill>
            <a:srgbClr val="2F7EFF"/>
          </a:solidFill>
          <a:ln w="8890">
            <a:solidFill>
              <a:srgbClr val="D6EBFF"/>
            </a:solidFill>
          </a:ln>
        </p:spPr>
        <p:txBody>
          <a:bodyPr/>
          <a:lstStyle/>
          <a:p/>
        </p:txBody>
      </p:sp>
      <p:sp>
        <p:nvSpPr>
          <p:cNvPr id="268" name="Rect 268"/>
          <p:cNvSpPr/>
          <p:nvPr/>
        </p:nvSpPr>
        <p:spPr>
          <a:xfrm>
            <a:off x="10762981" y="1809750"/>
            <a:ext cx="85723" cy="85725"/>
          </a:xfrm>
          <a:prstGeom prst="rect">
            <a:avLst/>
          </a:prstGeom>
          <a:solidFill>
            <a:srgbClr val="2F7EFF"/>
          </a:solidFill>
          <a:ln w="8890">
            <a:solidFill>
              <a:srgbClr val="D6EBFF"/>
            </a:solidFill>
          </a:ln>
        </p:spPr>
        <p:txBody>
          <a:bodyPr/>
          <a:lstStyle/>
          <a:p/>
        </p:txBody>
      </p:sp>
      <p:sp>
        <p:nvSpPr>
          <p:cNvPr id="269" name="Rect 269"/>
          <p:cNvSpPr/>
          <p:nvPr/>
        </p:nvSpPr>
        <p:spPr>
          <a:xfrm>
            <a:off x="10762981" y="1905000"/>
            <a:ext cx="85723" cy="85725"/>
          </a:xfrm>
          <a:prstGeom prst="rect">
            <a:avLst/>
          </a:prstGeom>
          <a:solidFill>
            <a:srgbClr val="2F7EFF"/>
          </a:solidFill>
          <a:ln w="8890">
            <a:solidFill>
              <a:srgbClr val="D6EBFF"/>
            </a:solidFill>
          </a:ln>
        </p:spPr>
        <p:txBody>
          <a:bodyPr/>
          <a:lstStyle/>
          <a:p/>
        </p:txBody>
      </p:sp>
      <p:sp>
        <p:nvSpPr>
          <p:cNvPr id="270" name="Rect 270"/>
          <p:cNvSpPr/>
          <p:nvPr/>
        </p:nvSpPr>
        <p:spPr>
          <a:xfrm>
            <a:off x="10762981" y="2447925"/>
            <a:ext cx="85723" cy="85725"/>
          </a:xfrm>
          <a:prstGeom prst="rect">
            <a:avLst/>
          </a:prstGeom>
          <a:solidFill>
            <a:srgbClr val="2F7EFF"/>
          </a:solidFill>
          <a:ln w="8890">
            <a:solidFill>
              <a:srgbClr val="D6EBFF"/>
            </a:solidFill>
          </a:ln>
        </p:spPr>
        <p:txBody>
          <a:bodyPr/>
          <a:lstStyle/>
          <a:p/>
        </p:txBody>
      </p:sp>
      <p:sp>
        <p:nvSpPr>
          <p:cNvPr id="271" name="Rect 271"/>
          <p:cNvSpPr/>
          <p:nvPr/>
        </p:nvSpPr>
        <p:spPr>
          <a:xfrm>
            <a:off x="10762981" y="2543175"/>
            <a:ext cx="85723" cy="85725"/>
          </a:xfrm>
          <a:prstGeom prst="rect">
            <a:avLst/>
          </a:prstGeom>
          <a:solidFill>
            <a:srgbClr val="2F7EFF"/>
          </a:solidFill>
          <a:ln w="8890">
            <a:solidFill>
              <a:srgbClr val="D6EBFF"/>
            </a:solidFill>
          </a:ln>
        </p:spPr>
        <p:txBody>
          <a:bodyPr/>
          <a:lstStyle/>
          <a:p/>
        </p:txBody>
      </p:sp>
      <p:sp>
        <p:nvSpPr>
          <p:cNvPr id="272" name="Rect 272"/>
          <p:cNvSpPr/>
          <p:nvPr/>
        </p:nvSpPr>
        <p:spPr>
          <a:xfrm>
            <a:off x="10762981" y="2638425"/>
            <a:ext cx="85723" cy="85725"/>
          </a:xfrm>
          <a:prstGeom prst="rect">
            <a:avLst/>
          </a:prstGeom>
          <a:solidFill>
            <a:srgbClr val="2F7EFF"/>
          </a:solidFill>
          <a:ln w="8890">
            <a:solidFill>
              <a:srgbClr val="D6EBFF"/>
            </a:solidFill>
          </a:ln>
        </p:spPr>
        <p:txBody>
          <a:bodyPr/>
          <a:lstStyle/>
          <a:p/>
        </p:txBody>
      </p:sp>
      <p:sp>
        <p:nvSpPr>
          <p:cNvPr id="273" name="Rect 273"/>
          <p:cNvSpPr/>
          <p:nvPr/>
        </p:nvSpPr>
        <p:spPr>
          <a:xfrm>
            <a:off x="8572286" y="3171825"/>
            <a:ext cx="85723" cy="85725"/>
          </a:xfrm>
          <a:prstGeom prst="rect">
            <a:avLst/>
          </a:prstGeom>
          <a:solidFill>
            <a:srgbClr val="2F7EFF"/>
          </a:solidFill>
          <a:ln w="8890">
            <a:solidFill>
              <a:srgbClr val="D6EBFF"/>
            </a:solidFill>
          </a:ln>
        </p:spPr>
        <p:txBody>
          <a:bodyPr/>
          <a:lstStyle/>
          <a:p/>
        </p:txBody>
      </p:sp>
      <p:sp>
        <p:nvSpPr>
          <p:cNvPr id="274" name="Rect 274"/>
          <p:cNvSpPr/>
          <p:nvPr/>
        </p:nvSpPr>
        <p:spPr>
          <a:xfrm>
            <a:off x="8667533" y="3171825"/>
            <a:ext cx="85723" cy="85725"/>
          </a:xfrm>
          <a:prstGeom prst="rect">
            <a:avLst/>
          </a:prstGeom>
          <a:solidFill>
            <a:srgbClr val="2F7EFF"/>
          </a:solidFill>
          <a:ln w="8890">
            <a:solidFill>
              <a:srgbClr val="D6EBFF"/>
            </a:solidFill>
          </a:ln>
        </p:spPr>
        <p:txBody>
          <a:bodyPr/>
          <a:lstStyle/>
          <a:p/>
        </p:txBody>
      </p:sp>
      <p:sp>
        <p:nvSpPr>
          <p:cNvPr id="275" name="Rect 275"/>
          <p:cNvSpPr/>
          <p:nvPr/>
        </p:nvSpPr>
        <p:spPr>
          <a:xfrm>
            <a:off x="8762781" y="3171825"/>
            <a:ext cx="85723" cy="85725"/>
          </a:xfrm>
          <a:prstGeom prst="rect">
            <a:avLst/>
          </a:prstGeom>
          <a:solidFill>
            <a:srgbClr val="2F7EFF"/>
          </a:solidFill>
          <a:ln w="8890">
            <a:solidFill>
              <a:srgbClr val="D6EBFF"/>
            </a:solidFill>
          </a:ln>
        </p:spPr>
        <p:txBody>
          <a:bodyPr/>
          <a:lstStyle/>
          <a:p/>
        </p:txBody>
      </p:sp>
      <p:sp>
        <p:nvSpPr>
          <p:cNvPr id="276" name="Rect 276"/>
          <p:cNvSpPr/>
          <p:nvPr/>
        </p:nvSpPr>
        <p:spPr>
          <a:xfrm>
            <a:off x="9867653" y="3171825"/>
            <a:ext cx="85723" cy="85725"/>
          </a:xfrm>
          <a:prstGeom prst="rect">
            <a:avLst/>
          </a:prstGeom>
          <a:solidFill>
            <a:srgbClr val="2F7EFF"/>
          </a:solidFill>
          <a:ln w="8890">
            <a:solidFill>
              <a:srgbClr val="D6EBFF"/>
            </a:solidFill>
          </a:ln>
        </p:spPr>
        <p:txBody>
          <a:bodyPr/>
          <a:lstStyle/>
          <a:p/>
        </p:txBody>
      </p:sp>
      <p:sp>
        <p:nvSpPr>
          <p:cNvPr id="277" name="Rect 277"/>
          <p:cNvSpPr/>
          <p:nvPr/>
        </p:nvSpPr>
        <p:spPr>
          <a:xfrm>
            <a:off x="9962901" y="3171825"/>
            <a:ext cx="85723" cy="85725"/>
          </a:xfrm>
          <a:prstGeom prst="rect">
            <a:avLst/>
          </a:prstGeom>
          <a:solidFill>
            <a:srgbClr val="2F7EFF"/>
          </a:solidFill>
          <a:ln w="8890">
            <a:solidFill>
              <a:srgbClr val="D6EBFF"/>
            </a:solidFill>
          </a:ln>
        </p:spPr>
        <p:txBody>
          <a:bodyPr/>
          <a:lstStyle/>
          <a:p/>
        </p:txBody>
      </p:sp>
      <p:sp>
        <p:nvSpPr>
          <p:cNvPr id="278" name="Rect 278"/>
          <p:cNvSpPr/>
          <p:nvPr/>
        </p:nvSpPr>
        <p:spPr>
          <a:xfrm>
            <a:off x="10058149" y="3171825"/>
            <a:ext cx="85723" cy="85725"/>
          </a:xfrm>
          <a:prstGeom prst="rect">
            <a:avLst/>
          </a:prstGeom>
          <a:solidFill>
            <a:srgbClr val="2F7EFF"/>
          </a:solidFill>
          <a:ln w="8890">
            <a:solidFill>
              <a:srgbClr val="D6EBFF"/>
            </a:solidFill>
          </a:ln>
        </p:spPr>
        <p:txBody>
          <a:bodyPr/>
          <a:lstStyle/>
          <a:p/>
        </p:txBody>
      </p:sp>
      <p:sp>
        <p:nvSpPr>
          <p:cNvPr id="279" name="Ellipse 279"/>
          <p:cNvSpPr/>
          <p:nvPr/>
        </p:nvSpPr>
        <p:spPr>
          <a:xfrm>
            <a:off x="8019849" y="1428750"/>
            <a:ext cx="76198" cy="76200"/>
          </a:xfrm>
          <a:prstGeom prst="ellipse">
            <a:avLst/>
          </a:prstGeom>
          <a:solidFill>
            <a:srgbClr val="FF624F"/>
          </a:solidFill>
          <a:ln w="12700">
            <a:solidFill>
              <a:srgbClr val="F8FBFF"/>
            </a:solidFill>
          </a:ln>
        </p:spPr>
        <p:txBody>
          <a:bodyPr/>
          <a:lstStyle/>
          <a:p/>
        </p:txBody>
      </p:sp>
      <p:sp>
        <p:nvSpPr>
          <p:cNvPr id="280" name="Ellipse 280"/>
          <p:cNvSpPr/>
          <p:nvPr/>
        </p:nvSpPr>
        <p:spPr>
          <a:xfrm>
            <a:off x="8115097" y="1524000"/>
            <a:ext cx="76198" cy="76200"/>
          </a:xfrm>
          <a:prstGeom prst="ellipse">
            <a:avLst/>
          </a:prstGeom>
          <a:solidFill>
            <a:srgbClr val="FF624F"/>
          </a:solidFill>
          <a:ln w="12700">
            <a:solidFill>
              <a:srgbClr val="F8FBFF"/>
            </a:solidFill>
          </a:ln>
        </p:spPr>
        <p:txBody>
          <a:bodyPr/>
          <a:lstStyle/>
          <a:p/>
        </p:txBody>
      </p:sp>
      <p:sp>
        <p:nvSpPr>
          <p:cNvPr id="281" name="Ellipse 281"/>
          <p:cNvSpPr/>
          <p:nvPr/>
        </p:nvSpPr>
        <p:spPr>
          <a:xfrm>
            <a:off x="8762781" y="1247775"/>
            <a:ext cx="76198" cy="76200"/>
          </a:xfrm>
          <a:prstGeom prst="ellipse">
            <a:avLst/>
          </a:prstGeom>
          <a:solidFill>
            <a:srgbClr val="FF624F"/>
          </a:solidFill>
          <a:ln w="12700">
            <a:solidFill>
              <a:srgbClr val="F8FBFF"/>
            </a:solidFill>
          </a:ln>
        </p:spPr>
        <p:txBody>
          <a:bodyPr/>
          <a:lstStyle/>
          <a:p/>
        </p:txBody>
      </p:sp>
      <p:sp>
        <p:nvSpPr>
          <p:cNvPr id="282" name="Ellipse 282"/>
          <p:cNvSpPr/>
          <p:nvPr/>
        </p:nvSpPr>
        <p:spPr>
          <a:xfrm>
            <a:off x="9210445" y="1609725"/>
            <a:ext cx="76198" cy="76200"/>
          </a:xfrm>
          <a:prstGeom prst="ellipse">
            <a:avLst/>
          </a:prstGeom>
          <a:solidFill>
            <a:srgbClr val="FF624F"/>
          </a:solidFill>
          <a:ln w="12700">
            <a:solidFill>
              <a:srgbClr val="F8FBFF"/>
            </a:solidFill>
          </a:ln>
        </p:spPr>
        <p:txBody>
          <a:bodyPr/>
          <a:lstStyle/>
          <a:p/>
        </p:txBody>
      </p:sp>
      <p:sp>
        <p:nvSpPr>
          <p:cNvPr id="283" name="Ellipse 283"/>
          <p:cNvSpPr/>
          <p:nvPr/>
        </p:nvSpPr>
        <p:spPr>
          <a:xfrm>
            <a:off x="10305792" y="1247775"/>
            <a:ext cx="76198" cy="76200"/>
          </a:xfrm>
          <a:prstGeom prst="ellipse">
            <a:avLst/>
          </a:prstGeom>
          <a:solidFill>
            <a:srgbClr val="FF624F"/>
          </a:solidFill>
          <a:ln w="12700">
            <a:solidFill>
              <a:srgbClr val="F8FBFF"/>
            </a:solidFill>
          </a:ln>
        </p:spPr>
        <p:txBody>
          <a:bodyPr/>
          <a:lstStyle/>
          <a:p/>
        </p:txBody>
      </p:sp>
      <p:sp>
        <p:nvSpPr>
          <p:cNvPr id="284" name="Ellipse 284"/>
          <p:cNvSpPr/>
          <p:nvPr/>
        </p:nvSpPr>
        <p:spPr>
          <a:xfrm>
            <a:off x="10315317" y="1609725"/>
            <a:ext cx="76198" cy="76200"/>
          </a:xfrm>
          <a:prstGeom prst="ellipse">
            <a:avLst/>
          </a:prstGeom>
          <a:solidFill>
            <a:srgbClr val="FF624F"/>
          </a:solidFill>
          <a:ln w="12700">
            <a:solidFill>
              <a:srgbClr val="F8FBFF"/>
            </a:solidFill>
          </a:ln>
        </p:spPr>
        <p:txBody>
          <a:bodyPr/>
          <a:lstStyle/>
          <a:p/>
        </p:txBody>
      </p:sp>
      <p:sp>
        <p:nvSpPr>
          <p:cNvPr id="285" name="Ellipse 285"/>
          <p:cNvSpPr/>
          <p:nvPr/>
        </p:nvSpPr>
        <p:spPr>
          <a:xfrm>
            <a:off x="9848604" y="1971675"/>
            <a:ext cx="76198" cy="76200"/>
          </a:xfrm>
          <a:prstGeom prst="ellipse">
            <a:avLst/>
          </a:prstGeom>
          <a:solidFill>
            <a:srgbClr val="FF624F"/>
          </a:solidFill>
          <a:ln w="12700">
            <a:solidFill>
              <a:srgbClr val="F8FBFF"/>
            </a:solidFill>
          </a:ln>
        </p:spPr>
        <p:txBody>
          <a:bodyPr/>
          <a:lstStyle/>
          <a:p/>
        </p:txBody>
      </p:sp>
      <p:sp>
        <p:nvSpPr>
          <p:cNvPr id="286" name="Ellipse 286"/>
          <p:cNvSpPr/>
          <p:nvPr/>
        </p:nvSpPr>
        <p:spPr>
          <a:xfrm>
            <a:off x="7924602" y="2257425"/>
            <a:ext cx="76198" cy="76200"/>
          </a:xfrm>
          <a:prstGeom prst="ellipse">
            <a:avLst/>
          </a:prstGeom>
          <a:solidFill>
            <a:srgbClr val="FF624F"/>
          </a:solidFill>
          <a:ln w="12700">
            <a:solidFill>
              <a:srgbClr val="F8FBFF"/>
            </a:solidFill>
          </a:ln>
        </p:spPr>
        <p:txBody>
          <a:bodyPr/>
          <a:lstStyle/>
          <a:p/>
        </p:txBody>
      </p:sp>
      <p:sp>
        <p:nvSpPr>
          <p:cNvPr id="287" name="Ellipse 287"/>
          <p:cNvSpPr/>
          <p:nvPr/>
        </p:nvSpPr>
        <p:spPr>
          <a:xfrm>
            <a:off x="8115097" y="2800350"/>
            <a:ext cx="76198" cy="76200"/>
          </a:xfrm>
          <a:prstGeom prst="ellipse">
            <a:avLst/>
          </a:prstGeom>
          <a:solidFill>
            <a:srgbClr val="FF624F"/>
          </a:solidFill>
          <a:ln w="12700">
            <a:solidFill>
              <a:srgbClr val="F8FBFF"/>
            </a:solidFill>
          </a:ln>
        </p:spPr>
        <p:txBody>
          <a:bodyPr/>
          <a:lstStyle/>
          <a:p/>
        </p:txBody>
      </p:sp>
      <p:sp>
        <p:nvSpPr>
          <p:cNvPr id="288" name="Ellipse 288"/>
          <p:cNvSpPr/>
          <p:nvPr/>
        </p:nvSpPr>
        <p:spPr>
          <a:xfrm>
            <a:off x="9943851" y="2343150"/>
            <a:ext cx="76198" cy="76200"/>
          </a:xfrm>
          <a:prstGeom prst="ellipse">
            <a:avLst/>
          </a:prstGeom>
          <a:solidFill>
            <a:srgbClr val="FF624F"/>
          </a:solidFill>
          <a:ln w="12700">
            <a:solidFill>
              <a:srgbClr val="F8FBFF"/>
            </a:solidFill>
          </a:ln>
        </p:spPr>
        <p:txBody>
          <a:bodyPr/>
          <a:lstStyle/>
          <a:p/>
        </p:txBody>
      </p:sp>
      <p:sp>
        <p:nvSpPr>
          <p:cNvPr id="289" name="Ellipse 289"/>
          <p:cNvSpPr/>
          <p:nvPr/>
        </p:nvSpPr>
        <p:spPr>
          <a:xfrm>
            <a:off x="10229594" y="2438400"/>
            <a:ext cx="76198" cy="76200"/>
          </a:xfrm>
          <a:prstGeom prst="ellipse">
            <a:avLst/>
          </a:prstGeom>
          <a:solidFill>
            <a:srgbClr val="FF624F"/>
          </a:solidFill>
          <a:ln w="12700">
            <a:solidFill>
              <a:srgbClr val="F8FBFF"/>
            </a:solidFill>
          </a:ln>
        </p:spPr>
        <p:txBody>
          <a:bodyPr/>
          <a:lstStyle/>
          <a:p/>
        </p:txBody>
      </p:sp>
      <p:sp>
        <p:nvSpPr>
          <p:cNvPr id="290" name="Ellipse 290"/>
          <p:cNvSpPr/>
          <p:nvPr/>
        </p:nvSpPr>
        <p:spPr>
          <a:xfrm>
            <a:off x="9943851" y="2800350"/>
            <a:ext cx="76198" cy="76200"/>
          </a:xfrm>
          <a:prstGeom prst="ellipse">
            <a:avLst/>
          </a:prstGeom>
          <a:solidFill>
            <a:srgbClr val="FF624F"/>
          </a:solidFill>
          <a:ln w="12700">
            <a:solidFill>
              <a:srgbClr val="F8FBFF"/>
            </a:solidFill>
          </a:ln>
        </p:spPr>
        <p:txBody>
          <a:bodyPr/>
          <a:lstStyle/>
          <a:p/>
        </p:txBody>
      </p:sp>
      <p:sp>
        <p:nvSpPr>
          <p:cNvPr id="291" name="Ellipse 291"/>
          <p:cNvSpPr/>
          <p:nvPr/>
        </p:nvSpPr>
        <p:spPr>
          <a:xfrm>
            <a:off x="9943851" y="3171825"/>
            <a:ext cx="76198" cy="76200"/>
          </a:xfrm>
          <a:prstGeom prst="ellipse">
            <a:avLst/>
          </a:prstGeom>
          <a:solidFill>
            <a:srgbClr val="FF624F"/>
          </a:solidFill>
          <a:ln w="12700">
            <a:solidFill>
              <a:srgbClr val="F8FBFF"/>
            </a:solidFill>
          </a:ln>
        </p:spPr>
        <p:txBody>
          <a:bodyPr/>
          <a:lstStyle/>
          <a:p/>
        </p:txBody>
      </p:sp>
      <p:sp>
        <p:nvSpPr>
          <p:cNvPr id="292" name="TextBox 292"/>
          <p:cNvSpPr txBox="1"/>
          <p:nvPr/>
        </p:nvSpPr>
        <p:spPr>
          <a:xfrm>
            <a:off x="857229" y="600075"/>
            <a:ext cx="1428714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50" b="1">
                <a:solidFill>
                  <a:srgbClr val="A7B2BD"/>
                </a:solidFill>
                <a:latin typeface="PingFang SC"/>
                <a:ea typeface="PingFang SC"/>
                <a:cs typeface="PingFang SC"/>
              </a:rPr>
              <a:t>COURSE PROJECT</a:t>
            </a:r>
            <a:endParaRPr lang="zh-CN" sz="850"/>
          </a:p>
        </p:txBody>
      </p:sp>
      <p:sp>
        <p:nvSpPr>
          <p:cNvPr id="293" name="TextBox 293"/>
          <p:cNvSpPr txBox="1"/>
          <p:nvPr/>
        </p:nvSpPr>
        <p:spPr>
          <a:xfrm>
            <a:off x="733407" y="1190625"/>
            <a:ext cx="6095848" cy="609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3900" b="1">
                <a:solidFill>
                  <a:srgbClr val="F7FAFC"/>
                </a:solidFill>
                <a:latin typeface="PingFang SC"/>
                <a:ea typeface="PingFang SC"/>
                <a:cs typeface="PingFang SC"/>
              </a:rPr>
              <a:t>自动化仓库 AGV 优化</a:t>
            </a:r>
            <a:endParaRPr lang="zh-CN" sz="3900"/>
          </a:p>
        </p:txBody>
      </p:sp>
      <p:sp>
        <p:nvSpPr>
          <p:cNvPr id="294" name="TextBox 294"/>
          <p:cNvSpPr txBox="1"/>
          <p:nvPr/>
        </p:nvSpPr>
        <p:spPr>
          <a:xfrm>
            <a:off x="742931" y="2076450"/>
            <a:ext cx="6667333" cy="2857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00">
                <a:solidFill>
                  <a:srgbClr val="C6D0D9"/>
                </a:solidFill>
                <a:latin typeface="PingFang SC"/>
                <a:ea typeface="PingFang SC"/>
                <a:cs typeface="PingFang SC"/>
              </a:rPr>
              <a:t>从现场实体到数字模型： 任务分配、动态分区与重点缓存货位选择</a:t>
            </a:r>
            <a:endParaRPr lang="zh-CN" sz="1500"/>
          </a:p>
        </p:txBody>
      </p:sp>
      <p:sp>
        <p:nvSpPr>
          <p:cNvPr id="295" name="TextBox 295"/>
          <p:cNvSpPr txBox="1"/>
          <p:nvPr/>
        </p:nvSpPr>
        <p:spPr>
          <a:xfrm>
            <a:off x="733407" y="3476625"/>
            <a:ext cx="666733" cy="3810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350" b="1">
                <a:solidFill>
                  <a:srgbClr val="2B7DFF"/>
                </a:solidFill>
                <a:latin typeface="PingFang SC"/>
                <a:ea typeface="PingFang SC"/>
                <a:cs typeface="PingFang SC"/>
              </a:rPr>
              <a:t>3</a:t>
            </a:r>
            <a:endParaRPr lang="zh-CN" sz="2350"/>
          </a:p>
        </p:txBody>
      </p:sp>
      <p:sp>
        <p:nvSpPr>
          <p:cNvPr id="296" name="TextBox 296"/>
          <p:cNvSpPr txBox="1"/>
          <p:nvPr/>
        </p:nvSpPr>
        <p:spPr>
          <a:xfrm>
            <a:off x="733407" y="3876675"/>
            <a:ext cx="838179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80" b="1">
                <a:solidFill>
                  <a:srgbClr val="F7FAFC"/>
                </a:solidFill>
                <a:latin typeface="PingFang SC"/>
                <a:ea typeface="PingFang SC"/>
                <a:cs typeface="PingFang SC"/>
              </a:rPr>
              <a:t>实验任务</a:t>
            </a:r>
            <a:endParaRPr lang="zh-CN" sz="880"/>
          </a:p>
        </p:txBody>
      </p:sp>
      <p:sp>
        <p:nvSpPr>
          <p:cNvPr id="297" name="TextBox 297"/>
          <p:cNvSpPr txBox="1"/>
          <p:nvPr/>
        </p:nvSpPr>
        <p:spPr>
          <a:xfrm>
            <a:off x="733407" y="4143375"/>
            <a:ext cx="1428714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10">
                <a:solidFill>
                  <a:srgbClr val="778594"/>
                </a:solidFill>
                <a:latin typeface="PingFang SC"/>
                <a:ea typeface="PingFang SC"/>
                <a:cs typeface="PingFang SC"/>
              </a:rPr>
              <a:t>调度 · 分区 · 布局</a:t>
            </a:r>
            <a:endParaRPr lang="zh-CN" sz="710"/>
          </a:p>
        </p:txBody>
      </p:sp>
      <p:sp>
        <p:nvSpPr>
          <p:cNvPr id="298" name="TextBox 298"/>
          <p:cNvSpPr txBox="1"/>
          <p:nvPr/>
        </p:nvSpPr>
        <p:spPr>
          <a:xfrm>
            <a:off x="2809805" y="3476625"/>
            <a:ext cx="1000100" cy="3810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350" b="1">
                <a:solidFill>
                  <a:srgbClr val="35B378"/>
                </a:solidFill>
                <a:latin typeface="PingFang SC"/>
                <a:ea typeface="PingFang SC"/>
                <a:cs typeface="PingFang SC"/>
              </a:rPr>
              <a:t>140</a:t>
            </a:r>
            <a:endParaRPr lang="zh-CN" sz="2350"/>
          </a:p>
        </p:txBody>
      </p:sp>
      <p:sp>
        <p:nvSpPr>
          <p:cNvPr id="299" name="TextBox 299"/>
          <p:cNvSpPr txBox="1"/>
          <p:nvPr/>
        </p:nvSpPr>
        <p:spPr>
          <a:xfrm>
            <a:off x="2819330" y="3876675"/>
            <a:ext cx="914377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80" b="1">
                <a:solidFill>
                  <a:srgbClr val="F7FAFC"/>
                </a:solidFill>
                <a:latin typeface="PingFang SC"/>
                <a:ea typeface="PingFang SC"/>
                <a:cs typeface="PingFang SC"/>
              </a:rPr>
              <a:t>托盘记录</a:t>
            </a:r>
            <a:endParaRPr lang="zh-CN" sz="880"/>
          </a:p>
        </p:txBody>
      </p:sp>
      <p:sp>
        <p:nvSpPr>
          <p:cNvPr id="300" name="TextBox 300"/>
          <p:cNvSpPr txBox="1"/>
          <p:nvPr/>
        </p:nvSpPr>
        <p:spPr>
          <a:xfrm>
            <a:off x="2819330" y="4143375"/>
            <a:ext cx="1333467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10">
                <a:solidFill>
                  <a:srgbClr val="778594"/>
                </a:solidFill>
                <a:latin typeface="PingFang SC"/>
                <a:ea typeface="PingFang SC"/>
                <a:cs typeface="PingFang SC"/>
              </a:rPr>
              <a:t>总货量 8478</a:t>
            </a:r>
            <a:endParaRPr lang="zh-CN" sz="710"/>
          </a:p>
        </p:txBody>
      </p:sp>
      <p:sp>
        <p:nvSpPr>
          <p:cNvPr id="301" name="TextBox 301"/>
          <p:cNvSpPr txBox="1"/>
          <p:nvPr/>
        </p:nvSpPr>
        <p:spPr>
          <a:xfrm>
            <a:off x="4914777" y="3476625"/>
            <a:ext cx="1142971" cy="3810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300" b="1">
                <a:solidFill>
                  <a:srgbClr val="F3B52D"/>
                </a:solidFill>
                <a:latin typeface="PingFang SC"/>
                <a:ea typeface="PingFang SC"/>
                <a:cs typeface="PingFang SC"/>
              </a:rPr>
              <a:t>0.47s</a:t>
            </a:r>
            <a:endParaRPr lang="zh-CN" sz="2300"/>
          </a:p>
        </p:txBody>
      </p:sp>
      <p:sp>
        <p:nvSpPr>
          <p:cNvPr id="302" name="TextBox 302"/>
          <p:cNvSpPr txBox="1"/>
          <p:nvPr/>
        </p:nvSpPr>
        <p:spPr>
          <a:xfrm>
            <a:off x="4914777" y="3876675"/>
            <a:ext cx="1028674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80" b="1">
                <a:solidFill>
                  <a:srgbClr val="F7FAFC"/>
                </a:solidFill>
                <a:latin typeface="PingFang SC"/>
                <a:ea typeface="PingFang SC"/>
                <a:cs typeface="PingFang SC"/>
              </a:rPr>
              <a:t>端到端求解</a:t>
            </a:r>
            <a:endParaRPr lang="zh-CN" sz="880"/>
          </a:p>
        </p:txBody>
      </p:sp>
      <p:sp>
        <p:nvSpPr>
          <p:cNvPr id="303" name="TextBox 303"/>
          <p:cNvSpPr txBox="1"/>
          <p:nvPr/>
        </p:nvSpPr>
        <p:spPr>
          <a:xfrm>
            <a:off x="4914777" y="4143375"/>
            <a:ext cx="1238219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10">
                <a:solidFill>
                  <a:srgbClr val="778594"/>
                </a:solidFill>
                <a:latin typeface="PingFang SC"/>
                <a:ea typeface="PingFang SC"/>
                <a:cs typeface="PingFang SC"/>
              </a:rPr>
              <a:t>一次完整运行</a:t>
            </a:r>
            <a:endParaRPr lang="zh-CN" sz="710"/>
          </a:p>
        </p:txBody>
      </p:sp>
      <p:sp>
        <p:nvSpPr>
          <p:cNvPr id="304" name="TextBox 304"/>
          <p:cNvSpPr txBox="1"/>
          <p:nvPr/>
        </p:nvSpPr>
        <p:spPr>
          <a:xfrm>
            <a:off x="8019849" y="4191000"/>
            <a:ext cx="1238219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20" b="1">
                <a:solidFill>
                  <a:srgbClr val="F7FAFC"/>
                </a:solidFill>
                <a:latin typeface="PingFang SC"/>
                <a:ea typeface="PingFang SC"/>
                <a:cs typeface="PingFang SC"/>
              </a:rPr>
              <a:t>核心主张</a:t>
            </a:r>
            <a:endParaRPr lang="zh-CN" sz="1120"/>
          </a:p>
        </p:txBody>
      </p:sp>
      <p:sp>
        <p:nvSpPr>
          <p:cNvPr id="305" name="TextBox 305"/>
          <p:cNvSpPr txBox="1"/>
          <p:nvPr/>
        </p:nvSpPr>
        <p:spPr>
          <a:xfrm>
            <a:off x="8019849" y="4486275"/>
            <a:ext cx="2857429" cy="4286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60">
                <a:solidFill>
                  <a:srgbClr val="AEB9C4"/>
                </a:solidFill>
                <a:latin typeface="PingFang SC"/>
                <a:ea typeface="PingFang SC"/>
                <a:cs typeface="PingFang SC"/>
              </a:rPr>
              <a:t>把仓库中的搬运、负载与布局问题转化成可复现实验，</a:t>
            </a:r>
            <a:endParaRPr lang="zh-CN" sz="760"/>
          </a:p>
          <a:p>
            <a:pPr algn="left"/>
            <a:r>
              <a:rPr lang="zh-CN" sz="760">
                <a:solidFill>
                  <a:srgbClr val="AEB9C4"/>
                </a:solidFill>
                <a:latin typeface="PingFang SC"/>
                <a:ea typeface="PingFang SC"/>
                <a:cs typeface="PingFang SC"/>
              </a:rPr>
              <a:t>并用教材中的优化算法完成自动化求解。</a:t>
            </a:r>
            <a:endParaRPr lang="zh-CN" sz="760"/>
          </a:p>
        </p:txBody>
      </p:sp>
      <p:sp>
        <p:nvSpPr>
          <p:cNvPr id="306" name="TextBox 306"/>
          <p:cNvSpPr txBox="1"/>
          <p:nvPr/>
        </p:nvSpPr>
        <p:spPr>
          <a:xfrm>
            <a:off x="685783" y="6438900"/>
            <a:ext cx="3428914" cy="1333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580">
                <a:solidFill>
                  <a:srgbClr val="778594"/>
                </a:solidFill>
                <a:latin typeface="PingFang SC"/>
                <a:ea typeface="PingFang SC"/>
                <a:cs typeface="PingFang SC"/>
              </a:rPr>
              <a:t>AGV 仓储优化课程项目 · 本地 CSV 数据 · Python 自实现算法</a:t>
            </a:r>
            <a:endParaRPr lang="zh-CN" sz="580"/>
          </a:p>
        </p:txBody>
      </p:sp>
      <p:sp>
        <p:nvSpPr>
          <p:cNvPr id="307" name="TextBox 307"/>
          <p:cNvSpPr txBox="1"/>
          <p:nvPr/>
        </p:nvSpPr>
        <p:spPr>
          <a:xfrm>
            <a:off x="11401140" y="6438900"/>
            <a:ext cx="285743" cy="1333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30">
                <a:solidFill>
                  <a:srgbClr val="9AA5B1"/>
                </a:solidFill>
                <a:latin typeface="PingFang SC"/>
                <a:ea typeface="PingFang SC"/>
                <a:cs typeface="PingFang SC"/>
              </a:rPr>
              <a:t>01</a:t>
            </a:r>
            <a:endParaRPr lang="zh-CN" sz="73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685800" y="571500"/>
            <a:ext cx="57150" cy="66675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ine 3"/>
          <p:cNvSpPr/>
          <p:nvPr/>
        </p:nvSpPr>
        <p:spPr>
          <a:xfrm>
            <a:off x="685800" y="6248400"/>
            <a:ext cx="2847975" cy="0"/>
          </a:xfrm>
          <a:prstGeom prst="line">
            <a:avLst/>
          </a:prstGeom>
          <a:noFill/>
          <a:ln w="10160">
            <a:solidFill>
              <a:srgbClr val="D7DEE3"/>
            </a:solidFill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762000" y="2952750"/>
            <a:ext cx="2190750" cy="971550"/>
          </a:xfrm>
          <a:prstGeom prst="rect">
            <a:avLst/>
          </a:prstGeom>
          <a:solidFill>
            <a:srgbClr val="FBFCFC"/>
          </a:solidFill>
          <a:ln w="9525">
            <a:solidFill>
              <a:srgbClr val="E4E9EC"/>
            </a:solidFill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3543300" y="2952750"/>
            <a:ext cx="2190750" cy="971550"/>
          </a:xfrm>
          <a:prstGeom prst="rect">
            <a:avLst/>
          </a:prstGeom>
          <a:solidFill>
            <a:srgbClr val="FBFCFC"/>
          </a:solidFill>
          <a:ln w="9525">
            <a:solidFill>
              <a:srgbClr val="E4E9EC"/>
            </a:solidFill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6324600" y="2952750"/>
            <a:ext cx="2190750" cy="971550"/>
          </a:xfrm>
          <a:prstGeom prst="rect">
            <a:avLst/>
          </a:prstGeom>
          <a:solidFill>
            <a:srgbClr val="FBFCFC"/>
          </a:solidFill>
          <a:ln w="9525">
            <a:solidFill>
              <a:srgbClr val="E4E9EC"/>
            </a:solidFill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9105900" y="2952750"/>
            <a:ext cx="2190750" cy="971550"/>
          </a:xfrm>
          <a:prstGeom prst="rect">
            <a:avLst/>
          </a:prstGeom>
          <a:solidFill>
            <a:srgbClr val="FBFCFC"/>
          </a:solidFill>
          <a:ln w="9525">
            <a:solidFill>
              <a:srgbClr val="E4E9EC"/>
            </a:solidFill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1809750" y="4676775"/>
            <a:ext cx="8191500" cy="885825"/>
          </a:xfrm>
          <a:prstGeom prst="rect">
            <a:avLst/>
          </a:prstGeom>
          <a:solidFill>
            <a:srgbClr val="FBFCFC"/>
          </a:solidFill>
          <a:ln w="9525">
            <a:solidFill>
              <a:srgbClr val="E3E8EC"/>
            </a:solidFill>
          </a:ln>
        </p:spPr>
        <p:txBody>
          <a:bodyPr/>
          <a:lstStyle/>
          <a:p/>
        </p:txBody>
      </p:sp>
      <p:sp>
        <p:nvSpPr>
          <p:cNvPr id="9" name="Line 9"/>
          <p:cNvSpPr/>
          <p:nvPr/>
        </p:nvSpPr>
        <p:spPr>
          <a:xfrm>
            <a:off x="2952750" y="3438525"/>
            <a:ext cx="590550" cy="0"/>
          </a:xfrm>
          <a:prstGeom prst="line">
            <a:avLst/>
          </a:prstGeom>
          <a:noFill/>
          <a:ln w="12700">
            <a:solidFill>
              <a:srgbClr val="AEB8C5"/>
            </a:solidFill>
          </a:ln>
        </p:spPr>
        <p:txBody>
          <a:bodyPr/>
          <a:lstStyle/>
          <a:p/>
        </p:txBody>
      </p:sp>
      <p:sp>
        <p:nvSpPr>
          <p:cNvPr id="10" name="Line 10"/>
          <p:cNvSpPr/>
          <p:nvPr/>
        </p:nvSpPr>
        <p:spPr>
          <a:xfrm>
            <a:off x="5734050" y="3438525"/>
            <a:ext cx="590550" cy="0"/>
          </a:xfrm>
          <a:prstGeom prst="line">
            <a:avLst/>
          </a:prstGeom>
          <a:noFill/>
          <a:ln w="12700">
            <a:solidFill>
              <a:srgbClr val="AEB8C5"/>
            </a:solidFill>
          </a:ln>
        </p:spPr>
        <p:txBody>
          <a:bodyPr/>
          <a:lstStyle/>
          <a:p/>
        </p:txBody>
      </p:sp>
      <p:sp>
        <p:nvSpPr>
          <p:cNvPr id="11" name="Line 11"/>
          <p:cNvSpPr/>
          <p:nvPr/>
        </p:nvSpPr>
        <p:spPr>
          <a:xfrm>
            <a:off x="8515350" y="3438525"/>
            <a:ext cx="590550" cy="0"/>
          </a:xfrm>
          <a:prstGeom prst="line">
            <a:avLst/>
          </a:prstGeom>
          <a:noFill/>
          <a:ln w="12700">
            <a:solidFill>
              <a:srgbClr val="AEB8C5"/>
            </a:solidFill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762000" y="2952750"/>
            <a:ext cx="2190750" cy="4762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3543300" y="2952750"/>
            <a:ext cx="2190750" cy="47625"/>
          </a:xfrm>
          <a:prstGeom prst="rect">
            <a:avLst/>
          </a:prstGeom>
          <a:solidFill>
            <a:srgbClr val="2FA36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6324600" y="2952750"/>
            <a:ext cx="2190750" cy="47625"/>
          </a:xfrm>
          <a:prstGeom prst="rect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9105900" y="2952750"/>
            <a:ext cx="2190750" cy="47625"/>
          </a:xfrm>
          <a:prstGeom prst="rect">
            <a:avLst/>
          </a:prstGeom>
          <a:solidFill>
            <a:srgbClr val="FF5E58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1809750" y="4676775"/>
            <a:ext cx="47625" cy="885825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857250" y="552450"/>
            <a:ext cx="1238250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00" b="1">
                <a:solidFill>
                  <a:srgbClr val="5F6C79"/>
                </a:solidFill>
                <a:latin typeface="PingFang SC"/>
                <a:ea typeface="PingFang SC"/>
                <a:cs typeface="PingFang SC"/>
              </a:rPr>
              <a:t>BACKGROUND</a:t>
            </a:r>
            <a:endParaRPr lang="zh-CN" sz="800"/>
          </a:p>
        </p:txBody>
      </p:sp>
      <p:sp>
        <p:nvSpPr>
          <p:cNvPr id="18" name="TextBox 18"/>
          <p:cNvSpPr txBox="1"/>
          <p:nvPr/>
        </p:nvSpPr>
        <p:spPr>
          <a:xfrm>
            <a:off x="685800" y="876300"/>
            <a:ext cx="8572500" cy="457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8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实验背景： 自动化仓库要让货物流得更顺。</a:t>
            </a:r>
            <a:endParaRPr lang="zh-CN" sz="2800"/>
          </a:p>
        </p:txBody>
      </p:sp>
      <p:sp>
        <p:nvSpPr>
          <p:cNvPr id="19" name="TextBox 19"/>
          <p:cNvSpPr txBox="1"/>
          <p:nvPr/>
        </p:nvSpPr>
        <p:spPr>
          <a:xfrm>
            <a:off x="714375" y="1914525"/>
            <a:ext cx="7429500" cy="457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00">
                <a:solidFill>
                  <a:srgbClr val="647383"/>
                </a:solidFill>
                <a:latin typeface="PingFang SC"/>
                <a:ea typeface="PingFang SC"/>
                <a:cs typeface="PingFang SC"/>
              </a:rPr>
              <a:t>仓库每天面对大量托盘搬运任务。 AGV</a:t>
            </a:r>
            <a:endParaRPr lang="zh-CN" sz="1200"/>
          </a:p>
          <a:p>
            <a:pPr algn="left"/>
            <a:r>
              <a:rPr lang="zh-CN" sz="1200">
                <a:solidFill>
                  <a:srgbClr val="647383"/>
                </a:solidFill>
                <a:latin typeface="PingFang SC"/>
                <a:ea typeface="PingFang SC"/>
                <a:cs typeface="PingFang SC"/>
              </a:rPr>
              <a:t>能自动搬运，但如果任务、区域和布局安排不好，系统仍然会出现绕路、等待和局部拥堵。</a:t>
            </a:r>
            <a:endParaRPr lang="zh-CN" sz="1200"/>
          </a:p>
        </p:txBody>
      </p:sp>
      <p:sp>
        <p:nvSpPr>
          <p:cNvPr id="20" name="TextBox 20"/>
          <p:cNvSpPr txBox="1"/>
          <p:nvPr/>
        </p:nvSpPr>
        <p:spPr>
          <a:xfrm>
            <a:off x="923925" y="3152775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5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入库区</a:t>
            </a:r>
            <a:endParaRPr lang="zh-CN" sz="1350"/>
          </a:p>
        </p:txBody>
      </p:sp>
      <p:sp>
        <p:nvSpPr>
          <p:cNvPr id="21" name="TextBox 21"/>
          <p:cNvSpPr txBox="1"/>
          <p:nvPr/>
        </p:nvSpPr>
        <p:spPr>
          <a:xfrm>
            <a:off x="923925" y="3429000"/>
            <a:ext cx="2095500" cy="3619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50">
                <a:solidFill>
                  <a:srgbClr val="667686"/>
                </a:solidFill>
                <a:latin typeface="PingFang SC"/>
                <a:ea typeface="PingFang SC"/>
                <a:cs typeface="PingFang SC"/>
              </a:rPr>
              <a:t>货物进入仓库，形成待存储或待处理</a:t>
            </a:r>
            <a:endParaRPr lang="zh-CN" sz="950"/>
          </a:p>
          <a:p>
            <a:pPr algn="left"/>
            <a:r>
              <a:rPr lang="zh-CN" sz="950">
                <a:solidFill>
                  <a:srgbClr val="667686"/>
                </a:solidFill>
                <a:latin typeface="PingFang SC"/>
                <a:ea typeface="PingFang SC"/>
                <a:cs typeface="PingFang SC"/>
              </a:rPr>
              <a:t>托盘</a:t>
            </a:r>
            <a:endParaRPr lang="zh-CN" sz="950"/>
          </a:p>
        </p:txBody>
      </p:sp>
      <p:sp>
        <p:nvSpPr>
          <p:cNvPr id="22" name="TextBox 22"/>
          <p:cNvSpPr txBox="1"/>
          <p:nvPr/>
        </p:nvSpPr>
        <p:spPr>
          <a:xfrm>
            <a:off x="3695700" y="3152775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5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存储区</a:t>
            </a:r>
            <a:endParaRPr lang="zh-CN" sz="1350"/>
          </a:p>
        </p:txBody>
      </p:sp>
      <p:sp>
        <p:nvSpPr>
          <p:cNvPr id="23" name="TextBox 23"/>
          <p:cNvSpPr txBox="1"/>
          <p:nvPr/>
        </p:nvSpPr>
        <p:spPr>
          <a:xfrm>
            <a:off x="3695700" y="3429000"/>
            <a:ext cx="2095500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50">
                <a:solidFill>
                  <a:srgbClr val="667686"/>
                </a:solidFill>
                <a:latin typeface="PingFang SC"/>
                <a:ea typeface="PingFang SC"/>
                <a:cs typeface="PingFang SC"/>
              </a:rPr>
              <a:t>托盘分布在仓库货位中，等待搬运</a:t>
            </a:r>
            <a:endParaRPr lang="zh-CN" sz="950"/>
          </a:p>
        </p:txBody>
      </p:sp>
      <p:sp>
        <p:nvSpPr>
          <p:cNvPr id="24" name="TextBox 24"/>
          <p:cNvSpPr txBox="1"/>
          <p:nvPr/>
        </p:nvSpPr>
        <p:spPr>
          <a:xfrm>
            <a:off x="6477000" y="3152775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5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作业工位</a:t>
            </a:r>
            <a:endParaRPr lang="zh-CN" sz="1350"/>
          </a:p>
        </p:txBody>
      </p:sp>
      <p:sp>
        <p:nvSpPr>
          <p:cNvPr id="25" name="TextBox 25"/>
          <p:cNvSpPr txBox="1"/>
          <p:nvPr/>
        </p:nvSpPr>
        <p:spPr>
          <a:xfrm>
            <a:off x="6477000" y="3429000"/>
            <a:ext cx="2095500" cy="3619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50">
                <a:solidFill>
                  <a:srgbClr val="667686"/>
                </a:solidFill>
                <a:latin typeface="PingFang SC"/>
                <a:ea typeface="PingFang SC"/>
                <a:cs typeface="PingFang SC"/>
              </a:rPr>
              <a:t>拣选、包装、加工、检验等操作发生</a:t>
            </a:r>
            <a:endParaRPr lang="zh-CN" sz="950"/>
          </a:p>
          <a:p>
            <a:pPr algn="left"/>
            <a:r>
              <a:rPr lang="zh-CN" sz="950">
                <a:solidFill>
                  <a:srgbClr val="667686"/>
                </a:solidFill>
                <a:latin typeface="PingFang SC"/>
                <a:ea typeface="PingFang SC"/>
                <a:cs typeface="PingFang SC"/>
              </a:rPr>
              <a:t>的位置</a:t>
            </a:r>
            <a:endParaRPr lang="zh-CN" sz="950"/>
          </a:p>
        </p:txBody>
      </p:sp>
      <p:sp>
        <p:nvSpPr>
          <p:cNvPr id="26" name="TextBox 26"/>
          <p:cNvSpPr txBox="1"/>
          <p:nvPr/>
        </p:nvSpPr>
        <p:spPr>
          <a:xfrm>
            <a:off x="9258300" y="3152775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5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出库区</a:t>
            </a:r>
            <a:endParaRPr lang="zh-CN" sz="1350"/>
          </a:p>
        </p:txBody>
      </p:sp>
      <p:sp>
        <p:nvSpPr>
          <p:cNvPr id="27" name="TextBox 27"/>
          <p:cNvSpPr txBox="1"/>
          <p:nvPr/>
        </p:nvSpPr>
        <p:spPr>
          <a:xfrm>
            <a:off x="9258300" y="3429000"/>
            <a:ext cx="2095500" cy="3619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50">
                <a:solidFill>
                  <a:srgbClr val="667686"/>
                </a:solidFill>
                <a:latin typeface="PingFang SC"/>
                <a:ea typeface="PingFang SC"/>
                <a:cs typeface="PingFang SC"/>
              </a:rPr>
              <a:t>处理完成的托盘被送往发运或暂存位</a:t>
            </a:r>
            <a:endParaRPr lang="zh-CN" sz="950"/>
          </a:p>
          <a:p>
            <a:pPr algn="left"/>
            <a:r>
              <a:rPr lang="zh-CN" sz="950">
                <a:solidFill>
                  <a:srgbClr val="667686"/>
                </a:solidFill>
                <a:latin typeface="PingFang SC"/>
                <a:ea typeface="PingFang SC"/>
                <a:cs typeface="PingFang SC"/>
              </a:rPr>
              <a:t>置</a:t>
            </a:r>
            <a:endParaRPr lang="zh-CN" sz="950"/>
          </a:p>
        </p:txBody>
      </p:sp>
      <p:sp>
        <p:nvSpPr>
          <p:cNvPr id="28" name="TextBox 28"/>
          <p:cNvSpPr txBox="1"/>
          <p:nvPr/>
        </p:nvSpPr>
        <p:spPr>
          <a:xfrm>
            <a:off x="1981200" y="4829175"/>
            <a:ext cx="1714500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5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为什么需要优化</a:t>
            </a:r>
            <a:endParaRPr lang="zh-CN" sz="1250"/>
          </a:p>
        </p:txBody>
      </p:sp>
      <p:sp>
        <p:nvSpPr>
          <p:cNvPr id="29" name="TextBox 29"/>
          <p:cNvSpPr txBox="1"/>
          <p:nvPr/>
        </p:nvSpPr>
        <p:spPr>
          <a:xfrm>
            <a:off x="1981200" y="512445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19">
                <a:solidFill>
                  <a:srgbClr val="667686"/>
                </a:solidFill>
                <a:latin typeface="PingFang SC"/>
                <a:ea typeface="PingFang SC"/>
                <a:cs typeface="PingFang SC"/>
              </a:rPr>
              <a:t>AGV 数量有限，托盘位置分散，工位负载会变化。我们需要用模型回答：谁去搬、货量归谁处理、哪些位置适合作为重点缓存点。</a:t>
            </a:r>
            <a:endParaRPr lang="zh-CN" sz="919"/>
          </a:p>
        </p:txBody>
      </p:sp>
      <p:sp>
        <p:nvSpPr>
          <p:cNvPr id="30" name="TextBox 30"/>
          <p:cNvSpPr txBox="1"/>
          <p:nvPr/>
        </p:nvSpPr>
        <p:spPr>
          <a:xfrm>
            <a:off x="676275" y="6438900"/>
            <a:ext cx="3619500" cy="1333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00">
                <a:solidFill>
                  <a:srgbClr val="758391"/>
                </a:solidFill>
                <a:latin typeface="PingFang SC"/>
                <a:ea typeface="PingFang SC"/>
                <a:cs typeface="PingFang SC"/>
              </a:rPr>
              <a:t>AGV 仓储优化课程项目 · 本地 CSV 数据 · Python 自实现算法</a:t>
            </a:r>
            <a:endParaRPr lang="zh-CN" sz="800"/>
          </a:p>
        </p:txBody>
      </p:sp>
      <p:sp>
        <p:nvSpPr>
          <p:cNvPr id="31" name="TextBox 31"/>
          <p:cNvSpPr txBox="1"/>
          <p:nvPr/>
        </p:nvSpPr>
        <p:spPr>
          <a:xfrm>
            <a:off x="11372850" y="6438900"/>
            <a:ext cx="238125" cy="1333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00">
                <a:solidFill>
                  <a:srgbClr val="667686"/>
                </a:solidFill>
                <a:latin typeface="PingFang SC"/>
                <a:ea typeface="PingFang SC"/>
                <a:cs typeface="PingFang SC"/>
              </a:rPr>
              <a:t>02</a:t>
            </a:r>
            <a:endParaRPr lang="zh-CN"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685783" y="571500"/>
            <a:ext cx="66673" cy="66675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838179" y="2857500"/>
            <a:ext cx="2952676" cy="180975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AEC"/>
            </a:solidFill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4514737" y="2857500"/>
            <a:ext cx="2952676" cy="180975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AEC"/>
            </a:solidFill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8191295" y="2857500"/>
            <a:ext cx="2952676" cy="180975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AEC"/>
            </a:solidFill>
          </a:ln>
        </p:spPr>
        <p:txBody>
          <a:bodyPr/>
          <a:lstStyle/>
          <a:p/>
        </p:txBody>
      </p:sp>
      <p:sp>
        <p:nvSpPr>
          <p:cNvPr id="6" name="Line 6"/>
          <p:cNvSpPr/>
          <p:nvPr/>
        </p:nvSpPr>
        <p:spPr>
          <a:xfrm>
            <a:off x="685783" y="6248400"/>
            <a:ext cx="2847904" cy="0"/>
          </a:xfrm>
          <a:prstGeom prst="line">
            <a:avLst/>
          </a:prstGeom>
          <a:noFill/>
          <a:ln w="12700">
            <a:solidFill>
              <a:srgbClr val="D6DDE3"/>
            </a:solidFill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838179" y="2857500"/>
            <a:ext cx="2952676" cy="5715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4514737" y="2857500"/>
            <a:ext cx="2952676" cy="57150"/>
          </a:xfrm>
          <a:prstGeom prst="rect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8191295" y="2857500"/>
            <a:ext cx="2952676" cy="57150"/>
          </a:xfrm>
          <a:prstGeom prst="rect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1104872" y="3248025"/>
            <a:ext cx="923902" cy="409575"/>
          </a:xfrm>
          <a:prstGeom prst="rect">
            <a:avLst/>
          </a:prstGeom>
          <a:solidFill>
            <a:srgbClr val="EAF1FF"/>
          </a:solidFill>
          <a:ln w="15240">
            <a:solidFill>
              <a:srgbClr val="4F8FFF"/>
            </a:solidFill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4781430" y="3514725"/>
            <a:ext cx="1028674" cy="95250"/>
          </a:xfrm>
          <a:prstGeom prst="rect">
            <a:avLst/>
          </a:prstGeom>
          <a:solidFill>
            <a:srgbClr val="8A5A2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4914777" y="3609975"/>
            <a:ext cx="104772" cy="114300"/>
          </a:xfrm>
          <a:prstGeom prst="rect">
            <a:avLst/>
          </a:prstGeom>
          <a:solidFill>
            <a:srgbClr val="8A5A2E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5210045" y="3609975"/>
            <a:ext cx="104772" cy="114300"/>
          </a:xfrm>
          <a:prstGeom prst="rect">
            <a:avLst/>
          </a:prstGeom>
          <a:solidFill>
            <a:srgbClr val="8A5A2E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5505312" y="3609975"/>
            <a:ext cx="104772" cy="114300"/>
          </a:xfrm>
          <a:prstGeom prst="rect">
            <a:avLst/>
          </a:prstGeom>
          <a:solidFill>
            <a:srgbClr val="8A5A2E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8600860" y="3228975"/>
            <a:ext cx="685783" cy="514350"/>
          </a:xfrm>
          <a:prstGeom prst="rect">
            <a:avLst/>
          </a:prstGeom>
          <a:solidFill>
            <a:srgbClr val="EAFBF1"/>
          </a:solidFill>
          <a:ln w="15240">
            <a:solidFill>
              <a:srgbClr val="35A66A"/>
            </a:solidFill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1219170" y="3333750"/>
            <a:ext cx="352416" cy="12382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1657309" y="3333750"/>
            <a:ext cx="219070" cy="123825"/>
          </a:xfrm>
          <a:prstGeom prst="rect">
            <a:avLst/>
          </a:prstGeom>
          <a:solidFill>
            <a:srgbClr val="9CC2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4838579" y="3286125"/>
            <a:ext cx="266693" cy="228600"/>
          </a:xfrm>
          <a:prstGeom prst="rect">
            <a:avLst/>
          </a:prstGeom>
          <a:solidFill>
            <a:srgbClr val="E6A72A"/>
          </a:solidFill>
          <a:ln w="10160">
            <a:solidFill>
              <a:srgbClr val="B98225"/>
            </a:solidFill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5162421" y="3286125"/>
            <a:ext cx="276218" cy="228600"/>
          </a:xfrm>
          <a:prstGeom prst="rect">
            <a:avLst/>
          </a:prstGeom>
          <a:solidFill>
            <a:srgbClr val="E6A72A"/>
          </a:solidFill>
          <a:ln w="10160">
            <a:solidFill>
              <a:srgbClr val="B98225"/>
            </a:solidFill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5495788" y="3286125"/>
            <a:ext cx="276218" cy="228600"/>
          </a:xfrm>
          <a:prstGeom prst="rect">
            <a:avLst/>
          </a:prstGeom>
          <a:solidFill>
            <a:srgbClr val="E6A72A"/>
          </a:solidFill>
          <a:ln w="10160">
            <a:solidFill>
              <a:srgbClr val="B98225"/>
            </a:solidFill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8696108" y="3343275"/>
            <a:ext cx="495288" cy="57150"/>
          </a:xfrm>
          <a:prstGeom prst="rect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8696108" y="3476625"/>
            <a:ext cx="352416" cy="57150"/>
          </a:xfrm>
          <a:prstGeom prst="rect">
            <a:avLst/>
          </a:prstGeom>
          <a:solidFill>
            <a:srgbClr val="82C99F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8696108" y="3619500"/>
            <a:ext cx="419090" cy="57150"/>
          </a:xfrm>
          <a:prstGeom prst="rect">
            <a:avLst/>
          </a:prstGeom>
          <a:solidFill>
            <a:srgbClr val="82C99F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Line 24"/>
          <p:cNvSpPr/>
          <p:nvPr/>
        </p:nvSpPr>
        <p:spPr>
          <a:xfrm>
            <a:off x="1104872" y="3648075"/>
            <a:ext cx="114297" cy="0"/>
          </a:xfrm>
          <a:prstGeom prst="line">
            <a:avLst/>
          </a:prstGeom>
          <a:noFill/>
          <a:ln w="15240">
            <a:solidFill>
              <a:srgbClr val="2276FF"/>
            </a:solidFill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1390615" y="3648075"/>
            <a:ext cx="342891" cy="0"/>
          </a:xfrm>
          <a:prstGeom prst="line">
            <a:avLst/>
          </a:prstGeom>
          <a:noFill/>
          <a:ln w="15240">
            <a:solidFill>
              <a:srgbClr val="2276FF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1904952" y="3648075"/>
            <a:ext cx="123822" cy="0"/>
          </a:xfrm>
          <a:prstGeom prst="line">
            <a:avLst/>
          </a:prstGeom>
          <a:noFill/>
          <a:ln w="15240">
            <a:solidFill>
              <a:srgbClr val="2276FF"/>
            </a:solidFill>
          </a:ln>
        </p:spPr>
        <p:txBody>
          <a:bodyPr/>
          <a:lstStyle/>
          <a:p/>
        </p:txBody>
      </p:sp>
      <p:sp>
        <p:nvSpPr>
          <p:cNvPr id="27" name="Ellipse 27"/>
          <p:cNvSpPr/>
          <p:nvPr/>
        </p:nvSpPr>
        <p:spPr>
          <a:xfrm>
            <a:off x="1228694" y="3590925"/>
            <a:ext cx="152396" cy="152400"/>
          </a:xfrm>
          <a:prstGeom prst="ellipse">
            <a:avLst/>
          </a:prstGeom>
          <a:solidFill>
            <a:srgbClr val="1D26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lipse 28"/>
          <p:cNvSpPr/>
          <p:nvPr/>
        </p:nvSpPr>
        <p:spPr>
          <a:xfrm>
            <a:off x="1743031" y="3590925"/>
            <a:ext cx="152396" cy="152400"/>
          </a:xfrm>
          <a:prstGeom prst="ellipse">
            <a:avLst/>
          </a:prstGeom>
          <a:solidFill>
            <a:srgbClr val="1D26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TextBox 29"/>
          <p:cNvSpPr txBox="1"/>
          <p:nvPr/>
        </p:nvSpPr>
        <p:spPr>
          <a:xfrm>
            <a:off x="857229" y="542925"/>
            <a:ext cx="1619210" cy="1524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19">
                <a:solidFill>
                  <a:srgbClr val="4A5564"/>
                </a:solidFill>
                <a:latin typeface="PingFang SC"/>
                <a:ea typeface="PingFang SC"/>
                <a:cs typeface="PingFang SC"/>
              </a:rPr>
              <a:t>WAREHOUSE ENTITIES</a:t>
            </a:r>
            <a:endParaRPr lang="zh-CN" sz="819"/>
          </a:p>
        </p:txBody>
      </p:sp>
      <p:sp>
        <p:nvSpPr>
          <p:cNvPr id="30" name="TextBox 30"/>
          <p:cNvSpPr txBox="1"/>
          <p:nvPr/>
        </p:nvSpPr>
        <p:spPr>
          <a:xfrm>
            <a:off x="685783" y="866775"/>
            <a:ext cx="7048324" cy="457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85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先把仓库现场的三个基础实体讲清楚。</a:t>
            </a:r>
            <a:endParaRPr lang="zh-CN" sz="2850"/>
          </a:p>
        </p:txBody>
      </p:sp>
      <p:sp>
        <p:nvSpPr>
          <p:cNvPr id="31" name="TextBox 31"/>
          <p:cNvSpPr txBox="1"/>
          <p:nvPr/>
        </p:nvSpPr>
        <p:spPr>
          <a:xfrm>
            <a:off x="695308" y="1914525"/>
            <a:ext cx="7429314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6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任务 1 和任务 2 都围绕 AGV、托盘、工位展开；理解它们之后，后面的模型变量才有现实含义。</a:t>
            </a:r>
            <a:endParaRPr lang="zh-CN" sz="1160"/>
          </a:p>
        </p:txBody>
      </p:sp>
      <p:sp>
        <p:nvSpPr>
          <p:cNvPr id="32" name="TextBox 32"/>
          <p:cNvSpPr txBox="1"/>
          <p:nvPr/>
        </p:nvSpPr>
        <p:spPr>
          <a:xfrm>
            <a:off x="2266893" y="3143250"/>
            <a:ext cx="876278" cy="3238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05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AGV</a:t>
            </a:r>
            <a:endParaRPr lang="zh-CN" sz="2050"/>
          </a:p>
        </p:txBody>
      </p:sp>
      <p:sp>
        <p:nvSpPr>
          <p:cNvPr id="33" name="TextBox 33"/>
          <p:cNvSpPr txBox="1"/>
          <p:nvPr/>
        </p:nvSpPr>
        <p:spPr>
          <a:xfrm>
            <a:off x="5943451" y="3133725"/>
            <a:ext cx="857229" cy="3429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05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托盘</a:t>
            </a:r>
            <a:endParaRPr lang="zh-CN" sz="2050"/>
          </a:p>
        </p:txBody>
      </p:sp>
      <p:sp>
        <p:nvSpPr>
          <p:cNvPr id="34" name="TextBox 34"/>
          <p:cNvSpPr txBox="1"/>
          <p:nvPr/>
        </p:nvSpPr>
        <p:spPr>
          <a:xfrm>
            <a:off x="9629534" y="3133725"/>
            <a:ext cx="857229" cy="3429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05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工位</a:t>
            </a:r>
            <a:endParaRPr lang="zh-CN" sz="2050"/>
          </a:p>
        </p:txBody>
      </p:sp>
      <p:sp>
        <p:nvSpPr>
          <p:cNvPr id="35" name="TextBox 35"/>
          <p:cNvSpPr txBox="1"/>
          <p:nvPr/>
        </p:nvSpPr>
        <p:spPr>
          <a:xfrm>
            <a:off x="1123922" y="3981450"/>
            <a:ext cx="2571686" cy="1619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1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自动导引运输车，是仓库里的无人搬运资</a:t>
            </a:r>
            <a:endParaRPr lang="zh-CN" sz="910"/>
          </a:p>
        </p:txBody>
      </p:sp>
      <p:sp>
        <p:nvSpPr>
          <p:cNvPr id="36" name="TextBox 36"/>
          <p:cNvSpPr txBox="1"/>
          <p:nvPr/>
        </p:nvSpPr>
        <p:spPr>
          <a:xfrm>
            <a:off x="1123922" y="4152900"/>
            <a:ext cx="2571686" cy="1619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1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源。它负责从一个位置取托盘，再把托盘</a:t>
            </a:r>
            <a:endParaRPr lang="zh-CN" sz="910"/>
          </a:p>
        </p:txBody>
      </p:sp>
      <p:sp>
        <p:nvSpPr>
          <p:cNvPr id="37" name="TextBox 37"/>
          <p:cNvSpPr txBox="1"/>
          <p:nvPr/>
        </p:nvSpPr>
        <p:spPr>
          <a:xfrm>
            <a:off x="1123922" y="4324350"/>
            <a:ext cx="1619210" cy="1619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1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送到指定工位或区域。</a:t>
            </a:r>
            <a:endParaRPr lang="zh-CN" sz="910"/>
          </a:p>
        </p:txBody>
      </p:sp>
      <p:sp>
        <p:nvSpPr>
          <p:cNvPr id="38" name="TextBox 38"/>
          <p:cNvSpPr txBox="1"/>
          <p:nvPr/>
        </p:nvSpPr>
        <p:spPr>
          <a:xfrm>
            <a:off x="4800480" y="3981450"/>
            <a:ext cx="2647884" cy="1619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1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承载货物的标准化单元。一个托盘可以代表</a:t>
            </a:r>
            <a:endParaRPr lang="zh-CN" sz="910"/>
          </a:p>
        </p:txBody>
      </p:sp>
      <p:sp>
        <p:nvSpPr>
          <p:cNvPr id="39" name="TextBox 39"/>
          <p:cNvSpPr txBox="1"/>
          <p:nvPr/>
        </p:nvSpPr>
        <p:spPr>
          <a:xfrm>
            <a:off x="4800480" y="4152900"/>
            <a:ext cx="2571686" cy="1619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1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一批原材料、零件、订单商品或待出库成</a:t>
            </a:r>
            <a:endParaRPr lang="zh-CN" sz="910"/>
          </a:p>
        </p:txBody>
      </p:sp>
      <p:sp>
        <p:nvSpPr>
          <p:cNvPr id="40" name="TextBox 40"/>
          <p:cNvSpPr txBox="1"/>
          <p:nvPr/>
        </p:nvSpPr>
        <p:spPr>
          <a:xfrm>
            <a:off x="4800480" y="4324350"/>
            <a:ext cx="380990" cy="1619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1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品。</a:t>
            </a:r>
            <a:endParaRPr lang="zh-CN" sz="910"/>
          </a:p>
        </p:txBody>
      </p:sp>
      <p:sp>
        <p:nvSpPr>
          <p:cNvPr id="41" name="TextBox 41"/>
          <p:cNvSpPr txBox="1"/>
          <p:nvPr/>
        </p:nvSpPr>
        <p:spPr>
          <a:xfrm>
            <a:off x="8477038" y="3981450"/>
            <a:ext cx="2552636" cy="1619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1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仓库或生产线中的作业位置，可以是拣选</a:t>
            </a:r>
            <a:endParaRPr lang="zh-CN" sz="910"/>
          </a:p>
        </p:txBody>
      </p:sp>
      <p:sp>
        <p:nvSpPr>
          <p:cNvPr id="42" name="TextBox 42"/>
          <p:cNvSpPr txBox="1"/>
          <p:nvPr/>
        </p:nvSpPr>
        <p:spPr>
          <a:xfrm>
            <a:off x="8477038" y="4152900"/>
            <a:ext cx="2552636" cy="1619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1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、包装、加工、检验、出库或临时处理点</a:t>
            </a:r>
            <a:endParaRPr lang="zh-CN" sz="910"/>
          </a:p>
        </p:txBody>
      </p:sp>
      <p:sp>
        <p:nvSpPr>
          <p:cNvPr id="43" name="TextBox 43"/>
          <p:cNvSpPr txBox="1"/>
          <p:nvPr/>
        </p:nvSpPr>
        <p:spPr>
          <a:xfrm>
            <a:off x="8477038" y="4324350"/>
            <a:ext cx="190495" cy="1619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1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。</a:t>
            </a:r>
            <a:endParaRPr lang="zh-CN" sz="910"/>
          </a:p>
        </p:txBody>
      </p:sp>
      <p:sp>
        <p:nvSpPr>
          <p:cNvPr id="44" name="TextBox 44"/>
          <p:cNvSpPr txBox="1"/>
          <p:nvPr/>
        </p:nvSpPr>
        <p:spPr>
          <a:xfrm>
            <a:off x="685783" y="6438900"/>
            <a:ext cx="3428914" cy="1143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5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AGV 仓储优化课程项目 · 本地 CSV 数据 · Python 自实现算法</a:t>
            </a:r>
            <a:endParaRPr lang="zh-CN" sz="650"/>
          </a:p>
        </p:txBody>
      </p:sp>
      <p:sp>
        <p:nvSpPr>
          <p:cNvPr id="45" name="TextBox 45"/>
          <p:cNvSpPr txBox="1"/>
          <p:nvPr/>
        </p:nvSpPr>
        <p:spPr>
          <a:xfrm>
            <a:off x="11363041" y="6429375"/>
            <a:ext cx="266693" cy="1333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0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03</a:t>
            </a:r>
            <a:endParaRPr lang="zh-CN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685783" y="571500"/>
            <a:ext cx="66673" cy="66675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990575" y="3314700"/>
            <a:ext cx="2190695" cy="381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4476638" y="3314700"/>
            <a:ext cx="2190695" cy="38100"/>
          </a:xfrm>
          <a:prstGeom prst="rect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7962701" y="3314700"/>
            <a:ext cx="2190695" cy="38100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1609685" y="5095875"/>
            <a:ext cx="8591335" cy="74295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AEC"/>
            </a:solidFill>
          </a:ln>
        </p:spPr>
        <p:txBody>
          <a:bodyPr/>
          <a:lstStyle/>
          <a:p/>
        </p:txBody>
      </p:sp>
      <p:sp>
        <p:nvSpPr>
          <p:cNvPr id="7" name="Line 7"/>
          <p:cNvSpPr/>
          <p:nvPr/>
        </p:nvSpPr>
        <p:spPr>
          <a:xfrm>
            <a:off x="685783" y="6248400"/>
            <a:ext cx="2847904" cy="0"/>
          </a:xfrm>
          <a:prstGeom prst="line">
            <a:avLst/>
          </a:prstGeom>
          <a:noFill/>
          <a:ln w="12700">
            <a:solidFill>
              <a:srgbClr val="D6DDE3"/>
            </a:solidFill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1619210" y="5105400"/>
            <a:ext cx="47624" cy="7239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857229" y="533400"/>
            <a:ext cx="1142971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80" b="1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PROJECT GOAL</a:t>
            </a:r>
            <a:endParaRPr lang="zh-CN" sz="780"/>
          </a:p>
        </p:txBody>
      </p:sp>
      <p:sp>
        <p:nvSpPr>
          <p:cNvPr id="10" name="TextBox 10"/>
          <p:cNvSpPr txBox="1"/>
          <p:nvPr/>
        </p:nvSpPr>
        <p:spPr>
          <a:xfrm>
            <a:off x="685783" y="847725"/>
            <a:ext cx="8667533" cy="552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95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项目内容：把三个仓库决策变成三个优化问题。</a:t>
            </a:r>
            <a:endParaRPr lang="zh-CN" sz="2950"/>
          </a:p>
        </p:txBody>
      </p:sp>
      <p:sp>
        <p:nvSpPr>
          <p:cNvPr id="11" name="TextBox 11"/>
          <p:cNvSpPr txBox="1"/>
          <p:nvPr/>
        </p:nvSpPr>
        <p:spPr>
          <a:xfrm>
            <a:off x="714357" y="1876425"/>
            <a:ext cx="7238819" cy="2667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3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这不是单纯跑算法，而是把业务对象、距离、负载和空间约束逐步翻译成数学规划。</a:t>
            </a:r>
            <a:endParaRPr lang="zh-CN" sz="1130"/>
          </a:p>
        </p:txBody>
      </p:sp>
      <p:sp>
        <p:nvSpPr>
          <p:cNvPr id="12" name="TextBox 12"/>
          <p:cNvSpPr txBox="1"/>
          <p:nvPr/>
        </p:nvSpPr>
        <p:spPr>
          <a:xfrm>
            <a:off x="990575" y="2838450"/>
            <a:ext cx="1428714" cy="3810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000" b="1">
                <a:solidFill>
                  <a:srgbClr val="2276FF"/>
                </a:solidFill>
                <a:latin typeface="PingFang SC"/>
                <a:ea typeface="PingFang SC"/>
                <a:cs typeface="PingFang SC"/>
              </a:rPr>
              <a:t>谁去搬?</a:t>
            </a:r>
            <a:endParaRPr lang="zh-CN" sz="2000"/>
          </a:p>
        </p:txBody>
      </p:sp>
      <p:sp>
        <p:nvSpPr>
          <p:cNvPr id="13" name="TextBox 13"/>
          <p:cNvSpPr txBox="1"/>
          <p:nvPr/>
        </p:nvSpPr>
        <p:spPr>
          <a:xfrm>
            <a:off x="4476638" y="2838450"/>
            <a:ext cx="2000200" cy="3810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000" b="1">
                <a:solidFill>
                  <a:srgbClr val="35A66A"/>
                </a:solidFill>
                <a:latin typeface="PingFang SC"/>
                <a:ea typeface="PingFang SC"/>
                <a:cs typeface="PingFang SC"/>
              </a:rPr>
              <a:t>货量怎么分?</a:t>
            </a:r>
            <a:endParaRPr lang="zh-CN" sz="2000"/>
          </a:p>
        </p:txBody>
      </p:sp>
      <p:sp>
        <p:nvSpPr>
          <p:cNvPr id="14" name="TextBox 14"/>
          <p:cNvSpPr txBox="1"/>
          <p:nvPr/>
        </p:nvSpPr>
        <p:spPr>
          <a:xfrm>
            <a:off x="7962701" y="2838450"/>
            <a:ext cx="2571686" cy="3810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000" b="1">
                <a:solidFill>
                  <a:srgbClr val="F25E4B"/>
                </a:solidFill>
                <a:latin typeface="PingFang SC"/>
                <a:ea typeface="PingFang SC"/>
                <a:cs typeface="PingFang SC"/>
              </a:rPr>
              <a:t>重点货位怎么选?</a:t>
            </a:r>
            <a:endParaRPr lang="zh-CN" sz="2000"/>
          </a:p>
        </p:txBody>
      </p:sp>
      <p:sp>
        <p:nvSpPr>
          <p:cNvPr id="15" name="TextBox 15"/>
          <p:cNvSpPr txBox="1"/>
          <p:nvPr/>
        </p:nvSpPr>
        <p:spPr>
          <a:xfrm>
            <a:off x="990575" y="3533775"/>
            <a:ext cx="1762081" cy="2667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2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AGV 任务分配</a:t>
            </a:r>
            <a:endParaRPr lang="zh-CN" sz="1520"/>
          </a:p>
        </p:txBody>
      </p:sp>
      <p:sp>
        <p:nvSpPr>
          <p:cNvPr id="16" name="TextBox 16"/>
          <p:cNvSpPr txBox="1"/>
          <p:nvPr/>
        </p:nvSpPr>
        <p:spPr>
          <a:xfrm>
            <a:off x="4476638" y="3533775"/>
            <a:ext cx="1428714" cy="2667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2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动态分区</a:t>
            </a:r>
            <a:endParaRPr lang="zh-CN" sz="1520"/>
          </a:p>
        </p:txBody>
      </p:sp>
      <p:sp>
        <p:nvSpPr>
          <p:cNvPr id="17" name="TextBox 17"/>
          <p:cNvSpPr txBox="1"/>
          <p:nvPr/>
        </p:nvSpPr>
        <p:spPr>
          <a:xfrm>
            <a:off x="7962701" y="3533775"/>
            <a:ext cx="1428714" cy="2667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52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布局选址</a:t>
            </a:r>
            <a:endParaRPr lang="zh-CN" sz="1520"/>
          </a:p>
        </p:txBody>
      </p:sp>
      <p:sp>
        <p:nvSpPr>
          <p:cNvPr id="18" name="TextBox 18"/>
          <p:cNvSpPr txBox="1"/>
          <p:nvPr/>
        </p:nvSpPr>
        <p:spPr>
          <a:xfrm>
            <a:off x="990575" y="3924300"/>
            <a:ext cx="2905052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0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决定 AGV、托盘、工位之间的匹配关系</a:t>
            </a:r>
            <a:endParaRPr lang="zh-CN" sz="900"/>
          </a:p>
        </p:txBody>
      </p:sp>
      <p:sp>
        <p:nvSpPr>
          <p:cNvPr id="19" name="TextBox 19"/>
          <p:cNvSpPr txBox="1"/>
          <p:nvPr/>
        </p:nvSpPr>
        <p:spPr>
          <a:xfrm>
            <a:off x="4476638" y="3924300"/>
            <a:ext cx="3000300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0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决定每个托盘货量主要由哪个工位处理</a:t>
            </a:r>
            <a:endParaRPr lang="zh-CN" sz="900"/>
          </a:p>
        </p:txBody>
      </p:sp>
      <p:sp>
        <p:nvSpPr>
          <p:cNvPr id="20" name="TextBox 20"/>
          <p:cNvSpPr txBox="1"/>
          <p:nvPr/>
        </p:nvSpPr>
        <p:spPr>
          <a:xfrm>
            <a:off x="7962701" y="3924300"/>
            <a:ext cx="3000300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0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从候选货位中选择重点缓存/中转货位</a:t>
            </a:r>
            <a:endParaRPr lang="zh-CN" sz="900"/>
          </a:p>
        </p:txBody>
      </p:sp>
      <p:sp>
        <p:nvSpPr>
          <p:cNvPr id="21" name="TextBox 21"/>
          <p:cNvSpPr txBox="1"/>
          <p:nvPr/>
        </p:nvSpPr>
        <p:spPr>
          <a:xfrm>
            <a:off x="1790655" y="5219700"/>
            <a:ext cx="952476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2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实验目的</a:t>
            </a:r>
            <a:endParaRPr lang="zh-CN" sz="1120"/>
          </a:p>
        </p:txBody>
      </p:sp>
      <p:sp>
        <p:nvSpPr>
          <p:cNvPr id="22" name="TextBox 22"/>
          <p:cNvSpPr txBox="1"/>
          <p:nvPr/>
        </p:nvSpPr>
        <p:spPr>
          <a:xfrm>
            <a:off x="1790655" y="5514975"/>
            <a:ext cx="7238819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19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用同一套数据管线自动读入仓库数据，分别构造三个模型，再由自实现算法求解并输出可解释结果。</a:t>
            </a:r>
            <a:endParaRPr lang="zh-CN" sz="819"/>
          </a:p>
        </p:txBody>
      </p:sp>
      <p:sp>
        <p:nvSpPr>
          <p:cNvPr id="23" name="TextBox 23"/>
          <p:cNvSpPr txBox="1"/>
          <p:nvPr/>
        </p:nvSpPr>
        <p:spPr>
          <a:xfrm>
            <a:off x="676258" y="6410325"/>
            <a:ext cx="3905152" cy="1524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3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AGV 仓储优化课程项目 · 本地 CSV 数据 · Python 自实现算法</a:t>
            </a:r>
            <a:endParaRPr lang="zh-CN" sz="730"/>
          </a:p>
        </p:txBody>
      </p:sp>
      <p:sp>
        <p:nvSpPr>
          <p:cNvPr id="24" name="TextBox 24"/>
          <p:cNvSpPr txBox="1"/>
          <p:nvPr/>
        </p:nvSpPr>
        <p:spPr>
          <a:xfrm>
            <a:off x="11363041" y="6410325"/>
            <a:ext cx="285743" cy="1524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5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04</a:t>
            </a:r>
            <a:endParaRPr lang="zh-CN" sz="8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657209" y="2552700"/>
            <a:ext cx="5343391" cy="3448050"/>
          </a:xfrm>
          <a:prstGeom prst="rect">
            <a:avLst/>
          </a:prstGeom>
          <a:solidFill>
            <a:srgbClr val="F9FAF8"/>
          </a:solidFill>
          <a:ln w="12700">
            <a:solidFill>
              <a:srgbClr val="DFE6EC"/>
            </a:solidFill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923902" y="2600325"/>
            <a:ext cx="4810005" cy="3333750"/>
          </a:xfrm>
          <a:prstGeom prst="rect">
            <a:avLst/>
          </a:prstGeom>
          <a:solidFill>
            <a:srgbClr val="F9FAF8"/>
          </a:solidFill>
          <a:ln w="12700">
            <a:solidFill>
              <a:srgbClr val="E3E8EE"/>
            </a:solidFill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685783" y="571500"/>
            <a:ext cx="66673" cy="66675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Line 5"/>
          <p:cNvSpPr/>
          <p:nvPr/>
        </p:nvSpPr>
        <p:spPr>
          <a:xfrm>
            <a:off x="685783" y="6248400"/>
            <a:ext cx="2847904" cy="0"/>
          </a:xfrm>
          <a:prstGeom prst="line">
            <a:avLst/>
          </a:prstGeom>
          <a:noFill/>
          <a:ln w="12700">
            <a:solidFill>
              <a:srgbClr val="D6DDE3"/>
            </a:solidFill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971526" y="264795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1119160" y="264795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1266793" y="264795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1414427" y="264795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1562061" y="264795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1709695" y="264795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1857329" y="264795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2004962" y="264795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2152596" y="264795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2300230" y="264795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2447864" y="2647950"/>
            <a:ext cx="147634" cy="147161"/>
          </a:xfrm>
          <a:prstGeom prst="rect">
            <a:avLst/>
          </a:prstGeom>
          <a:solidFill>
            <a:srgbClr val="2276FF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2595498" y="2647950"/>
            <a:ext cx="147634" cy="147161"/>
          </a:xfrm>
          <a:prstGeom prst="rect">
            <a:avLst/>
          </a:prstGeom>
          <a:solidFill>
            <a:srgbClr val="2276FF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2743131" y="2647950"/>
            <a:ext cx="147634" cy="147161"/>
          </a:xfrm>
          <a:prstGeom prst="rect">
            <a:avLst/>
          </a:prstGeom>
          <a:solidFill>
            <a:srgbClr val="2276FF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2890765" y="264795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3038399" y="264795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3186033" y="264795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3333667" y="264795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3481300" y="264795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3628934" y="264795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3776568" y="264795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6" name="Rect 26"/>
          <p:cNvSpPr/>
          <p:nvPr/>
        </p:nvSpPr>
        <p:spPr>
          <a:xfrm>
            <a:off x="3924202" y="264795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7" name="Rect 27"/>
          <p:cNvSpPr/>
          <p:nvPr/>
        </p:nvSpPr>
        <p:spPr>
          <a:xfrm>
            <a:off x="4071836" y="264795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4219470" y="264795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9" name="Rect 29"/>
          <p:cNvSpPr/>
          <p:nvPr/>
        </p:nvSpPr>
        <p:spPr>
          <a:xfrm>
            <a:off x="4367103" y="2647950"/>
            <a:ext cx="147634" cy="147161"/>
          </a:xfrm>
          <a:prstGeom prst="rect">
            <a:avLst/>
          </a:prstGeom>
          <a:solidFill>
            <a:srgbClr val="2276FF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0" name="Rect 30"/>
          <p:cNvSpPr/>
          <p:nvPr/>
        </p:nvSpPr>
        <p:spPr>
          <a:xfrm>
            <a:off x="4514737" y="2647950"/>
            <a:ext cx="147634" cy="147161"/>
          </a:xfrm>
          <a:prstGeom prst="rect">
            <a:avLst/>
          </a:prstGeom>
          <a:solidFill>
            <a:srgbClr val="2276FF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4662371" y="2647950"/>
            <a:ext cx="147634" cy="147161"/>
          </a:xfrm>
          <a:prstGeom prst="rect">
            <a:avLst/>
          </a:prstGeom>
          <a:solidFill>
            <a:srgbClr val="2276FF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2" name="Rect 32"/>
          <p:cNvSpPr/>
          <p:nvPr/>
        </p:nvSpPr>
        <p:spPr>
          <a:xfrm>
            <a:off x="4810005" y="264795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4957639" y="264795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4" name="Rect 34"/>
          <p:cNvSpPr/>
          <p:nvPr/>
        </p:nvSpPr>
        <p:spPr>
          <a:xfrm>
            <a:off x="5105272" y="264795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5252906" y="264795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6" name="Rect 36"/>
          <p:cNvSpPr/>
          <p:nvPr/>
        </p:nvSpPr>
        <p:spPr>
          <a:xfrm>
            <a:off x="5400540" y="264795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7" name="Rect 37"/>
          <p:cNvSpPr/>
          <p:nvPr/>
        </p:nvSpPr>
        <p:spPr>
          <a:xfrm>
            <a:off x="5548174" y="264795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8" name="Rect 38"/>
          <p:cNvSpPr/>
          <p:nvPr/>
        </p:nvSpPr>
        <p:spPr>
          <a:xfrm>
            <a:off x="971526" y="279511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9" name="Rect 39"/>
          <p:cNvSpPr/>
          <p:nvPr/>
        </p:nvSpPr>
        <p:spPr>
          <a:xfrm>
            <a:off x="1119160" y="279511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0" name="Rect 40"/>
          <p:cNvSpPr/>
          <p:nvPr/>
        </p:nvSpPr>
        <p:spPr>
          <a:xfrm>
            <a:off x="1266793" y="279511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1" name="Rect 41"/>
          <p:cNvSpPr/>
          <p:nvPr/>
        </p:nvSpPr>
        <p:spPr>
          <a:xfrm>
            <a:off x="1414427" y="279511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2" name="Rect 42"/>
          <p:cNvSpPr/>
          <p:nvPr/>
        </p:nvSpPr>
        <p:spPr>
          <a:xfrm>
            <a:off x="1562061" y="279511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3" name="Rect 43"/>
          <p:cNvSpPr/>
          <p:nvPr/>
        </p:nvSpPr>
        <p:spPr>
          <a:xfrm>
            <a:off x="1709695" y="279511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4" name="Rect 44"/>
          <p:cNvSpPr/>
          <p:nvPr/>
        </p:nvSpPr>
        <p:spPr>
          <a:xfrm>
            <a:off x="1857329" y="279511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5" name="Rect 45"/>
          <p:cNvSpPr/>
          <p:nvPr/>
        </p:nvSpPr>
        <p:spPr>
          <a:xfrm>
            <a:off x="2004962" y="279511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6" name="Rect 46"/>
          <p:cNvSpPr/>
          <p:nvPr/>
        </p:nvSpPr>
        <p:spPr>
          <a:xfrm>
            <a:off x="2152596" y="279511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7" name="Rect 47"/>
          <p:cNvSpPr/>
          <p:nvPr/>
        </p:nvSpPr>
        <p:spPr>
          <a:xfrm>
            <a:off x="2300230" y="279511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8" name="Rect 48"/>
          <p:cNvSpPr/>
          <p:nvPr/>
        </p:nvSpPr>
        <p:spPr>
          <a:xfrm>
            <a:off x="2447864" y="279511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9" name="Rect 49"/>
          <p:cNvSpPr/>
          <p:nvPr/>
        </p:nvSpPr>
        <p:spPr>
          <a:xfrm>
            <a:off x="2595498" y="279511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0" name="Rect 50"/>
          <p:cNvSpPr/>
          <p:nvPr/>
        </p:nvSpPr>
        <p:spPr>
          <a:xfrm>
            <a:off x="2743131" y="279511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1" name="Rect 51"/>
          <p:cNvSpPr/>
          <p:nvPr/>
        </p:nvSpPr>
        <p:spPr>
          <a:xfrm>
            <a:off x="2890765" y="279511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2" name="Rect 52"/>
          <p:cNvSpPr/>
          <p:nvPr/>
        </p:nvSpPr>
        <p:spPr>
          <a:xfrm>
            <a:off x="3038399" y="279511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3" name="Rect 53"/>
          <p:cNvSpPr/>
          <p:nvPr/>
        </p:nvSpPr>
        <p:spPr>
          <a:xfrm>
            <a:off x="3186033" y="279511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4" name="Rect 54"/>
          <p:cNvSpPr/>
          <p:nvPr/>
        </p:nvSpPr>
        <p:spPr>
          <a:xfrm>
            <a:off x="3333667" y="279511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5" name="Rect 55"/>
          <p:cNvSpPr/>
          <p:nvPr/>
        </p:nvSpPr>
        <p:spPr>
          <a:xfrm>
            <a:off x="3481300" y="279511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6" name="Rect 56"/>
          <p:cNvSpPr/>
          <p:nvPr/>
        </p:nvSpPr>
        <p:spPr>
          <a:xfrm>
            <a:off x="3628934" y="279511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7" name="Rect 57"/>
          <p:cNvSpPr/>
          <p:nvPr/>
        </p:nvSpPr>
        <p:spPr>
          <a:xfrm>
            <a:off x="3776568" y="279511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8" name="Rect 58"/>
          <p:cNvSpPr/>
          <p:nvPr/>
        </p:nvSpPr>
        <p:spPr>
          <a:xfrm>
            <a:off x="3924202" y="279511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9" name="Rect 59"/>
          <p:cNvSpPr/>
          <p:nvPr/>
        </p:nvSpPr>
        <p:spPr>
          <a:xfrm>
            <a:off x="4071836" y="279511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0" name="Rect 60"/>
          <p:cNvSpPr/>
          <p:nvPr/>
        </p:nvSpPr>
        <p:spPr>
          <a:xfrm>
            <a:off x="4219470" y="279511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1" name="Rect 61"/>
          <p:cNvSpPr/>
          <p:nvPr/>
        </p:nvSpPr>
        <p:spPr>
          <a:xfrm>
            <a:off x="4367103" y="279511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2" name="Rect 62"/>
          <p:cNvSpPr/>
          <p:nvPr/>
        </p:nvSpPr>
        <p:spPr>
          <a:xfrm>
            <a:off x="4514737" y="279511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3" name="Rect 63"/>
          <p:cNvSpPr/>
          <p:nvPr/>
        </p:nvSpPr>
        <p:spPr>
          <a:xfrm>
            <a:off x="4662371" y="279511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4" name="Rect 64"/>
          <p:cNvSpPr/>
          <p:nvPr/>
        </p:nvSpPr>
        <p:spPr>
          <a:xfrm>
            <a:off x="4810005" y="279511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5" name="Rect 65"/>
          <p:cNvSpPr/>
          <p:nvPr/>
        </p:nvSpPr>
        <p:spPr>
          <a:xfrm>
            <a:off x="4957639" y="279511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6" name="Rect 66"/>
          <p:cNvSpPr/>
          <p:nvPr/>
        </p:nvSpPr>
        <p:spPr>
          <a:xfrm>
            <a:off x="5105272" y="279511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7" name="Rect 67"/>
          <p:cNvSpPr/>
          <p:nvPr/>
        </p:nvSpPr>
        <p:spPr>
          <a:xfrm>
            <a:off x="5252906" y="279511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8" name="Rect 68"/>
          <p:cNvSpPr/>
          <p:nvPr/>
        </p:nvSpPr>
        <p:spPr>
          <a:xfrm>
            <a:off x="5400540" y="279511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9" name="Rect 69"/>
          <p:cNvSpPr/>
          <p:nvPr/>
        </p:nvSpPr>
        <p:spPr>
          <a:xfrm>
            <a:off x="5548174" y="2795111"/>
            <a:ext cx="147634" cy="147161"/>
          </a:xfrm>
          <a:prstGeom prst="rect">
            <a:avLst/>
          </a:prstGeom>
          <a:solidFill>
            <a:srgbClr val="F25E4B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0" name="Rect 70"/>
          <p:cNvSpPr/>
          <p:nvPr/>
        </p:nvSpPr>
        <p:spPr>
          <a:xfrm>
            <a:off x="971526" y="294227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1" name="Rect 71"/>
          <p:cNvSpPr/>
          <p:nvPr/>
        </p:nvSpPr>
        <p:spPr>
          <a:xfrm>
            <a:off x="1119160" y="294227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2" name="Rect 72"/>
          <p:cNvSpPr/>
          <p:nvPr/>
        </p:nvSpPr>
        <p:spPr>
          <a:xfrm>
            <a:off x="1266793" y="294227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3" name="Rect 73"/>
          <p:cNvSpPr/>
          <p:nvPr/>
        </p:nvSpPr>
        <p:spPr>
          <a:xfrm>
            <a:off x="1414427" y="294227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4" name="Rect 74"/>
          <p:cNvSpPr/>
          <p:nvPr/>
        </p:nvSpPr>
        <p:spPr>
          <a:xfrm>
            <a:off x="1562061" y="294227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5" name="Rect 75"/>
          <p:cNvSpPr/>
          <p:nvPr/>
        </p:nvSpPr>
        <p:spPr>
          <a:xfrm>
            <a:off x="1709695" y="294227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6" name="Rect 76"/>
          <p:cNvSpPr/>
          <p:nvPr/>
        </p:nvSpPr>
        <p:spPr>
          <a:xfrm>
            <a:off x="1857329" y="294227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7" name="Rect 77"/>
          <p:cNvSpPr/>
          <p:nvPr/>
        </p:nvSpPr>
        <p:spPr>
          <a:xfrm>
            <a:off x="2004962" y="294227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8" name="Rect 78"/>
          <p:cNvSpPr/>
          <p:nvPr/>
        </p:nvSpPr>
        <p:spPr>
          <a:xfrm>
            <a:off x="2152596" y="294227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9" name="Rect 79"/>
          <p:cNvSpPr/>
          <p:nvPr/>
        </p:nvSpPr>
        <p:spPr>
          <a:xfrm>
            <a:off x="2300230" y="294227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0" name="Rect 80"/>
          <p:cNvSpPr/>
          <p:nvPr/>
        </p:nvSpPr>
        <p:spPr>
          <a:xfrm>
            <a:off x="2447864" y="294227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1" name="Rect 81"/>
          <p:cNvSpPr/>
          <p:nvPr/>
        </p:nvSpPr>
        <p:spPr>
          <a:xfrm>
            <a:off x="2595498" y="294227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2" name="Rect 82"/>
          <p:cNvSpPr/>
          <p:nvPr/>
        </p:nvSpPr>
        <p:spPr>
          <a:xfrm>
            <a:off x="2743131" y="294227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3" name="Rect 83"/>
          <p:cNvSpPr/>
          <p:nvPr/>
        </p:nvSpPr>
        <p:spPr>
          <a:xfrm>
            <a:off x="2890765" y="294227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4" name="Rect 84"/>
          <p:cNvSpPr/>
          <p:nvPr/>
        </p:nvSpPr>
        <p:spPr>
          <a:xfrm>
            <a:off x="3038399" y="294227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5" name="Rect 85"/>
          <p:cNvSpPr/>
          <p:nvPr/>
        </p:nvSpPr>
        <p:spPr>
          <a:xfrm>
            <a:off x="3186033" y="294227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6" name="Rect 86"/>
          <p:cNvSpPr/>
          <p:nvPr/>
        </p:nvSpPr>
        <p:spPr>
          <a:xfrm>
            <a:off x="3333667" y="294227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7" name="Rect 87"/>
          <p:cNvSpPr/>
          <p:nvPr/>
        </p:nvSpPr>
        <p:spPr>
          <a:xfrm>
            <a:off x="3481300" y="294227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8" name="Rect 88"/>
          <p:cNvSpPr/>
          <p:nvPr/>
        </p:nvSpPr>
        <p:spPr>
          <a:xfrm>
            <a:off x="3628934" y="294227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9" name="Rect 89"/>
          <p:cNvSpPr/>
          <p:nvPr/>
        </p:nvSpPr>
        <p:spPr>
          <a:xfrm>
            <a:off x="3776568" y="294227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90" name="Rect 90"/>
          <p:cNvSpPr/>
          <p:nvPr/>
        </p:nvSpPr>
        <p:spPr>
          <a:xfrm>
            <a:off x="3924202" y="294227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91" name="Rect 91"/>
          <p:cNvSpPr/>
          <p:nvPr/>
        </p:nvSpPr>
        <p:spPr>
          <a:xfrm>
            <a:off x="4071836" y="294227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92" name="Rect 92"/>
          <p:cNvSpPr/>
          <p:nvPr/>
        </p:nvSpPr>
        <p:spPr>
          <a:xfrm>
            <a:off x="4219470" y="294227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93" name="Rect 93"/>
          <p:cNvSpPr/>
          <p:nvPr/>
        </p:nvSpPr>
        <p:spPr>
          <a:xfrm>
            <a:off x="4367103" y="294227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94" name="Rect 94"/>
          <p:cNvSpPr/>
          <p:nvPr/>
        </p:nvSpPr>
        <p:spPr>
          <a:xfrm>
            <a:off x="4514737" y="294227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95" name="Rect 95"/>
          <p:cNvSpPr/>
          <p:nvPr/>
        </p:nvSpPr>
        <p:spPr>
          <a:xfrm>
            <a:off x="4662371" y="294227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96" name="Rect 96"/>
          <p:cNvSpPr/>
          <p:nvPr/>
        </p:nvSpPr>
        <p:spPr>
          <a:xfrm>
            <a:off x="4810005" y="294227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97" name="Rect 97"/>
          <p:cNvSpPr/>
          <p:nvPr/>
        </p:nvSpPr>
        <p:spPr>
          <a:xfrm>
            <a:off x="4957639" y="294227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98" name="Rect 98"/>
          <p:cNvSpPr/>
          <p:nvPr/>
        </p:nvSpPr>
        <p:spPr>
          <a:xfrm>
            <a:off x="5105272" y="294227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99" name="Rect 99"/>
          <p:cNvSpPr/>
          <p:nvPr/>
        </p:nvSpPr>
        <p:spPr>
          <a:xfrm>
            <a:off x="5252906" y="294227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00" name="Rect 100"/>
          <p:cNvSpPr/>
          <p:nvPr/>
        </p:nvSpPr>
        <p:spPr>
          <a:xfrm>
            <a:off x="5400540" y="294227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01" name="Rect 101"/>
          <p:cNvSpPr/>
          <p:nvPr/>
        </p:nvSpPr>
        <p:spPr>
          <a:xfrm>
            <a:off x="5548174" y="294227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02" name="Rect 102"/>
          <p:cNvSpPr/>
          <p:nvPr/>
        </p:nvSpPr>
        <p:spPr>
          <a:xfrm>
            <a:off x="971526" y="3089434"/>
            <a:ext cx="147634" cy="147161"/>
          </a:xfrm>
          <a:prstGeom prst="rect">
            <a:avLst/>
          </a:prstGeom>
          <a:solidFill>
            <a:srgbClr val="C69BE8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03" name="Rect 103"/>
          <p:cNvSpPr/>
          <p:nvPr/>
        </p:nvSpPr>
        <p:spPr>
          <a:xfrm>
            <a:off x="1119160" y="308943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04" name="Rect 104"/>
          <p:cNvSpPr/>
          <p:nvPr/>
        </p:nvSpPr>
        <p:spPr>
          <a:xfrm>
            <a:off x="1266793" y="308943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05" name="Rect 105"/>
          <p:cNvSpPr/>
          <p:nvPr/>
        </p:nvSpPr>
        <p:spPr>
          <a:xfrm>
            <a:off x="1414427" y="308943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06" name="Rect 106"/>
          <p:cNvSpPr/>
          <p:nvPr/>
        </p:nvSpPr>
        <p:spPr>
          <a:xfrm>
            <a:off x="1562061" y="308943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07" name="Rect 107"/>
          <p:cNvSpPr/>
          <p:nvPr/>
        </p:nvSpPr>
        <p:spPr>
          <a:xfrm>
            <a:off x="1709695" y="308943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08" name="Rect 108"/>
          <p:cNvSpPr/>
          <p:nvPr/>
        </p:nvSpPr>
        <p:spPr>
          <a:xfrm>
            <a:off x="1857329" y="308943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09" name="Rect 109"/>
          <p:cNvSpPr/>
          <p:nvPr/>
        </p:nvSpPr>
        <p:spPr>
          <a:xfrm>
            <a:off x="2004962" y="308943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10" name="Rect 110"/>
          <p:cNvSpPr/>
          <p:nvPr/>
        </p:nvSpPr>
        <p:spPr>
          <a:xfrm>
            <a:off x="2152596" y="308943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11" name="Rect 111"/>
          <p:cNvSpPr/>
          <p:nvPr/>
        </p:nvSpPr>
        <p:spPr>
          <a:xfrm>
            <a:off x="2300230" y="308943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12" name="Rect 112"/>
          <p:cNvSpPr/>
          <p:nvPr/>
        </p:nvSpPr>
        <p:spPr>
          <a:xfrm>
            <a:off x="2447864" y="308943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13" name="Rect 113"/>
          <p:cNvSpPr/>
          <p:nvPr/>
        </p:nvSpPr>
        <p:spPr>
          <a:xfrm>
            <a:off x="2595498" y="308943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14" name="Rect 114"/>
          <p:cNvSpPr/>
          <p:nvPr/>
        </p:nvSpPr>
        <p:spPr>
          <a:xfrm>
            <a:off x="2743131" y="308943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15" name="Rect 115"/>
          <p:cNvSpPr/>
          <p:nvPr/>
        </p:nvSpPr>
        <p:spPr>
          <a:xfrm>
            <a:off x="2890765" y="308943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16" name="Rect 116"/>
          <p:cNvSpPr/>
          <p:nvPr/>
        </p:nvSpPr>
        <p:spPr>
          <a:xfrm>
            <a:off x="3038399" y="308943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17" name="Rect 117"/>
          <p:cNvSpPr/>
          <p:nvPr/>
        </p:nvSpPr>
        <p:spPr>
          <a:xfrm>
            <a:off x="3186033" y="308943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18" name="Rect 118"/>
          <p:cNvSpPr/>
          <p:nvPr/>
        </p:nvSpPr>
        <p:spPr>
          <a:xfrm>
            <a:off x="3333667" y="308943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19" name="Rect 119"/>
          <p:cNvSpPr/>
          <p:nvPr/>
        </p:nvSpPr>
        <p:spPr>
          <a:xfrm>
            <a:off x="3481300" y="308943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20" name="Rect 120"/>
          <p:cNvSpPr/>
          <p:nvPr/>
        </p:nvSpPr>
        <p:spPr>
          <a:xfrm>
            <a:off x="3628934" y="308943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21" name="Rect 121"/>
          <p:cNvSpPr/>
          <p:nvPr/>
        </p:nvSpPr>
        <p:spPr>
          <a:xfrm>
            <a:off x="3776568" y="308943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22" name="Rect 122"/>
          <p:cNvSpPr/>
          <p:nvPr/>
        </p:nvSpPr>
        <p:spPr>
          <a:xfrm>
            <a:off x="3924202" y="308943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23" name="Rect 123"/>
          <p:cNvSpPr/>
          <p:nvPr/>
        </p:nvSpPr>
        <p:spPr>
          <a:xfrm>
            <a:off x="4071836" y="308943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24" name="Rect 124"/>
          <p:cNvSpPr/>
          <p:nvPr/>
        </p:nvSpPr>
        <p:spPr>
          <a:xfrm>
            <a:off x="4219470" y="308943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25" name="Rect 125"/>
          <p:cNvSpPr/>
          <p:nvPr/>
        </p:nvSpPr>
        <p:spPr>
          <a:xfrm>
            <a:off x="4367103" y="308943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26" name="Rect 126"/>
          <p:cNvSpPr/>
          <p:nvPr/>
        </p:nvSpPr>
        <p:spPr>
          <a:xfrm>
            <a:off x="4514737" y="308943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27" name="Rect 127"/>
          <p:cNvSpPr/>
          <p:nvPr/>
        </p:nvSpPr>
        <p:spPr>
          <a:xfrm>
            <a:off x="4662371" y="308943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28" name="Rect 128"/>
          <p:cNvSpPr/>
          <p:nvPr/>
        </p:nvSpPr>
        <p:spPr>
          <a:xfrm>
            <a:off x="4810005" y="308943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29" name="Rect 129"/>
          <p:cNvSpPr/>
          <p:nvPr/>
        </p:nvSpPr>
        <p:spPr>
          <a:xfrm>
            <a:off x="4957639" y="308943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30" name="Rect 130"/>
          <p:cNvSpPr/>
          <p:nvPr/>
        </p:nvSpPr>
        <p:spPr>
          <a:xfrm>
            <a:off x="5105272" y="308943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31" name="Rect 131"/>
          <p:cNvSpPr/>
          <p:nvPr/>
        </p:nvSpPr>
        <p:spPr>
          <a:xfrm>
            <a:off x="5252906" y="308943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32" name="Rect 132"/>
          <p:cNvSpPr/>
          <p:nvPr/>
        </p:nvSpPr>
        <p:spPr>
          <a:xfrm>
            <a:off x="5400540" y="308943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33" name="Rect 133"/>
          <p:cNvSpPr/>
          <p:nvPr/>
        </p:nvSpPr>
        <p:spPr>
          <a:xfrm>
            <a:off x="5548174" y="308943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34" name="Rect 134"/>
          <p:cNvSpPr/>
          <p:nvPr/>
        </p:nvSpPr>
        <p:spPr>
          <a:xfrm>
            <a:off x="971526" y="3236595"/>
            <a:ext cx="147634" cy="147161"/>
          </a:xfrm>
          <a:prstGeom prst="rect">
            <a:avLst/>
          </a:prstGeom>
          <a:solidFill>
            <a:srgbClr val="C69BE8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35" name="Rect 135"/>
          <p:cNvSpPr/>
          <p:nvPr/>
        </p:nvSpPr>
        <p:spPr>
          <a:xfrm>
            <a:off x="1119160" y="323659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36" name="Rect 136"/>
          <p:cNvSpPr/>
          <p:nvPr/>
        </p:nvSpPr>
        <p:spPr>
          <a:xfrm>
            <a:off x="1266793" y="323659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37" name="Rect 137"/>
          <p:cNvSpPr/>
          <p:nvPr/>
        </p:nvSpPr>
        <p:spPr>
          <a:xfrm>
            <a:off x="1414427" y="323659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38" name="Rect 138"/>
          <p:cNvSpPr/>
          <p:nvPr/>
        </p:nvSpPr>
        <p:spPr>
          <a:xfrm>
            <a:off x="1562061" y="323659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39" name="Rect 139"/>
          <p:cNvSpPr/>
          <p:nvPr/>
        </p:nvSpPr>
        <p:spPr>
          <a:xfrm>
            <a:off x="1709695" y="323659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40" name="Rect 140"/>
          <p:cNvSpPr/>
          <p:nvPr/>
        </p:nvSpPr>
        <p:spPr>
          <a:xfrm>
            <a:off x="1857329" y="323659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41" name="Rect 141"/>
          <p:cNvSpPr/>
          <p:nvPr/>
        </p:nvSpPr>
        <p:spPr>
          <a:xfrm>
            <a:off x="2004962" y="323659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42" name="Rect 142"/>
          <p:cNvSpPr/>
          <p:nvPr/>
        </p:nvSpPr>
        <p:spPr>
          <a:xfrm>
            <a:off x="2152596" y="323659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43" name="Rect 143"/>
          <p:cNvSpPr/>
          <p:nvPr/>
        </p:nvSpPr>
        <p:spPr>
          <a:xfrm>
            <a:off x="2300230" y="323659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44" name="Rect 144"/>
          <p:cNvSpPr/>
          <p:nvPr/>
        </p:nvSpPr>
        <p:spPr>
          <a:xfrm>
            <a:off x="2447864" y="323659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45" name="Rect 145"/>
          <p:cNvSpPr/>
          <p:nvPr/>
        </p:nvSpPr>
        <p:spPr>
          <a:xfrm>
            <a:off x="2595498" y="323659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46" name="Rect 146"/>
          <p:cNvSpPr/>
          <p:nvPr/>
        </p:nvSpPr>
        <p:spPr>
          <a:xfrm>
            <a:off x="2743131" y="323659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47" name="Rect 147"/>
          <p:cNvSpPr/>
          <p:nvPr/>
        </p:nvSpPr>
        <p:spPr>
          <a:xfrm>
            <a:off x="2890765" y="323659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48" name="Rect 148"/>
          <p:cNvSpPr/>
          <p:nvPr/>
        </p:nvSpPr>
        <p:spPr>
          <a:xfrm>
            <a:off x="3038399" y="323659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49" name="Rect 149"/>
          <p:cNvSpPr/>
          <p:nvPr/>
        </p:nvSpPr>
        <p:spPr>
          <a:xfrm>
            <a:off x="3186033" y="323659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50" name="Rect 150"/>
          <p:cNvSpPr/>
          <p:nvPr/>
        </p:nvSpPr>
        <p:spPr>
          <a:xfrm>
            <a:off x="3333667" y="323659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51" name="Rect 151"/>
          <p:cNvSpPr/>
          <p:nvPr/>
        </p:nvSpPr>
        <p:spPr>
          <a:xfrm>
            <a:off x="3481300" y="323659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52" name="Rect 152"/>
          <p:cNvSpPr/>
          <p:nvPr/>
        </p:nvSpPr>
        <p:spPr>
          <a:xfrm>
            <a:off x="3628934" y="323659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53" name="Rect 153"/>
          <p:cNvSpPr/>
          <p:nvPr/>
        </p:nvSpPr>
        <p:spPr>
          <a:xfrm>
            <a:off x="3776568" y="323659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54" name="Rect 154"/>
          <p:cNvSpPr/>
          <p:nvPr/>
        </p:nvSpPr>
        <p:spPr>
          <a:xfrm>
            <a:off x="3924202" y="323659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55" name="Rect 155"/>
          <p:cNvSpPr/>
          <p:nvPr/>
        </p:nvSpPr>
        <p:spPr>
          <a:xfrm>
            <a:off x="4071836" y="323659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56" name="Rect 156"/>
          <p:cNvSpPr/>
          <p:nvPr/>
        </p:nvSpPr>
        <p:spPr>
          <a:xfrm>
            <a:off x="4219470" y="323659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57" name="Rect 157"/>
          <p:cNvSpPr/>
          <p:nvPr/>
        </p:nvSpPr>
        <p:spPr>
          <a:xfrm>
            <a:off x="4367103" y="323659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58" name="Rect 158"/>
          <p:cNvSpPr/>
          <p:nvPr/>
        </p:nvSpPr>
        <p:spPr>
          <a:xfrm>
            <a:off x="4514737" y="323659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59" name="Rect 159"/>
          <p:cNvSpPr/>
          <p:nvPr/>
        </p:nvSpPr>
        <p:spPr>
          <a:xfrm>
            <a:off x="4662371" y="323659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60" name="Rect 160"/>
          <p:cNvSpPr/>
          <p:nvPr/>
        </p:nvSpPr>
        <p:spPr>
          <a:xfrm>
            <a:off x="4810005" y="323659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61" name="Rect 161"/>
          <p:cNvSpPr/>
          <p:nvPr/>
        </p:nvSpPr>
        <p:spPr>
          <a:xfrm>
            <a:off x="4957639" y="323659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62" name="Rect 162"/>
          <p:cNvSpPr/>
          <p:nvPr/>
        </p:nvSpPr>
        <p:spPr>
          <a:xfrm>
            <a:off x="5105272" y="323659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63" name="Rect 163"/>
          <p:cNvSpPr/>
          <p:nvPr/>
        </p:nvSpPr>
        <p:spPr>
          <a:xfrm>
            <a:off x="5252906" y="323659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64" name="Rect 164"/>
          <p:cNvSpPr/>
          <p:nvPr/>
        </p:nvSpPr>
        <p:spPr>
          <a:xfrm>
            <a:off x="5400540" y="323659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65" name="Rect 165"/>
          <p:cNvSpPr/>
          <p:nvPr/>
        </p:nvSpPr>
        <p:spPr>
          <a:xfrm>
            <a:off x="5548174" y="323659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66" name="Rect 166"/>
          <p:cNvSpPr/>
          <p:nvPr/>
        </p:nvSpPr>
        <p:spPr>
          <a:xfrm>
            <a:off x="971526" y="338375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67" name="Rect 167"/>
          <p:cNvSpPr/>
          <p:nvPr/>
        </p:nvSpPr>
        <p:spPr>
          <a:xfrm>
            <a:off x="1119160" y="338375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68" name="Rect 168"/>
          <p:cNvSpPr/>
          <p:nvPr/>
        </p:nvSpPr>
        <p:spPr>
          <a:xfrm>
            <a:off x="1266793" y="338375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69" name="Rect 169"/>
          <p:cNvSpPr/>
          <p:nvPr/>
        </p:nvSpPr>
        <p:spPr>
          <a:xfrm>
            <a:off x="1414427" y="338375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70" name="Rect 170"/>
          <p:cNvSpPr/>
          <p:nvPr/>
        </p:nvSpPr>
        <p:spPr>
          <a:xfrm>
            <a:off x="1562061" y="338375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71" name="Rect 171"/>
          <p:cNvSpPr/>
          <p:nvPr/>
        </p:nvSpPr>
        <p:spPr>
          <a:xfrm>
            <a:off x="1709695" y="3383756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72" name="Rect 172"/>
          <p:cNvSpPr/>
          <p:nvPr/>
        </p:nvSpPr>
        <p:spPr>
          <a:xfrm>
            <a:off x="1857329" y="3383756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73" name="Rect 173"/>
          <p:cNvSpPr/>
          <p:nvPr/>
        </p:nvSpPr>
        <p:spPr>
          <a:xfrm>
            <a:off x="2004962" y="3383756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74" name="Rect 174"/>
          <p:cNvSpPr/>
          <p:nvPr/>
        </p:nvSpPr>
        <p:spPr>
          <a:xfrm>
            <a:off x="2152596" y="3383756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75" name="Rect 175"/>
          <p:cNvSpPr/>
          <p:nvPr/>
        </p:nvSpPr>
        <p:spPr>
          <a:xfrm>
            <a:off x="2300230" y="3383756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76" name="Rect 176"/>
          <p:cNvSpPr/>
          <p:nvPr/>
        </p:nvSpPr>
        <p:spPr>
          <a:xfrm>
            <a:off x="2447864" y="3383756"/>
            <a:ext cx="147634" cy="147161"/>
          </a:xfrm>
          <a:prstGeom prst="rect">
            <a:avLst/>
          </a:prstGeom>
          <a:solidFill>
            <a:srgbClr val="F2C75E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77" name="Rect 177"/>
          <p:cNvSpPr/>
          <p:nvPr/>
        </p:nvSpPr>
        <p:spPr>
          <a:xfrm>
            <a:off x="2595498" y="3383756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78" name="Rect 178"/>
          <p:cNvSpPr/>
          <p:nvPr/>
        </p:nvSpPr>
        <p:spPr>
          <a:xfrm>
            <a:off x="2743131" y="3383756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79" name="Rect 179"/>
          <p:cNvSpPr/>
          <p:nvPr/>
        </p:nvSpPr>
        <p:spPr>
          <a:xfrm>
            <a:off x="2890765" y="3383756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80" name="Rect 180"/>
          <p:cNvSpPr/>
          <p:nvPr/>
        </p:nvSpPr>
        <p:spPr>
          <a:xfrm>
            <a:off x="3038399" y="3383756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81" name="Rect 181"/>
          <p:cNvSpPr/>
          <p:nvPr/>
        </p:nvSpPr>
        <p:spPr>
          <a:xfrm>
            <a:off x="3186033" y="338375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82" name="Rect 182"/>
          <p:cNvSpPr/>
          <p:nvPr/>
        </p:nvSpPr>
        <p:spPr>
          <a:xfrm>
            <a:off x="3333667" y="338375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83" name="Rect 183"/>
          <p:cNvSpPr/>
          <p:nvPr/>
        </p:nvSpPr>
        <p:spPr>
          <a:xfrm>
            <a:off x="3481300" y="3383756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84" name="Rect 184"/>
          <p:cNvSpPr/>
          <p:nvPr/>
        </p:nvSpPr>
        <p:spPr>
          <a:xfrm>
            <a:off x="3628934" y="3383756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85" name="Rect 185"/>
          <p:cNvSpPr/>
          <p:nvPr/>
        </p:nvSpPr>
        <p:spPr>
          <a:xfrm>
            <a:off x="3776568" y="3383756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86" name="Rect 186"/>
          <p:cNvSpPr/>
          <p:nvPr/>
        </p:nvSpPr>
        <p:spPr>
          <a:xfrm>
            <a:off x="3924202" y="3383756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87" name="Rect 187"/>
          <p:cNvSpPr/>
          <p:nvPr/>
        </p:nvSpPr>
        <p:spPr>
          <a:xfrm>
            <a:off x="4071836" y="3383756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88" name="Rect 188"/>
          <p:cNvSpPr/>
          <p:nvPr/>
        </p:nvSpPr>
        <p:spPr>
          <a:xfrm>
            <a:off x="4219470" y="3383756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89" name="Rect 189"/>
          <p:cNvSpPr/>
          <p:nvPr/>
        </p:nvSpPr>
        <p:spPr>
          <a:xfrm>
            <a:off x="4367103" y="3383756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90" name="Rect 190"/>
          <p:cNvSpPr/>
          <p:nvPr/>
        </p:nvSpPr>
        <p:spPr>
          <a:xfrm>
            <a:off x="4514737" y="3383756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91" name="Rect 191"/>
          <p:cNvSpPr/>
          <p:nvPr/>
        </p:nvSpPr>
        <p:spPr>
          <a:xfrm>
            <a:off x="4662371" y="3383756"/>
            <a:ext cx="147634" cy="147161"/>
          </a:xfrm>
          <a:prstGeom prst="rect">
            <a:avLst/>
          </a:prstGeom>
          <a:solidFill>
            <a:srgbClr val="F2C75E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92" name="Rect 192"/>
          <p:cNvSpPr/>
          <p:nvPr/>
        </p:nvSpPr>
        <p:spPr>
          <a:xfrm>
            <a:off x="4810005" y="3383756"/>
            <a:ext cx="147634" cy="147161"/>
          </a:xfrm>
          <a:prstGeom prst="rect">
            <a:avLst/>
          </a:prstGeom>
          <a:solidFill>
            <a:srgbClr val="F2C75E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93" name="Rect 193"/>
          <p:cNvSpPr/>
          <p:nvPr/>
        </p:nvSpPr>
        <p:spPr>
          <a:xfrm>
            <a:off x="4957639" y="338375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94" name="Rect 194"/>
          <p:cNvSpPr/>
          <p:nvPr/>
        </p:nvSpPr>
        <p:spPr>
          <a:xfrm>
            <a:off x="5105272" y="338375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95" name="Rect 195"/>
          <p:cNvSpPr/>
          <p:nvPr/>
        </p:nvSpPr>
        <p:spPr>
          <a:xfrm>
            <a:off x="5252906" y="338375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96" name="Rect 196"/>
          <p:cNvSpPr/>
          <p:nvPr/>
        </p:nvSpPr>
        <p:spPr>
          <a:xfrm>
            <a:off x="5400540" y="338375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97" name="Rect 197"/>
          <p:cNvSpPr/>
          <p:nvPr/>
        </p:nvSpPr>
        <p:spPr>
          <a:xfrm>
            <a:off x="5548174" y="3383756"/>
            <a:ext cx="147634" cy="147161"/>
          </a:xfrm>
          <a:prstGeom prst="rect">
            <a:avLst/>
          </a:prstGeom>
          <a:solidFill>
            <a:srgbClr val="2276FF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98" name="Rect 198"/>
          <p:cNvSpPr/>
          <p:nvPr/>
        </p:nvSpPr>
        <p:spPr>
          <a:xfrm>
            <a:off x="971526" y="353091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199" name="Rect 199"/>
          <p:cNvSpPr/>
          <p:nvPr/>
        </p:nvSpPr>
        <p:spPr>
          <a:xfrm>
            <a:off x="1119160" y="353091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00" name="Rect 200"/>
          <p:cNvSpPr/>
          <p:nvPr/>
        </p:nvSpPr>
        <p:spPr>
          <a:xfrm>
            <a:off x="1266793" y="353091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01" name="Rect 201"/>
          <p:cNvSpPr/>
          <p:nvPr/>
        </p:nvSpPr>
        <p:spPr>
          <a:xfrm>
            <a:off x="1414427" y="353091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02" name="Rect 202"/>
          <p:cNvSpPr/>
          <p:nvPr/>
        </p:nvSpPr>
        <p:spPr>
          <a:xfrm>
            <a:off x="1562061" y="353091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03" name="Rect 203"/>
          <p:cNvSpPr/>
          <p:nvPr/>
        </p:nvSpPr>
        <p:spPr>
          <a:xfrm>
            <a:off x="1709695" y="3530918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04" name="Rect 204"/>
          <p:cNvSpPr/>
          <p:nvPr/>
        </p:nvSpPr>
        <p:spPr>
          <a:xfrm>
            <a:off x="1857329" y="3530918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05" name="Rect 205"/>
          <p:cNvSpPr/>
          <p:nvPr/>
        </p:nvSpPr>
        <p:spPr>
          <a:xfrm>
            <a:off x="2004962" y="3530918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06" name="Rect 206"/>
          <p:cNvSpPr/>
          <p:nvPr/>
        </p:nvSpPr>
        <p:spPr>
          <a:xfrm>
            <a:off x="2152596" y="3530918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07" name="Rect 207"/>
          <p:cNvSpPr/>
          <p:nvPr/>
        </p:nvSpPr>
        <p:spPr>
          <a:xfrm>
            <a:off x="2300230" y="3530918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08" name="Rect 208"/>
          <p:cNvSpPr/>
          <p:nvPr/>
        </p:nvSpPr>
        <p:spPr>
          <a:xfrm>
            <a:off x="2447864" y="3530918"/>
            <a:ext cx="147634" cy="147161"/>
          </a:xfrm>
          <a:prstGeom prst="rect">
            <a:avLst/>
          </a:prstGeom>
          <a:solidFill>
            <a:srgbClr val="3D485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09" name="Rect 209"/>
          <p:cNvSpPr/>
          <p:nvPr/>
        </p:nvSpPr>
        <p:spPr>
          <a:xfrm>
            <a:off x="2595498" y="3530918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10" name="Rect 210"/>
          <p:cNvSpPr/>
          <p:nvPr/>
        </p:nvSpPr>
        <p:spPr>
          <a:xfrm>
            <a:off x="2743131" y="3530918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11" name="Rect 211"/>
          <p:cNvSpPr/>
          <p:nvPr/>
        </p:nvSpPr>
        <p:spPr>
          <a:xfrm>
            <a:off x="2890765" y="3530918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12" name="Rect 212"/>
          <p:cNvSpPr/>
          <p:nvPr/>
        </p:nvSpPr>
        <p:spPr>
          <a:xfrm>
            <a:off x="3038399" y="3530918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13" name="Rect 213"/>
          <p:cNvSpPr/>
          <p:nvPr/>
        </p:nvSpPr>
        <p:spPr>
          <a:xfrm>
            <a:off x="3186033" y="353091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14" name="Rect 214"/>
          <p:cNvSpPr/>
          <p:nvPr/>
        </p:nvSpPr>
        <p:spPr>
          <a:xfrm>
            <a:off x="3333667" y="353091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15" name="Rect 215"/>
          <p:cNvSpPr/>
          <p:nvPr/>
        </p:nvSpPr>
        <p:spPr>
          <a:xfrm>
            <a:off x="3481300" y="3530918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16" name="Rect 216"/>
          <p:cNvSpPr/>
          <p:nvPr/>
        </p:nvSpPr>
        <p:spPr>
          <a:xfrm>
            <a:off x="3628934" y="3530918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17" name="Rect 217"/>
          <p:cNvSpPr/>
          <p:nvPr/>
        </p:nvSpPr>
        <p:spPr>
          <a:xfrm>
            <a:off x="3776568" y="3530918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18" name="Rect 218"/>
          <p:cNvSpPr/>
          <p:nvPr/>
        </p:nvSpPr>
        <p:spPr>
          <a:xfrm>
            <a:off x="3924202" y="3530918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19" name="Rect 219"/>
          <p:cNvSpPr/>
          <p:nvPr/>
        </p:nvSpPr>
        <p:spPr>
          <a:xfrm>
            <a:off x="4071836" y="3530918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20" name="Rect 220"/>
          <p:cNvSpPr/>
          <p:nvPr/>
        </p:nvSpPr>
        <p:spPr>
          <a:xfrm>
            <a:off x="4219470" y="3530918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21" name="Rect 221"/>
          <p:cNvSpPr/>
          <p:nvPr/>
        </p:nvSpPr>
        <p:spPr>
          <a:xfrm>
            <a:off x="4367103" y="3530918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22" name="Rect 222"/>
          <p:cNvSpPr/>
          <p:nvPr/>
        </p:nvSpPr>
        <p:spPr>
          <a:xfrm>
            <a:off x="4514737" y="3530918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23" name="Rect 223"/>
          <p:cNvSpPr/>
          <p:nvPr/>
        </p:nvSpPr>
        <p:spPr>
          <a:xfrm>
            <a:off x="4662371" y="3530918"/>
            <a:ext cx="147634" cy="147161"/>
          </a:xfrm>
          <a:prstGeom prst="rect">
            <a:avLst/>
          </a:prstGeom>
          <a:solidFill>
            <a:srgbClr val="3D485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24" name="Rect 224"/>
          <p:cNvSpPr/>
          <p:nvPr/>
        </p:nvSpPr>
        <p:spPr>
          <a:xfrm>
            <a:off x="4810005" y="3530918"/>
            <a:ext cx="147634" cy="147161"/>
          </a:xfrm>
          <a:prstGeom prst="rect">
            <a:avLst/>
          </a:prstGeom>
          <a:solidFill>
            <a:srgbClr val="3D485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25" name="Rect 225"/>
          <p:cNvSpPr/>
          <p:nvPr/>
        </p:nvSpPr>
        <p:spPr>
          <a:xfrm>
            <a:off x="4957639" y="353091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26" name="Rect 226"/>
          <p:cNvSpPr/>
          <p:nvPr/>
        </p:nvSpPr>
        <p:spPr>
          <a:xfrm>
            <a:off x="5105272" y="353091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27" name="Rect 227"/>
          <p:cNvSpPr/>
          <p:nvPr/>
        </p:nvSpPr>
        <p:spPr>
          <a:xfrm>
            <a:off x="5252906" y="353091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28" name="Rect 228"/>
          <p:cNvSpPr/>
          <p:nvPr/>
        </p:nvSpPr>
        <p:spPr>
          <a:xfrm>
            <a:off x="5400540" y="353091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29" name="Rect 229"/>
          <p:cNvSpPr/>
          <p:nvPr/>
        </p:nvSpPr>
        <p:spPr>
          <a:xfrm>
            <a:off x="5548174" y="3530918"/>
            <a:ext cx="147634" cy="147161"/>
          </a:xfrm>
          <a:prstGeom prst="rect">
            <a:avLst/>
          </a:prstGeom>
          <a:solidFill>
            <a:srgbClr val="2276FF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30" name="Rect 230"/>
          <p:cNvSpPr/>
          <p:nvPr/>
        </p:nvSpPr>
        <p:spPr>
          <a:xfrm>
            <a:off x="971526" y="367807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31" name="Rect 231"/>
          <p:cNvSpPr/>
          <p:nvPr/>
        </p:nvSpPr>
        <p:spPr>
          <a:xfrm>
            <a:off x="1119160" y="367807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32" name="Rect 232"/>
          <p:cNvSpPr/>
          <p:nvPr/>
        </p:nvSpPr>
        <p:spPr>
          <a:xfrm>
            <a:off x="1266793" y="367807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33" name="Rect 233"/>
          <p:cNvSpPr/>
          <p:nvPr/>
        </p:nvSpPr>
        <p:spPr>
          <a:xfrm>
            <a:off x="1414427" y="367807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34" name="Rect 234"/>
          <p:cNvSpPr/>
          <p:nvPr/>
        </p:nvSpPr>
        <p:spPr>
          <a:xfrm>
            <a:off x="1562061" y="367807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35" name="Rect 235"/>
          <p:cNvSpPr/>
          <p:nvPr/>
        </p:nvSpPr>
        <p:spPr>
          <a:xfrm>
            <a:off x="1709695" y="367807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36" name="Rect 236"/>
          <p:cNvSpPr/>
          <p:nvPr/>
        </p:nvSpPr>
        <p:spPr>
          <a:xfrm>
            <a:off x="1857329" y="367807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37" name="Rect 237"/>
          <p:cNvSpPr/>
          <p:nvPr/>
        </p:nvSpPr>
        <p:spPr>
          <a:xfrm>
            <a:off x="2004962" y="367807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38" name="Rect 238"/>
          <p:cNvSpPr/>
          <p:nvPr/>
        </p:nvSpPr>
        <p:spPr>
          <a:xfrm>
            <a:off x="2152596" y="367807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39" name="Rect 239"/>
          <p:cNvSpPr/>
          <p:nvPr/>
        </p:nvSpPr>
        <p:spPr>
          <a:xfrm>
            <a:off x="2300230" y="367807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40" name="Rect 240"/>
          <p:cNvSpPr/>
          <p:nvPr/>
        </p:nvSpPr>
        <p:spPr>
          <a:xfrm>
            <a:off x="2447864" y="367807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41" name="Rect 241"/>
          <p:cNvSpPr/>
          <p:nvPr/>
        </p:nvSpPr>
        <p:spPr>
          <a:xfrm>
            <a:off x="2595498" y="367807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42" name="Rect 242"/>
          <p:cNvSpPr/>
          <p:nvPr/>
        </p:nvSpPr>
        <p:spPr>
          <a:xfrm>
            <a:off x="2743131" y="367807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43" name="Rect 243"/>
          <p:cNvSpPr/>
          <p:nvPr/>
        </p:nvSpPr>
        <p:spPr>
          <a:xfrm>
            <a:off x="2890765" y="367807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44" name="Rect 244"/>
          <p:cNvSpPr/>
          <p:nvPr/>
        </p:nvSpPr>
        <p:spPr>
          <a:xfrm>
            <a:off x="3038399" y="367807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45" name="Rect 245"/>
          <p:cNvSpPr/>
          <p:nvPr/>
        </p:nvSpPr>
        <p:spPr>
          <a:xfrm>
            <a:off x="3186033" y="367807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46" name="Rect 246"/>
          <p:cNvSpPr/>
          <p:nvPr/>
        </p:nvSpPr>
        <p:spPr>
          <a:xfrm>
            <a:off x="3333667" y="367807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47" name="Rect 247"/>
          <p:cNvSpPr/>
          <p:nvPr/>
        </p:nvSpPr>
        <p:spPr>
          <a:xfrm>
            <a:off x="3481300" y="367807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48" name="Rect 248"/>
          <p:cNvSpPr/>
          <p:nvPr/>
        </p:nvSpPr>
        <p:spPr>
          <a:xfrm>
            <a:off x="3628934" y="367807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49" name="Rect 249"/>
          <p:cNvSpPr/>
          <p:nvPr/>
        </p:nvSpPr>
        <p:spPr>
          <a:xfrm>
            <a:off x="3776568" y="367807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50" name="Rect 250"/>
          <p:cNvSpPr/>
          <p:nvPr/>
        </p:nvSpPr>
        <p:spPr>
          <a:xfrm>
            <a:off x="3924202" y="367807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51" name="Rect 251"/>
          <p:cNvSpPr/>
          <p:nvPr/>
        </p:nvSpPr>
        <p:spPr>
          <a:xfrm>
            <a:off x="4071836" y="367807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52" name="Rect 252"/>
          <p:cNvSpPr/>
          <p:nvPr/>
        </p:nvSpPr>
        <p:spPr>
          <a:xfrm>
            <a:off x="4219470" y="367807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53" name="Rect 253"/>
          <p:cNvSpPr/>
          <p:nvPr/>
        </p:nvSpPr>
        <p:spPr>
          <a:xfrm>
            <a:off x="4367103" y="367807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54" name="Rect 254"/>
          <p:cNvSpPr/>
          <p:nvPr/>
        </p:nvSpPr>
        <p:spPr>
          <a:xfrm>
            <a:off x="4514737" y="367807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55" name="Rect 255"/>
          <p:cNvSpPr/>
          <p:nvPr/>
        </p:nvSpPr>
        <p:spPr>
          <a:xfrm>
            <a:off x="4662371" y="367807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56" name="Rect 256"/>
          <p:cNvSpPr/>
          <p:nvPr/>
        </p:nvSpPr>
        <p:spPr>
          <a:xfrm>
            <a:off x="4810005" y="367807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57" name="Rect 257"/>
          <p:cNvSpPr/>
          <p:nvPr/>
        </p:nvSpPr>
        <p:spPr>
          <a:xfrm>
            <a:off x="4957639" y="367807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58" name="Rect 258"/>
          <p:cNvSpPr/>
          <p:nvPr/>
        </p:nvSpPr>
        <p:spPr>
          <a:xfrm>
            <a:off x="5105272" y="367807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59" name="Rect 259"/>
          <p:cNvSpPr/>
          <p:nvPr/>
        </p:nvSpPr>
        <p:spPr>
          <a:xfrm>
            <a:off x="5252906" y="367807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60" name="Rect 260"/>
          <p:cNvSpPr/>
          <p:nvPr/>
        </p:nvSpPr>
        <p:spPr>
          <a:xfrm>
            <a:off x="5400540" y="367807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61" name="Rect 261"/>
          <p:cNvSpPr/>
          <p:nvPr/>
        </p:nvSpPr>
        <p:spPr>
          <a:xfrm>
            <a:off x="5548174" y="3678079"/>
            <a:ext cx="147634" cy="147161"/>
          </a:xfrm>
          <a:prstGeom prst="rect">
            <a:avLst/>
          </a:prstGeom>
          <a:solidFill>
            <a:srgbClr val="2276FF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62" name="Rect 262"/>
          <p:cNvSpPr/>
          <p:nvPr/>
        </p:nvSpPr>
        <p:spPr>
          <a:xfrm>
            <a:off x="971526" y="382524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63" name="Rect 263"/>
          <p:cNvSpPr/>
          <p:nvPr/>
        </p:nvSpPr>
        <p:spPr>
          <a:xfrm>
            <a:off x="1119160" y="382524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64" name="Rect 264"/>
          <p:cNvSpPr/>
          <p:nvPr/>
        </p:nvSpPr>
        <p:spPr>
          <a:xfrm>
            <a:off x="1266793" y="382524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65" name="Rect 265"/>
          <p:cNvSpPr/>
          <p:nvPr/>
        </p:nvSpPr>
        <p:spPr>
          <a:xfrm>
            <a:off x="1414427" y="382524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66" name="Rect 266"/>
          <p:cNvSpPr/>
          <p:nvPr/>
        </p:nvSpPr>
        <p:spPr>
          <a:xfrm>
            <a:off x="1562061" y="382524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67" name="Rect 267"/>
          <p:cNvSpPr/>
          <p:nvPr/>
        </p:nvSpPr>
        <p:spPr>
          <a:xfrm>
            <a:off x="1709695" y="3825240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68" name="Rect 268"/>
          <p:cNvSpPr/>
          <p:nvPr/>
        </p:nvSpPr>
        <p:spPr>
          <a:xfrm>
            <a:off x="1857329" y="3825240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69" name="Rect 269"/>
          <p:cNvSpPr/>
          <p:nvPr/>
        </p:nvSpPr>
        <p:spPr>
          <a:xfrm>
            <a:off x="2004962" y="3825240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70" name="Rect 270"/>
          <p:cNvSpPr/>
          <p:nvPr/>
        </p:nvSpPr>
        <p:spPr>
          <a:xfrm>
            <a:off x="2152596" y="3825240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71" name="Rect 271"/>
          <p:cNvSpPr/>
          <p:nvPr/>
        </p:nvSpPr>
        <p:spPr>
          <a:xfrm>
            <a:off x="2300230" y="3825240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72" name="Rect 272"/>
          <p:cNvSpPr/>
          <p:nvPr/>
        </p:nvSpPr>
        <p:spPr>
          <a:xfrm>
            <a:off x="2447864" y="3825240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73" name="Rect 273"/>
          <p:cNvSpPr/>
          <p:nvPr/>
        </p:nvSpPr>
        <p:spPr>
          <a:xfrm>
            <a:off x="2595498" y="3825240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74" name="Rect 274"/>
          <p:cNvSpPr/>
          <p:nvPr/>
        </p:nvSpPr>
        <p:spPr>
          <a:xfrm>
            <a:off x="2743131" y="3825240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75" name="Rect 275"/>
          <p:cNvSpPr/>
          <p:nvPr/>
        </p:nvSpPr>
        <p:spPr>
          <a:xfrm>
            <a:off x="2890765" y="3825240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76" name="Rect 276"/>
          <p:cNvSpPr/>
          <p:nvPr/>
        </p:nvSpPr>
        <p:spPr>
          <a:xfrm>
            <a:off x="3038399" y="3825240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77" name="Rect 277"/>
          <p:cNvSpPr/>
          <p:nvPr/>
        </p:nvSpPr>
        <p:spPr>
          <a:xfrm>
            <a:off x="3186033" y="382524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78" name="Rect 278"/>
          <p:cNvSpPr/>
          <p:nvPr/>
        </p:nvSpPr>
        <p:spPr>
          <a:xfrm>
            <a:off x="3333667" y="382524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79" name="Rect 279"/>
          <p:cNvSpPr/>
          <p:nvPr/>
        </p:nvSpPr>
        <p:spPr>
          <a:xfrm>
            <a:off x="3481300" y="3825240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80" name="Rect 280"/>
          <p:cNvSpPr/>
          <p:nvPr/>
        </p:nvSpPr>
        <p:spPr>
          <a:xfrm>
            <a:off x="3628934" y="3825240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81" name="Rect 281"/>
          <p:cNvSpPr/>
          <p:nvPr/>
        </p:nvSpPr>
        <p:spPr>
          <a:xfrm>
            <a:off x="3776568" y="3825240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82" name="Rect 282"/>
          <p:cNvSpPr/>
          <p:nvPr/>
        </p:nvSpPr>
        <p:spPr>
          <a:xfrm>
            <a:off x="3924202" y="3825240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83" name="Rect 283"/>
          <p:cNvSpPr/>
          <p:nvPr/>
        </p:nvSpPr>
        <p:spPr>
          <a:xfrm>
            <a:off x="4071836" y="3825240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84" name="Rect 284"/>
          <p:cNvSpPr/>
          <p:nvPr/>
        </p:nvSpPr>
        <p:spPr>
          <a:xfrm>
            <a:off x="4219470" y="3825240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85" name="Rect 285"/>
          <p:cNvSpPr/>
          <p:nvPr/>
        </p:nvSpPr>
        <p:spPr>
          <a:xfrm>
            <a:off x="4367103" y="3825240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86" name="Rect 286"/>
          <p:cNvSpPr/>
          <p:nvPr/>
        </p:nvSpPr>
        <p:spPr>
          <a:xfrm>
            <a:off x="4514737" y="3825240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87" name="Rect 287"/>
          <p:cNvSpPr/>
          <p:nvPr/>
        </p:nvSpPr>
        <p:spPr>
          <a:xfrm>
            <a:off x="4662371" y="3825240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88" name="Rect 288"/>
          <p:cNvSpPr/>
          <p:nvPr/>
        </p:nvSpPr>
        <p:spPr>
          <a:xfrm>
            <a:off x="4810005" y="3825240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89" name="Rect 289"/>
          <p:cNvSpPr/>
          <p:nvPr/>
        </p:nvSpPr>
        <p:spPr>
          <a:xfrm>
            <a:off x="4957639" y="382524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90" name="Rect 290"/>
          <p:cNvSpPr/>
          <p:nvPr/>
        </p:nvSpPr>
        <p:spPr>
          <a:xfrm>
            <a:off x="5105272" y="382524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91" name="Rect 291"/>
          <p:cNvSpPr/>
          <p:nvPr/>
        </p:nvSpPr>
        <p:spPr>
          <a:xfrm>
            <a:off x="5252906" y="382524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92" name="Rect 292"/>
          <p:cNvSpPr/>
          <p:nvPr/>
        </p:nvSpPr>
        <p:spPr>
          <a:xfrm>
            <a:off x="5400540" y="382524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93" name="Rect 293"/>
          <p:cNvSpPr/>
          <p:nvPr/>
        </p:nvSpPr>
        <p:spPr>
          <a:xfrm>
            <a:off x="5548174" y="382524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94" name="Rect 294"/>
          <p:cNvSpPr/>
          <p:nvPr/>
        </p:nvSpPr>
        <p:spPr>
          <a:xfrm>
            <a:off x="971526" y="397240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95" name="Rect 295"/>
          <p:cNvSpPr/>
          <p:nvPr/>
        </p:nvSpPr>
        <p:spPr>
          <a:xfrm>
            <a:off x="1119160" y="397240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96" name="Rect 296"/>
          <p:cNvSpPr/>
          <p:nvPr/>
        </p:nvSpPr>
        <p:spPr>
          <a:xfrm>
            <a:off x="1266793" y="397240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97" name="Rect 297"/>
          <p:cNvSpPr/>
          <p:nvPr/>
        </p:nvSpPr>
        <p:spPr>
          <a:xfrm>
            <a:off x="1414427" y="397240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98" name="Rect 298"/>
          <p:cNvSpPr/>
          <p:nvPr/>
        </p:nvSpPr>
        <p:spPr>
          <a:xfrm>
            <a:off x="1562061" y="397240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299" name="Rect 299"/>
          <p:cNvSpPr/>
          <p:nvPr/>
        </p:nvSpPr>
        <p:spPr>
          <a:xfrm>
            <a:off x="1709695" y="3972401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00" name="Rect 300"/>
          <p:cNvSpPr/>
          <p:nvPr/>
        </p:nvSpPr>
        <p:spPr>
          <a:xfrm>
            <a:off x="1857329" y="3972401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01" name="Rect 301"/>
          <p:cNvSpPr/>
          <p:nvPr/>
        </p:nvSpPr>
        <p:spPr>
          <a:xfrm>
            <a:off x="2004962" y="3972401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02" name="Rect 302"/>
          <p:cNvSpPr/>
          <p:nvPr/>
        </p:nvSpPr>
        <p:spPr>
          <a:xfrm>
            <a:off x="2152596" y="3972401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03" name="Rect 303"/>
          <p:cNvSpPr/>
          <p:nvPr/>
        </p:nvSpPr>
        <p:spPr>
          <a:xfrm>
            <a:off x="2300230" y="3972401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04" name="Rect 304"/>
          <p:cNvSpPr/>
          <p:nvPr/>
        </p:nvSpPr>
        <p:spPr>
          <a:xfrm>
            <a:off x="2447864" y="3972401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05" name="Rect 305"/>
          <p:cNvSpPr/>
          <p:nvPr/>
        </p:nvSpPr>
        <p:spPr>
          <a:xfrm>
            <a:off x="2595498" y="3972401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06" name="Rect 306"/>
          <p:cNvSpPr/>
          <p:nvPr/>
        </p:nvSpPr>
        <p:spPr>
          <a:xfrm>
            <a:off x="2743131" y="3972401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07" name="Rect 307"/>
          <p:cNvSpPr/>
          <p:nvPr/>
        </p:nvSpPr>
        <p:spPr>
          <a:xfrm>
            <a:off x="2890765" y="3972401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08" name="Rect 308"/>
          <p:cNvSpPr/>
          <p:nvPr/>
        </p:nvSpPr>
        <p:spPr>
          <a:xfrm>
            <a:off x="3038399" y="3972401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09" name="Rect 309"/>
          <p:cNvSpPr/>
          <p:nvPr/>
        </p:nvSpPr>
        <p:spPr>
          <a:xfrm>
            <a:off x="3186033" y="397240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10" name="Rect 310"/>
          <p:cNvSpPr/>
          <p:nvPr/>
        </p:nvSpPr>
        <p:spPr>
          <a:xfrm>
            <a:off x="3333667" y="397240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11" name="Rect 311"/>
          <p:cNvSpPr/>
          <p:nvPr/>
        </p:nvSpPr>
        <p:spPr>
          <a:xfrm>
            <a:off x="3481300" y="3972401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12" name="Rect 312"/>
          <p:cNvSpPr/>
          <p:nvPr/>
        </p:nvSpPr>
        <p:spPr>
          <a:xfrm>
            <a:off x="3628934" y="3972401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13" name="Rect 313"/>
          <p:cNvSpPr/>
          <p:nvPr/>
        </p:nvSpPr>
        <p:spPr>
          <a:xfrm>
            <a:off x="3776568" y="3972401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14" name="Rect 314"/>
          <p:cNvSpPr/>
          <p:nvPr/>
        </p:nvSpPr>
        <p:spPr>
          <a:xfrm>
            <a:off x="3924202" y="3972401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15" name="Rect 315"/>
          <p:cNvSpPr/>
          <p:nvPr/>
        </p:nvSpPr>
        <p:spPr>
          <a:xfrm>
            <a:off x="4071836" y="3972401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16" name="Rect 316"/>
          <p:cNvSpPr/>
          <p:nvPr/>
        </p:nvSpPr>
        <p:spPr>
          <a:xfrm>
            <a:off x="4219470" y="3972401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17" name="Rect 317"/>
          <p:cNvSpPr/>
          <p:nvPr/>
        </p:nvSpPr>
        <p:spPr>
          <a:xfrm>
            <a:off x="4367103" y="3972401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18" name="Rect 318"/>
          <p:cNvSpPr/>
          <p:nvPr/>
        </p:nvSpPr>
        <p:spPr>
          <a:xfrm>
            <a:off x="4514737" y="3972401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19" name="Rect 319"/>
          <p:cNvSpPr/>
          <p:nvPr/>
        </p:nvSpPr>
        <p:spPr>
          <a:xfrm>
            <a:off x="4662371" y="3972401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20" name="Rect 320"/>
          <p:cNvSpPr/>
          <p:nvPr/>
        </p:nvSpPr>
        <p:spPr>
          <a:xfrm>
            <a:off x="4810005" y="3972401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21" name="Rect 321"/>
          <p:cNvSpPr/>
          <p:nvPr/>
        </p:nvSpPr>
        <p:spPr>
          <a:xfrm>
            <a:off x="4957639" y="397240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22" name="Rect 322"/>
          <p:cNvSpPr/>
          <p:nvPr/>
        </p:nvSpPr>
        <p:spPr>
          <a:xfrm>
            <a:off x="5105272" y="397240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23" name="Rect 323"/>
          <p:cNvSpPr/>
          <p:nvPr/>
        </p:nvSpPr>
        <p:spPr>
          <a:xfrm>
            <a:off x="5252906" y="397240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24" name="Rect 324"/>
          <p:cNvSpPr/>
          <p:nvPr/>
        </p:nvSpPr>
        <p:spPr>
          <a:xfrm>
            <a:off x="5400540" y="397240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25" name="Rect 325"/>
          <p:cNvSpPr/>
          <p:nvPr/>
        </p:nvSpPr>
        <p:spPr>
          <a:xfrm>
            <a:off x="5548174" y="397240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26" name="Rect 326"/>
          <p:cNvSpPr/>
          <p:nvPr/>
        </p:nvSpPr>
        <p:spPr>
          <a:xfrm>
            <a:off x="971526" y="4119562"/>
            <a:ext cx="147634" cy="147161"/>
          </a:xfrm>
          <a:prstGeom prst="rect">
            <a:avLst/>
          </a:prstGeom>
          <a:solidFill>
            <a:srgbClr val="C69BE8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27" name="Rect 327"/>
          <p:cNvSpPr/>
          <p:nvPr/>
        </p:nvSpPr>
        <p:spPr>
          <a:xfrm>
            <a:off x="1119160" y="411956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28" name="Rect 328"/>
          <p:cNvSpPr/>
          <p:nvPr/>
        </p:nvSpPr>
        <p:spPr>
          <a:xfrm>
            <a:off x="1266793" y="411956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29" name="Rect 329"/>
          <p:cNvSpPr/>
          <p:nvPr/>
        </p:nvSpPr>
        <p:spPr>
          <a:xfrm>
            <a:off x="1414427" y="411956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30" name="Rect 330"/>
          <p:cNvSpPr/>
          <p:nvPr/>
        </p:nvSpPr>
        <p:spPr>
          <a:xfrm>
            <a:off x="1562061" y="411956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31" name="Rect 331"/>
          <p:cNvSpPr/>
          <p:nvPr/>
        </p:nvSpPr>
        <p:spPr>
          <a:xfrm>
            <a:off x="1709695" y="411956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32" name="Rect 332"/>
          <p:cNvSpPr/>
          <p:nvPr/>
        </p:nvSpPr>
        <p:spPr>
          <a:xfrm>
            <a:off x="1857329" y="411956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33" name="Rect 333"/>
          <p:cNvSpPr/>
          <p:nvPr/>
        </p:nvSpPr>
        <p:spPr>
          <a:xfrm>
            <a:off x="2004962" y="411956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34" name="Rect 334"/>
          <p:cNvSpPr/>
          <p:nvPr/>
        </p:nvSpPr>
        <p:spPr>
          <a:xfrm>
            <a:off x="2152596" y="411956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35" name="Rect 335"/>
          <p:cNvSpPr/>
          <p:nvPr/>
        </p:nvSpPr>
        <p:spPr>
          <a:xfrm>
            <a:off x="2300230" y="411956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36" name="Rect 336"/>
          <p:cNvSpPr/>
          <p:nvPr/>
        </p:nvSpPr>
        <p:spPr>
          <a:xfrm>
            <a:off x="2447864" y="411956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37" name="Rect 337"/>
          <p:cNvSpPr/>
          <p:nvPr/>
        </p:nvSpPr>
        <p:spPr>
          <a:xfrm>
            <a:off x="2595498" y="411956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38" name="Rect 338"/>
          <p:cNvSpPr/>
          <p:nvPr/>
        </p:nvSpPr>
        <p:spPr>
          <a:xfrm>
            <a:off x="2743131" y="411956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39" name="Rect 339"/>
          <p:cNvSpPr/>
          <p:nvPr/>
        </p:nvSpPr>
        <p:spPr>
          <a:xfrm>
            <a:off x="2890765" y="411956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40" name="Rect 340"/>
          <p:cNvSpPr/>
          <p:nvPr/>
        </p:nvSpPr>
        <p:spPr>
          <a:xfrm>
            <a:off x="3038399" y="411956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41" name="Rect 341"/>
          <p:cNvSpPr/>
          <p:nvPr/>
        </p:nvSpPr>
        <p:spPr>
          <a:xfrm>
            <a:off x="3186033" y="411956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42" name="Rect 342"/>
          <p:cNvSpPr/>
          <p:nvPr/>
        </p:nvSpPr>
        <p:spPr>
          <a:xfrm>
            <a:off x="3333667" y="411956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43" name="Rect 343"/>
          <p:cNvSpPr/>
          <p:nvPr/>
        </p:nvSpPr>
        <p:spPr>
          <a:xfrm>
            <a:off x="3481300" y="411956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44" name="Rect 344"/>
          <p:cNvSpPr/>
          <p:nvPr/>
        </p:nvSpPr>
        <p:spPr>
          <a:xfrm>
            <a:off x="3628934" y="411956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45" name="Rect 345"/>
          <p:cNvSpPr/>
          <p:nvPr/>
        </p:nvSpPr>
        <p:spPr>
          <a:xfrm>
            <a:off x="3776568" y="411956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46" name="Rect 346"/>
          <p:cNvSpPr/>
          <p:nvPr/>
        </p:nvSpPr>
        <p:spPr>
          <a:xfrm>
            <a:off x="3924202" y="411956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47" name="Rect 347"/>
          <p:cNvSpPr/>
          <p:nvPr/>
        </p:nvSpPr>
        <p:spPr>
          <a:xfrm>
            <a:off x="4071836" y="411956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48" name="Rect 348"/>
          <p:cNvSpPr/>
          <p:nvPr/>
        </p:nvSpPr>
        <p:spPr>
          <a:xfrm>
            <a:off x="4219470" y="411956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49" name="Rect 349"/>
          <p:cNvSpPr/>
          <p:nvPr/>
        </p:nvSpPr>
        <p:spPr>
          <a:xfrm>
            <a:off x="4367103" y="411956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50" name="Rect 350"/>
          <p:cNvSpPr/>
          <p:nvPr/>
        </p:nvSpPr>
        <p:spPr>
          <a:xfrm>
            <a:off x="4514737" y="411956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51" name="Rect 351"/>
          <p:cNvSpPr/>
          <p:nvPr/>
        </p:nvSpPr>
        <p:spPr>
          <a:xfrm>
            <a:off x="4662371" y="411956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52" name="Rect 352"/>
          <p:cNvSpPr/>
          <p:nvPr/>
        </p:nvSpPr>
        <p:spPr>
          <a:xfrm>
            <a:off x="4810005" y="411956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53" name="Rect 353"/>
          <p:cNvSpPr/>
          <p:nvPr/>
        </p:nvSpPr>
        <p:spPr>
          <a:xfrm>
            <a:off x="4957639" y="411956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54" name="Rect 354"/>
          <p:cNvSpPr/>
          <p:nvPr/>
        </p:nvSpPr>
        <p:spPr>
          <a:xfrm>
            <a:off x="5105272" y="411956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55" name="Rect 355"/>
          <p:cNvSpPr/>
          <p:nvPr/>
        </p:nvSpPr>
        <p:spPr>
          <a:xfrm>
            <a:off x="5252906" y="411956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56" name="Rect 356"/>
          <p:cNvSpPr/>
          <p:nvPr/>
        </p:nvSpPr>
        <p:spPr>
          <a:xfrm>
            <a:off x="5400540" y="411956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57" name="Rect 357"/>
          <p:cNvSpPr/>
          <p:nvPr/>
        </p:nvSpPr>
        <p:spPr>
          <a:xfrm>
            <a:off x="5548174" y="411956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58" name="Rect 358"/>
          <p:cNvSpPr/>
          <p:nvPr/>
        </p:nvSpPr>
        <p:spPr>
          <a:xfrm>
            <a:off x="971526" y="426672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59" name="Rect 359"/>
          <p:cNvSpPr/>
          <p:nvPr/>
        </p:nvSpPr>
        <p:spPr>
          <a:xfrm>
            <a:off x="1119160" y="426672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60" name="Rect 360"/>
          <p:cNvSpPr/>
          <p:nvPr/>
        </p:nvSpPr>
        <p:spPr>
          <a:xfrm>
            <a:off x="1266793" y="426672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61" name="Rect 361"/>
          <p:cNvSpPr/>
          <p:nvPr/>
        </p:nvSpPr>
        <p:spPr>
          <a:xfrm>
            <a:off x="1414427" y="426672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62" name="Rect 362"/>
          <p:cNvSpPr/>
          <p:nvPr/>
        </p:nvSpPr>
        <p:spPr>
          <a:xfrm>
            <a:off x="1562061" y="426672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63" name="Rect 363"/>
          <p:cNvSpPr/>
          <p:nvPr/>
        </p:nvSpPr>
        <p:spPr>
          <a:xfrm>
            <a:off x="1709695" y="426672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64" name="Rect 364"/>
          <p:cNvSpPr/>
          <p:nvPr/>
        </p:nvSpPr>
        <p:spPr>
          <a:xfrm>
            <a:off x="1857329" y="426672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65" name="Rect 365"/>
          <p:cNvSpPr/>
          <p:nvPr/>
        </p:nvSpPr>
        <p:spPr>
          <a:xfrm>
            <a:off x="2004962" y="426672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66" name="Rect 366"/>
          <p:cNvSpPr/>
          <p:nvPr/>
        </p:nvSpPr>
        <p:spPr>
          <a:xfrm>
            <a:off x="2152596" y="426672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67" name="Rect 367"/>
          <p:cNvSpPr/>
          <p:nvPr/>
        </p:nvSpPr>
        <p:spPr>
          <a:xfrm>
            <a:off x="2300230" y="426672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68" name="Rect 368"/>
          <p:cNvSpPr/>
          <p:nvPr/>
        </p:nvSpPr>
        <p:spPr>
          <a:xfrm>
            <a:off x="2447864" y="426672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69" name="Rect 369"/>
          <p:cNvSpPr/>
          <p:nvPr/>
        </p:nvSpPr>
        <p:spPr>
          <a:xfrm>
            <a:off x="2595498" y="426672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70" name="Rect 370"/>
          <p:cNvSpPr/>
          <p:nvPr/>
        </p:nvSpPr>
        <p:spPr>
          <a:xfrm>
            <a:off x="2743131" y="426672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71" name="Rect 371"/>
          <p:cNvSpPr/>
          <p:nvPr/>
        </p:nvSpPr>
        <p:spPr>
          <a:xfrm>
            <a:off x="2890765" y="426672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72" name="Rect 372"/>
          <p:cNvSpPr/>
          <p:nvPr/>
        </p:nvSpPr>
        <p:spPr>
          <a:xfrm>
            <a:off x="3038399" y="426672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73" name="Rect 373"/>
          <p:cNvSpPr/>
          <p:nvPr/>
        </p:nvSpPr>
        <p:spPr>
          <a:xfrm>
            <a:off x="3186033" y="426672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74" name="Rect 374"/>
          <p:cNvSpPr/>
          <p:nvPr/>
        </p:nvSpPr>
        <p:spPr>
          <a:xfrm>
            <a:off x="3333667" y="426672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75" name="Rect 375"/>
          <p:cNvSpPr/>
          <p:nvPr/>
        </p:nvSpPr>
        <p:spPr>
          <a:xfrm>
            <a:off x="3481300" y="426672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76" name="Rect 376"/>
          <p:cNvSpPr/>
          <p:nvPr/>
        </p:nvSpPr>
        <p:spPr>
          <a:xfrm>
            <a:off x="3628934" y="426672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77" name="Rect 377"/>
          <p:cNvSpPr/>
          <p:nvPr/>
        </p:nvSpPr>
        <p:spPr>
          <a:xfrm>
            <a:off x="3776568" y="426672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78" name="Rect 378"/>
          <p:cNvSpPr/>
          <p:nvPr/>
        </p:nvSpPr>
        <p:spPr>
          <a:xfrm>
            <a:off x="3924202" y="426672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79" name="Rect 379"/>
          <p:cNvSpPr/>
          <p:nvPr/>
        </p:nvSpPr>
        <p:spPr>
          <a:xfrm>
            <a:off x="4071836" y="426672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80" name="Rect 380"/>
          <p:cNvSpPr/>
          <p:nvPr/>
        </p:nvSpPr>
        <p:spPr>
          <a:xfrm>
            <a:off x="4219470" y="426672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81" name="Rect 381"/>
          <p:cNvSpPr/>
          <p:nvPr/>
        </p:nvSpPr>
        <p:spPr>
          <a:xfrm>
            <a:off x="4367103" y="426672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82" name="Rect 382"/>
          <p:cNvSpPr/>
          <p:nvPr/>
        </p:nvSpPr>
        <p:spPr>
          <a:xfrm>
            <a:off x="4514737" y="426672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83" name="Rect 383"/>
          <p:cNvSpPr/>
          <p:nvPr/>
        </p:nvSpPr>
        <p:spPr>
          <a:xfrm>
            <a:off x="4662371" y="426672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84" name="Rect 384"/>
          <p:cNvSpPr/>
          <p:nvPr/>
        </p:nvSpPr>
        <p:spPr>
          <a:xfrm>
            <a:off x="4810005" y="426672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85" name="Rect 385"/>
          <p:cNvSpPr/>
          <p:nvPr/>
        </p:nvSpPr>
        <p:spPr>
          <a:xfrm>
            <a:off x="4957639" y="426672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86" name="Rect 386"/>
          <p:cNvSpPr/>
          <p:nvPr/>
        </p:nvSpPr>
        <p:spPr>
          <a:xfrm>
            <a:off x="5105272" y="426672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87" name="Rect 387"/>
          <p:cNvSpPr/>
          <p:nvPr/>
        </p:nvSpPr>
        <p:spPr>
          <a:xfrm>
            <a:off x="5252906" y="426672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88" name="Rect 388"/>
          <p:cNvSpPr/>
          <p:nvPr/>
        </p:nvSpPr>
        <p:spPr>
          <a:xfrm>
            <a:off x="5400540" y="426672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89" name="Rect 389"/>
          <p:cNvSpPr/>
          <p:nvPr/>
        </p:nvSpPr>
        <p:spPr>
          <a:xfrm>
            <a:off x="5548174" y="426672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90" name="Rect 390"/>
          <p:cNvSpPr/>
          <p:nvPr/>
        </p:nvSpPr>
        <p:spPr>
          <a:xfrm>
            <a:off x="971526" y="441388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91" name="Rect 391"/>
          <p:cNvSpPr/>
          <p:nvPr/>
        </p:nvSpPr>
        <p:spPr>
          <a:xfrm>
            <a:off x="1119160" y="441388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92" name="Rect 392"/>
          <p:cNvSpPr/>
          <p:nvPr/>
        </p:nvSpPr>
        <p:spPr>
          <a:xfrm>
            <a:off x="1266793" y="441388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93" name="Rect 393"/>
          <p:cNvSpPr/>
          <p:nvPr/>
        </p:nvSpPr>
        <p:spPr>
          <a:xfrm>
            <a:off x="1414427" y="441388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94" name="Rect 394"/>
          <p:cNvSpPr/>
          <p:nvPr/>
        </p:nvSpPr>
        <p:spPr>
          <a:xfrm>
            <a:off x="1562061" y="441388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95" name="Rect 395"/>
          <p:cNvSpPr/>
          <p:nvPr/>
        </p:nvSpPr>
        <p:spPr>
          <a:xfrm>
            <a:off x="1709695" y="4413885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96" name="Rect 396"/>
          <p:cNvSpPr/>
          <p:nvPr/>
        </p:nvSpPr>
        <p:spPr>
          <a:xfrm>
            <a:off x="1857329" y="4413885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97" name="Rect 397"/>
          <p:cNvSpPr/>
          <p:nvPr/>
        </p:nvSpPr>
        <p:spPr>
          <a:xfrm>
            <a:off x="2004962" y="4413885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98" name="Rect 398"/>
          <p:cNvSpPr/>
          <p:nvPr/>
        </p:nvSpPr>
        <p:spPr>
          <a:xfrm>
            <a:off x="2152596" y="4413885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399" name="Rect 399"/>
          <p:cNvSpPr/>
          <p:nvPr/>
        </p:nvSpPr>
        <p:spPr>
          <a:xfrm>
            <a:off x="2300230" y="4413885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00" name="Rect 400"/>
          <p:cNvSpPr/>
          <p:nvPr/>
        </p:nvSpPr>
        <p:spPr>
          <a:xfrm>
            <a:off x="2447864" y="4413885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01" name="Rect 401"/>
          <p:cNvSpPr/>
          <p:nvPr/>
        </p:nvSpPr>
        <p:spPr>
          <a:xfrm>
            <a:off x="2595498" y="4413885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02" name="Rect 402"/>
          <p:cNvSpPr/>
          <p:nvPr/>
        </p:nvSpPr>
        <p:spPr>
          <a:xfrm>
            <a:off x="2743131" y="4413885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03" name="Rect 403"/>
          <p:cNvSpPr/>
          <p:nvPr/>
        </p:nvSpPr>
        <p:spPr>
          <a:xfrm>
            <a:off x="2890765" y="4413885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04" name="Rect 404"/>
          <p:cNvSpPr/>
          <p:nvPr/>
        </p:nvSpPr>
        <p:spPr>
          <a:xfrm>
            <a:off x="3038399" y="4413885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05" name="Rect 405"/>
          <p:cNvSpPr/>
          <p:nvPr/>
        </p:nvSpPr>
        <p:spPr>
          <a:xfrm>
            <a:off x="3186033" y="441388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06" name="Rect 406"/>
          <p:cNvSpPr/>
          <p:nvPr/>
        </p:nvSpPr>
        <p:spPr>
          <a:xfrm>
            <a:off x="3333667" y="441388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07" name="Rect 407"/>
          <p:cNvSpPr/>
          <p:nvPr/>
        </p:nvSpPr>
        <p:spPr>
          <a:xfrm>
            <a:off x="3481300" y="4413885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08" name="Rect 408"/>
          <p:cNvSpPr/>
          <p:nvPr/>
        </p:nvSpPr>
        <p:spPr>
          <a:xfrm>
            <a:off x="3628934" y="4413885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09" name="Rect 409"/>
          <p:cNvSpPr/>
          <p:nvPr/>
        </p:nvSpPr>
        <p:spPr>
          <a:xfrm>
            <a:off x="3776568" y="4413885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10" name="Rect 410"/>
          <p:cNvSpPr/>
          <p:nvPr/>
        </p:nvSpPr>
        <p:spPr>
          <a:xfrm>
            <a:off x="3924202" y="4413885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11" name="Rect 411"/>
          <p:cNvSpPr/>
          <p:nvPr/>
        </p:nvSpPr>
        <p:spPr>
          <a:xfrm>
            <a:off x="4071836" y="4413885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12" name="Rect 412"/>
          <p:cNvSpPr/>
          <p:nvPr/>
        </p:nvSpPr>
        <p:spPr>
          <a:xfrm>
            <a:off x="4219470" y="4413885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13" name="Rect 413"/>
          <p:cNvSpPr/>
          <p:nvPr/>
        </p:nvSpPr>
        <p:spPr>
          <a:xfrm>
            <a:off x="4367103" y="4413885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14" name="Rect 414"/>
          <p:cNvSpPr/>
          <p:nvPr/>
        </p:nvSpPr>
        <p:spPr>
          <a:xfrm>
            <a:off x="4514737" y="4413885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15" name="Rect 415"/>
          <p:cNvSpPr/>
          <p:nvPr/>
        </p:nvSpPr>
        <p:spPr>
          <a:xfrm>
            <a:off x="4662371" y="4413885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16" name="Rect 416"/>
          <p:cNvSpPr/>
          <p:nvPr/>
        </p:nvSpPr>
        <p:spPr>
          <a:xfrm>
            <a:off x="4810005" y="4413885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17" name="Rect 417"/>
          <p:cNvSpPr/>
          <p:nvPr/>
        </p:nvSpPr>
        <p:spPr>
          <a:xfrm>
            <a:off x="4957639" y="441388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18" name="Rect 418"/>
          <p:cNvSpPr/>
          <p:nvPr/>
        </p:nvSpPr>
        <p:spPr>
          <a:xfrm>
            <a:off x="5105272" y="441388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19" name="Rect 419"/>
          <p:cNvSpPr/>
          <p:nvPr/>
        </p:nvSpPr>
        <p:spPr>
          <a:xfrm>
            <a:off x="5252906" y="441388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20" name="Rect 420"/>
          <p:cNvSpPr/>
          <p:nvPr/>
        </p:nvSpPr>
        <p:spPr>
          <a:xfrm>
            <a:off x="5400540" y="441388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21" name="Rect 421"/>
          <p:cNvSpPr/>
          <p:nvPr/>
        </p:nvSpPr>
        <p:spPr>
          <a:xfrm>
            <a:off x="5548174" y="441388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22" name="Rect 422"/>
          <p:cNvSpPr/>
          <p:nvPr/>
        </p:nvSpPr>
        <p:spPr>
          <a:xfrm>
            <a:off x="971526" y="456104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23" name="Rect 423"/>
          <p:cNvSpPr/>
          <p:nvPr/>
        </p:nvSpPr>
        <p:spPr>
          <a:xfrm>
            <a:off x="1119160" y="456104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24" name="Rect 424"/>
          <p:cNvSpPr/>
          <p:nvPr/>
        </p:nvSpPr>
        <p:spPr>
          <a:xfrm>
            <a:off x="1266793" y="456104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25" name="Rect 425"/>
          <p:cNvSpPr/>
          <p:nvPr/>
        </p:nvSpPr>
        <p:spPr>
          <a:xfrm>
            <a:off x="1414427" y="456104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26" name="Rect 426"/>
          <p:cNvSpPr/>
          <p:nvPr/>
        </p:nvSpPr>
        <p:spPr>
          <a:xfrm>
            <a:off x="1562061" y="456104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27" name="Rect 427"/>
          <p:cNvSpPr/>
          <p:nvPr/>
        </p:nvSpPr>
        <p:spPr>
          <a:xfrm>
            <a:off x="1709695" y="4561046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28" name="Rect 428"/>
          <p:cNvSpPr/>
          <p:nvPr/>
        </p:nvSpPr>
        <p:spPr>
          <a:xfrm>
            <a:off x="1857329" y="4561046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29" name="Rect 429"/>
          <p:cNvSpPr/>
          <p:nvPr/>
        </p:nvSpPr>
        <p:spPr>
          <a:xfrm>
            <a:off x="2004962" y="4561046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30" name="Rect 430"/>
          <p:cNvSpPr/>
          <p:nvPr/>
        </p:nvSpPr>
        <p:spPr>
          <a:xfrm>
            <a:off x="2152596" y="4561046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31" name="Rect 431"/>
          <p:cNvSpPr/>
          <p:nvPr/>
        </p:nvSpPr>
        <p:spPr>
          <a:xfrm>
            <a:off x="2300230" y="4561046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32" name="Rect 432"/>
          <p:cNvSpPr/>
          <p:nvPr/>
        </p:nvSpPr>
        <p:spPr>
          <a:xfrm>
            <a:off x="2447864" y="4561046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33" name="Rect 433"/>
          <p:cNvSpPr/>
          <p:nvPr/>
        </p:nvSpPr>
        <p:spPr>
          <a:xfrm>
            <a:off x="2595498" y="4561046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34" name="Rect 434"/>
          <p:cNvSpPr/>
          <p:nvPr/>
        </p:nvSpPr>
        <p:spPr>
          <a:xfrm>
            <a:off x="2743131" y="4561046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35" name="Rect 435"/>
          <p:cNvSpPr/>
          <p:nvPr/>
        </p:nvSpPr>
        <p:spPr>
          <a:xfrm>
            <a:off x="2890765" y="4561046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36" name="Rect 436"/>
          <p:cNvSpPr/>
          <p:nvPr/>
        </p:nvSpPr>
        <p:spPr>
          <a:xfrm>
            <a:off x="3038399" y="4561046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37" name="Rect 437"/>
          <p:cNvSpPr/>
          <p:nvPr/>
        </p:nvSpPr>
        <p:spPr>
          <a:xfrm>
            <a:off x="3186033" y="456104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38" name="Rect 438"/>
          <p:cNvSpPr/>
          <p:nvPr/>
        </p:nvSpPr>
        <p:spPr>
          <a:xfrm>
            <a:off x="3333667" y="456104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39" name="Rect 439"/>
          <p:cNvSpPr/>
          <p:nvPr/>
        </p:nvSpPr>
        <p:spPr>
          <a:xfrm>
            <a:off x="3481300" y="4561046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40" name="Rect 440"/>
          <p:cNvSpPr/>
          <p:nvPr/>
        </p:nvSpPr>
        <p:spPr>
          <a:xfrm>
            <a:off x="3628934" y="4561046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41" name="Rect 441"/>
          <p:cNvSpPr/>
          <p:nvPr/>
        </p:nvSpPr>
        <p:spPr>
          <a:xfrm>
            <a:off x="3776568" y="4561046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42" name="Rect 442"/>
          <p:cNvSpPr/>
          <p:nvPr/>
        </p:nvSpPr>
        <p:spPr>
          <a:xfrm>
            <a:off x="3924202" y="4561046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43" name="Rect 443"/>
          <p:cNvSpPr/>
          <p:nvPr/>
        </p:nvSpPr>
        <p:spPr>
          <a:xfrm>
            <a:off x="4071836" y="4561046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44" name="Rect 444"/>
          <p:cNvSpPr/>
          <p:nvPr/>
        </p:nvSpPr>
        <p:spPr>
          <a:xfrm>
            <a:off x="4219470" y="4561046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45" name="Rect 445"/>
          <p:cNvSpPr/>
          <p:nvPr/>
        </p:nvSpPr>
        <p:spPr>
          <a:xfrm>
            <a:off x="4367103" y="4561046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46" name="Rect 446"/>
          <p:cNvSpPr/>
          <p:nvPr/>
        </p:nvSpPr>
        <p:spPr>
          <a:xfrm>
            <a:off x="4514737" y="4561046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47" name="Rect 447"/>
          <p:cNvSpPr/>
          <p:nvPr/>
        </p:nvSpPr>
        <p:spPr>
          <a:xfrm>
            <a:off x="4662371" y="4561046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48" name="Rect 448"/>
          <p:cNvSpPr/>
          <p:nvPr/>
        </p:nvSpPr>
        <p:spPr>
          <a:xfrm>
            <a:off x="4810005" y="4561046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49" name="Rect 449"/>
          <p:cNvSpPr/>
          <p:nvPr/>
        </p:nvSpPr>
        <p:spPr>
          <a:xfrm>
            <a:off x="4957639" y="456104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50" name="Rect 450"/>
          <p:cNvSpPr/>
          <p:nvPr/>
        </p:nvSpPr>
        <p:spPr>
          <a:xfrm>
            <a:off x="5105272" y="456104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51" name="Rect 451"/>
          <p:cNvSpPr/>
          <p:nvPr/>
        </p:nvSpPr>
        <p:spPr>
          <a:xfrm>
            <a:off x="5252906" y="456104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52" name="Rect 452"/>
          <p:cNvSpPr/>
          <p:nvPr/>
        </p:nvSpPr>
        <p:spPr>
          <a:xfrm>
            <a:off x="5400540" y="456104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53" name="Rect 453"/>
          <p:cNvSpPr/>
          <p:nvPr/>
        </p:nvSpPr>
        <p:spPr>
          <a:xfrm>
            <a:off x="5548174" y="4561046"/>
            <a:ext cx="147634" cy="147161"/>
          </a:xfrm>
          <a:prstGeom prst="rect">
            <a:avLst/>
          </a:prstGeom>
          <a:solidFill>
            <a:srgbClr val="2276FF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54" name="Rect 454"/>
          <p:cNvSpPr/>
          <p:nvPr/>
        </p:nvSpPr>
        <p:spPr>
          <a:xfrm>
            <a:off x="971526" y="4708208"/>
            <a:ext cx="147634" cy="147161"/>
          </a:xfrm>
          <a:prstGeom prst="rect">
            <a:avLst/>
          </a:prstGeom>
          <a:solidFill>
            <a:srgbClr val="C69BE8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55" name="Rect 455"/>
          <p:cNvSpPr/>
          <p:nvPr/>
        </p:nvSpPr>
        <p:spPr>
          <a:xfrm>
            <a:off x="1119160" y="470820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56" name="Rect 456"/>
          <p:cNvSpPr/>
          <p:nvPr/>
        </p:nvSpPr>
        <p:spPr>
          <a:xfrm>
            <a:off x="1266793" y="470820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57" name="Rect 457"/>
          <p:cNvSpPr/>
          <p:nvPr/>
        </p:nvSpPr>
        <p:spPr>
          <a:xfrm>
            <a:off x="1414427" y="470820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58" name="Rect 458"/>
          <p:cNvSpPr/>
          <p:nvPr/>
        </p:nvSpPr>
        <p:spPr>
          <a:xfrm>
            <a:off x="1562061" y="470820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59" name="Rect 459"/>
          <p:cNvSpPr/>
          <p:nvPr/>
        </p:nvSpPr>
        <p:spPr>
          <a:xfrm>
            <a:off x="1709695" y="470820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60" name="Rect 460"/>
          <p:cNvSpPr/>
          <p:nvPr/>
        </p:nvSpPr>
        <p:spPr>
          <a:xfrm>
            <a:off x="1857329" y="470820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61" name="Rect 461"/>
          <p:cNvSpPr/>
          <p:nvPr/>
        </p:nvSpPr>
        <p:spPr>
          <a:xfrm>
            <a:off x="2004962" y="470820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62" name="Rect 462"/>
          <p:cNvSpPr/>
          <p:nvPr/>
        </p:nvSpPr>
        <p:spPr>
          <a:xfrm>
            <a:off x="2152596" y="470820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63" name="Rect 463"/>
          <p:cNvSpPr/>
          <p:nvPr/>
        </p:nvSpPr>
        <p:spPr>
          <a:xfrm>
            <a:off x="2300230" y="470820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64" name="Rect 464"/>
          <p:cNvSpPr/>
          <p:nvPr/>
        </p:nvSpPr>
        <p:spPr>
          <a:xfrm>
            <a:off x="2447864" y="470820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65" name="Rect 465"/>
          <p:cNvSpPr/>
          <p:nvPr/>
        </p:nvSpPr>
        <p:spPr>
          <a:xfrm>
            <a:off x="2595498" y="470820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66" name="Rect 466"/>
          <p:cNvSpPr/>
          <p:nvPr/>
        </p:nvSpPr>
        <p:spPr>
          <a:xfrm>
            <a:off x="2743131" y="470820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67" name="Rect 467"/>
          <p:cNvSpPr/>
          <p:nvPr/>
        </p:nvSpPr>
        <p:spPr>
          <a:xfrm>
            <a:off x="2890765" y="470820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68" name="Rect 468"/>
          <p:cNvSpPr/>
          <p:nvPr/>
        </p:nvSpPr>
        <p:spPr>
          <a:xfrm>
            <a:off x="3038399" y="470820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69" name="Rect 469"/>
          <p:cNvSpPr/>
          <p:nvPr/>
        </p:nvSpPr>
        <p:spPr>
          <a:xfrm>
            <a:off x="3186033" y="470820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70" name="Rect 470"/>
          <p:cNvSpPr/>
          <p:nvPr/>
        </p:nvSpPr>
        <p:spPr>
          <a:xfrm>
            <a:off x="3333667" y="470820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71" name="Rect 471"/>
          <p:cNvSpPr/>
          <p:nvPr/>
        </p:nvSpPr>
        <p:spPr>
          <a:xfrm>
            <a:off x="3481300" y="470820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72" name="Rect 472"/>
          <p:cNvSpPr/>
          <p:nvPr/>
        </p:nvSpPr>
        <p:spPr>
          <a:xfrm>
            <a:off x="3628934" y="470820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73" name="Rect 473"/>
          <p:cNvSpPr/>
          <p:nvPr/>
        </p:nvSpPr>
        <p:spPr>
          <a:xfrm>
            <a:off x="3776568" y="470820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74" name="Rect 474"/>
          <p:cNvSpPr/>
          <p:nvPr/>
        </p:nvSpPr>
        <p:spPr>
          <a:xfrm>
            <a:off x="3924202" y="470820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75" name="Rect 475"/>
          <p:cNvSpPr/>
          <p:nvPr/>
        </p:nvSpPr>
        <p:spPr>
          <a:xfrm>
            <a:off x="4071836" y="470820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76" name="Rect 476"/>
          <p:cNvSpPr/>
          <p:nvPr/>
        </p:nvSpPr>
        <p:spPr>
          <a:xfrm>
            <a:off x="4219470" y="470820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77" name="Rect 477"/>
          <p:cNvSpPr/>
          <p:nvPr/>
        </p:nvSpPr>
        <p:spPr>
          <a:xfrm>
            <a:off x="4367103" y="470820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78" name="Rect 478"/>
          <p:cNvSpPr/>
          <p:nvPr/>
        </p:nvSpPr>
        <p:spPr>
          <a:xfrm>
            <a:off x="4514737" y="470820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79" name="Rect 479"/>
          <p:cNvSpPr/>
          <p:nvPr/>
        </p:nvSpPr>
        <p:spPr>
          <a:xfrm>
            <a:off x="4662371" y="470820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80" name="Rect 480"/>
          <p:cNvSpPr/>
          <p:nvPr/>
        </p:nvSpPr>
        <p:spPr>
          <a:xfrm>
            <a:off x="4810005" y="470820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81" name="Rect 481"/>
          <p:cNvSpPr/>
          <p:nvPr/>
        </p:nvSpPr>
        <p:spPr>
          <a:xfrm>
            <a:off x="4957639" y="470820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82" name="Rect 482"/>
          <p:cNvSpPr/>
          <p:nvPr/>
        </p:nvSpPr>
        <p:spPr>
          <a:xfrm>
            <a:off x="5105272" y="470820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83" name="Rect 483"/>
          <p:cNvSpPr/>
          <p:nvPr/>
        </p:nvSpPr>
        <p:spPr>
          <a:xfrm>
            <a:off x="5252906" y="470820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84" name="Rect 484"/>
          <p:cNvSpPr/>
          <p:nvPr/>
        </p:nvSpPr>
        <p:spPr>
          <a:xfrm>
            <a:off x="5400540" y="4708208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85" name="Rect 485"/>
          <p:cNvSpPr/>
          <p:nvPr/>
        </p:nvSpPr>
        <p:spPr>
          <a:xfrm>
            <a:off x="5548174" y="4708208"/>
            <a:ext cx="147634" cy="147161"/>
          </a:xfrm>
          <a:prstGeom prst="rect">
            <a:avLst/>
          </a:prstGeom>
          <a:solidFill>
            <a:srgbClr val="2276FF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86" name="Rect 486"/>
          <p:cNvSpPr/>
          <p:nvPr/>
        </p:nvSpPr>
        <p:spPr>
          <a:xfrm>
            <a:off x="971526" y="485536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87" name="Rect 487"/>
          <p:cNvSpPr/>
          <p:nvPr/>
        </p:nvSpPr>
        <p:spPr>
          <a:xfrm>
            <a:off x="1119160" y="485536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88" name="Rect 488"/>
          <p:cNvSpPr/>
          <p:nvPr/>
        </p:nvSpPr>
        <p:spPr>
          <a:xfrm>
            <a:off x="1266793" y="485536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89" name="Rect 489"/>
          <p:cNvSpPr/>
          <p:nvPr/>
        </p:nvSpPr>
        <p:spPr>
          <a:xfrm>
            <a:off x="1414427" y="485536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90" name="Rect 490"/>
          <p:cNvSpPr/>
          <p:nvPr/>
        </p:nvSpPr>
        <p:spPr>
          <a:xfrm>
            <a:off x="1562061" y="485536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91" name="Rect 491"/>
          <p:cNvSpPr/>
          <p:nvPr/>
        </p:nvSpPr>
        <p:spPr>
          <a:xfrm>
            <a:off x="1709695" y="4855369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92" name="Rect 492"/>
          <p:cNvSpPr/>
          <p:nvPr/>
        </p:nvSpPr>
        <p:spPr>
          <a:xfrm>
            <a:off x="1857329" y="4855369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93" name="Rect 493"/>
          <p:cNvSpPr/>
          <p:nvPr/>
        </p:nvSpPr>
        <p:spPr>
          <a:xfrm>
            <a:off x="2004962" y="4855369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94" name="Rect 494"/>
          <p:cNvSpPr/>
          <p:nvPr/>
        </p:nvSpPr>
        <p:spPr>
          <a:xfrm>
            <a:off x="2152596" y="4855369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95" name="Rect 495"/>
          <p:cNvSpPr/>
          <p:nvPr/>
        </p:nvSpPr>
        <p:spPr>
          <a:xfrm>
            <a:off x="2300230" y="4855369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96" name="Rect 496"/>
          <p:cNvSpPr/>
          <p:nvPr/>
        </p:nvSpPr>
        <p:spPr>
          <a:xfrm>
            <a:off x="2447864" y="4855369"/>
            <a:ext cx="147634" cy="147161"/>
          </a:xfrm>
          <a:prstGeom prst="rect">
            <a:avLst/>
          </a:prstGeom>
          <a:solidFill>
            <a:srgbClr val="3D485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97" name="Rect 497"/>
          <p:cNvSpPr/>
          <p:nvPr/>
        </p:nvSpPr>
        <p:spPr>
          <a:xfrm>
            <a:off x="2595498" y="4855369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98" name="Rect 498"/>
          <p:cNvSpPr/>
          <p:nvPr/>
        </p:nvSpPr>
        <p:spPr>
          <a:xfrm>
            <a:off x="2743131" y="4855369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499" name="Rect 499"/>
          <p:cNvSpPr/>
          <p:nvPr/>
        </p:nvSpPr>
        <p:spPr>
          <a:xfrm>
            <a:off x="2890765" y="4855369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00" name="Rect 500"/>
          <p:cNvSpPr/>
          <p:nvPr/>
        </p:nvSpPr>
        <p:spPr>
          <a:xfrm>
            <a:off x="3038399" y="4855369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01" name="Rect 501"/>
          <p:cNvSpPr/>
          <p:nvPr/>
        </p:nvSpPr>
        <p:spPr>
          <a:xfrm>
            <a:off x="3186033" y="485536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02" name="Rect 502"/>
          <p:cNvSpPr/>
          <p:nvPr/>
        </p:nvSpPr>
        <p:spPr>
          <a:xfrm>
            <a:off x="3333667" y="485536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03" name="Rect 503"/>
          <p:cNvSpPr/>
          <p:nvPr/>
        </p:nvSpPr>
        <p:spPr>
          <a:xfrm>
            <a:off x="3481300" y="4855369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04" name="Rect 504"/>
          <p:cNvSpPr/>
          <p:nvPr/>
        </p:nvSpPr>
        <p:spPr>
          <a:xfrm>
            <a:off x="3628934" y="4855369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05" name="Rect 505"/>
          <p:cNvSpPr/>
          <p:nvPr/>
        </p:nvSpPr>
        <p:spPr>
          <a:xfrm>
            <a:off x="3776568" y="4855369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06" name="Rect 506"/>
          <p:cNvSpPr/>
          <p:nvPr/>
        </p:nvSpPr>
        <p:spPr>
          <a:xfrm>
            <a:off x="3924202" y="4855369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07" name="Rect 507"/>
          <p:cNvSpPr/>
          <p:nvPr/>
        </p:nvSpPr>
        <p:spPr>
          <a:xfrm>
            <a:off x="4071836" y="4855369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08" name="Rect 508"/>
          <p:cNvSpPr/>
          <p:nvPr/>
        </p:nvSpPr>
        <p:spPr>
          <a:xfrm>
            <a:off x="4219470" y="4855369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09" name="Rect 509"/>
          <p:cNvSpPr/>
          <p:nvPr/>
        </p:nvSpPr>
        <p:spPr>
          <a:xfrm>
            <a:off x="4367103" y="4855369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10" name="Rect 510"/>
          <p:cNvSpPr/>
          <p:nvPr/>
        </p:nvSpPr>
        <p:spPr>
          <a:xfrm>
            <a:off x="4514737" y="4855369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11" name="Rect 511"/>
          <p:cNvSpPr/>
          <p:nvPr/>
        </p:nvSpPr>
        <p:spPr>
          <a:xfrm>
            <a:off x="4662371" y="4855369"/>
            <a:ext cx="147634" cy="147161"/>
          </a:xfrm>
          <a:prstGeom prst="rect">
            <a:avLst/>
          </a:prstGeom>
          <a:solidFill>
            <a:srgbClr val="3D485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12" name="Rect 512"/>
          <p:cNvSpPr/>
          <p:nvPr/>
        </p:nvSpPr>
        <p:spPr>
          <a:xfrm>
            <a:off x="4810005" y="4855369"/>
            <a:ext cx="147634" cy="147161"/>
          </a:xfrm>
          <a:prstGeom prst="rect">
            <a:avLst/>
          </a:prstGeom>
          <a:solidFill>
            <a:srgbClr val="3D485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13" name="Rect 513"/>
          <p:cNvSpPr/>
          <p:nvPr/>
        </p:nvSpPr>
        <p:spPr>
          <a:xfrm>
            <a:off x="4957639" y="485536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14" name="Rect 514"/>
          <p:cNvSpPr/>
          <p:nvPr/>
        </p:nvSpPr>
        <p:spPr>
          <a:xfrm>
            <a:off x="5105272" y="485536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15" name="Rect 515"/>
          <p:cNvSpPr/>
          <p:nvPr/>
        </p:nvSpPr>
        <p:spPr>
          <a:xfrm>
            <a:off x="5252906" y="485536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16" name="Rect 516"/>
          <p:cNvSpPr/>
          <p:nvPr/>
        </p:nvSpPr>
        <p:spPr>
          <a:xfrm>
            <a:off x="5400540" y="4855369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17" name="Rect 517"/>
          <p:cNvSpPr/>
          <p:nvPr/>
        </p:nvSpPr>
        <p:spPr>
          <a:xfrm>
            <a:off x="5548174" y="4855369"/>
            <a:ext cx="147634" cy="147161"/>
          </a:xfrm>
          <a:prstGeom prst="rect">
            <a:avLst/>
          </a:prstGeom>
          <a:solidFill>
            <a:srgbClr val="2276FF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18" name="Rect 518"/>
          <p:cNvSpPr/>
          <p:nvPr/>
        </p:nvSpPr>
        <p:spPr>
          <a:xfrm>
            <a:off x="971526" y="500253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19" name="Rect 519"/>
          <p:cNvSpPr/>
          <p:nvPr/>
        </p:nvSpPr>
        <p:spPr>
          <a:xfrm>
            <a:off x="1119160" y="500253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20" name="Rect 520"/>
          <p:cNvSpPr/>
          <p:nvPr/>
        </p:nvSpPr>
        <p:spPr>
          <a:xfrm>
            <a:off x="1266793" y="500253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21" name="Rect 521"/>
          <p:cNvSpPr/>
          <p:nvPr/>
        </p:nvSpPr>
        <p:spPr>
          <a:xfrm>
            <a:off x="1414427" y="500253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22" name="Rect 522"/>
          <p:cNvSpPr/>
          <p:nvPr/>
        </p:nvSpPr>
        <p:spPr>
          <a:xfrm>
            <a:off x="1562061" y="500253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23" name="Rect 523"/>
          <p:cNvSpPr/>
          <p:nvPr/>
        </p:nvSpPr>
        <p:spPr>
          <a:xfrm>
            <a:off x="1709695" y="5002530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24" name="Rect 524"/>
          <p:cNvSpPr/>
          <p:nvPr/>
        </p:nvSpPr>
        <p:spPr>
          <a:xfrm>
            <a:off x="1857329" y="5002530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25" name="Rect 525"/>
          <p:cNvSpPr/>
          <p:nvPr/>
        </p:nvSpPr>
        <p:spPr>
          <a:xfrm>
            <a:off x="2004962" y="5002530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26" name="Rect 526"/>
          <p:cNvSpPr/>
          <p:nvPr/>
        </p:nvSpPr>
        <p:spPr>
          <a:xfrm>
            <a:off x="2152596" y="5002530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27" name="Rect 527"/>
          <p:cNvSpPr/>
          <p:nvPr/>
        </p:nvSpPr>
        <p:spPr>
          <a:xfrm>
            <a:off x="2300230" y="5002530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28" name="Rect 528"/>
          <p:cNvSpPr/>
          <p:nvPr/>
        </p:nvSpPr>
        <p:spPr>
          <a:xfrm>
            <a:off x="2447864" y="5002530"/>
            <a:ext cx="147634" cy="147161"/>
          </a:xfrm>
          <a:prstGeom prst="rect">
            <a:avLst/>
          </a:prstGeom>
          <a:solidFill>
            <a:srgbClr val="F2C75E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29" name="Rect 529"/>
          <p:cNvSpPr/>
          <p:nvPr/>
        </p:nvSpPr>
        <p:spPr>
          <a:xfrm>
            <a:off x="2595498" y="5002530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30" name="Rect 530"/>
          <p:cNvSpPr/>
          <p:nvPr/>
        </p:nvSpPr>
        <p:spPr>
          <a:xfrm>
            <a:off x="2743131" y="5002530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31" name="Rect 531"/>
          <p:cNvSpPr/>
          <p:nvPr/>
        </p:nvSpPr>
        <p:spPr>
          <a:xfrm>
            <a:off x="2890765" y="5002530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32" name="Rect 532"/>
          <p:cNvSpPr/>
          <p:nvPr/>
        </p:nvSpPr>
        <p:spPr>
          <a:xfrm>
            <a:off x="3038399" y="5002530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33" name="Rect 533"/>
          <p:cNvSpPr/>
          <p:nvPr/>
        </p:nvSpPr>
        <p:spPr>
          <a:xfrm>
            <a:off x="3186033" y="500253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34" name="Rect 534"/>
          <p:cNvSpPr/>
          <p:nvPr/>
        </p:nvSpPr>
        <p:spPr>
          <a:xfrm>
            <a:off x="3333667" y="500253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35" name="Rect 535"/>
          <p:cNvSpPr/>
          <p:nvPr/>
        </p:nvSpPr>
        <p:spPr>
          <a:xfrm>
            <a:off x="3481300" y="5002530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36" name="Rect 536"/>
          <p:cNvSpPr/>
          <p:nvPr/>
        </p:nvSpPr>
        <p:spPr>
          <a:xfrm>
            <a:off x="3628934" y="5002530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37" name="Rect 537"/>
          <p:cNvSpPr/>
          <p:nvPr/>
        </p:nvSpPr>
        <p:spPr>
          <a:xfrm>
            <a:off x="3776568" y="5002530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38" name="Rect 538"/>
          <p:cNvSpPr/>
          <p:nvPr/>
        </p:nvSpPr>
        <p:spPr>
          <a:xfrm>
            <a:off x="3924202" y="5002530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39" name="Rect 539"/>
          <p:cNvSpPr/>
          <p:nvPr/>
        </p:nvSpPr>
        <p:spPr>
          <a:xfrm>
            <a:off x="4071836" y="5002530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40" name="Rect 540"/>
          <p:cNvSpPr/>
          <p:nvPr/>
        </p:nvSpPr>
        <p:spPr>
          <a:xfrm>
            <a:off x="4219470" y="5002530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41" name="Rect 541"/>
          <p:cNvSpPr/>
          <p:nvPr/>
        </p:nvSpPr>
        <p:spPr>
          <a:xfrm>
            <a:off x="4367103" y="5002530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42" name="Rect 542"/>
          <p:cNvSpPr/>
          <p:nvPr/>
        </p:nvSpPr>
        <p:spPr>
          <a:xfrm>
            <a:off x="4514737" y="5002530"/>
            <a:ext cx="147634" cy="147161"/>
          </a:xfrm>
          <a:prstGeom prst="rect">
            <a:avLst/>
          </a:prstGeom>
          <a:solidFill>
            <a:srgbClr val="9BD4B5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43" name="Rect 543"/>
          <p:cNvSpPr/>
          <p:nvPr/>
        </p:nvSpPr>
        <p:spPr>
          <a:xfrm>
            <a:off x="4662371" y="5002530"/>
            <a:ext cx="147634" cy="147161"/>
          </a:xfrm>
          <a:prstGeom prst="rect">
            <a:avLst/>
          </a:prstGeom>
          <a:solidFill>
            <a:srgbClr val="F2C75E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44" name="Rect 544"/>
          <p:cNvSpPr/>
          <p:nvPr/>
        </p:nvSpPr>
        <p:spPr>
          <a:xfrm>
            <a:off x="4810005" y="5002530"/>
            <a:ext cx="147634" cy="147161"/>
          </a:xfrm>
          <a:prstGeom prst="rect">
            <a:avLst/>
          </a:prstGeom>
          <a:solidFill>
            <a:srgbClr val="F2C75E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45" name="Rect 545"/>
          <p:cNvSpPr/>
          <p:nvPr/>
        </p:nvSpPr>
        <p:spPr>
          <a:xfrm>
            <a:off x="4957639" y="500253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46" name="Rect 546"/>
          <p:cNvSpPr/>
          <p:nvPr/>
        </p:nvSpPr>
        <p:spPr>
          <a:xfrm>
            <a:off x="5105272" y="500253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47" name="Rect 547"/>
          <p:cNvSpPr/>
          <p:nvPr/>
        </p:nvSpPr>
        <p:spPr>
          <a:xfrm>
            <a:off x="5252906" y="500253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48" name="Rect 548"/>
          <p:cNvSpPr/>
          <p:nvPr/>
        </p:nvSpPr>
        <p:spPr>
          <a:xfrm>
            <a:off x="5400540" y="500253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49" name="Rect 549"/>
          <p:cNvSpPr/>
          <p:nvPr/>
        </p:nvSpPr>
        <p:spPr>
          <a:xfrm>
            <a:off x="5548174" y="5002530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50" name="Rect 550"/>
          <p:cNvSpPr/>
          <p:nvPr/>
        </p:nvSpPr>
        <p:spPr>
          <a:xfrm>
            <a:off x="971526" y="5149691"/>
            <a:ext cx="147634" cy="147161"/>
          </a:xfrm>
          <a:prstGeom prst="rect">
            <a:avLst/>
          </a:prstGeom>
          <a:solidFill>
            <a:srgbClr val="C69BE8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51" name="Rect 551"/>
          <p:cNvSpPr/>
          <p:nvPr/>
        </p:nvSpPr>
        <p:spPr>
          <a:xfrm>
            <a:off x="1119160" y="514969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52" name="Rect 552"/>
          <p:cNvSpPr/>
          <p:nvPr/>
        </p:nvSpPr>
        <p:spPr>
          <a:xfrm>
            <a:off x="1266793" y="514969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53" name="Rect 553"/>
          <p:cNvSpPr/>
          <p:nvPr/>
        </p:nvSpPr>
        <p:spPr>
          <a:xfrm>
            <a:off x="1414427" y="514969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54" name="Rect 554"/>
          <p:cNvSpPr/>
          <p:nvPr/>
        </p:nvSpPr>
        <p:spPr>
          <a:xfrm>
            <a:off x="1562061" y="514969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55" name="Rect 555"/>
          <p:cNvSpPr/>
          <p:nvPr/>
        </p:nvSpPr>
        <p:spPr>
          <a:xfrm>
            <a:off x="1709695" y="514969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56" name="Rect 556"/>
          <p:cNvSpPr/>
          <p:nvPr/>
        </p:nvSpPr>
        <p:spPr>
          <a:xfrm>
            <a:off x="1857329" y="514969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57" name="Rect 557"/>
          <p:cNvSpPr/>
          <p:nvPr/>
        </p:nvSpPr>
        <p:spPr>
          <a:xfrm>
            <a:off x="2004962" y="514969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58" name="Rect 558"/>
          <p:cNvSpPr/>
          <p:nvPr/>
        </p:nvSpPr>
        <p:spPr>
          <a:xfrm>
            <a:off x="2152596" y="514969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59" name="Rect 559"/>
          <p:cNvSpPr/>
          <p:nvPr/>
        </p:nvSpPr>
        <p:spPr>
          <a:xfrm>
            <a:off x="2300230" y="514969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60" name="Rect 560"/>
          <p:cNvSpPr/>
          <p:nvPr/>
        </p:nvSpPr>
        <p:spPr>
          <a:xfrm>
            <a:off x="2447864" y="514969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61" name="Rect 561"/>
          <p:cNvSpPr/>
          <p:nvPr/>
        </p:nvSpPr>
        <p:spPr>
          <a:xfrm>
            <a:off x="2595498" y="514969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62" name="Rect 562"/>
          <p:cNvSpPr/>
          <p:nvPr/>
        </p:nvSpPr>
        <p:spPr>
          <a:xfrm>
            <a:off x="2743131" y="514969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63" name="Rect 563"/>
          <p:cNvSpPr/>
          <p:nvPr/>
        </p:nvSpPr>
        <p:spPr>
          <a:xfrm>
            <a:off x="2890765" y="514969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64" name="Rect 564"/>
          <p:cNvSpPr/>
          <p:nvPr/>
        </p:nvSpPr>
        <p:spPr>
          <a:xfrm>
            <a:off x="3038399" y="514969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65" name="Rect 565"/>
          <p:cNvSpPr/>
          <p:nvPr/>
        </p:nvSpPr>
        <p:spPr>
          <a:xfrm>
            <a:off x="3186033" y="514969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66" name="Rect 566"/>
          <p:cNvSpPr/>
          <p:nvPr/>
        </p:nvSpPr>
        <p:spPr>
          <a:xfrm>
            <a:off x="3333667" y="514969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67" name="Rect 567"/>
          <p:cNvSpPr/>
          <p:nvPr/>
        </p:nvSpPr>
        <p:spPr>
          <a:xfrm>
            <a:off x="3481300" y="514969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68" name="Rect 568"/>
          <p:cNvSpPr/>
          <p:nvPr/>
        </p:nvSpPr>
        <p:spPr>
          <a:xfrm>
            <a:off x="3628934" y="514969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69" name="Rect 569"/>
          <p:cNvSpPr/>
          <p:nvPr/>
        </p:nvSpPr>
        <p:spPr>
          <a:xfrm>
            <a:off x="3776568" y="514969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70" name="Rect 570"/>
          <p:cNvSpPr/>
          <p:nvPr/>
        </p:nvSpPr>
        <p:spPr>
          <a:xfrm>
            <a:off x="3924202" y="514969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71" name="Rect 571"/>
          <p:cNvSpPr/>
          <p:nvPr/>
        </p:nvSpPr>
        <p:spPr>
          <a:xfrm>
            <a:off x="4071836" y="514969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72" name="Rect 572"/>
          <p:cNvSpPr/>
          <p:nvPr/>
        </p:nvSpPr>
        <p:spPr>
          <a:xfrm>
            <a:off x="4219470" y="514969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73" name="Rect 573"/>
          <p:cNvSpPr/>
          <p:nvPr/>
        </p:nvSpPr>
        <p:spPr>
          <a:xfrm>
            <a:off x="4367103" y="514969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74" name="Rect 574"/>
          <p:cNvSpPr/>
          <p:nvPr/>
        </p:nvSpPr>
        <p:spPr>
          <a:xfrm>
            <a:off x="4514737" y="514969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75" name="Rect 575"/>
          <p:cNvSpPr/>
          <p:nvPr/>
        </p:nvSpPr>
        <p:spPr>
          <a:xfrm>
            <a:off x="4662371" y="514969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76" name="Rect 576"/>
          <p:cNvSpPr/>
          <p:nvPr/>
        </p:nvSpPr>
        <p:spPr>
          <a:xfrm>
            <a:off x="4810005" y="514969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77" name="Rect 577"/>
          <p:cNvSpPr/>
          <p:nvPr/>
        </p:nvSpPr>
        <p:spPr>
          <a:xfrm>
            <a:off x="4957639" y="514969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78" name="Rect 578"/>
          <p:cNvSpPr/>
          <p:nvPr/>
        </p:nvSpPr>
        <p:spPr>
          <a:xfrm>
            <a:off x="5105272" y="514969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79" name="Rect 579"/>
          <p:cNvSpPr/>
          <p:nvPr/>
        </p:nvSpPr>
        <p:spPr>
          <a:xfrm>
            <a:off x="5252906" y="514969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80" name="Rect 580"/>
          <p:cNvSpPr/>
          <p:nvPr/>
        </p:nvSpPr>
        <p:spPr>
          <a:xfrm>
            <a:off x="5400540" y="514969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81" name="Rect 581"/>
          <p:cNvSpPr/>
          <p:nvPr/>
        </p:nvSpPr>
        <p:spPr>
          <a:xfrm>
            <a:off x="5548174" y="5149691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82" name="Rect 582"/>
          <p:cNvSpPr/>
          <p:nvPr/>
        </p:nvSpPr>
        <p:spPr>
          <a:xfrm>
            <a:off x="971526" y="5296852"/>
            <a:ext cx="147634" cy="147161"/>
          </a:xfrm>
          <a:prstGeom prst="rect">
            <a:avLst/>
          </a:prstGeom>
          <a:solidFill>
            <a:srgbClr val="C69BE8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83" name="Rect 583"/>
          <p:cNvSpPr/>
          <p:nvPr/>
        </p:nvSpPr>
        <p:spPr>
          <a:xfrm>
            <a:off x="1119160" y="529685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84" name="Rect 584"/>
          <p:cNvSpPr/>
          <p:nvPr/>
        </p:nvSpPr>
        <p:spPr>
          <a:xfrm>
            <a:off x="1266793" y="529685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85" name="Rect 585"/>
          <p:cNvSpPr/>
          <p:nvPr/>
        </p:nvSpPr>
        <p:spPr>
          <a:xfrm>
            <a:off x="1414427" y="529685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86" name="Rect 586"/>
          <p:cNvSpPr/>
          <p:nvPr/>
        </p:nvSpPr>
        <p:spPr>
          <a:xfrm>
            <a:off x="1562061" y="529685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87" name="Rect 587"/>
          <p:cNvSpPr/>
          <p:nvPr/>
        </p:nvSpPr>
        <p:spPr>
          <a:xfrm>
            <a:off x="1709695" y="529685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88" name="Rect 588"/>
          <p:cNvSpPr/>
          <p:nvPr/>
        </p:nvSpPr>
        <p:spPr>
          <a:xfrm>
            <a:off x="1857329" y="529685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89" name="Rect 589"/>
          <p:cNvSpPr/>
          <p:nvPr/>
        </p:nvSpPr>
        <p:spPr>
          <a:xfrm>
            <a:off x="2004962" y="529685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90" name="Rect 590"/>
          <p:cNvSpPr/>
          <p:nvPr/>
        </p:nvSpPr>
        <p:spPr>
          <a:xfrm>
            <a:off x="2152596" y="529685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91" name="Rect 591"/>
          <p:cNvSpPr/>
          <p:nvPr/>
        </p:nvSpPr>
        <p:spPr>
          <a:xfrm>
            <a:off x="2300230" y="529685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92" name="Rect 592"/>
          <p:cNvSpPr/>
          <p:nvPr/>
        </p:nvSpPr>
        <p:spPr>
          <a:xfrm>
            <a:off x="2447864" y="529685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93" name="Rect 593"/>
          <p:cNvSpPr/>
          <p:nvPr/>
        </p:nvSpPr>
        <p:spPr>
          <a:xfrm>
            <a:off x="2595498" y="529685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94" name="Rect 594"/>
          <p:cNvSpPr/>
          <p:nvPr/>
        </p:nvSpPr>
        <p:spPr>
          <a:xfrm>
            <a:off x="2743131" y="529685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95" name="Rect 595"/>
          <p:cNvSpPr/>
          <p:nvPr/>
        </p:nvSpPr>
        <p:spPr>
          <a:xfrm>
            <a:off x="2890765" y="529685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96" name="Rect 596"/>
          <p:cNvSpPr/>
          <p:nvPr/>
        </p:nvSpPr>
        <p:spPr>
          <a:xfrm>
            <a:off x="3038399" y="529685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97" name="Rect 597"/>
          <p:cNvSpPr/>
          <p:nvPr/>
        </p:nvSpPr>
        <p:spPr>
          <a:xfrm>
            <a:off x="3186033" y="529685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98" name="Rect 598"/>
          <p:cNvSpPr/>
          <p:nvPr/>
        </p:nvSpPr>
        <p:spPr>
          <a:xfrm>
            <a:off x="3333667" y="529685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599" name="Rect 599"/>
          <p:cNvSpPr/>
          <p:nvPr/>
        </p:nvSpPr>
        <p:spPr>
          <a:xfrm>
            <a:off x="3481300" y="529685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00" name="Rect 600"/>
          <p:cNvSpPr/>
          <p:nvPr/>
        </p:nvSpPr>
        <p:spPr>
          <a:xfrm>
            <a:off x="3628934" y="529685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01" name="Rect 601"/>
          <p:cNvSpPr/>
          <p:nvPr/>
        </p:nvSpPr>
        <p:spPr>
          <a:xfrm>
            <a:off x="3776568" y="529685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02" name="Rect 602"/>
          <p:cNvSpPr/>
          <p:nvPr/>
        </p:nvSpPr>
        <p:spPr>
          <a:xfrm>
            <a:off x="3924202" y="529685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03" name="Rect 603"/>
          <p:cNvSpPr/>
          <p:nvPr/>
        </p:nvSpPr>
        <p:spPr>
          <a:xfrm>
            <a:off x="4071836" y="529685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04" name="Rect 604"/>
          <p:cNvSpPr/>
          <p:nvPr/>
        </p:nvSpPr>
        <p:spPr>
          <a:xfrm>
            <a:off x="4219470" y="529685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05" name="Rect 605"/>
          <p:cNvSpPr/>
          <p:nvPr/>
        </p:nvSpPr>
        <p:spPr>
          <a:xfrm>
            <a:off x="4367103" y="529685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06" name="Rect 606"/>
          <p:cNvSpPr/>
          <p:nvPr/>
        </p:nvSpPr>
        <p:spPr>
          <a:xfrm>
            <a:off x="4514737" y="529685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07" name="Rect 607"/>
          <p:cNvSpPr/>
          <p:nvPr/>
        </p:nvSpPr>
        <p:spPr>
          <a:xfrm>
            <a:off x="4662371" y="529685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08" name="Rect 608"/>
          <p:cNvSpPr/>
          <p:nvPr/>
        </p:nvSpPr>
        <p:spPr>
          <a:xfrm>
            <a:off x="4810005" y="529685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09" name="Rect 609"/>
          <p:cNvSpPr/>
          <p:nvPr/>
        </p:nvSpPr>
        <p:spPr>
          <a:xfrm>
            <a:off x="4957639" y="529685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10" name="Rect 610"/>
          <p:cNvSpPr/>
          <p:nvPr/>
        </p:nvSpPr>
        <p:spPr>
          <a:xfrm>
            <a:off x="5105272" y="529685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11" name="Rect 611"/>
          <p:cNvSpPr/>
          <p:nvPr/>
        </p:nvSpPr>
        <p:spPr>
          <a:xfrm>
            <a:off x="5252906" y="529685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12" name="Rect 612"/>
          <p:cNvSpPr/>
          <p:nvPr/>
        </p:nvSpPr>
        <p:spPr>
          <a:xfrm>
            <a:off x="5400540" y="529685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13" name="Rect 613"/>
          <p:cNvSpPr/>
          <p:nvPr/>
        </p:nvSpPr>
        <p:spPr>
          <a:xfrm>
            <a:off x="5548174" y="5296852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14" name="Rect 614"/>
          <p:cNvSpPr/>
          <p:nvPr/>
        </p:nvSpPr>
        <p:spPr>
          <a:xfrm>
            <a:off x="971526" y="544401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15" name="Rect 615"/>
          <p:cNvSpPr/>
          <p:nvPr/>
        </p:nvSpPr>
        <p:spPr>
          <a:xfrm>
            <a:off x="1119160" y="544401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16" name="Rect 616"/>
          <p:cNvSpPr/>
          <p:nvPr/>
        </p:nvSpPr>
        <p:spPr>
          <a:xfrm>
            <a:off x="1266793" y="544401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17" name="Rect 617"/>
          <p:cNvSpPr/>
          <p:nvPr/>
        </p:nvSpPr>
        <p:spPr>
          <a:xfrm>
            <a:off x="1414427" y="544401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18" name="Rect 618"/>
          <p:cNvSpPr/>
          <p:nvPr/>
        </p:nvSpPr>
        <p:spPr>
          <a:xfrm>
            <a:off x="1562061" y="544401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19" name="Rect 619"/>
          <p:cNvSpPr/>
          <p:nvPr/>
        </p:nvSpPr>
        <p:spPr>
          <a:xfrm>
            <a:off x="1709695" y="544401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20" name="Rect 620"/>
          <p:cNvSpPr/>
          <p:nvPr/>
        </p:nvSpPr>
        <p:spPr>
          <a:xfrm>
            <a:off x="1857329" y="544401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21" name="Rect 621"/>
          <p:cNvSpPr/>
          <p:nvPr/>
        </p:nvSpPr>
        <p:spPr>
          <a:xfrm>
            <a:off x="2004962" y="544401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22" name="Rect 622"/>
          <p:cNvSpPr/>
          <p:nvPr/>
        </p:nvSpPr>
        <p:spPr>
          <a:xfrm>
            <a:off x="2152596" y="544401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23" name="Rect 623"/>
          <p:cNvSpPr/>
          <p:nvPr/>
        </p:nvSpPr>
        <p:spPr>
          <a:xfrm>
            <a:off x="2300230" y="544401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24" name="Rect 624"/>
          <p:cNvSpPr/>
          <p:nvPr/>
        </p:nvSpPr>
        <p:spPr>
          <a:xfrm>
            <a:off x="2447864" y="544401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25" name="Rect 625"/>
          <p:cNvSpPr/>
          <p:nvPr/>
        </p:nvSpPr>
        <p:spPr>
          <a:xfrm>
            <a:off x="2595498" y="544401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26" name="Rect 626"/>
          <p:cNvSpPr/>
          <p:nvPr/>
        </p:nvSpPr>
        <p:spPr>
          <a:xfrm>
            <a:off x="2743131" y="544401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27" name="Rect 627"/>
          <p:cNvSpPr/>
          <p:nvPr/>
        </p:nvSpPr>
        <p:spPr>
          <a:xfrm>
            <a:off x="2890765" y="544401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28" name="Rect 628"/>
          <p:cNvSpPr/>
          <p:nvPr/>
        </p:nvSpPr>
        <p:spPr>
          <a:xfrm>
            <a:off x="3038399" y="544401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29" name="Rect 629"/>
          <p:cNvSpPr/>
          <p:nvPr/>
        </p:nvSpPr>
        <p:spPr>
          <a:xfrm>
            <a:off x="3186033" y="544401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30" name="Rect 630"/>
          <p:cNvSpPr/>
          <p:nvPr/>
        </p:nvSpPr>
        <p:spPr>
          <a:xfrm>
            <a:off x="3333667" y="544401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31" name="Rect 631"/>
          <p:cNvSpPr/>
          <p:nvPr/>
        </p:nvSpPr>
        <p:spPr>
          <a:xfrm>
            <a:off x="3481300" y="544401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32" name="Rect 632"/>
          <p:cNvSpPr/>
          <p:nvPr/>
        </p:nvSpPr>
        <p:spPr>
          <a:xfrm>
            <a:off x="3628934" y="544401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33" name="Rect 633"/>
          <p:cNvSpPr/>
          <p:nvPr/>
        </p:nvSpPr>
        <p:spPr>
          <a:xfrm>
            <a:off x="3776568" y="544401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34" name="Rect 634"/>
          <p:cNvSpPr/>
          <p:nvPr/>
        </p:nvSpPr>
        <p:spPr>
          <a:xfrm>
            <a:off x="3924202" y="544401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35" name="Rect 635"/>
          <p:cNvSpPr/>
          <p:nvPr/>
        </p:nvSpPr>
        <p:spPr>
          <a:xfrm>
            <a:off x="4071836" y="544401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36" name="Rect 636"/>
          <p:cNvSpPr/>
          <p:nvPr/>
        </p:nvSpPr>
        <p:spPr>
          <a:xfrm>
            <a:off x="4219470" y="544401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37" name="Rect 637"/>
          <p:cNvSpPr/>
          <p:nvPr/>
        </p:nvSpPr>
        <p:spPr>
          <a:xfrm>
            <a:off x="4367103" y="544401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38" name="Rect 638"/>
          <p:cNvSpPr/>
          <p:nvPr/>
        </p:nvSpPr>
        <p:spPr>
          <a:xfrm>
            <a:off x="4514737" y="544401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39" name="Rect 639"/>
          <p:cNvSpPr/>
          <p:nvPr/>
        </p:nvSpPr>
        <p:spPr>
          <a:xfrm>
            <a:off x="4662371" y="544401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40" name="Rect 640"/>
          <p:cNvSpPr/>
          <p:nvPr/>
        </p:nvSpPr>
        <p:spPr>
          <a:xfrm>
            <a:off x="4810005" y="544401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41" name="Rect 641"/>
          <p:cNvSpPr/>
          <p:nvPr/>
        </p:nvSpPr>
        <p:spPr>
          <a:xfrm>
            <a:off x="4957639" y="544401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42" name="Rect 642"/>
          <p:cNvSpPr/>
          <p:nvPr/>
        </p:nvSpPr>
        <p:spPr>
          <a:xfrm>
            <a:off x="5105272" y="544401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43" name="Rect 643"/>
          <p:cNvSpPr/>
          <p:nvPr/>
        </p:nvSpPr>
        <p:spPr>
          <a:xfrm>
            <a:off x="5252906" y="544401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44" name="Rect 644"/>
          <p:cNvSpPr/>
          <p:nvPr/>
        </p:nvSpPr>
        <p:spPr>
          <a:xfrm>
            <a:off x="5400540" y="544401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45" name="Rect 645"/>
          <p:cNvSpPr/>
          <p:nvPr/>
        </p:nvSpPr>
        <p:spPr>
          <a:xfrm>
            <a:off x="5548174" y="5444014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46" name="Rect 646"/>
          <p:cNvSpPr/>
          <p:nvPr/>
        </p:nvSpPr>
        <p:spPr>
          <a:xfrm>
            <a:off x="971526" y="559117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47" name="Rect 647"/>
          <p:cNvSpPr/>
          <p:nvPr/>
        </p:nvSpPr>
        <p:spPr>
          <a:xfrm>
            <a:off x="1119160" y="559117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48" name="Rect 648"/>
          <p:cNvSpPr/>
          <p:nvPr/>
        </p:nvSpPr>
        <p:spPr>
          <a:xfrm>
            <a:off x="1266793" y="559117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49" name="Rect 649"/>
          <p:cNvSpPr/>
          <p:nvPr/>
        </p:nvSpPr>
        <p:spPr>
          <a:xfrm>
            <a:off x="1414427" y="559117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50" name="Rect 650"/>
          <p:cNvSpPr/>
          <p:nvPr/>
        </p:nvSpPr>
        <p:spPr>
          <a:xfrm>
            <a:off x="1562061" y="559117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51" name="Rect 651"/>
          <p:cNvSpPr/>
          <p:nvPr/>
        </p:nvSpPr>
        <p:spPr>
          <a:xfrm>
            <a:off x="1709695" y="559117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52" name="Rect 652"/>
          <p:cNvSpPr/>
          <p:nvPr/>
        </p:nvSpPr>
        <p:spPr>
          <a:xfrm>
            <a:off x="1857329" y="559117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53" name="Rect 653"/>
          <p:cNvSpPr/>
          <p:nvPr/>
        </p:nvSpPr>
        <p:spPr>
          <a:xfrm>
            <a:off x="2004962" y="559117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54" name="Rect 654"/>
          <p:cNvSpPr/>
          <p:nvPr/>
        </p:nvSpPr>
        <p:spPr>
          <a:xfrm>
            <a:off x="2152596" y="559117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55" name="Rect 655"/>
          <p:cNvSpPr/>
          <p:nvPr/>
        </p:nvSpPr>
        <p:spPr>
          <a:xfrm>
            <a:off x="2300230" y="559117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56" name="Rect 656"/>
          <p:cNvSpPr/>
          <p:nvPr/>
        </p:nvSpPr>
        <p:spPr>
          <a:xfrm>
            <a:off x="2447864" y="559117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57" name="Rect 657"/>
          <p:cNvSpPr/>
          <p:nvPr/>
        </p:nvSpPr>
        <p:spPr>
          <a:xfrm>
            <a:off x="2595498" y="559117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58" name="Rect 658"/>
          <p:cNvSpPr/>
          <p:nvPr/>
        </p:nvSpPr>
        <p:spPr>
          <a:xfrm>
            <a:off x="2743131" y="559117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59" name="Rect 659"/>
          <p:cNvSpPr/>
          <p:nvPr/>
        </p:nvSpPr>
        <p:spPr>
          <a:xfrm>
            <a:off x="2890765" y="559117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60" name="Rect 660"/>
          <p:cNvSpPr/>
          <p:nvPr/>
        </p:nvSpPr>
        <p:spPr>
          <a:xfrm>
            <a:off x="3038399" y="559117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61" name="Rect 661"/>
          <p:cNvSpPr/>
          <p:nvPr/>
        </p:nvSpPr>
        <p:spPr>
          <a:xfrm>
            <a:off x="3186033" y="559117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62" name="Rect 662"/>
          <p:cNvSpPr/>
          <p:nvPr/>
        </p:nvSpPr>
        <p:spPr>
          <a:xfrm>
            <a:off x="3333667" y="559117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63" name="Rect 663"/>
          <p:cNvSpPr/>
          <p:nvPr/>
        </p:nvSpPr>
        <p:spPr>
          <a:xfrm>
            <a:off x="3481300" y="559117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64" name="Rect 664"/>
          <p:cNvSpPr/>
          <p:nvPr/>
        </p:nvSpPr>
        <p:spPr>
          <a:xfrm>
            <a:off x="3628934" y="559117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65" name="Rect 665"/>
          <p:cNvSpPr/>
          <p:nvPr/>
        </p:nvSpPr>
        <p:spPr>
          <a:xfrm>
            <a:off x="3776568" y="559117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66" name="Rect 666"/>
          <p:cNvSpPr/>
          <p:nvPr/>
        </p:nvSpPr>
        <p:spPr>
          <a:xfrm>
            <a:off x="3924202" y="559117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67" name="Rect 667"/>
          <p:cNvSpPr/>
          <p:nvPr/>
        </p:nvSpPr>
        <p:spPr>
          <a:xfrm>
            <a:off x="4071836" y="559117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68" name="Rect 668"/>
          <p:cNvSpPr/>
          <p:nvPr/>
        </p:nvSpPr>
        <p:spPr>
          <a:xfrm>
            <a:off x="4219470" y="559117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69" name="Rect 669"/>
          <p:cNvSpPr/>
          <p:nvPr/>
        </p:nvSpPr>
        <p:spPr>
          <a:xfrm>
            <a:off x="4367103" y="559117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70" name="Rect 670"/>
          <p:cNvSpPr/>
          <p:nvPr/>
        </p:nvSpPr>
        <p:spPr>
          <a:xfrm>
            <a:off x="4514737" y="559117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71" name="Rect 671"/>
          <p:cNvSpPr/>
          <p:nvPr/>
        </p:nvSpPr>
        <p:spPr>
          <a:xfrm>
            <a:off x="4662371" y="559117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72" name="Rect 672"/>
          <p:cNvSpPr/>
          <p:nvPr/>
        </p:nvSpPr>
        <p:spPr>
          <a:xfrm>
            <a:off x="4810005" y="559117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73" name="Rect 673"/>
          <p:cNvSpPr/>
          <p:nvPr/>
        </p:nvSpPr>
        <p:spPr>
          <a:xfrm>
            <a:off x="4957639" y="559117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74" name="Rect 674"/>
          <p:cNvSpPr/>
          <p:nvPr/>
        </p:nvSpPr>
        <p:spPr>
          <a:xfrm>
            <a:off x="5105272" y="559117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75" name="Rect 675"/>
          <p:cNvSpPr/>
          <p:nvPr/>
        </p:nvSpPr>
        <p:spPr>
          <a:xfrm>
            <a:off x="5252906" y="559117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76" name="Rect 676"/>
          <p:cNvSpPr/>
          <p:nvPr/>
        </p:nvSpPr>
        <p:spPr>
          <a:xfrm>
            <a:off x="5400540" y="559117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77" name="Rect 677"/>
          <p:cNvSpPr/>
          <p:nvPr/>
        </p:nvSpPr>
        <p:spPr>
          <a:xfrm>
            <a:off x="5548174" y="5591175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78" name="Rect 678"/>
          <p:cNvSpPr/>
          <p:nvPr/>
        </p:nvSpPr>
        <p:spPr>
          <a:xfrm>
            <a:off x="971526" y="573833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79" name="Rect 679"/>
          <p:cNvSpPr/>
          <p:nvPr/>
        </p:nvSpPr>
        <p:spPr>
          <a:xfrm>
            <a:off x="1119160" y="5738336"/>
            <a:ext cx="147634" cy="147161"/>
          </a:xfrm>
          <a:prstGeom prst="rect">
            <a:avLst/>
          </a:prstGeom>
          <a:solidFill>
            <a:srgbClr val="F25E4B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80" name="Rect 680"/>
          <p:cNvSpPr/>
          <p:nvPr/>
        </p:nvSpPr>
        <p:spPr>
          <a:xfrm>
            <a:off x="1266793" y="573833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81" name="Rect 681"/>
          <p:cNvSpPr/>
          <p:nvPr/>
        </p:nvSpPr>
        <p:spPr>
          <a:xfrm>
            <a:off x="1414427" y="573833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82" name="Rect 682"/>
          <p:cNvSpPr/>
          <p:nvPr/>
        </p:nvSpPr>
        <p:spPr>
          <a:xfrm>
            <a:off x="1562061" y="573833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83" name="Rect 683"/>
          <p:cNvSpPr/>
          <p:nvPr/>
        </p:nvSpPr>
        <p:spPr>
          <a:xfrm>
            <a:off x="1709695" y="573833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84" name="Rect 684"/>
          <p:cNvSpPr/>
          <p:nvPr/>
        </p:nvSpPr>
        <p:spPr>
          <a:xfrm>
            <a:off x="1857329" y="573833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85" name="Rect 685"/>
          <p:cNvSpPr/>
          <p:nvPr/>
        </p:nvSpPr>
        <p:spPr>
          <a:xfrm>
            <a:off x="2004962" y="5738336"/>
            <a:ext cx="147634" cy="147161"/>
          </a:xfrm>
          <a:prstGeom prst="rect">
            <a:avLst/>
          </a:prstGeom>
          <a:solidFill>
            <a:srgbClr val="2276FF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86" name="Rect 686"/>
          <p:cNvSpPr/>
          <p:nvPr/>
        </p:nvSpPr>
        <p:spPr>
          <a:xfrm>
            <a:off x="2152596" y="5738336"/>
            <a:ext cx="147634" cy="147161"/>
          </a:xfrm>
          <a:prstGeom prst="rect">
            <a:avLst/>
          </a:prstGeom>
          <a:solidFill>
            <a:srgbClr val="2276FF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87" name="Rect 687"/>
          <p:cNvSpPr/>
          <p:nvPr/>
        </p:nvSpPr>
        <p:spPr>
          <a:xfrm>
            <a:off x="2300230" y="5738336"/>
            <a:ext cx="147634" cy="147161"/>
          </a:xfrm>
          <a:prstGeom prst="rect">
            <a:avLst/>
          </a:prstGeom>
          <a:solidFill>
            <a:srgbClr val="2276FF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88" name="Rect 688"/>
          <p:cNvSpPr/>
          <p:nvPr/>
        </p:nvSpPr>
        <p:spPr>
          <a:xfrm>
            <a:off x="2447864" y="573833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89" name="Rect 689"/>
          <p:cNvSpPr/>
          <p:nvPr/>
        </p:nvSpPr>
        <p:spPr>
          <a:xfrm>
            <a:off x="2595498" y="573833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90" name="Rect 690"/>
          <p:cNvSpPr/>
          <p:nvPr/>
        </p:nvSpPr>
        <p:spPr>
          <a:xfrm>
            <a:off x="2743131" y="573833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91" name="Rect 691"/>
          <p:cNvSpPr/>
          <p:nvPr/>
        </p:nvSpPr>
        <p:spPr>
          <a:xfrm>
            <a:off x="2890765" y="573833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92" name="Rect 692"/>
          <p:cNvSpPr/>
          <p:nvPr/>
        </p:nvSpPr>
        <p:spPr>
          <a:xfrm>
            <a:off x="3038399" y="573833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93" name="Rect 693"/>
          <p:cNvSpPr/>
          <p:nvPr/>
        </p:nvSpPr>
        <p:spPr>
          <a:xfrm>
            <a:off x="3186033" y="573833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94" name="Rect 694"/>
          <p:cNvSpPr/>
          <p:nvPr/>
        </p:nvSpPr>
        <p:spPr>
          <a:xfrm>
            <a:off x="3333667" y="573833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95" name="Rect 695"/>
          <p:cNvSpPr/>
          <p:nvPr/>
        </p:nvSpPr>
        <p:spPr>
          <a:xfrm>
            <a:off x="3481300" y="573833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96" name="Rect 696"/>
          <p:cNvSpPr/>
          <p:nvPr/>
        </p:nvSpPr>
        <p:spPr>
          <a:xfrm>
            <a:off x="3628934" y="573833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97" name="Rect 697"/>
          <p:cNvSpPr/>
          <p:nvPr/>
        </p:nvSpPr>
        <p:spPr>
          <a:xfrm>
            <a:off x="3776568" y="573833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98" name="Rect 698"/>
          <p:cNvSpPr/>
          <p:nvPr/>
        </p:nvSpPr>
        <p:spPr>
          <a:xfrm>
            <a:off x="3924202" y="573833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699" name="Rect 699"/>
          <p:cNvSpPr/>
          <p:nvPr/>
        </p:nvSpPr>
        <p:spPr>
          <a:xfrm>
            <a:off x="4071836" y="5738336"/>
            <a:ext cx="147634" cy="147161"/>
          </a:xfrm>
          <a:prstGeom prst="rect">
            <a:avLst/>
          </a:prstGeom>
          <a:solidFill>
            <a:srgbClr val="2276FF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00" name="Rect 700"/>
          <p:cNvSpPr/>
          <p:nvPr/>
        </p:nvSpPr>
        <p:spPr>
          <a:xfrm>
            <a:off x="4219470" y="5738336"/>
            <a:ext cx="147634" cy="147161"/>
          </a:xfrm>
          <a:prstGeom prst="rect">
            <a:avLst/>
          </a:prstGeom>
          <a:solidFill>
            <a:srgbClr val="2276FF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01" name="Rect 701"/>
          <p:cNvSpPr/>
          <p:nvPr/>
        </p:nvSpPr>
        <p:spPr>
          <a:xfrm>
            <a:off x="4367103" y="5738336"/>
            <a:ext cx="147634" cy="147161"/>
          </a:xfrm>
          <a:prstGeom prst="rect">
            <a:avLst/>
          </a:prstGeom>
          <a:solidFill>
            <a:srgbClr val="2276FF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02" name="Rect 702"/>
          <p:cNvSpPr/>
          <p:nvPr/>
        </p:nvSpPr>
        <p:spPr>
          <a:xfrm>
            <a:off x="4514737" y="573833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03" name="Rect 703"/>
          <p:cNvSpPr/>
          <p:nvPr/>
        </p:nvSpPr>
        <p:spPr>
          <a:xfrm>
            <a:off x="4662371" y="573833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04" name="Rect 704"/>
          <p:cNvSpPr/>
          <p:nvPr/>
        </p:nvSpPr>
        <p:spPr>
          <a:xfrm>
            <a:off x="4810005" y="573833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05" name="Rect 705"/>
          <p:cNvSpPr/>
          <p:nvPr/>
        </p:nvSpPr>
        <p:spPr>
          <a:xfrm>
            <a:off x="4957639" y="573833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06" name="Rect 706"/>
          <p:cNvSpPr/>
          <p:nvPr/>
        </p:nvSpPr>
        <p:spPr>
          <a:xfrm>
            <a:off x="5105272" y="573833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07" name="Rect 707"/>
          <p:cNvSpPr/>
          <p:nvPr/>
        </p:nvSpPr>
        <p:spPr>
          <a:xfrm>
            <a:off x="5252906" y="573833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08" name="Rect 708"/>
          <p:cNvSpPr/>
          <p:nvPr/>
        </p:nvSpPr>
        <p:spPr>
          <a:xfrm>
            <a:off x="5400540" y="573833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09" name="Rect 709"/>
          <p:cNvSpPr/>
          <p:nvPr/>
        </p:nvSpPr>
        <p:spPr>
          <a:xfrm>
            <a:off x="5548174" y="5738336"/>
            <a:ext cx="147634" cy="147161"/>
          </a:xfrm>
          <a:prstGeom prst="rect">
            <a:avLst/>
          </a:prstGeom>
          <a:solidFill>
            <a:srgbClr val="D7DDE4"/>
          </a:solidFill>
          <a:ln w="5715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10" name="Rect 710"/>
          <p:cNvSpPr/>
          <p:nvPr/>
        </p:nvSpPr>
        <p:spPr>
          <a:xfrm>
            <a:off x="8572286" y="5219700"/>
            <a:ext cx="333367" cy="8001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11" name="Rect 711"/>
          <p:cNvSpPr/>
          <p:nvPr/>
        </p:nvSpPr>
        <p:spPr>
          <a:xfrm>
            <a:off x="9067573" y="4895850"/>
            <a:ext cx="333367" cy="1123950"/>
          </a:xfrm>
          <a:prstGeom prst="rect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712" name="Rect 712"/>
          <p:cNvSpPr/>
          <p:nvPr/>
        </p:nvSpPr>
        <p:spPr>
          <a:xfrm>
            <a:off x="9572386" y="5715000"/>
            <a:ext cx="333367" cy="304800"/>
          </a:xfrm>
          <a:prstGeom prst="rect">
            <a:avLst/>
          </a:prstGeom>
          <a:solidFill>
            <a:srgbClr val="EDAA23"/>
          </a:solidFill>
          <a:ln>
            <a:noFill/>
          </a:ln>
        </p:spPr>
        <p:txBody>
          <a:bodyPr/>
          <a:lstStyle/>
          <a:p/>
        </p:txBody>
      </p:sp>
      <p:sp>
        <p:nvSpPr>
          <p:cNvPr id="713" name="Rect 713"/>
          <p:cNvSpPr/>
          <p:nvPr/>
        </p:nvSpPr>
        <p:spPr>
          <a:xfrm>
            <a:off x="10077198" y="5867400"/>
            <a:ext cx="333367" cy="152400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14" name="Rect 714"/>
          <p:cNvSpPr/>
          <p:nvPr/>
        </p:nvSpPr>
        <p:spPr>
          <a:xfrm>
            <a:off x="6286343" y="2762250"/>
            <a:ext cx="123822" cy="104775"/>
          </a:xfrm>
          <a:prstGeom prst="rect">
            <a:avLst/>
          </a:prstGeom>
          <a:solidFill>
            <a:srgbClr val="9BD4B5"/>
          </a:solidFill>
          <a:ln>
            <a:noFill/>
          </a:ln>
        </p:spPr>
        <p:txBody>
          <a:bodyPr/>
          <a:lstStyle/>
          <a:p/>
        </p:txBody>
      </p:sp>
      <p:sp>
        <p:nvSpPr>
          <p:cNvPr id="715" name="Rect 715"/>
          <p:cNvSpPr/>
          <p:nvPr/>
        </p:nvSpPr>
        <p:spPr>
          <a:xfrm>
            <a:off x="6286343" y="2981325"/>
            <a:ext cx="123822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16" name="Ellipse 716"/>
          <p:cNvSpPr/>
          <p:nvPr/>
        </p:nvSpPr>
        <p:spPr>
          <a:xfrm>
            <a:off x="6286343" y="3200400"/>
            <a:ext cx="114297" cy="1143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17" name="Ellipse 717"/>
          <p:cNvSpPr/>
          <p:nvPr/>
        </p:nvSpPr>
        <p:spPr>
          <a:xfrm>
            <a:off x="6286343" y="3438525"/>
            <a:ext cx="114297" cy="11430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18" name="Ellipse 718"/>
          <p:cNvSpPr/>
          <p:nvPr/>
        </p:nvSpPr>
        <p:spPr>
          <a:xfrm>
            <a:off x="1747318" y="3421190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19" name="Ellipse 719"/>
          <p:cNvSpPr/>
          <p:nvPr/>
        </p:nvSpPr>
        <p:spPr>
          <a:xfrm>
            <a:off x="1894951" y="3421190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20" name="Ellipse 720"/>
          <p:cNvSpPr/>
          <p:nvPr/>
        </p:nvSpPr>
        <p:spPr>
          <a:xfrm>
            <a:off x="2042585" y="3421190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21" name="Ellipse 721"/>
          <p:cNvSpPr/>
          <p:nvPr/>
        </p:nvSpPr>
        <p:spPr>
          <a:xfrm>
            <a:off x="2190219" y="3421190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22" name="Ellipse 722"/>
          <p:cNvSpPr/>
          <p:nvPr/>
        </p:nvSpPr>
        <p:spPr>
          <a:xfrm>
            <a:off x="2337853" y="3421190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23" name="Ellipse 723"/>
          <p:cNvSpPr/>
          <p:nvPr/>
        </p:nvSpPr>
        <p:spPr>
          <a:xfrm>
            <a:off x="2633120" y="3421190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24" name="Ellipse 724"/>
          <p:cNvSpPr/>
          <p:nvPr/>
        </p:nvSpPr>
        <p:spPr>
          <a:xfrm>
            <a:off x="2780754" y="3421190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25" name="Ellipse 725"/>
          <p:cNvSpPr/>
          <p:nvPr/>
        </p:nvSpPr>
        <p:spPr>
          <a:xfrm>
            <a:off x="2928388" y="3421190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26" name="Ellipse 726"/>
          <p:cNvSpPr/>
          <p:nvPr/>
        </p:nvSpPr>
        <p:spPr>
          <a:xfrm>
            <a:off x="3076022" y="3421190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27" name="Ellipse 727"/>
          <p:cNvSpPr/>
          <p:nvPr/>
        </p:nvSpPr>
        <p:spPr>
          <a:xfrm>
            <a:off x="3518923" y="3421190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28" name="Ellipse 728"/>
          <p:cNvSpPr/>
          <p:nvPr/>
        </p:nvSpPr>
        <p:spPr>
          <a:xfrm>
            <a:off x="3666557" y="3421190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29" name="Ellipse 729"/>
          <p:cNvSpPr/>
          <p:nvPr/>
        </p:nvSpPr>
        <p:spPr>
          <a:xfrm>
            <a:off x="3814191" y="3421190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30" name="Ellipse 730"/>
          <p:cNvSpPr/>
          <p:nvPr/>
        </p:nvSpPr>
        <p:spPr>
          <a:xfrm>
            <a:off x="3961825" y="3421190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31" name="Ellipse 731"/>
          <p:cNvSpPr/>
          <p:nvPr/>
        </p:nvSpPr>
        <p:spPr>
          <a:xfrm>
            <a:off x="4109459" y="3421190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32" name="Ellipse 732"/>
          <p:cNvSpPr/>
          <p:nvPr/>
        </p:nvSpPr>
        <p:spPr>
          <a:xfrm>
            <a:off x="4257092" y="3421190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33" name="Ellipse 733"/>
          <p:cNvSpPr/>
          <p:nvPr/>
        </p:nvSpPr>
        <p:spPr>
          <a:xfrm>
            <a:off x="4404726" y="3421190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34" name="Ellipse 734"/>
          <p:cNvSpPr/>
          <p:nvPr/>
        </p:nvSpPr>
        <p:spPr>
          <a:xfrm>
            <a:off x="4552360" y="3421190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35" name="Ellipse 735"/>
          <p:cNvSpPr/>
          <p:nvPr/>
        </p:nvSpPr>
        <p:spPr>
          <a:xfrm>
            <a:off x="1747318" y="3568256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36" name="Ellipse 736"/>
          <p:cNvSpPr/>
          <p:nvPr/>
        </p:nvSpPr>
        <p:spPr>
          <a:xfrm>
            <a:off x="1894951" y="3568256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37" name="Ellipse 737"/>
          <p:cNvSpPr/>
          <p:nvPr/>
        </p:nvSpPr>
        <p:spPr>
          <a:xfrm>
            <a:off x="2042585" y="3568256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38" name="Ellipse 738"/>
          <p:cNvSpPr/>
          <p:nvPr/>
        </p:nvSpPr>
        <p:spPr>
          <a:xfrm>
            <a:off x="2190219" y="3568256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39" name="Ellipse 739"/>
          <p:cNvSpPr/>
          <p:nvPr/>
        </p:nvSpPr>
        <p:spPr>
          <a:xfrm>
            <a:off x="2337853" y="3568256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40" name="Ellipse 740"/>
          <p:cNvSpPr/>
          <p:nvPr/>
        </p:nvSpPr>
        <p:spPr>
          <a:xfrm>
            <a:off x="2633120" y="3568256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41" name="Ellipse 741"/>
          <p:cNvSpPr/>
          <p:nvPr/>
        </p:nvSpPr>
        <p:spPr>
          <a:xfrm>
            <a:off x="2780754" y="3568256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42" name="Ellipse 742"/>
          <p:cNvSpPr/>
          <p:nvPr/>
        </p:nvSpPr>
        <p:spPr>
          <a:xfrm>
            <a:off x="2928388" y="3568256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43" name="Ellipse 743"/>
          <p:cNvSpPr/>
          <p:nvPr/>
        </p:nvSpPr>
        <p:spPr>
          <a:xfrm>
            <a:off x="3076022" y="3568256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44" name="Ellipse 744"/>
          <p:cNvSpPr/>
          <p:nvPr/>
        </p:nvSpPr>
        <p:spPr>
          <a:xfrm>
            <a:off x="3518923" y="3568256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45" name="Ellipse 745"/>
          <p:cNvSpPr/>
          <p:nvPr/>
        </p:nvSpPr>
        <p:spPr>
          <a:xfrm>
            <a:off x="3666557" y="3568256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46" name="Ellipse 746"/>
          <p:cNvSpPr/>
          <p:nvPr/>
        </p:nvSpPr>
        <p:spPr>
          <a:xfrm>
            <a:off x="3814191" y="3568256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47" name="Ellipse 747"/>
          <p:cNvSpPr/>
          <p:nvPr/>
        </p:nvSpPr>
        <p:spPr>
          <a:xfrm>
            <a:off x="3961825" y="3568256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48" name="Ellipse 748"/>
          <p:cNvSpPr/>
          <p:nvPr/>
        </p:nvSpPr>
        <p:spPr>
          <a:xfrm>
            <a:off x="4109459" y="3568256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49" name="Ellipse 749"/>
          <p:cNvSpPr/>
          <p:nvPr/>
        </p:nvSpPr>
        <p:spPr>
          <a:xfrm>
            <a:off x="4257092" y="3568256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50" name="Ellipse 750"/>
          <p:cNvSpPr/>
          <p:nvPr/>
        </p:nvSpPr>
        <p:spPr>
          <a:xfrm>
            <a:off x="4404726" y="3568256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51" name="Ellipse 751"/>
          <p:cNvSpPr/>
          <p:nvPr/>
        </p:nvSpPr>
        <p:spPr>
          <a:xfrm>
            <a:off x="4552360" y="3568256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52" name="Ellipse 752"/>
          <p:cNvSpPr/>
          <p:nvPr/>
        </p:nvSpPr>
        <p:spPr>
          <a:xfrm>
            <a:off x="1747318" y="386267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53" name="Ellipse 753"/>
          <p:cNvSpPr/>
          <p:nvPr/>
        </p:nvSpPr>
        <p:spPr>
          <a:xfrm>
            <a:off x="1894951" y="386267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54" name="Ellipse 754"/>
          <p:cNvSpPr/>
          <p:nvPr/>
        </p:nvSpPr>
        <p:spPr>
          <a:xfrm>
            <a:off x="2042585" y="386267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55" name="Ellipse 755"/>
          <p:cNvSpPr/>
          <p:nvPr/>
        </p:nvSpPr>
        <p:spPr>
          <a:xfrm>
            <a:off x="2190219" y="386267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56" name="Ellipse 756"/>
          <p:cNvSpPr/>
          <p:nvPr/>
        </p:nvSpPr>
        <p:spPr>
          <a:xfrm>
            <a:off x="2337853" y="386267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57" name="Ellipse 757"/>
          <p:cNvSpPr/>
          <p:nvPr/>
        </p:nvSpPr>
        <p:spPr>
          <a:xfrm>
            <a:off x="2485487" y="386267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58" name="Ellipse 758"/>
          <p:cNvSpPr/>
          <p:nvPr/>
        </p:nvSpPr>
        <p:spPr>
          <a:xfrm>
            <a:off x="2633120" y="386267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59" name="Ellipse 759"/>
          <p:cNvSpPr/>
          <p:nvPr/>
        </p:nvSpPr>
        <p:spPr>
          <a:xfrm>
            <a:off x="2780754" y="386267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60" name="Ellipse 760"/>
          <p:cNvSpPr/>
          <p:nvPr/>
        </p:nvSpPr>
        <p:spPr>
          <a:xfrm>
            <a:off x="2928388" y="386267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61" name="Ellipse 761"/>
          <p:cNvSpPr/>
          <p:nvPr/>
        </p:nvSpPr>
        <p:spPr>
          <a:xfrm>
            <a:off x="3076022" y="386267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62" name="Ellipse 762"/>
          <p:cNvSpPr/>
          <p:nvPr/>
        </p:nvSpPr>
        <p:spPr>
          <a:xfrm>
            <a:off x="3518923" y="386267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63" name="Ellipse 763"/>
          <p:cNvSpPr/>
          <p:nvPr/>
        </p:nvSpPr>
        <p:spPr>
          <a:xfrm>
            <a:off x="3666557" y="386267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64" name="Ellipse 764"/>
          <p:cNvSpPr/>
          <p:nvPr/>
        </p:nvSpPr>
        <p:spPr>
          <a:xfrm>
            <a:off x="3814191" y="386267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65" name="Ellipse 765"/>
          <p:cNvSpPr/>
          <p:nvPr/>
        </p:nvSpPr>
        <p:spPr>
          <a:xfrm>
            <a:off x="3961825" y="386267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66" name="Ellipse 766"/>
          <p:cNvSpPr/>
          <p:nvPr/>
        </p:nvSpPr>
        <p:spPr>
          <a:xfrm>
            <a:off x="4109459" y="386267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67" name="Ellipse 767"/>
          <p:cNvSpPr/>
          <p:nvPr/>
        </p:nvSpPr>
        <p:spPr>
          <a:xfrm>
            <a:off x="4257092" y="386267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68" name="Ellipse 768"/>
          <p:cNvSpPr/>
          <p:nvPr/>
        </p:nvSpPr>
        <p:spPr>
          <a:xfrm>
            <a:off x="4404726" y="386267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69" name="Ellipse 769"/>
          <p:cNvSpPr/>
          <p:nvPr/>
        </p:nvSpPr>
        <p:spPr>
          <a:xfrm>
            <a:off x="4552360" y="386267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70" name="Ellipse 770"/>
          <p:cNvSpPr/>
          <p:nvPr/>
        </p:nvSpPr>
        <p:spPr>
          <a:xfrm>
            <a:off x="4699994" y="386267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71" name="Ellipse 771"/>
          <p:cNvSpPr/>
          <p:nvPr/>
        </p:nvSpPr>
        <p:spPr>
          <a:xfrm>
            <a:off x="4847628" y="386267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72" name="Ellipse 772"/>
          <p:cNvSpPr/>
          <p:nvPr/>
        </p:nvSpPr>
        <p:spPr>
          <a:xfrm>
            <a:off x="1747318" y="400973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73" name="Ellipse 773"/>
          <p:cNvSpPr/>
          <p:nvPr/>
        </p:nvSpPr>
        <p:spPr>
          <a:xfrm>
            <a:off x="1894951" y="400973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74" name="Ellipse 774"/>
          <p:cNvSpPr/>
          <p:nvPr/>
        </p:nvSpPr>
        <p:spPr>
          <a:xfrm>
            <a:off x="2042585" y="400973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75" name="Ellipse 775"/>
          <p:cNvSpPr/>
          <p:nvPr/>
        </p:nvSpPr>
        <p:spPr>
          <a:xfrm>
            <a:off x="2190219" y="400973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76" name="Ellipse 776"/>
          <p:cNvSpPr/>
          <p:nvPr/>
        </p:nvSpPr>
        <p:spPr>
          <a:xfrm>
            <a:off x="2337853" y="400973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77" name="Ellipse 777"/>
          <p:cNvSpPr/>
          <p:nvPr/>
        </p:nvSpPr>
        <p:spPr>
          <a:xfrm>
            <a:off x="2485487" y="400973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78" name="Ellipse 778"/>
          <p:cNvSpPr/>
          <p:nvPr/>
        </p:nvSpPr>
        <p:spPr>
          <a:xfrm>
            <a:off x="2633120" y="400973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79" name="Ellipse 779"/>
          <p:cNvSpPr/>
          <p:nvPr/>
        </p:nvSpPr>
        <p:spPr>
          <a:xfrm>
            <a:off x="2780754" y="400973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80" name="Ellipse 780"/>
          <p:cNvSpPr/>
          <p:nvPr/>
        </p:nvSpPr>
        <p:spPr>
          <a:xfrm>
            <a:off x="2928388" y="400973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81" name="Ellipse 781"/>
          <p:cNvSpPr/>
          <p:nvPr/>
        </p:nvSpPr>
        <p:spPr>
          <a:xfrm>
            <a:off x="3076022" y="400973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82" name="Ellipse 782"/>
          <p:cNvSpPr/>
          <p:nvPr/>
        </p:nvSpPr>
        <p:spPr>
          <a:xfrm>
            <a:off x="3518923" y="400973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83" name="Ellipse 783"/>
          <p:cNvSpPr/>
          <p:nvPr/>
        </p:nvSpPr>
        <p:spPr>
          <a:xfrm>
            <a:off x="3666557" y="400973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84" name="Ellipse 784"/>
          <p:cNvSpPr/>
          <p:nvPr/>
        </p:nvSpPr>
        <p:spPr>
          <a:xfrm>
            <a:off x="3814191" y="400973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85" name="Ellipse 785"/>
          <p:cNvSpPr/>
          <p:nvPr/>
        </p:nvSpPr>
        <p:spPr>
          <a:xfrm>
            <a:off x="3961825" y="400973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86" name="Ellipse 786"/>
          <p:cNvSpPr/>
          <p:nvPr/>
        </p:nvSpPr>
        <p:spPr>
          <a:xfrm>
            <a:off x="4109459" y="400973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87" name="Ellipse 787"/>
          <p:cNvSpPr/>
          <p:nvPr/>
        </p:nvSpPr>
        <p:spPr>
          <a:xfrm>
            <a:off x="4257092" y="400973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88" name="Ellipse 788"/>
          <p:cNvSpPr/>
          <p:nvPr/>
        </p:nvSpPr>
        <p:spPr>
          <a:xfrm>
            <a:off x="4404726" y="400973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89" name="Ellipse 789"/>
          <p:cNvSpPr/>
          <p:nvPr/>
        </p:nvSpPr>
        <p:spPr>
          <a:xfrm>
            <a:off x="4552360" y="400973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90" name="Ellipse 790"/>
          <p:cNvSpPr/>
          <p:nvPr/>
        </p:nvSpPr>
        <p:spPr>
          <a:xfrm>
            <a:off x="4699994" y="400973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91" name="Ellipse 791"/>
          <p:cNvSpPr/>
          <p:nvPr/>
        </p:nvSpPr>
        <p:spPr>
          <a:xfrm>
            <a:off x="4847628" y="400973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92" name="Ellipse 792"/>
          <p:cNvSpPr/>
          <p:nvPr/>
        </p:nvSpPr>
        <p:spPr>
          <a:xfrm>
            <a:off x="1747318" y="445122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93" name="Ellipse 793"/>
          <p:cNvSpPr/>
          <p:nvPr/>
        </p:nvSpPr>
        <p:spPr>
          <a:xfrm>
            <a:off x="1894951" y="445122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94" name="Ellipse 794"/>
          <p:cNvSpPr/>
          <p:nvPr/>
        </p:nvSpPr>
        <p:spPr>
          <a:xfrm>
            <a:off x="2042585" y="445122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95" name="Ellipse 795"/>
          <p:cNvSpPr/>
          <p:nvPr/>
        </p:nvSpPr>
        <p:spPr>
          <a:xfrm>
            <a:off x="2190219" y="445122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96" name="Ellipse 796"/>
          <p:cNvSpPr/>
          <p:nvPr/>
        </p:nvSpPr>
        <p:spPr>
          <a:xfrm>
            <a:off x="2337853" y="445122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97" name="Ellipse 797"/>
          <p:cNvSpPr/>
          <p:nvPr/>
        </p:nvSpPr>
        <p:spPr>
          <a:xfrm>
            <a:off x="2485487" y="445122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98" name="Ellipse 798"/>
          <p:cNvSpPr/>
          <p:nvPr/>
        </p:nvSpPr>
        <p:spPr>
          <a:xfrm>
            <a:off x="2633120" y="445122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799" name="Ellipse 799"/>
          <p:cNvSpPr/>
          <p:nvPr/>
        </p:nvSpPr>
        <p:spPr>
          <a:xfrm>
            <a:off x="2780754" y="445122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00" name="Ellipse 800"/>
          <p:cNvSpPr/>
          <p:nvPr/>
        </p:nvSpPr>
        <p:spPr>
          <a:xfrm>
            <a:off x="2928388" y="445122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01" name="Ellipse 801"/>
          <p:cNvSpPr/>
          <p:nvPr/>
        </p:nvSpPr>
        <p:spPr>
          <a:xfrm>
            <a:off x="3076022" y="445122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02" name="Ellipse 802"/>
          <p:cNvSpPr/>
          <p:nvPr/>
        </p:nvSpPr>
        <p:spPr>
          <a:xfrm>
            <a:off x="3518923" y="445122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03" name="Ellipse 803"/>
          <p:cNvSpPr/>
          <p:nvPr/>
        </p:nvSpPr>
        <p:spPr>
          <a:xfrm>
            <a:off x="3666557" y="445122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04" name="Ellipse 804"/>
          <p:cNvSpPr/>
          <p:nvPr/>
        </p:nvSpPr>
        <p:spPr>
          <a:xfrm>
            <a:off x="3814191" y="445122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05" name="Ellipse 805"/>
          <p:cNvSpPr/>
          <p:nvPr/>
        </p:nvSpPr>
        <p:spPr>
          <a:xfrm>
            <a:off x="3961825" y="445122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06" name="Ellipse 806"/>
          <p:cNvSpPr/>
          <p:nvPr/>
        </p:nvSpPr>
        <p:spPr>
          <a:xfrm>
            <a:off x="4109459" y="445122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07" name="Ellipse 807"/>
          <p:cNvSpPr/>
          <p:nvPr/>
        </p:nvSpPr>
        <p:spPr>
          <a:xfrm>
            <a:off x="4257092" y="445122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08" name="Ellipse 808"/>
          <p:cNvSpPr/>
          <p:nvPr/>
        </p:nvSpPr>
        <p:spPr>
          <a:xfrm>
            <a:off x="4404726" y="445122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09" name="Ellipse 809"/>
          <p:cNvSpPr/>
          <p:nvPr/>
        </p:nvSpPr>
        <p:spPr>
          <a:xfrm>
            <a:off x="4552360" y="445122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10" name="Ellipse 810"/>
          <p:cNvSpPr/>
          <p:nvPr/>
        </p:nvSpPr>
        <p:spPr>
          <a:xfrm>
            <a:off x="4699994" y="445122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11" name="Ellipse 811"/>
          <p:cNvSpPr/>
          <p:nvPr/>
        </p:nvSpPr>
        <p:spPr>
          <a:xfrm>
            <a:off x="4847628" y="445122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12" name="Ellipse 812"/>
          <p:cNvSpPr/>
          <p:nvPr/>
        </p:nvSpPr>
        <p:spPr>
          <a:xfrm>
            <a:off x="1747318" y="459847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13" name="Ellipse 813"/>
          <p:cNvSpPr/>
          <p:nvPr/>
        </p:nvSpPr>
        <p:spPr>
          <a:xfrm>
            <a:off x="1894951" y="459847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14" name="Ellipse 814"/>
          <p:cNvSpPr/>
          <p:nvPr/>
        </p:nvSpPr>
        <p:spPr>
          <a:xfrm>
            <a:off x="2042585" y="459847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15" name="Ellipse 815"/>
          <p:cNvSpPr/>
          <p:nvPr/>
        </p:nvSpPr>
        <p:spPr>
          <a:xfrm>
            <a:off x="2190219" y="459847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16" name="Ellipse 816"/>
          <p:cNvSpPr/>
          <p:nvPr/>
        </p:nvSpPr>
        <p:spPr>
          <a:xfrm>
            <a:off x="2337853" y="459847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17" name="Ellipse 817"/>
          <p:cNvSpPr/>
          <p:nvPr/>
        </p:nvSpPr>
        <p:spPr>
          <a:xfrm>
            <a:off x="2485487" y="459847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18" name="Ellipse 818"/>
          <p:cNvSpPr/>
          <p:nvPr/>
        </p:nvSpPr>
        <p:spPr>
          <a:xfrm>
            <a:off x="2633120" y="459847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19" name="Ellipse 819"/>
          <p:cNvSpPr/>
          <p:nvPr/>
        </p:nvSpPr>
        <p:spPr>
          <a:xfrm>
            <a:off x="2780754" y="459847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20" name="Ellipse 820"/>
          <p:cNvSpPr/>
          <p:nvPr/>
        </p:nvSpPr>
        <p:spPr>
          <a:xfrm>
            <a:off x="2928388" y="459847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21" name="Ellipse 821"/>
          <p:cNvSpPr/>
          <p:nvPr/>
        </p:nvSpPr>
        <p:spPr>
          <a:xfrm>
            <a:off x="3076022" y="459847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22" name="Ellipse 822"/>
          <p:cNvSpPr/>
          <p:nvPr/>
        </p:nvSpPr>
        <p:spPr>
          <a:xfrm>
            <a:off x="3518923" y="459847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23" name="Ellipse 823"/>
          <p:cNvSpPr/>
          <p:nvPr/>
        </p:nvSpPr>
        <p:spPr>
          <a:xfrm>
            <a:off x="3666557" y="459847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24" name="Ellipse 824"/>
          <p:cNvSpPr/>
          <p:nvPr/>
        </p:nvSpPr>
        <p:spPr>
          <a:xfrm>
            <a:off x="3814191" y="459847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25" name="Ellipse 825"/>
          <p:cNvSpPr/>
          <p:nvPr/>
        </p:nvSpPr>
        <p:spPr>
          <a:xfrm>
            <a:off x="3961825" y="459847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26" name="Ellipse 826"/>
          <p:cNvSpPr/>
          <p:nvPr/>
        </p:nvSpPr>
        <p:spPr>
          <a:xfrm>
            <a:off x="4109459" y="459847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27" name="Ellipse 827"/>
          <p:cNvSpPr/>
          <p:nvPr/>
        </p:nvSpPr>
        <p:spPr>
          <a:xfrm>
            <a:off x="4257092" y="459847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28" name="Ellipse 828"/>
          <p:cNvSpPr/>
          <p:nvPr/>
        </p:nvSpPr>
        <p:spPr>
          <a:xfrm>
            <a:off x="4404726" y="459847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29" name="Ellipse 829"/>
          <p:cNvSpPr/>
          <p:nvPr/>
        </p:nvSpPr>
        <p:spPr>
          <a:xfrm>
            <a:off x="4552360" y="459847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30" name="Ellipse 830"/>
          <p:cNvSpPr/>
          <p:nvPr/>
        </p:nvSpPr>
        <p:spPr>
          <a:xfrm>
            <a:off x="4699994" y="459847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31" name="Ellipse 831"/>
          <p:cNvSpPr/>
          <p:nvPr/>
        </p:nvSpPr>
        <p:spPr>
          <a:xfrm>
            <a:off x="4847628" y="4598479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32" name="Ellipse 832"/>
          <p:cNvSpPr/>
          <p:nvPr/>
        </p:nvSpPr>
        <p:spPr>
          <a:xfrm>
            <a:off x="1747318" y="4892802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33" name="Ellipse 833"/>
          <p:cNvSpPr/>
          <p:nvPr/>
        </p:nvSpPr>
        <p:spPr>
          <a:xfrm>
            <a:off x="1894951" y="4892802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34" name="Ellipse 834"/>
          <p:cNvSpPr/>
          <p:nvPr/>
        </p:nvSpPr>
        <p:spPr>
          <a:xfrm>
            <a:off x="2042585" y="4892802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35" name="Ellipse 835"/>
          <p:cNvSpPr/>
          <p:nvPr/>
        </p:nvSpPr>
        <p:spPr>
          <a:xfrm>
            <a:off x="2190219" y="4892802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36" name="Ellipse 836"/>
          <p:cNvSpPr/>
          <p:nvPr/>
        </p:nvSpPr>
        <p:spPr>
          <a:xfrm>
            <a:off x="2337853" y="4892802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37" name="Ellipse 837"/>
          <p:cNvSpPr/>
          <p:nvPr/>
        </p:nvSpPr>
        <p:spPr>
          <a:xfrm>
            <a:off x="2633120" y="4892802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38" name="Ellipse 838"/>
          <p:cNvSpPr/>
          <p:nvPr/>
        </p:nvSpPr>
        <p:spPr>
          <a:xfrm>
            <a:off x="2780754" y="4892802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39" name="Ellipse 839"/>
          <p:cNvSpPr/>
          <p:nvPr/>
        </p:nvSpPr>
        <p:spPr>
          <a:xfrm>
            <a:off x="2928388" y="4892802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40" name="Ellipse 840"/>
          <p:cNvSpPr/>
          <p:nvPr/>
        </p:nvSpPr>
        <p:spPr>
          <a:xfrm>
            <a:off x="3076022" y="4892802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41" name="Ellipse 841"/>
          <p:cNvSpPr/>
          <p:nvPr/>
        </p:nvSpPr>
        <p:spPr>
          <a:xfrm>
            <a:off x="3518923" y="4892802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42" name="Ellipse 842"/>
          <p:cNvSpPr/>
          <p:nvPr/>
        </p:nvSpPr>
        <p:spPr>
          <a:xfrm>
            <a:off x="3666557" y="4892802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43" name="Ellipse 843"/>
          <p:cNvSpPr/>
          <p:nvPr/>
        </p:nvSpPr>
        <p:spPr>
          <a:xfrm>
            <a:off x="3814191" y="4892802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44" name="Ellipse 844"/>
          <p:cNvSpPr/>
          <p:nvPr/>
        </p:nvSpPr>
        <p:spPr>
          <a:xfrm>
            <a:off x="3961825" y="4892802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45" name="Ellipse 845"/>
          <p:cNvSpPr/>
          <p:nvPr/>
        </p:nvSpPr>
        <p:spPr>
          <a:xfrm>
            <a:off x="4109459" y="4892802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46" name="Ellipse 846"/>
          <p:cNvSpPr/>
          <p:nvPr/>
        </p:nvSpPr>
        <p:spPr>
          <a:xfrm>
            <a:off x="4257092" y="4892802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47" name="Ellipse 847"/>
          <p:cNvSpPr/>
          <p:nvPr/>
        </p:nvSpPr>
        <p:spPr>
          <a:xfrm>
            <a:off x="4404726" y="4892802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48" name="Ellipse 848"/>
          <p:cNvSpPr/>
          <p:nvPr/>
        </p:nvSpPr>
        <p:spPr>
          <a:xfrm>
            <a:off x="4552360" y="4892802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49" name="Ellipse 849"/>
          <p:cNvSpPr/>
          <p:nvPr/>
        </p:nvSpPr>
        <p:spPr>
          <a:xfrm>
            <a:off x="1747318" y="503996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50" name="Ellipse 850"/>
          <p:cNvSpPr/>
          <p:nvPr/>
        </p:nvSpPr>
        <p:spPr>
          <a:xfrm>
            <a:off x="1894951" y="503996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51" name="Ellipse 851"/>
          <p:cNvSpPr/>
          <p:nvPr/>
        </p:nvSpPr>
        <p:spPr>
          <a:xfrm>
            <a:off x="2042585" y="503996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52" name="Ellipse 852"/>
          <p:cNvSpPr/>
          <p:nvPr/>
        </p:nvSpPr>
        <p:spPr>
          <a:xfrm>
            <a:off x="2190219" y="503996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53" name="Ellipse 853"/>
          <p:cNvSpPr/>
          <p:nvPr/>
        </p:nvSpPr>
        <p:spPr>
          <a:xfrm>
            <a:off x="2337853" y="503996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54" name="Ellipse 854"/>
          <p:cNvSpPr/>
          <p:nvPr/>
        </p:nvSpPr>
        <p:spPr>
          <a:xfrm>
            <a:off x="2633120" y="503996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55" name="Ellipse 855"/>
          <p:cNvSpPr/>
          <p:nvPr/>
        </p:nvSpPr>
        <p:spPr>
          <a:xfrm>
            <a:off x="2780754" y="503996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56" name="Ellipse 856"/>
          <p:cNvSpPr/>
          <p:nvPr/>
        </p:nvSpPr>
        <p:spPr>
          <a:xfrm>
            <a:off x="2928388" y="503996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57" name="Ellipse 857"/>
          <p:cNvSpPr/>
          <p:nvPr/>
        </p:nvSpPr>
        <p:spPr>
          <a:xfrm>
            <a:off x="3076022" y="503996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58" name="Ellipse 858"/>
          <p:cNvSpPr/>
          <p:nvPr/>
        </p:nvSpPr>
        <p:spPr>
          <a:xfrm>
            <a:off x="3518923" y="503996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59" name="Ellipse 859"/>
          <p:cNvSpPr/>
          <p:nvPr/>
        </p:nvSpPr>
        <p:spPr>
          <a:xfrm>
            <a:off x="3666557" y="503996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60" name="Ellipse 860"/>
          <p:cNvSpPr/>
          <p:nvPr/>
        </p:nvSpPr>
        <p:spPr>
          <a:xfrm>
            <a:off x="3814191" y="503996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61" name="Ellipse 861"/>
          <p:cNvSpPr/>
          <p:nvPr/>
        </p:nvSpPr>
        <p:spPr>
          <a:xfrm>
            <a:off x="3961825" y="503996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62" name="Ellipse 862"/>
          <p:cNvSpPr/>
          <p:nvPr/>
        </p:nvSpPr>
        <p:spPr>
          <a:xfrm>
            <a:off x="4109459" y="503996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63" name="Ellipse 863"/>
          <p:cNvSpPr/>
          <p:nvPr/>
        </p:nvSpPr>
        <p:spPr>
          <a:xfrm>
            <a:off x="4257092" y="503996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64" name="Ellipse 864"/>
          <p:cNvSpPr/>
          <p:nvPr/>
        </p:nvSpPr>
        <p:spPr>
          <a:xfrm>
            <a:off x="4404726" y="503996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65" name="Ellipse 865"/>
          <p:cNvSpPr/>
          <p:nvPr/>
        </p:nvSpPr>
        <p:spPr>
          <a:xfrm>
            <a:off x="4552360" y="5039963"/>
            <a:ext cx="72388" cy="72390"/>
          </a:xfrm>
          <a:prstGeom prst="ellipse">
            <a:avLst/>
          </a:prstGeom>
          <a:solidFill>
            <a:srgbClr val="9099A5"/>
          </a:solidFill>
          <a:ln w="1143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66" name="Ellipse 866"/>
          <p:cNvSpPr/>
          <p:nvPr/>
        </p:nvSpPr>
        <p:spPr>
          <a:xfrm>
            <a:off x="2315470" y="2661285"/>
            <a:ext cx="114297" cy="114300"/>
          </a:xfrm>
          <a:prstGeom prst="ellipse">
            <a:avLst/>
          </a:prstGeom>
          <a:solidFill>
            <a:srgbClr val="F25E4B"/>
          </a:solidFill>
          <a:ln w="1270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67" name="Ellipse 867"/>
          <p:cNvSpPr/>
          <p:nvPr/>
        </p:nvSpPr>
        <p:spPr>
          <a:xfrm>
            <a:off x="4816672" y="2659380"/>
            <a:ext cx="114297" cy="114300"/>
          </a:xfrm>
          <a:prstGeom prst="ellipse">
            <a:avLst/>
          </a:prstGeom>
          <a:solidFill>
            <a:srgbClr val="F25E4B"/>
          </a:solidFill>
          <a:ln w="1270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68" name="Ellipse 868"/>
          <p:cNvSpPr/>
          <p:nvPr/>
        </p:nvSpPr>
        <p:spPr>
          <a:xfrm>
            <a:off x="1138209" y="2953702"/>
            <a:ext cx="114297" cy="114300"/>
          </a:xfrm>
          <a:prstGeom prst="ellipse">
            <a:avLst/>
          </a:prstGeom>
          <a:solidFill>
            <a:srgbClr val="F25E4B"/>
          </a:solidFill>
          <a:ln w="1270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69" name="Ellipse 869"/>
          <p:cNvSpPr/>
          <p:nvPr/>
        </p:nvSpPr>
        <p:spPr>
          <a:xfrm>
            <a:off x="1284890" y="3100388"/>
            <a:ext cx="114297" cy="114300"/>
          </a:xfrm>
          <a:prstGeom prst="ellipse">
            <a:avLst/>
          </a:prstGeom>
          <a:solidFill>
            <a:srgbClr val="F25E4B"/>
          </a:solidFill>
          <a:ln w="1270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70" name="Ellipse 870"/>
          <p:cNvSpPr/>
          <p:nvPr/>
        </p:nvSpPr>
        <p:spPr>
          <a:xfrm>
            <a:off x="3051734" y="3248978"/>
            <a:ext cx="114297" cy="114300"/>
          </a:xfrm>
          <a:prstGeom prst="ellipse">
            <a:avLst/>
          </a:prstGeom>
          <a:solidFill>
            <a:srgbClr val="F25E4B"/>
          </a:solidFill>
          <a:ln w="1270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71" name="Ellipse 871"/>
          <p:cNvSpPr/>
          <p:nvPr/>
        </p:nvSpPr>
        <p:spPr>
          <a:xfrm>
            <a:off x="4815720" y="3248978"/>
            <a:ext cx="114297" cy="114300"/>
          </a:xfrm>
          <a:prstGeom prst="ellipse">
            <a:avLst/>
          </a:prstGeom>
          <a:solidFill>
            <a:srgbClr val="F25E4B"/>
          </a:solidFill>
          <a:ln w="1270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72" name="Ellipse 872"/>
          <p:cNvSpPr/>
          <p:nvPr/>
        </p:nvSpPr>
        <p:spPr>
          <a:xfrm>
            <a:off x="4081360" y="3837623"/>
            <a:ext cx="114297" cy="114300"/>
          </a:xfrm>
          <a:prstGeom prst="ellipse">
            <a:avLst/>
          </a:prstGeom>
          <a:solidFill>
            <a:srgbClr val="F25E4B"/>
          </a:solidFill>
          <a:ln w="1270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73" name="Ellipse 873"/>
          <p:cNvSpPr/>
          <p:nvPr/>
        </p:nvSpPr>
        <p:spPr>
          <a:xfrm>
            <a:off x="989623" y="4280535"/>
            <a:ext cx="114297" cy="114300"/>
          </a:xfrm>
          <a:prstGeom prst="ellipse">
            <a:avLst/>
          </a:prstGeom>
          <a:solidFill>
            <a:srgbClr val="F25E4B"/>
          </a:solidFill>
          <a:ln w="1270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74" name="Ellipse 874"/>
          <p:cNvSpPr/>
          <p:nvPr/>
        </p:nvSpPr>
        <p:spPr>
          <a:xfrm>
            <a:off x="4228042" y="4425315"/>
            <a:ext cx="114297" cy="114300"/>
          </a:xfrm>
          <a:prstGeom prst="ellipse">
            <a:avLst/>
          </a:prstGeom>
          <a:solidFill>
            <a:srgbClr val="F25E4B"/>
          </a:solidFill>
          <a:ln w="1270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75" name="Ellipse 875"/>
          <p:cNvSpPr/>
          <p:nvPr/>
        </p:nvSpPr>
        <p:spPr>
          <a:xfrm>
            <a:off x="4669991" y="4573905"/>
            <a:ext cx="114297" cy="114300"/>
          </a:xfrm>
          <a:prstGeom prst="ellipse">
            <a:avLst/>
          </a:prstGeom>
          <a:solidFill>
            <a:srgbClr val="F25E4B"/>
          </a:solidFill>
          <a:ln w="1270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76" name="Ellipse 876"/>
          <p:cNvSpPr/>
          <p:nvPr/>
        </p:nvSpPr>
        <p:spPr>
          <a:xfrm>
            <a:off x="1283938" y="5161598"/>
            <a:ext cx="114297" cy="114300"/>
          </a:xfrm>
          <a:prstGeom prst="ellipse">
            <a:avLst/>
          </a:prstGeom>
          <a:solidFill>
            <a:srgbClr val="F25E4B"/>
          </a:solidFill>
          <a:ln w="1270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77" name="Ellipse 877"/>
          <p:cNvSpPr/>
          <p:nvPr/>
        </p:nvSpPr>
        <p:spPr>
          <a:xfrm>
            <a:off x="4227089" y="5160645"/>
            <a:ext cx="114297" cy="114300"/>
          </a:xfrm>
          <a:prstGeom prst="ellipse">
            <a:avLst/>
          </a:prstGeom>
          <a:solidFill>
            <a:srgbClr val="F25E4B"/>
          </a:solidFill>
          <a:ln w="12700">
            <a:solidFill>
              <a:srgbClr val="F9FAF8"/>
            </a:solidFill>
          </a:ln>
        </p:spPr>
        <p:txBody>
          <a:bodyPr/>
          <a:lstStyle/>
          <a:p/>
        </p:txBody>
      </p:sp>
      <p:sp>
        <p:nvSpPr>
          <p:cNvPr id="878" name="TextBox 878"/>
          <p:cNvSpPr txBox="1"/>
          <p:nvPr/>
        </p:nvSpPr>
        <p:spPr>
          <a:xfrm>
            <a:off x="857229" y="533400"/>
            <a:ext cx="904852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80" b="1">
                <a:solidFill>
                  <a:srgbClr val="4C5967"/>
                </a:solidFill>
                <a:latin typeface="PingFang SC"/>
                <a:ea typeface="PingFang SC"/>
                <a:cs typeface="PingFang SC"/>
              </a:rPr>
              <a:t>DATA</a:t>
            </a:r>
            <a:endParaRPr lang="zh-CN" sz="780"/>
          </a:p>
        </p:txBody>
      </p:sp>
      <p:sp>
        <p:nvSpPr>
          <p:cNvPr id="879" name="TextBox 879"/>
          <p:cNvSpPr txBox="1"/>
          <p:nvPr/>
        </p:nvSpPr>
        <p:spPr>
          <a:xfrm>
            <a:off x="695308" y="876300"/>
            <a:ext cx="7238819" cy="4953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93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实验数据包含地图、托盘、 AGV 与工位。</a:t>
            </a:r>
            <a:endParaRPr lang="zh-CN" sz="2930"/>
          </a:p>
        </p:txBody>
      </p:sp>
      <p:sp>
        <p:nvSpPr>
          <p:cNvPr id="880" name="TextBox 880"/>
          <p:cNvSpPr txBox="1"/>
          <p:nvPr/>
        </p:nvSpPr>
        <p:spPr>
          <a:xfrm>
            <a:off x="714357" y="1895475"/>
            <a:ext cx="7810305" cy="4000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30">
                <a:solidFill>
                  <a:srgbClr val="697684"/>
                </a:solidFill>
                <a:latin typeface="PingFang SC"/>
                <a:ea typeface="PingFang SC"/>
                <a:cs typeface="PingFang SC"/>
              </a:rPr>
              <a:t>坐标数据让我们可以计算曼哈顿距离；托盘货量让动态分区不只是按点位分配，而是按货物流量分配</a:t>
            </a:r>
            <a:endParaRPr lang="zh-CN" sz="1130"/>
          </a:p>
          <a:p>
            <a:pPr algn="left"/>
            <a:r>
              <a:rPr lang="zh-CN" sz="1130">
                <a:solidFill>
                  <a:srgbClr val="697684"/>
                </a:solidFill>
                <a:latin typeface="PingFang SC"/>
                <a:ea typeface="PingFang SC"/>
                <a:cs typeface="PingFang SC"/>
              </a:rPr>
              <a:t>。</a:t>
            </a:r>
            <a:endParaRPr lang="zh-CN" sz="1130"/>
          </a:p>
        </p:txBody>
      </p:sp>
      <p:sp>
        <p:nvSpPr>
          <p:cNvPr id="881" name="TextBox 881"/>
          <p:cNvSpPr txBox="1"/>
          <p:nvPr/>
        </p:nvSpPr>
        <p:spPr>
          <a:xfrm>
            <a:off x="6467313" y="2724150"/>
            <a:ext cx="1476338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19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储位 / 可存放托盘</a:t>
            </a:r>
            <a:endParaRPr lang="zh-CN" sz="819"/>
          </a:p>
        </p:txBody>
      </p:sp>
      <p:sp>
        <p:nvSpPr>
          <p:cNvPr id="882" name="TextBox 882"/>
          <p:cNvSpPr txBox="1"/>
          <p:nvPr/>
        </p:nvSpPr>
        <p:spPr>
          <a:xfrm>
            <a:off x="6467313" y="2952750"/>
            <a:ext cx="1142971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19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工位</a:t>
            </a:r>
            <a:endParaRPr lang="zh-CN" sz="819"/>
          </a:p>
        </p:txBody>
      </p:sp>
      <p:sp>
        <p:nvSpPr>
          <p:cNvPr id="883" name="TextBox 883"/>
          <p:cNvSpPr txBox="1"/>
          <p:nvPr/>
        </p:nvSpPr>
        <p:spPr>
          <a:xfrm>
            <a:off x="6467313" y="3181350"/>
            <a:ext cx="1238219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19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AGV 初始位置</a:t>
            </a:r>
            <a:endParaRPr lang="zh-CN" sz="819"/>
          </a:p>
        </p:txBody>
      </p:sp>
      <p:sp>
        <p:nvSpPr>
          <p:cNvPr id="884" name="TextBox 884"/>
          <p:cNvSpPr txBox="1"/>
          <p:nvPr/>
        </p:nvSpPr>
        <p:spPr>
          <a:xfrm>
            <a:off x="6467313" y="3409950"/>
            <a:ext cx="1142971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19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托盘坐标</a:t>
            </a:r>
            <a:endParaRPr lang="zh-CN" sz="819"/>
          </a:p>
        </p:txBody>
      </p:sp>
      <p:sp>
        <p:nvSpPr>
          <p:cNvPr id="885" name="TextBox 885"/>
          <p:cNvSpPr txBox="1"/>
          <p:nvPr/>
        </p:nvSpPr>
        <p:spPr>
          <a:xfrm>
            <a:off x="6314917" y="3952875"/>
            <a:ext cx="1238219" cy="4000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780" b="1">
                <a:solidFill>
                  <a:srgbClr val="2276FF"/>
                </a:solidFill>
                <a:latin typeface="PingFang SC"/>
                <a:ea typeface="PingFang SC"/>
                <a:cs typeface="PingFang SC"/>
              </a:rPr>
              <a:t>32×22</a:t>
            </a:r>
            <a:endParaRPr lang="zh-CN" sz="2780"/>
          </a:p>
        </p:txBody>
      </p:sp>
      <p:sp>
        <p:nvSpPr>
          <p:cNvPr id="886" name="TextBox 886"/>
          <p:cNvSpPr txBox="1"/>
          <p:nvPr/>
        </p:nvSpPr>
        <p:spPr>
          <a:xfrm>
            <a:off x="6324442" y="4362450"/>
            <a:ext cx="857229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6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仓库网格</a:t>
            </a:r>
            <a:endParaRPr lang="zh-CN" sz="1060"/>
          </a:p>
        </p:txBody>
      </p:sp>
      <p:sp>
        <p:nvSpPr>
          <p:cNvPr id="887" name="TextBox 887"/>
          <p:cNvSpPr txBox="1"/>
          <p:nvPr/>
        </p:nvSpPr>
        <p:spPr>
          <a:xfrm>
            <a:off x="6324442" y="4600575"/>
            <a:ext cx="1047724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60">
                <a:solidFill>
                  <a:srgbClr val="697684"/>
                </a:solidFill>
                <a:latin typeface="PingFang SC"/>
                <a:ea typeface="PingFang SC"/>
                <a:cs typeface="PingFang SC"/>
              </a:rPr>
              <a:t>离散坐标地图</a:t>
            </a:r>
            <a:endParaRPr lang="zh-CN" sz="760"/>
          </a:p>
        </p:txBody>
      </p:sp>
      <p:sp>
        <p:nvSpPr>
          <p:cNvPr id="888" name="TextBox 888"/>
          <p:cNvSpPr txBox="1"/>
          <p:nvPr/>
        </p:nvSpPr>
        <p:spPr>
          <a:xfrm>
            <a:off x="8448464" y="3952875"/>
            <a:ext cx="761981" cy="4000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680" b="1">
                <a:solidFill>
                  <a:srgbClr val="35A66A"/>
                </a:solidFill>
                <a:latin typeface="PingFang SC"/>
                <a:ea typeface="PingFang SC"/>
                <a:cs typeface="PingFang SC"/>
              </a:rPr>
              <a:t>18</a:t>
            </a:r>
            <a:endParaRPr lang="zh-CN" sz="2680"/>
          </a:p>
        </p:txBody>
      </p:sp>
      <p:sp>
        <p:nvSpPr>
          <p:cNvPr id="889" name="TextBox 889"/>
          <p:cNvSpPr txBox="1"/>
          <p:nvPr/>
        </p:nvSpPr>
        <p:spPr>
          <a:xfrm>
            <a:off x="8448464" y="4362450"/>
            <a:ext cx="857229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6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工位数量</a:t>
            </a:r>
            <a:endParaRPr lang="zh-CN" sz="1060"/>
          </a:p>
        </p:txBody>
      </p:sp>
      <p:sp>
        <p:nvSpPr>
          <p:cNvPr id="890" name="TextBox 890"/>
          <p:cNvSpPr txBox="1"/>
          <p:nvPr/>
        </p:nvSpPr>
        <p:spPr>
          <a:xfrm>
            <a:off x="8448464" y="4600575"/>
            <a:ext cx="1095348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60">
                <a:solidFill>
                  <a:srgbClr val="697684"/>
                </a:solidFill>
                <a:latin typeface="PingFang SC"/>
                <a:ea typeface="PingFang SC"/>
                <a:cs typeface="PingFang SC"/>
              </a:rPr>
              <a:t>地图中 type=5</a:t>
            </a:r>
            <a:endParaRPr lang="zh-CN" sz="760"/>
          </a:p>
        </p:txBody>
      </p:sp>
      <p:sp>
        <p:nvSpPr>
          <p:cNvPr id="891" name="TextBox 891"/>
          <p:cNvSpPr txBox="1"/>
          <p:nvPr/>
        </p:nvSpPr>
        <p:spPr>
          <a:xfrm>
            <a:off x="6314917" y="5095875"/>
            <a:ext cx="761981" cy="4000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680" b="1">
                <a:solidFill>
                  <a:srgbClr val="F25E4B"/>
                </a:solidFill>
                <a:latin typeface="PingFang SC"/>
                <a:ea typeface="PingFang SC"/>
                <a:cs typeface="PingFang SC"/>
              </a:rPr>
              <a:t>12</a:t>
            </a:r>
            <a:endParaRPr lang="zh-CN" sz="2680"/>
          </a:p>
        </p:txBody>
      </p:sp>
      <p:sp>
        <p:nvSpPr>
          <p:cNvPr id="892" name="TextBox 892"/>
          <p:cNvSpPr txBox="1"/>
          <p:nvPr/>
        </p:nvSpPr>
        <p:spPr>
          <a:xfrm>
            <a:off x="6324442" y="5505450"/>
            <a:ext cx="857229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6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参与 AGV</a:t>
            </a:r>
            <a:endParaRPr lang="zh-CN" sz="1060"/>
          </a:p>
        </p:txBody>
      </p:sp>
      <p:sp>
        <p:nvSpPr>
          <p:cNvPr id="893" name="TextBox 893"/>
          <p:cNvSpPr txBox="1"/>
          <p:nvPr/>
        </p:nvSpPr>
        <p:spPr>
          <a:xfrm>
            <a:off x="6324442" y="5743575"/>
            <a:ext cx="1285843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60">
                <a:solidFill>
                  <a:srgbClr val="697684"/>
                </a:solidFill>
                <a:latin typeface="PingFang SC"/>
                <a:ea typeface="PingFang SC"/>
                <a:cs typeface="PingFang SC"/>
              </a:rPr>
              <a:t>来自 50 条记录抽样</a:t>
            </a:r>
            <a:endParaRPr lang="zh-CN" sz="760"/>
          </a:p>
        </p:txBody>
      </p:sp>
      <p:sp>
        <p:nvSpPr>
          <p:cNvPr id="894" name="TextBox 894"/>
          <p:cNvSpPr txBox="1"/>
          <p:nvPr/>
        </p:nvSpPr>
        <p:spPr>
          <a:xfrm>
            <a:off x="8658009" y="5076825"/>
            <a:ext cx="266693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760">
                <a:solidFill>
                  <a:srgbClr val="4C5967"/>
                </a:solidFill>
                <a:latin typeface="PingFang SC"/>
                <a:ea typeface="PingFang SC"/>
                <a:cs typeface="PingFang SC"/>
              </a:rPr>
              <a:t>47</a:t>
            </a:r>
            <a:endParaRPr lang="zh-CN" sz="760"/>
          </a:p>
        </p:txBody>
      </p:sp>
      <p:sp>
        <p:nvSpPr>
          <p:cNvPr id="895" name="TextBox 895"/>
          <p:cNvSpPr txBox="1"/>
          <p:nvPr/>
        </p:nvSpPr>
        <p:spPr>
          <a:xfrm>
            <a:off x="9162821" y="4752975"/>
            <a:ext cx="266693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760">
                <a:solidFill>
                  <a:srgbClr val="4C5967"/>
                </a:solidFill>
                <a:latin typeface="PingFang SC"/>
                <a:ea typeface="PingFang SC"/>
                <a:cs typeface="PingFang SC"/>
              </a:rPr>
              <a:t>66</a:t>
            </a:r>
            <a:endParaRPr lang="zh-CN" sz="760"/>
          </a:p>
        </p:txBody>
      </p:sp>
      <p:sp>
        <p:nvSpPr>
          <p:cNvPr id="896" name="TextBox 896"/>
          <p:cNvSpPr txBox="1"/>
          <p:nvPr/>
        </p:nvSpPr>
        <p:spPr>
          <a:xfrm>
            <a:off x="9658109" y="5572125"/>
            <a:ext cx="266693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760">
                <a:solidFill>
                  <a:srgbClr val="4C5967"/>
                </a:solidFill>
                <a:latin typeface="PingFang SC"/>
                <a:ea typeface="PingFang SC"/>
                <a:cs typeface="PingFang SC"/>
              </a:rPr>
              <a:t>18</a:t>
            </a:r>
            <a:endParaRPr lang="zh-CN" sz="760"/>
          </a:p>
        </p:txBody>
      </p:sp>
      <p:sp>
        <p:nvSpPr>
          <p:cNvPr id="897" name="TextBox 897"/>
          <p:cNvSpPr txBox="1"/>
          <p:nvPr/>
        </p:nvSpPr>
        <p:spPr>
          <a:xfrm>
            <a:off x="10172446" y="5724525"/>
            <a:ext cx="266693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760">
                <a:solidFill>
                  <a:srgbClr val="4C5967"/>
                </a:solidFill>
                <a:latin typeface="PingFang SC"/>
                <a:ea typeface="PingFang SC"/>
                <a:cs typeface="PingFang SC"/>
              </a:rPr>
              <a:t>9</a:t>
            </a:r>
            <a:endParaRPr lang="zh-CN" sz="760"/>
          </a:p>
        </p:txBody>
      </p:sp>
      <p:sp>
        <p:nvSpPr>
          <p:cNvPr id="898" name="TextBox 898"/>
          <p:cNvSpPr txBox="1"/>
          <p:nvPr/>
        </p:nvSpPr>
        <p:spPr>
          <a:xfrm>
            <a:off x="8591335" y="6134100"/>
            <a:ext cx="333367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720">
                <a:solidFill>
                  <a:srgbClr val="697684"/>
                </a:solidFill>
                <a:latin typeface="PingFang SC"/>
                <a:ea typeface="PingFang SC"/>
                <a:cs typeface="PingFang SC"/>
              </a:rPr>
              <a:t>0–40</a:t>
            </a:r>
            <a:endParaRPr lang="zh-CN" sz="720"/>
          </a:p>
        </p:txBody>
      </p:sp>
      <p:sp>
        <p:nvSpPr>
          <p:cNvPr id="899" name="TextBox 899"/>
          <p:cNvSpPr txBox="1"/>
          <p:nvPr/>
        </p:nvSpPr>
        <p:spPr>
          <a:xfrm>
            <a:off x="9077098" y="6134100"/>
            <a:ext cx="371466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720">
                <a:solidFill>
                  <a:srgbClr val="697684"/>
                </a:solidFill>
                <a:latin typeface="PingFang SC"/>
                <a:ea typeface="PingFang SC"/>
                <a:cs typeface="PingFang SC"/>
              </a:rPr>
              <a:t>41–80</a:t>
            </a:r>
            <a:endParaRPr lang="zh-CN" sz="720"/>
          </a:p>
        </p:txBody>
      </p:sp>
      <p:sp>
        <p:nvSpPr>
          <p:cNvPr id="900" name="TextBox 900"/>
          <p:cNvSpPr txBox="1"/>
          <p:nvPr/>
        </p:nvSpPr>
        <p:spPr>
          <a:xfrm>
            <a:off x="9562861" y="6134100"/>
            <a:ext cx="400040" cy="3238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720">
                <a:solidFill>
                  <a:srgbClr val="697684"/>
                </a:solidFill>
                <a:latin typeface="PingFang SC"/>
                <a:ea typeface="PingFang SC"/>
                <a:cs typeface="PingFang SC"/>
              </a:rPr>
              <a:t>81–12</a:t>
            </a:r>
            <a:endParaRPr lang="zh-CN" sz="720"/>
          </a:p>
          <a:p>
            <a:pPr algn="center"/>
            <a:r>
              <a:rPr lang="zh-CN" sz="720">
                <a:solidFill>
                  <a:srgbClr val="697684"/>
                </a:solidFill>
                <a:latin typeface="PingFang SC"/>
                <a:ea typeface="PingFang SC"/>
                <a:cs typeface="PingFang SC"/>
              </a:rPr>
              <a:t>0</a:t>
            </a:r>
            <a:endParaRPr lang="zh-CN" sz="720"/>
          </a:p>
        </p:txBody>
      </p:sp>
      <p:sp>
        <p:nvSpPr>
          <p:cNvPr id="901" name="TextBox 901"/>
          <p:cNvSpPr txBox="1"/>
          <p:nvPr/>
        </p:nvSpPr>
        <p:spPr>
          <a:xfrm>
            <a:off x="10077198" y="6134100"/>
            <a:ext cx="400040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720">
                <a:solidFill>
                  <a:srgbClr val="697684"/>
                </a:solidFill>
                <a:latin typeface="PingFang SC"/>
                <a:ea typeface="PingFang SC"/>
                <a:cs typeface="PingFang SC"/>
              </a:rPr>
              <a:t>121+</a:t>
            </a:r>
            <a:endParaRPr lang="zh-CN" sz="720"/>
          </a:p>
        </p:txBody>
      </p:sp>
      <p:sp>
        <p:nvSpPr>
          <p:cNvPr id="902" name="TextBox 902"/>
          <p:cNvSpPr txBox="1"/>
          <p:nvPr/>
        </p:nvSpPr>
        <p:spPr>
          <a:xfrm>
            <a:off x="676258" y="6438900"/>
            <a:ext cx="3619410" cy="1524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8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AGV 仓储优化课程项目 · 本地 CSV 数据 · Python 自实现算法</a:t>
            </a:r>
            <a:endParaRPr lang="zh-CN" sz="680"/>
          </a:p>
        </p:txBody>
      </p:sp>
      <p:sp>
        <p:nvSpPr>
          <p:cNvPr id="903" name="TextBox 903"/>
          <p:cNvSpPr txBox="1"/>
          <p:nvPr/>
        </p:nvSpPr>
        <p:spPr>
          <a:xfrm>
            <a:off x="11353516" y="6438900"/>
            <a:ext cx="285743" cy="1524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6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05</a:t>
            </a:r>
            <a:endParaRPr lang="zh-CN" sz="86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685783" y="628650"/>
            <a:ext cx="66673" cy="666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790555" y="2200275"/>
            <a:ext cx="10115297" cy="800100"/>
          </a:xfrm>
          <a:prstGeom prst="rect">
            <a:avLst/>
          </a:prstGeom>
          <a:solidFill>
            <a:srgbClr val="19232D"/>
          </a:solidFill>
          <a:ln w="9525">
            <a:solidFill>
              <a:srgbClr val="202A34"/>
            </a:solidFill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790555" y="3324225"/>
            <a:ext cx="10115297" cy="800100"/>
          </a:xfrm>
          <a:prstGeom prst="rect">
            <a:avLst/>
          </a:prstGeom>
          <a:solidFill>
            <a:srgbClr val="19232D"/>
          </a:solidFill>
          <a:ln w="9525">
            <a:solidFill>
              <a:srgbClr val="202A34"/>
            </a:solidFill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790555" y="4448175"/>
            <a:ext cx="10115297" cy="800100"/>
          </a:xfrm>
          <a:prstGeom prst="rect">
            <a:avLst/>
          </a:prstGeom>
          <a:solidFill>
            <a:srgbClr val="19232D"/>
          </a:solidFill>
          <a:ln w="9525">
            <a:solidFill>
              <a:srgbClr val="202A34"/>
            </a:solidFill>
          </a:ln>
        </p:spPr>
        <p:txBody>
          <a:bodyPr/>
          <a:lstStyle/>
          <a:p/>
        </p:txBody>
      </p:sp>
      <p:sp>
        <p:nvSpPr>
          <p:cNvPr id="6" name="Line 6"/>
          <p:cNvSpPr/>
          <p:nvPr/>
        </p:nvSpPr>
        <p:spPr>
          <a:xfrm>
            <a:off x="685783" y="6248400"/>
            <a:ext cx="2857429" cy="0"/>
          </a:xfrm>
          <a:prstGeom prst="line">
            <a:avLst/>
          </a:prstGeom>
          <a:noFill/>
          <a:ln w="9525">
            <a:solidFill>
              <a:srgbClr val="334050"/>
            </a:solidFill>
          </a:ln>
        </p:spPr>
        <p:txBody>
          <a:bodyPr/>
          <a:lstStyle/>
          <a:p/>
        </p:txBody>
      </p:sp>
      <p:sp>
        <p:nvSpPr>
          <p:cNvPr id="7" name="Line 7"/>
          <p:cNvSpPr/>
          <p:nvPr/>
        </p:nvSpPr>
        <p:spPr>
          <a:xfrm>
            <a:off x="866753" y="2209800"/>
            <a:ext cx="10010525" cy="0"/>
          </a:xfrm>
          <a:prstGeom prst="line">
            <a:avLst/>
          </a:prstGeom>
          <a:noFill/>
          <a:ln w="9525">
            <a:solidFill>
              <a:srgbClr val="24313E"/>
            </a:solidFill>
          </a:ln>
        </p:spPr>
        <p:txBody>
          <a:bodyPr/>
          <a:lstStyle/>
          <a:p/>
        </p:txBody>
      </p:sp>
      <p:sp>
        <p:nvSpPr>
          <p:cNvPr id="8" name="Line 8"/>
          <p:cNvSpPr/>
          <p:nvPr/>
        </p:nvSpPr>
        <p:spPr>
          <a:xfrm>
            <a:off x="866753" y="2981325"/>
            <a:ext cx="10010525" cy="0"/>
          </a:xfrm>
          <a:prstGeom prst="line">
            <a:avLst/>
          </a:prstGeom>
          <a:noFill/>
          <a:ln w="9525">
            <a:solidFill>
              <a:srgbClr val="24313E"/>
            </a:solidFill>
          </a:ln>
        </p:spPr>
        <p:txBody>
          <a:bodyPr/>
          <a:lstStyle/>
          <a:p/>
        </p:txBody>
      </p:sp>
      <p:sp>
        <p:nvSpPr>
          <p:cNvPr id="9" name="Line 9"/>
          <p:cNvSpPr/>
          <p:nvPr/>
        </p:nvSpPr>
        <p:spPr>
          <a:xfrm>
            <a:off x="866753" y="3333750"/>
            <a:ext cx="10010525" cy="0"/>
          </a:xfrm>
          <a:prstGeom prst="line">
            <a:avLst/>
          </a:prstGeom>
          <a:noFill/>
          <a:ln w="9525">
            <a:solidFill>
              <a:srgbClr val="24313E"/>
            </a:solidFill>
          </a:ln>
        </p:spPr>
        <p:txBody>
          <a:bodyPr/>
          <a:lstStyle/>
          <a:p/>
        </p:txBody>
      </p:sp>
      <p:sp>
        <p:nvSpPr>
          <p:cNvPr id="10" name="Line 10"/>
          <p:cNvSpPr/>
          <p:nvPr/>
        </p:nvSpPr>
        <p:spPr>
          <a:xfrm>
            <a:off x="866753" y="4105275"/>
            <a:ext cx="10010525" cy="0"/>
          </a:xfrm>
          <a:prstGeom prst="line">
            <a:avLst/>
          </a:prstGeom>
          <a:noFill/>
          <a:ln w="9525">
            <a:solidFill>
              <a:srgbClr val="24313E"/>
            </a:solidFill>
          </a:ln>
        </p:spPr>
        <p:txBody>
          <a:bodyPr/>
          <a:lstStyle/>
          <a:p/>
        </p:txBody>
      </p:sp>
      <p:sp>
        <p:nvSpPr>
          <p:cNvPr id="11" name="Line 11"/>
          <p:cNvSpPr/>
          <p:nvPr/>
        </p:nvSpPr>
        <p:spPr>
          <a:xfrm>
            <a:off x="866753" y="4457700"/>
            <a:ext cx="10010525" cy="0"/>
          </a:xfrm>
          <a:prstGeom prst="line">
            <a:avLst/>
          </a:prstGeom>
          <a:noFill/>
          <a:ln w="9525">
            <a:solidFill>
              <a:srgbClr val="24313E"/>
            </a:solidFill>
          </a:ln>
        </p:spPr>
        <p:txBody>
          <a:bodyPr/>
          <a:lstStyle/>
          <a:p/>
        </p:txBody>
      </p:sp>
      <p:sp>
        <p:nvSpPr>
          <p:cNvPr id="12" name="Line 12"/>
          <p:cNvSpPr/>
          <p:nvPr/>
        </p:nvSpPr>
        <p:spPr>
          <a:xfrm>
            <a:off x="866753" y="5229225"/>
            <a:ext cx="10010525" cy="0"/>
          </a:xfrm>
          <a:prstGeom prst="line">
            <a:avLst/>
          </a:prstGeom>
          <a:noFill/>
          <a:ln w="9525">
            <a:solidFill>
              <a:srgbClr val="24313E"/>
            </a:solidFill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800080" y="2209800"/>
            <a:ext cx="66673" cy="78105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800080" y="3333750"/>
            <a:ext cx="66673" cy="781050"/>
          </a:xfrm>
          <a:prstGeom prst="rect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800080" y="4457700"/>
            <a:ext cx="66673" cy="781050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857229" y="590550"/>
            <a:ext cx="1619210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50" b="1">
                <a:solidFill>
                  <a:srgbClr val="D2DAE4"/>
                </a:solidFill>
                <a:latin typeface="PingFang SC"/>
                <a:ea typeface="PingFang SC"/>
                <a:cs typeface="PingFang SC"/>
              </a:rPr>
              <a:t>THREE QUESTIONS</a:t>
            </a:r>
            <a:endParaRPr lang="zh-CN" sz="850"/>
          </a:p>
        </p:txBody>
      </p:sp>
      <p:sp>
        <p:nvSpPr>
          <p:cNvPr id="17" name="TextBox 17"/>
          <p:cNvSpPr txBox="1"/>
          <p:nvPr/>
        </p:nvSpPr>
        <p:spPr>
          <a:xfrm>
            <a:off x="685783" y="1066800"/>
            <a:ext cx="7810305" cy="609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3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三个问题对应仓库的三个决策层级。</a:t>
            </a:r>
            <a:endParaRPr lang="zh-CN" sz="3050"/>
          </a:p>
        </p:txBody>
      </p:sp>
      <p:sp>
        <p:nvSpPr>
          <p:cNvPr id="18" name="TextBox 18"/>
          <p:cNvSpPr txBox="1"/>
          <p:nvPr/>
        </p:nvSpPr>
        <p:spPr>
          <a:xfrm>
            <a:off x="1066773" y="2419350"/>
            <a:ext cx="685783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80" b="1">
                <a:solidFill>
                  <a:srgbClr val="2276FF"/>
                </a:solidFill>
                <a:latin typeface="PingFang SC"/>
                <a:ea typeface="PingFang SC"/>
                <a:cs typeface="PingFang SC"/>
              </a:rPr>
              <a:t>任务 1</a:t>
            </a:r>
            <a:endParaRPr lang="zh-CN" sz="1180"/>
          </a:p>
        </p:txBody>
      </p:sp>
      <p:sp>
        <p:nvSpPr>
          <p:cNvPr id="19" name="TextBox 19"/>
          <p:cNvSpPr txBox="1"/>
          <p:nvPr/>
        </p:nvSpPr>
        <p:spPr>
          <a:xfrm>
            <a:off x="2181170" y="2409825"/>
            <a:ext cx="1238219" cy="3238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运行调度</a:t>
            </a:r>
            <a:endParaRPr lang="zh-CN" sz="1700"/>
          </a:p>
        </p:txBody>
      </p:sp>
      <p:sp>
        <p:nvSpPr>
          <p:cNvPr id="20" name="TextBox 20"/>
          <p:cNvSpPr txBox="1"/>
          <p:nvPr/>
        </p:nvSpPr>
        <p:spPr>
          <a:xfrm>
            <a:off x="3905152" y="2381250"/>
            <a:ext cx="2781230" cy="2667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80">
                <a:solidFill>
                  <a:srgbClr val="D2DAE4"/>
                </a:solidFill>
                <a:latin typeface="PingFang SC"/>
                <a:ea typeface="PingFang SC"/>
                <a:cs typeface="PingFang SC"/>
              </a:rPr>
              <a:t>今天哪辆 AGV 去搬哪个托盘</a:t>
            </a:r>
            <a:endParaRPr lang="zh-CN" sz="1280"/>
          </a:p>
        </p:txBody>
      </p:sp>
      <p:sp>
        <p:nvSpPr>
          <p:cNvPr id="21" name="TextBox 21"/>
          <p:cNvSpPr txBox="1"/>
          <p:nvPr/>
        </p:nvSpPr>
        <p:spPr>
          <a:xfrm>
            <a:off x="6857829" y="2390775"/>
            <a:ext cx="4190895" cy="2476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60">
                <a:solidFill>
                  <a:srgbClr val="A9B4C2"/>
                </a:solidFill>
                <a:latin typeface="PingFang SC"/>
                <a:ea typeface="PingFang SC"/>
                <a:cs typeface="PingFang SC"/>
              </a:rPr>
              <a:t>AGV、托盘、工位位置固定，决策是匹配关系</a:t>
            </a:r>
            <a:endParaRPr lang="zh-CN" sz="1060"/>
          </a:p>
        </p:txBody>
      </p:sp>
      <p:sp>
        <p:nvSpPr>
          <p:cNvPr id="22" name="TextBox 22"/>
          <p:cNvSpPr txBox="1"/>
          <p:nvPr/>
        </p:nvSpPr>
        <p:spPr>
          <a:xfrm>
            <a:off x="1066773" y="3562350"/>
            <a:ext cx="685783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80" b="1">
                <a:solidFill>
                  <a:srgbClr val="35A66A"/>
                </a:solidFill>
                <a:latin typeface="PingFang SC"/>
                <a:ea typeface="PingFang SC"/>
                <a:cs typeface="PingFang SC"/>
              </a:rPr>
              <a:t>任务 2</a:t>
            </a:r>
            <a:endParaRPr lang="zh-CN" sz="1180"/>
          </a:p>
        </p:txBody>
      </p:sp>
      <p:sp>
        <p:nvSpPr>
          <p:cNvPr id="23" name="TextBox 23"/>
          <p:cNvSpPr txBox="1"/>
          <p:nvPr/>
        </p:nvSpPr>
        <p:spPr>
          <a:xfrm>
            <a:off x="2181170" y="3533775"/>
            <a:ext cx="1238219" cy="3238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区域划分</a:t>
            </a:r>
            <a:endParaRPr lang="zh-CN" sz="1700"/>
          </a:p>
        </p:txBody>
      </p:sp>
      <p:sp>
        <p:nvSpPr>
          <p:cNvPr id="24" name="TextBox 24"/>
          <p:cNvSpPr txBox="1"/>
          <p:nvPr/>
        </p:nvSpPr>
        <p:spPr>
          <a:xfrm>
            <a:off x="3905152" y="3533775"/>
            <a:ext cx="2781230" cy="2667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80">
                <a:solidFill>
                  <a:srgbClr val="D2DAE4"/>
                </a:solidFill>
                <a:latin typeface="PingFang SC"/>
                <a:ea typeface="PingFang SC"/>
                <a:cs typeface="PingFang SC"/>
              </a:rPr>
              <a:t>托盘货量由哪个工位处理</a:t>
            </a:r>
            <a:endParaRPr lang="zh-CN" sz="1280"/>
          </a:p>
        </p:txBody>
      </p:sp>
      <p:sp>
        <p:nvSpPr>
          <p:cNvPr id="25" name="TextBox 25"/>
          <p:cNvSpPr txBox="1"/>
          <p:nvPr/>
        </p:nvSpPr>
        <p:spPr>
          <a:xfrm>
            <a:off x="6857829" y="3543300"/>
            <a:ext cx="4333767" cy="2476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60">
                <a:solidFill>
                  <a:srgbClr val="A9B4C2"/>
                </a:solidFill>
                <a:latin typeface="PingFang SC"/>
                <a:ea typeface="PingFang SC"/>
                <a:cs typeface="PingFang SC"/>
              </a:rPr>
              <a:t>托盘和工位固定，决策是货量流向与服务区域</a:t>
            </a:r>
            <a:endParaRPr lang="zh-CN" sz="1060"/>
          </a:p>
        </p:txBody>
      </p:sp>
      <p:sp>
        <p:nvSpPr>
          <p:cNvPr id="26" name="TextBox 26"/>
          <p:cNvSpPr txBox="1"/>
          <p:nvPr/>
        </p:nvSpPr>
        <p:spPr>
          <a:xfrm>
            <a:off x="1066773" y="4695825"/>
            <a:ext cx="685783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80" b="1">
                <a:solidFill>
                  <a:srgbClr val="F25E4B"/>
                </a:solidFill>
                <a:latin typeface="PingFang SC"/>
                <a:ea typeface="PingFang SC"/>
                <a:cs typeface="PingFang SC"/>
              </a:rPr>
              <a:t>任务 3</a:t>
            </a:r>
            <a:endParaRPr lang="zh-CN" sz="1180"/>
          </a:p>
        </p:txBody>
      </p:sp>
      <p:sp>
        <p:nvSpPr>
          <p:cNvPr id="27" name="TextBox 27"/>
          <p:cNvSpPr txBox="1"/>
          <p:nvPr/>
        </p:nvSpPr>
        <p:spPr>
          <a:xfrm>
            <a:off x="2181170" y="4657725"/>
            <a:ext cx="1238219" cy="3238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布局选址</a:t>
            </a:r>
            <a:endParaRPr lang="zh-CN" sz="1700"/>
          </a:p>
        </p:txBody>
      </p:sp>
      <p:sp>
        <p:nvSpPr>
          <p:cNvPr id="28" name="TextBox 28"/>
          <p:cNvSpPr txBox="1"/>
          <p:nvPr/>
        </p:nvSpPr>
        <p:spPr>
          <a:xfrm>
            <a:off x="3905152" y="4657725"/>
            <a:ext cx="2971726" cy="2667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80">
                <a:solidFill>
                  <a:srgbClr val="D2DAE4"/>
                </a:solidFill>
                <a:latin typeface="PingFang SC"/>
                <a:ea typeface="PingFang SC"/>
                <a:cs typeface="PingFang SC"/>
              </a:rPr>
              <a:t>哪些候选货位升级为重点缓存点</a:t>
            </a:r>
            <a:endParaRPr lang="zh-CN" sz="1280"/>
          </a:p>
        </p:txBody>
      </p:sp>
      <p:sp>
        <p:nvSpPr>
          <p:cNvPr id="29" name="TextBox 29"/>
          <p:cNvSpPr txBox="1"/>
          <p:nvPr/>
        </p:nvSpPr>
        <p:spPr>
          <a:xfrm>
            <a:off x="6857829" y="4667250"/>
            <a:ext cx="4190895" cy="2476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60">
                <a:solidFill>
                  <a:srgbClr val="A9B4C2"/>
                </a:solidFill>
                <a:latin typeface="PingFang SC"/>
                <a:ea typeface="PingFang SC"/>
                <a:cs typeface="PingFang SC"/>
              </a:rPr>
              <a:t>候选位置固定，决策是选中哪些位置</a:t>
            </a:r>
            <a:endParaRPr lang="zh-CN" sz="1060"/>
          </a:p>
        </p:txBody>
      </p:sp>
      <p:sp>
        <p:nvSpPr>
          <p:cNvPr id="30" name="TextBox 30"/>
          <p:cNvSpPr txBox="1"/>
          <p:nvPr/>
        </p:nvSpPr>
        <p:spPr>
          <a:xfrm>
            <a:off x="685783" y="6438900"/>
            <a:ext cx="4000400" cy="1524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40">
                <a:solidFill>
                  <a:srgbClr val="8B95A3"/>
                </a:solidFill>
                <a:latin typeface="PingFang SC"/>
                <a:ea typeface="PingFang SC"/>
                <a:cs typeface="PingFang SC"/>
              </a:rPr>
              <a:t>AGV 仓储优化课程项目 · 本地 CSV 数据 · Python 自实现算法</a:t>
            </a:r>
            <a:endParaRPr lang="zh-CN" sz="640"/>
          </a:p>
        </p:txBody>
      </p:sp>
      <p:sp>
        <p:nvSpPr>
          <p:cNvPr id="31" name="TextBox 31"/>
          <p:cNvSpPr txBox="1"/>
          <p:nvPr/>
        </p:nvSpPr>
        <p:spPr>
          <a:xfrm>
            <a:off x="11363041" y="6438900"/>
            <a:ext cx="228594" cy="1524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80">
                <a:solidFill>
                  <a:srgbClr val="8B95A3"/>
                </a:solidFill>
                <a:latin typeface="PingFang SC"/>
                <a:ea typeface="PingFang SC"/>
                <a:cs typeface="PingFang SC"/>
              </a:rPr>
              <a:t>06</a:t>
            </a:r>
            <a:endParaRPr lang="zh-CN" sz="88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685783" y="2552700"/>
            <a:ext cx="4952876" cy="3333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EC"/>
            </a:solidFill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828654" y="2600325"/>
            <a:ext cx="4657609" cy="3238500"/>
          </a:xfrm>
          <a:prstGeom prst="rect">
            <a:avLst/>
          </a:prstGeom>
          <a:solidFill>
            <a:srgbClr val="F9FAF8"/>
          </a:solidFill>
          <a:ln w="12700">
            <a:solidFill>
              <a:srgbClr val="EDF1F3"/>
            </a:solidFill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876278" y="2647950"/>
            <a:ext cx="4562361" cy="31337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1009625" y="2647950"/>
            <a:ext cx="9525" cy="31337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1152496" y="2647950"/>
            <a:ext cx="9525" cy="31337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1295368" y="2647950"/>
            <a:ext cx="9525" cy="31337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1438239" y="2647950"/>
            <a:ext cx="9525" cy="31337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1581110" y="2647950"/>
            <a:ext cx="9525" cy="31337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1723982" y="2647950"/>
            <a:ext cx="9525" cy="31337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1866853" y="2647950"/>
            <a:ext cx="9525" cy="31337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2009725" y="2647950"/>
            <a:ext cx="9525" cy="31337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2152596" y="2647950"/>
            <a:ext cx="9525" cy="31337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2295468" y="2647950"/>
            <a:ext cx="9525" cy="31337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2438339" y="2647950"/>
            <a:ext cx="9525" cy="31337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2581210" y="2647950"/>
            <a:ext cx="9525" cy="31337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2724082" y="2647950"/>
            <a:ext cx="9525" cy="31337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2866953" y="2647950"/>
            <a:ext cx="9525" cy="31337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3009825" y="2647950"/>
            <a:ext cx="9525" cy="31337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3152696" y="2647950"/>
            <a:ext cx="9525" cy="31337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3295568" y="2647950"/>
            <a:ext cx="9525" cy="31337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3438439" y="2647950"/>
            <a:ext cx="9525" cy="31337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3581310" y="2647950"/>
            <a:ext cx="9525" cy="31337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3724182" y="2647950"/>
            <a:ext cx="9525" cy="31337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3867053" y="2647950"/>
            <a:ext cx="9525" cy="31337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Rect 26"/>
          <p:cNvSpPr/>
          <p:nvPr/>
        </p:nvSpPr>
        <p:spPr>
          <a:xfrm>
            <a:off x="4009925" y="2647950"/>
            <a:ext cx="9525" cy="31337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Rect 27"/>
          <p:cNvSpPr/>
          <p:nvPr/>
        </p:nvSpPr>
        <p:spPr>
          <a:xfrm>
            <a:off x="4152796" y="2647950"/>
            <a:ext cx="9525" cy="31337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4295668" y="2647950"/>
            <a:ext cx="9525" cy="31337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ect 29"/>
          <p:cNvSpPr/>
          <p:nvPr/>
        </p:nvSpPr>
        <p:spPr>
          <a:xfrm>
            <a:off x="4438539" y="2647950"/>
            <a:ext cx="9525" cy="31337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ect 30"/>
          <p:cNvSpPr/>
          <p:nvPr/>
        </p:nvSpPr>
        <p:spPr>
          <a:xfrm>
            <a:off x="4581410" y="2647950"/>
            <a:ext cx="9525" cy="31337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4724282" y="2647950"/>
            <a:ext cx="9525" cy="31337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ect 32"/>
          <p:cNvSpPr/>
          <p:nvPr/>
        </p:nvSpPr>
        <p:spPr>
          <a:xfrm>
            <a:off x="4867153" y="2647950"/>
            <a:ext cx="9525" cy="31337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5010025" y="2647950"/>
            <a:ext cx="9525" cy="31337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Rect 34"/>
          <p:cNvSpPr/>
          <p:nvPr/>
        </p:nvSpPr>
        <p:spPr>
          <a:xfrm>
            <a:off x="5152896" y="2647950"/>
            <a:ext cx="9525" cy="31337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5295768" y="2647950"/>
            <a:ext cx="9525" cy="31337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ect 36"/>
          <p:cNvSpPr/>
          <p:nvPr/>
        </p:nvSpPr>
        <p:spPr>
          <a:xfrm>
            <a:off x="876278" y="2781300"/>
            <a:ext cx="4562361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ect 37"/>
          <p:cNvSpPr/>
          <p:nvPr/>
        </p:nvSpPr>
        <p:spPr>
          <a:xfrm>
            <a:off x="876278" y="2924175"/>
            <a:ext cx="4562361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Rect 38"/>
          <p:cNvSpPr/>
          <p:nvPr/>
        </p:nvSpPr>
        <p:spPr>
          <a:xfrm>
            <a:off x="876278" y="3067050"/>
            <a:ext cx="4562361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Rect 39"/>
          <p:cNvSpPr/>
          <p:nvPr/>
        </p:nvSpPr>
        <p:spPr>
          <a:xfrm>
            <a:off x="876278" y="3209925"/>
            <a:ext cx="4562361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Rect 40"/>
          <p:cNvSpPr/>
          <p:nvPr/>
        </p:nvSpPr>
        <p:spPr>
          <a:xfrm>
            <a:off x="876278" y="3352800"/>
            <a:ext cx="4562361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Rect 41"/>
          <p:cNvSpPr/>
          <p:nvPr/>
        </p:nvSpPr>
        <p:spPr>
          <a:xfrm>
            <a:off x="876278" y="3495675"/>
            <a:ext cx="4562361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Rect 42"/>
          <p:cNvSpPr/>
          <p:nvPr/>
        </p:nvSpPr>
        <p:spPr>
          <a:xfrm>
            <a:off x="876278" y="3638550"/>
            <a:ext cx="4562361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ect 43"/>
          <p:cNvSpPr/>
          <p:nvPr/>
        </p:nvSpPr>
        <p:spPr>
          <a:xfrm>
            <a:off x="876278" y="3781425"/>
            <a:ext cx="4562361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ect 44"/>
          <p:cNvSpPr/>
          <p:nvPr/>
        </p:nvSpPr>
        <p:spPr>
          <a:xfrm>
            <a:off x="876278" y="3924300"/>
            <a:ext cx="4562361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Rect 45"/>
          <p:cNvSpPr/>
          <p:nvPr/>
        </p:nvSpPr>
        <p:spPr>
          <a:xfrm>
            <a:off x="876278" y="4067175"/>
            <a:ext cx="4562361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Rect 46"/>
          <p:cNvSpPr/>
          <p:nvPr/>
        </p:nvSpPr>
        <p:spPr>
          <a:xfrm>
            <a:off x="876278" y="4210050"/>
            <a:ext cx="4562361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Rect 47"/>
          <p:cNvSpPr/>
          <p:nvPr/>
        </p:nvSpPr>
        <p:spPr>
          <a:xfrm>
            <a:off x="876278" y="4352925"/>
            <a:ext cx="4562361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Rect 48"/>
          <p:cNvSpPr/>
          <p:nvPr/>
        </p:nvSpPr>
        <p:spPr>
          <a:xfrm>
            <a:off x="876278" y="4495800"/>
            <a:ext cx="4562361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Rect 49"/>
          <p:cNvSpPr/>
          <p:nvPr/>
        </p:nvSpPr>
        <p:spPr>
          <a:xfrm>
            <a:off x="876278" y="4638675"/>
            <a:ext cx="4562361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Rect 50"/>
          <p:cNvSpPr/>
          <p:nvPr/>
        </p:nvSpPr>
        <p:spPr>
          <a:xfrm>
            <a:off x="876278" y="4781550"/>
            <a:ext cx="4562361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Rect 51"/>
          <p:cNvSpPr/>
          <p:nvPr/>
        </p:nvSpPr>
        <p:spPr>
          <a:xfrm>
            <a:off x="876278" y="4924425"/>
            <a:ext cx="4562361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Rect 52"/>
          <p:cNvSpPr/>
          <p:nvPr/>
        </p:nvSpPr>
        <p:spPr>
          <a:xfrm>
            <a:off x="876278" y="5067300"/>
            <a:ext cx="4562361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Rect 53"/>
          <p:cNvSpPr/>
          <p:nvPr/>
        </p:nvSpPr>
        <p:spPr>
          <a:xfrm>
            <a:off x="876278" y="5210175"/>
            <a:ext cx="4562361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Rect 54"/>
          <p:cNvSpPr/>
          <p:nvPr/>
        </p:nvSpPr>
        <p:spPr>
          <a:xfrm>
            <a:off x="876278" y="5353050"/>
            <a:ext cx="4562361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Rect 55"/>
          <p:cNvSpPr/>
          <p:nvPr/>
        </p:nvSpPr>
        <p:spPr>
          <a:xfrm>
            <a:off x="876278" y="5495925"/>
            <a:ext cx="4562361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Rect 56"/>
          <p:cNvSpPr/>
          <p:nvPr/>
        </p:nvSpPr>
        <p:spPr>
          <a:xfrm>
            <a:off x="876278" y="5638800"/>
            <a:ext cx="4562361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Rect 57"/>
          <p:cNvSpPr/>
          <p:nvPr/>
        </p:nvSpPr>
        <p:spPr>
          <a:xfrm>
            <a:off x="685783" y="571500"/>
            <a:ext cx="66673" cy="66675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Rect 58"/>
          <p:cNvSpPr/>
          <p:nvPr/>
        </p:nvSpPr>
        <p:spPr>
          <a:xfrm>
            <a:off x="685783" y="6248400"/>
            <a:ext cx="2857429" cy="9525"/>
          </a:xfrm>
          <a:prstGeom prst="rect">
            <a:avLst/>
          </a:prstGeom>
          <a:solidFill>
            <a:srgbClr val="DBE2E6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Rect 59"/>
          <p:cNvSpPr/>
          <p:nvPr/>
        </p:nvSpPr>
        <p:spPr>
          <a:xfrm>
            <a:off x="6191095" y="2724150"/>
            <a:ext cx="3905152" cy="847725"/>
          </a:xfrm>
          <a:prstGeom prst="rect">
            <a:avLst/>
          </a:prstGeom>
          <a:solidFill>
            <a:srgbClr val="FFFFFF"/>
          </a:solidFill>
          <a:ln w="12700">
            <a:solidFill>
              <a:srgbClr val="E6EBEC"/>
            </a:solidFill>
          </a:ln>
        </p:spPr>
        <p:txBody>
          <a:bodyPr/>
          <a:lstStyle/>
          <a:p/>
        </p:txBody>
      </p:sp>
      <p:sp>
        <p:nvSpPr>
          <p:cNvPr id="60" name="Rect 60"/>
          <p:cNvSpPr/>
          <p:nvPr/>
        </p:nvSpPr>
        <p:spPr>
          <a:xfrm>
            <a:off x="6191095" y="3829050"/>
            <a:ext cx="3905152" cy="847725"/>
          </a:xfrm>
          <a:prstGeom prst="rect">
            <a:avLst/>
          </a:prstGeom>
          <a:solidFill>
            <a:srgbClr val="FFFFFF"/>
          </a:solidFill>
          <a:ln w="12700">
            <a:solidFill>
              <a:srgbClr val="E6EBEC"/>
            </a:solidFill>
          </a:ln>
        </p:spPr>
        <p:txBody>
          <a:bodyPr/>
          <a:lstStyle/>
          <a:p/>
        </p:txBody>
      </p:sp>
      <p:sp>
        <p:nvSpPr>
          <p:cNvPr id="61" name="Rect 61"/>
          <p:cNvSpPr/>
          <p:nvPr/>
        </p:nvSpPr>
        <p:spPr>
          <a:xfrm>
            <a:off x="6191095" y="4933950"/>
            <a:ext cx="3905152" cy="847725"/>
          </a:xfrm>
          <a:prstGeom prst="rect">
            <a:avLst/>
          </a:prstGeom>
          <a:solidFill>
            <a:srgbClr val="FFFFFF"/>
          </a:solidFill>
          <a:ln w="12700">
            <a:solidFill>
              <a:srgbClr val="E6EBEC"/>
            </a:solidFill>
          </a:ln>
        </p:spPr>
        <p:txBody>
          <a:bodyPr/>
          <a:lstStyle/>
          <a:p/>
        </p:txBody>
      </p:sp>
      <p:sp>
        <p:nvSpPr>
          <p:cNvPr id="62" name="Rect 62"/>
          <p:cNvSpPr/>
          <p:nvPr/>
        </p:nvSpPr>
        <p:spPr>
          <a:xfrm>
            <a:off x="6191095" y="2724150"/>
            <a:ext cx="47624" cy="84772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Rect 63"/>
          <p:cNvSpPr/>
          <p:nvPr/>
        </p:nvSpPr>
        <p:spPr>
          <a:xfrm>
            <a:off x="6191095" y="3829050"/>
            <a:ext cx="47624" cy="847725"/>
          </a:xfrm>
          <a:prstGeom prst="rect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Rect 64"/>
          <p:cNvSpPr/>
          <p:nvPr/>
        </p:nvSpPr>
        <p:spPr>
          <a:xfrm>
            <a:off x="6191095" y="4933950"/>
            <a:ext cx="47624" cy="847725"/>
          </a:xfrm>
          <a:prstGeom prst="rect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Rect 65"/>
          <p:cNvSpPr/>
          <p:nvPr/>
        </p:nvSpPr>
        <p:spPr>
          <a:xfrm>
            <a:off x="1085823" y="2990850"/>
            <a:ext cx="1009625" cy="19050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Rect 66"/>
          <p:cNvSpPr/>
          <p:nvPr/>
        </p:nvSpPr>
        <p:spPr>
          <a:xfrm>
            <a:off x="2085923" y="2990850"/>
            <a:ext cx="19050" cy="438150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Rect 67"/>
          <p:cNvSpPr/>
          <p:nvPr/>
        </p:nvSpPr>
        <p:spPr>
          <a:xfrm>
            <a:off x="1228694" y="3133725"/>
            <a:ext cx="723882" cy="19050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Rect 68"/>
          <p:cNvSpPr/>
          <p:nvPr/>
        </p:nvSpPr>
        <p:spPr>
          <a:xfrm>
            <a:off x="1943051" y="3133725"/>
            <a:ext cx="19050" cy="295275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Rect 69"/>
          <p:cNvSpPr/>
          <p:nvPr/>
        </p:nvSpPr>
        <p:spPr>
          <a:xfrm>
            <a:off x="2219270" y="2714625"/>
            <a:ext cx="19050" cy="714375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Rect 70"/>
          <p:cNvSpPr/>
          <p:nvPr/>
        </p:nvSpPr>
        <p:spPr>
          <a:xfrm>
            <a:off x="4228994" y="3276600"/>
            <a:ext cx="428614" cy="19050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Rect 71"/>
          <p:cNvSpPr/>
          <p:nvPr/>
        </p:nvSpPr>
        <p:spPr>
          <a:xfrm>
            <a:off x="942951" y="4276725"/>
            <a:ext cx="723882" cy="19050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Rect 72"/>
          <p:cNvSpPr/>
          <p:nvPr/>
        </p:nvSpPr>
        <p:spPr>
          <a:xfrm>
            <a:off x="1647784" y="4276725"/>
            <a:ext cx="19050" cy="581025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Rect 73"/>
          <p:cNvSpPr/>
          <p:nvPr/>
        </p:nvSpPr>
        <p:spPr>
          <a:xfrm>
            <a:off x="2362141" y="2781300"/>
            <a:ext cx="28574" cy="657225"/>
          </a:xfrm>
          <a:prstGeom prst="rect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Rect 74"/>
          <p:cNvSpPr/>
          <p:nvPr/>
        </p:nvSpPr>
        <p:spPr>
          <a:xfrm>
            <a:off x="1943051" y="3419475"/>
            <a:ext cx="466713" cy="28575"/>
          </a:xfrm>
          <a:prstGeom prst="rect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Rect 75"/>
          <p:cNvSpPr/>
          <p:nvPr/>
        </p:nvSpPr>
        <p:spPr>
          <a:xfrm>
            <a:off x="4219470" y="2781300"/>
            <a:ext cx="28574" cy="1085850"/>
          </a:xfrm>
          <a:prstGeom prst="rect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76" name="Rect 76"/>
          <p:cNvSpPr/>
          <p:nvPr/>
        </p:nvSpPr>
        <p:spPr>
          <a:xfrm>
            <a:off x="4009925" y="3848100"/>
            <a:ext cx="238119" cy="28575"/>
          </a:xfrm>
          <a:prstGeom prst="rect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Rect 77"/>
          <p:cNvSpPr/>
          <p:nvPr/>
        </p:nvSpPr>
        <p:spPr>
          <a:xfrm>
            <a:off x="4076598" y="4495800"/>
            <a:ext cx="28574" cy="590550"/>
          </a:xfrm>
          <a:prstGeom prst="rect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Rect 78"/>
          <p:cNvSpPr/>
          <p:nvPr/>
        </p:nvSpPr>
        <p:spPr>
          <a:xfrm>
            <a:off x="4076598" y="5210175"/>
            <a:ext cx="28574" cy="428625"/>
          </a:xfrm>
          <a:prstGeom prst="rect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79" name="Rect 79"/>
          <p:cNvSpPr/>
          <p:nvPr/>
        </p:nvSpPr>
        <p:spPr>
          <a:xfrm>
            <a:off x="4581410" y="4562475"/>
            <a:ext cx="714357" cy="28575"/>
          </a:xfrm>
          <a:prstGeom prst="rect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80" name="Rect 80"/>
          <p:cNvSpPr/>
          <p:nvPr/>
        </p:nvSpPr>
        <p:spPr>
          <a:xfrm>
            <a:off x="1657309" y="4848225"/>
            <a:ext cx="304792" cy="28575"/>
          </a:xfrm>
          <a:prstGeom prst="rect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Rect 81"/>
          <p:cNvSpPr/>
          <p:nvPr/>
        </p:nvSpPr>
        <p:spPr>
          <a:xfrm>
            <a:off x="1933527" y="4848225"/>
            <a:ext cx="28574" cy="790575"/>
          </a:xfrm>
          <a:prstGeom prst="rect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Rect 82"/>
          <p:cNvSpPr/>
          <p:nvPr/>
        </p:nvSpPr>
        <p:spPr>
          <a:xfrm>
            <a:off x="2324042" y="2667000"/>
            <a:ext cx="104772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Rect 83"/>
          <p:cNvSpPr/>
          <p:nvPr/>
        </p:nvSpPr>
        <p:spPr>
          <a:xfrm>
            <a:off x="2466913" y="2667000"/>
            <a:ext cx="104772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4" name="Rect 84"/>
          <p:cNvSpPr/>
          <p:nvPr/>
        </p:nvSpPr>
        <p:spPr>
          <a:xfrm>
            <a:off x="2609785" y="2667000"/>
            <a:ext cx="104772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Rect 85"/>
          <p:cNvSpPr/>
          <p:nvPr/>
        </p:nvSpPr>
        <p:spPr>
          <a:xfrm>
            <a:off x="4181370" y="2667000"/>
            <a:ext cx="104772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Rect 86"/>
          <p:cNvSpPr/>
          <p:nvPr/>
        </p:nvSpPr>
        <p:spPr>
          <a:xfrm>
            <a:off x="4324242" y="2667000"/>
            <a:ext cx="104772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7" name="Rect 87"/>
          <p:cNvSpPr/>
          <p:nvPr/>
        </p:nvSpPr>
        <p:spPr>
          <a:xfrm>
            <a:off x="4467113" y="2667000"/>
            <a:ext cx="104772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8" name="Rect 88"/>
          <p:cNvSpPr/>
          <p:nvPr/>
        </p:nvSpPr>
        <p:spPr>
          <a:xfrm>
            <a:off x="5324342" y="3381375"/>
            <a:ext cx="104772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Rect 89"/>
          <p:cNvSpPr/>
          <p:nvPr/>
        </p:nvSpPr>
        <p:spPr>
          <a:xfrm>
            <a:off x="5324342" y="3524250"/>
            <a:ext cx="104772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Rect 90"/>
          <p:cNvSpPr/>
          <p:nvPr/>
        </p:nvSpPr>
        <p:spPr>
          <a:xfrm>
            <a:off x="5324342" y="3667125"/>
            <a:ext cx="104772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1" name="Rect 91"/>
          <p:cNvSpPr/>
          <p:nvPr/>
        </p:nvSpPr>
        <p:spPr>
          <a:xfrm>
            <a:off x="5324342" y="4524375"/>
            <a:ext cx="104772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Rect 92"/>
          <p:cNvSpPr/>
          <p:nvPr/>
        </p:nvSpPr>
        <p:spPr>
          <a:xfrm>
            <a:off x="5324342" y="4667250"/>
            <a:ext cx="104772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3" name="Rect 93"/>
          <p:cNvSpPr/>
          <p:nvPr/>
        </p:nvSpPr>
        <p:spPr>
          <a:xfrm>
            <a:off x="5324342" y="4810125"/>
            <a:ext cx="104772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4" name="Rect 94"/>
          <p:cNvSpPr/>
          <p:nvPr/>
        </p:nvSpPr>
        <p:spPr>
          <a:xfrm>
            <a:off x="1895428" y="5667375"/>
            <a:ext cx="104772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Rect 95"/>
          <p:cNvSpPr/>
          <p:nvPr/>
        </p:nvSpPr>
        <p:spPr>
          <a:xfrm>
            <a:off x="2038299" y="5667375"/>
            <a:ext cx="104772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6" name="Rect 96"/>
          <p:cNvSpPr/>
          <p:nvPr/>
        </p:nvSpPr>
        <p:spPr>
          <a:xfrm>
            <a:off x="2181170" y="5667375"/>
            <a:ext cx="104772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7" name="Rect 97"/>
          <p:cNvSpPr/>
          <p:nvPr/>
        </p:nvSpPr>
        <p:spPr>
          <a:xfrm>
            <a:off x="3895628" y="5667375"/>
            <a:ext cx="104772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8" name="Rect 98"/>
          <p:cNvSpPr/>
          <p:nvPr/>
        </p:nvSpPr>
        <p:spPr>
          <a:xfrm>
            <a:off x="4038499" y="5667375"/>
            <a:ext cx="104772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9" name="Rect 99"/>
          <p:cNvSpPr/>
          <p:nvPr/>
        </p:nvSpPr>
        <p:spPr>
          <a:xfrm>
            <a:off x="4181370" y="5667375"/>
            <a:ext cx="104772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" name="Ellipse 100"/>
          <p:cNvSpPr/>
          <p:nvPr/>
        </p:nvSpPr>
        <p:spPr>
          <a:xfrm>
            <a:off x="1628734" y="34004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Ellipse 101"/>
          <p:cNvSpPr/>
          <p:nvPr/>
        </p:nvSpPr>
        <p:spPr>
          <a:xfrm>
            <a:off x="1771606" y="34004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Ellipse 102"/>
          <p:cNvSpPr/>
          <p:nvPr/>
        </p:nvSpPr>
        <p:spPr>
          <a:xfrm>
            <a:off x="2485963" y="34004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Ellipse 103"/>
          <p:cNvSpPr/>
          <p:nvPr/>
        </p:nvSpPr>
        <p:spPr>
          <a:xfrm>
            <a:off x="2628834" y="34004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Ellipse 104"/>
          <p:cNvSpPr/>
          <p:nvPr/>
        </p:nvSpPr>
        <p:spPr>
          <a:xfrm>
            <a:off x="2771706" y="34004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Ellipse 105"/>
          <p:cNvSpPr/>
          <p:nvPr/>
        </p:nvSpPr>
        <p:spPr>
          <a:xfrm>
            <a:off x="2914577" y="34004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" name="Ellipse 106"/>
          <p:cNvSpPr/>
          <p:nvPr/>
        </p:nvSpPr>
        <p:spPr>
          <a:xfrm>
            <a:off x="3343191" y="34004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Ellipse 107"/>
          <p:cNvSpPr/>
          <p:nvPr/>
        </p:nvSpPr>
        <p:spPr>
          <a:xfrm>
            <a:off x="3486063" y="34004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" name="Ellipse 108"/>
          <p:cNvSpPr/>
          <p:nvPr/>
        </p:nvSpPr>
        <p:spPr>
          <a:xfrm>
            <a:off x="3628934" y="34004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" name="Ellipse 109"/>
          <p:cNvSpPr/>
          <p:nvPr/>
        </p:nvSpPr>
        <p:spPr>
          <a:xfrm>
            <a:off x="3771806" y="34004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" name="Ellipse 110"/>
          <p:cNvSpPr/>
          <p:nvPr/>
        </p:nvSpPr>
        <p:spPr>
          <a:xfrm>
            <a:off x="3914677" y="34004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" name="Ellipse 111"/>
          <p:cNvSpPr/>
          <p:nvPr/>
        </p:nvSpPr>
        <p:spPr>
          <a:xfrm>
            <a:off x="4057549" y="34004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Ellipse 112"/>
          <p:cNvSpPr/>
          <p:nvPr/>
        </p:nvSpPr>
        <p:spPr>
          <a:xfrm>
            <a:off x="4343291" y="34004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" name="Ellipse 113"/>
          <p:cNvSpPr/>
          <p:nvPr/>
        </p:nvSpPr>
        <p:spPr>
          <a:xfrm>
            <a:off x="1628734" y="354330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" name="Ellipse 114"/>
          <p:cNvSpPr/>
          <p:nvPr/>
        </p:nvSpPr>
        <p:spPr>
          <a:xfrm>
            <a:off x="1771606" y="354330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" name="Ellipse 115"/>
          <p:cNvSpPr/>
          <p:nvPr/>
        </p:nvSpPr>
        <p:spPr>
          <a:xfrm>
            <a:off x="1914477" y="354330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" name="Ellipse 116"/>
          <p:cNvSpPr/>
          <p:nvPr/>
        </p:nvSpPr>
        <p:spPr>
          <a:xfrm>
            <a:off x="2057349" y="354330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" name="Ellipse 117"/>
          <p:cNvSpPr/>
          <p:nvPr/>
        </p:nvSpPr>
        <p:spPr>
          <a:xfrm>
            <a:off x="2200220" y="354330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" name="Ellipse 118"/>
          <p:cNvSpPr/>
          <p:nvPr/>
        </p:nvSpPr>
        <p:spPr>
          <a:xfrm>
            <a:off x="2485963" y="354330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" name="Ellipse 119"/>
          <p:cNvSpPr/>
          <p:nvPr/>
        </p:nvSpPr>
        <p:spPr>
          <a:xfrm>
            <a:off x="2628834" y="354330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" name="Ellipse 120"/>
          <p:cNvSpPr/>
          <p:nvPr/>
        </p:nvSpPr>
        <p:spPr>
          <a:xfrm>
            <a:off x="2771706" y="354330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" name="Ellipse 121"/>
          <p:cNvSpPr/>
          <p:nvPr/>
        </p:nvSpPr>
        <p:spPr>
          <a:xfrm>
            <a:off x="2914577" y="354330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" name="Ellipse 122"/>
          <p:cNvSpPr/>
          <p:nvPr/>
        </p:nvSpPr>
        <p:spPr>
          <a:xfrm>
            <a:off x="3343191" y="354330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" name="Ellipse 123"/>
          <p:cNvSpPr/>
          <p:nvPr/>
        </p:nvSpPr>
        <p:spPr>
          <a:xfrm>
            <a:off x="3486063" y="354330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" name="Ellipse 124"/>
          <p:cNvSpPr/>
          <p:nvPr/>
        </p:nvSpPr>
        <p:spPr>
          <a:xfrm>
            <a:off x="3628934" y="354330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" name="Ellipse 125"/>
          <p:cNvSpPr/>
          <p:nvPr/>
        </p:nvSpPr>
        <p:spPr>
          <a:xfrm>
            <a:off x="3771806" y="354330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" name="Ellipse 126"/>
          <p:cNvSpPr/>
          <p:nvPr/>
        </p:nvSpPr>
        <p:spPr>
          <a:xfrm>
            <a:off x="3914677" y="354330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" name="Ellipse 127"/>
          <p:cNvSpPr/>
          <p:nvPr/>
        </p:nvSpPr>
        <p:spPr>
          <a:xfrm>
            <a:off x="4057549" y="354330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" name="Ellipse 128"/>
          <p:cNvSpPr/>
          <p:nvPr/>
        </p:nvSpPr>
        <p:spPr>
          <a:xfrm>
            <a:off x="1628734" y="38290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" name="Ellipse 129"/>
          <p:cNvSpPr/>
          <p:nvPr/>
        </p:nvSpPr>
        <p:spPr>
          <a:xfrm>
            <a:off x="1771606" y="38290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" name="Ellipse 130"/>
          <p:cNvSpPr/>
          <p:nvPr/>
        </p:nvSpPr>
        <p:spPr>
          <a:xfrm>
            <a:off x="1914477" y="38290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" name="Ellipse 131"/>
          <p:cNvSpPr/>
          <p:nvPr/>
        </p:nvSpPr>
        <p:spPr>
          <a:xfrm>
            <a:off x="2057349" y="38290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" name="Ellipse 132"/>
          <p:cNvSpPr/>
          <p:nvPr/>
        </p:nvSpPr>
        <p:spPr>
          <a:xfrm>
            <a:off x="2200220" y="38290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" name="Ellipse 133"/>
          <p:cNvSpPr/>
          <p:nvPr/>
        </p:nvSpPr>
        <p:spPr>
          <a:xfrm>
            <a:off x="2343091" y="38290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" name="Ellipse 134"/>
          <p:cNvSpPr/>
          <p:nvPr/>
        </p:nvSpPr>
        <p:spPr>
          <a:xfrm>
            <a:off x="2485963" y="38290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" name="Ellipse 135"/>
          <p:cNvSpPr/>
          <p:nvPr/>
        </p:nvSpPr>
        <p:spPr>
          <a:xfrm>
            <a:off x="2771706" y="38290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" name="Ellipse 136"/>
          <p:cNvSpPr/>
          <p:nvPr/>
        </p:nvSpPr>
        <p:spPr>
          <a:xfrm>
            <a:off x="2914577" y="38290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" name="Ellipse 137"/>
          <p:cNvSpPr/>
          <p:nvPr/>
        </p:nvSpPr>
        <p:spPr>
          <a:xfrm>
            <a:off x="3343191" y="38290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" name="Ellipse 138"/>
          <p:cNvSpPr/>
          <p:nvPr/>
        </p:nvSpPr>
        <p:spPr>
          <a:xfrm>
            <a:off x="3486063" y="38290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" name="Ellipse 139"/>
          <p:cNvSpPr/>
          <p:nvPr/>
        </p:nvSpPr>
        <p:spPr>
          <a:xfrm>
            <a:off x="3628934" y="38290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" name="Ellipse 140"/>
          <p:cNvSpPr/>
          <p:nvPr/>
        </p:nvSpPr>
        <p:spPr>
          <a:xfrm>
            <a:off x="3771806" y="38290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" name="Ellipse 141"/>
          <p:cNvSpPr/>
          <p:nvPr/>
        </p:nvSpPr>
        <p:spPr>
          <a:xfrm>
            <a:off x="4343291" y="38290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" name="Ellipse 142"/>
          <p:cNvSpPr/>
          <p:nvPr/>
        </p:nvSpPr>
        <p:spPr>
          <a:xfrm>
            <a:off x="4486163" y="38290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" name="Ellipse 143"/>
          <p:cNvSpPr/>
          <p:nvPr/>
        </p:nvSpPr>
        <p:spPr>
          <a:xfrm>
            <a:off x="4629034" y="38290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" name="Ellipse 144"/>
          <p:cNvSpPr/>
          <p:nvPr/>
        </p:nvSpPr>
        <p:spPr>
          <a:xfrm>
            <a:off x="1628734" y="39719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" name="Ellipse 145"/>
          <p:cNvSpPr/>
          <p:nvPr/>
        </p:nvSpPr>
        <p:spPr>
          <a:xfrm>
            <a:off x="1771606" y="39719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" name="Ellipse 146"/>
          <p:cNvSpPr/>
          <p:nvPr/>
        </p:nvSpPr>
        <p:spPr>
          <a:xfrm>
            <a:off x="1914477" y="39719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" name="Ellipse 147"/>
          <p:cNvSpPr/>
          <p:nvPr/>
        </p:nvSpPr>
        <p:spPr>
          <a:xfrm>
            <a:off x="2057349" y="39719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" name="Ellipse 148"/>
          <p:cNvSpPr/>
          <p:nvPr/>
        </p:nvSpPr>
        <p:spPr>
          <a:xfrm>
            <a:off x="2343091" y="39719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" name="Ellipse 149"/>
          <p:cNvSpPr/>
          <p:nvPr/>
        </p:nvSpPr>
        <p:spPr>
          <a:xfrm>
            <a:off x="2485963" y="39719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" name="Ellipse 150"/>
          <p:cNvSpPr/>
          <p:nvPr/>
        </p:nvSpPr>
        <p:spPr>
          <a:xfrm>
            <a:off x="2628834" y="39719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1" name="Ellipse 151"/>
          <p:cNvSpPr/>
          <p:nvPr/>
        </p:nvSpPr>
        <p:spPr>
          <a:xfrm>
            <a:off x="2771706" y="39719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" name="Ellipse 152"/>
          <p:cNvSpPr/>
          <p:nvPr/>
        </p:nvSpPr>
        <p:spPr>
          <a:xfrm>
            <a:off x="2914577" y="39719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" name="Ellipse 153"/>
          <p:cNvSpPr/>
          <p:nvPr/>
        </p:nvSpPr>
        <p:spPr>
          <a:xfrm>
            <a:off x="3343191" y="39719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" name="Ellipse 154"/>
          <p:cNvSpPr/>
          <p:nvPr/>
        </p:nvSpPr>
        <p:spPr>
          <a:xfrm>
            <a:off x="3486063" y="39719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" name="Ellipse 155"/>
          <p:cNvSpPr/>
          <p:nvPr/>
        </p:nvSpPr>
        <p:spPr>
          <a:xfrm>
            <a:off x="3628934" y="39719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" name="Ellipse 156"/>
          <p:cNvSpPr/>
          <p:nvPr/>
        </p:nvSpPr>
        <p:spPr>
          <a:xfrm>
            <a:off x="3771806" y="39719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" name="Ellipse 157"/>
          <p:cNvSpPr/>
          <p:nvPr/>
        </p:nvSpPr>
        <p:spPr>
          <a:xfrm>
            <a:off x="3914677" y="39719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" name="Ellipse 158"/>
          <p:cNvSpPr/>
          <p:nvPr/>
        </p:nvSpPr>
        <p:spPr>
          <a:xfrm>
            <a:off x="4057549" y="39719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9" name="Ellipse 159"/>
          <p:cNvSpPr/>
          <p:nvPr/>
        </p:nvSpPr>
        <p:spPr>
          <a:xfrm>
            <a:off x="4200420" y="39719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0" name="Ellipse 160"/>
          <p:cNvSpPr/>
          <p:nvPr/>
        </p:nvSpPr>
        <p:spPr>
          <a:xfrm>
            <a:off x="4343291" y="39719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1" name="Ellipse 161"/>
          <p:cNvSpPr/>
          <p:nvPr/>
        </p:nvSpPr>
        <p:spPr>
          <a:xfrm>
            <a:off x="4486163" y="39719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2" name="Ellipse 162"/>
          <p:cNvSpPr/>
          <p:nvPr/>
        </p:nvSpPr>
        <p:spPr>
          <a:xfrm>
            <a:off x="4629034" y="39719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3" name="Ellipse 163"/>
          <p:cNvSpPr/>
          <p:nvPr/>
        </p:nvSpPr>
        <p:spPr>
          <a:xfrm>
            <a:off x="1771606" y="44005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4" name="Ellipse 164"/>
          <p:cNvSpPr/>
          <p:nvPr/>
        </p:nvSpPr>
        <p:spPr>
          <a:xfrm>
            <a:off x="1914477" y="44005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5" name="Ellipse 165"/>
          <p:cNvSpPr/>
          <p:nvPr/>
        </p:nvSpPr>
        <p:spPr>
          <a:xfrm>
            <a:off x="2057349" y="44005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6" name="Ellipse 166"/>
          <p:cNvSpPr/>
          <p:nvPr/>
        </p:nvSpPr>
        <p:spPr>
          <a:xfrm>
            <a:off x="2200220" y="44005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7" name="Ellipse 167"/>
          <p:cNvSpPr/>
          <p:nvPr/>
        </p:nvSpPr>
        <p:spPr>
          <a:xfrm>
            <a:off x="2343091" y="44005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8" name="Ellipse 168"/>
          <p:cNvSpPr/>
          <p:nvPr/>
        </p:nvSpPr>
        <p:spPr>
          <a:xfrm>
            <a:off x="2485963" y="44005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9" name="Ellipse 169"/>
          <p:cNvSpPr/>
          <p:nvPr/>
        </p:nvSpPr>
        <p:spPr>
          <a:xfrm>
            <a:off x="2628834" y="44005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0" name="Ellipse 170"/>
          <p:cNvSpPr/>
          <p:nvPr/>
        </p:nvSpPr>
        <p:spPr>
          <a:xfrm>
            <a:off x="2771706" y="44005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1" name="Ellipse 171"/>
          <p:cNvSpPr/>
          <p:nvPr/>
        </p:nvSpPr>
        <p:spPr>
          <a:xfrm>
            <a:off x="2914577" y="44005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2" name="Ellipse 172"/>
          <p:cNvSpPr/>
          <p:nvPr/>
        </p:nvSpPr>
        <p:spPr>
          <a:xfrm>
            <a:off x="3343191" y="44005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3" name="Ellipse 173"/>
          <p:cNvSpPr/>
          <p:nvPr/>
        </p:nvSpPr>
        <p:spPr>
          <a:xfrm>
            <a:off x="3486063" y="44005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4" name="Ellipse 174"/>
          <p:cNvSpPr/>
          <p:nvPr/>
        </p:nvSpPr>
        <p:spPr>
          <a:xfrm>
            <a:off x="3628934" y="44005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5" name="Ellipse 175"/>
          <p:cNvSpPr/>
          <p:nvPr/>
        </p:nvSpPr>
        <p:spPr>
          <a:xfrm>
            <a:off x="3771806" y="44005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6" name="Ellipse 176"/>
          <p:cNvSpPr/>
          <p:nvPr/>
        </p:nvSpPr>
        <p:spPr>
          <a:xfrm>
            <a:off x="3914677" y="44005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7" name="Ellipse 177"/>
          <p:cNvSpPr/>
          <p:nvPr/>
        </p:nvSpPr>
        <p:spPr>
          <a:xfrm>
            <a:off x="4200420" y="44005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8" name="Ellipse 178"/>
          <p:cNvSpPr/>
          <p:nvPr/>
        </p:nvSpPr>
        <p:spPr>
          <a:xfrm>
            <a:off x="4343291" y="44005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9" name="Ellipse 179"/>
          <p:cNvSpPr/>
          <p:nvPr/>
        </p:nvSpPr>
        <p:spPr>
          <a:xfrm>
            <a:off x="4486163" y="44005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0" name="Ellipse 180"/>
          <p:cNvSpPr/>
          <p:nvPr/>
        </p:nvSpPr>
        <p:spPr>
          <a:xfrm>
            <a:off x="4629034" y="44005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1" name="Ellipse 181"/>
          <p:cNvSpPr/>
          <p:nvPr/>
        </p:nvSpPr>
        <p:spPr>
          <a:xfrm>
            <a:off x="1771606" y="45434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2" name="Ellipse 182"/>
          <p:cNvSpPr/>
          <p:nvPr/>
        </p:nvSpPr>
        <p:spPr>
          <a:xfrm>
            <a:off x="1914477" y="45434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3" name="Ellipse 183"/>
          <p:cNvSpPr/>
          <p:nvPr/>
        </p:nvSpPr>
        <p:spPr>
          <a:xfrm>
            <a:off x="2057349" y="45434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4" name="Ellipse 184"/>
          <p:cNvSpPr/>
          <p:nvPr/>
        </p:nvSpPr>
        <p:spPr>
          <a:xfrm>
            <a:off x="2200220" y="45434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5" name="Ellipse 185"/>
          <p:cNvSpPr/>
          <p:nvPr/>
        </p:nvSpPr>
        <p:spPr>
          <a:xfrm>
            <a:off x="2343091" y="45434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6" name="Ellipse 186"/>
          <p:cNvSpPr/>
          <p:nvPr/>
        </p:nvSpPr>
        <p:spPr>
          <a:xfrm>
            <a:off x="2485963" y="45434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7" name="Ellipse 187"/>
          <p:cNvSpPr/>
          <p:nvPr/>
        </p:nvSpPr>
        <p:spPr>
          <a:xfrm>
            <a:off x="2628834" y="45434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8" name="Ellipse 188"/>
          <p:cNvSpPr/>
          <p:nvPr/>
        </p:nvSpPr>
        <p:spPr>
          <a:xfrm>
            <a:off x="2771706" y="45434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9" name="Ellipse 189"/>
          <p:cNvSpPr/>
          <p:nvPr/>
        </p:nvSpPr>
        <p:spPr>
          <a:xfrm>
            <a:off x="2914577" y="45434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0" name="Ellipse 190"/>
          <p:cNvSpPr/>
          <p:nvPr/>
        </p:nvSpPr>
        <p:spPr>
          <a:xfrm>
            <a:off x="3343191" y="45434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1" name="Ellipse 191"/>
          <p:cNvSpPr/>
          <p:nvPr/>
        </p:nvSpPr>
        <p:spPr>
          <a:xfrm>
            <a:off x="3486063" y="45434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2" name="Ellipse 192"/>
          <p:cNvSpPr/>
          <p:nvPr/>
        </p:nvSpPr>
        <p:spPr>
          <a:xfrm>
            <a:off x="3771806" y="45434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3" name="Ellipse 193"/>
          <p:cNvSpPr/>
          <p:nvPr/>
        </p:nvSpPr>
        <p:spPr>
          <a:xfrm>
            <a:off x="3914677" y="45434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4" name="Ellipse 194"/>
          <p:cNvSpPr/>
          <p:nvPr/>
        </p:nvSpPr>
        <p:spPr>
          <a:xfrm>
            <a:off x="4200420" y="45434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5" name="Ellipse 195"/>
          <p:cNvSpPr/>
          <p:nvPr/>
        </p:nvSpPr>
        <p:spPr>
          <a:xfrm>
            <a:off x="4343291" y="45434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6" name="Ellipse 196"/>
          <p:cNvSpPr/>
          <p:nvPr/>
        </p:nvSpPr>
        <p:spPr>
          <a:xfrm>
            <a:off x="2057349" y="482917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7" name="Ellipse 197"/>
          <p:cNvSpPr/>
          <p:nvPr/>
        </p:nvSpPr>
        <p:spPr>
          <a:xfrm>
            <a:off x="2200220" y="482917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8" name="Ellipse 198"/>
          <p:cNvSpPr/>
          <p:nvPr/>
        </p:nvSpPr>
        <p:spPr>
          <a:xfrm>
            <a:off x="2485963" y="482917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9" name="Ellipse 199"/>
          <p:cNvSpPr/>
          <p:nvPr/>
        </p:nvSpPr>
        <p:spPr>
          <a:xfrm>
            <a:off x="2771706" y="482917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0" name="Ellipse 200"/>
          <p:cNvSpPr/>
          <p:nvPr/>
        </p:nvSpPr>
        <p:spPr>
          <a:xfrm>
            <a:off x="2914577" y="482917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Ellipse 201"/>
          <p:cNvSpPr/>
          <p:nvPr/>
        </p:nvSpPr>
        <p:spPr>
          <a:xfrm>
            <a:off x="3343191" y="482917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Ellipse 202"/>
          <p:cNvSpPr/>
          <p:nvPr/>
        </p:nvSpPr>
        <p:spPr>
          <a:xfrm>
            <a:off x="3486063" y="482917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Ellipse 203"/>
          <p:cNvSpPr/>
          <p:nvPr/>
        </p:nvSpPr>
        <p:spPr>
          <a:xfrm>
            <a:off x="3628934" y="482917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Ellipse 204"/>
          <p:cNvSpPr/>
          <p:nvPr/>
        </p:nvSpPr>
        <p:spPr>
          <a:xfrm>
            <a:off x="3771806" y="482917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Ellipse 205"/>
          <p:cNvSpPr/>
          <p:nvPr/>
        </p:nvSpPr>
        <p:spPr>
          <a:xfrm>
            <a:off x="3914677" y="482917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6" name="Ellipse 206"/>
          <p:cNvSpPr/>
          <p:nvPr/>
        </p:nvSpPr>
        <p:spPr>
          <a:xfrm>
            <a:off x="4200420" y="482917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7" name="Ellipse 207"/>
          <p:cNvSpPr/>
          <p:nvPr/>
        </p:nvSpPr>
        <p:spPr>
          <a:xfrm>
            <a:off x="4343291" y="482917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8" name="Ellipse 208"/>
          <p:cNvSpPr/>
          <p:nvPr/>
        </p:nvSpPr>
        <p:spPr>
          <a:xfrm>
            <a:off x="1628734" y="49720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9" name="Ellipse 209"/>
          <p:cNvSpPr/>
          <p:nvPr/>
        </p:nvSpPr>
        <p:spPr>
          <a:xfrm>
            <a:off x="1771606" y="49720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0" name="Ellipse 210"/>
          <p:cNvSpPr/>
          <p:nvPr/>
        </p:nvSpPr>
        <p:spPr>
          <a:xfrm>
            <a:off x="2057349" y="49720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1" name="Ellipse 211"/>
          <p:cNvSpPr/>
          <p:nvPr/>
        </p:nvSpPr>
        <p:spPr>
          <a:xfrm>
            <a:off x="2200220" y="49720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2" name="Ellipse 212"/>
          <p:cNvSpPr/>
          <p:nvPr/>
        </p:nvSpPr>
        <p:spPr>
          <a:xfrm>
            <a:off x="2485963" y="49720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3" name="Ellipse 213"/>
          <p:cNvSpPr/>
          <p:nvPr/>
        </p:nvSpPr>
        <p:spPr>
          <a:xfrm>
            <a:off x="2628834" y="49720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4" name="Ellipse 214"/>
          <p:cNvSpPr/>
          <p:nvPr/>
        </p:nvSpPr>
        <p:spPr>
          <a:xfrm>
            <a:off x="2914577" y="49720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5" name="Ellipse 215"/>
          <p:cNvSpPr/>
          <p:nvPr/>
        </p:nvSpPr>
        <p:spPr>
          <a:xfrm>
            <a:off x="3343191" y="49720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6" name="Ellipse 216"/>
          <p:cNvSpPr/>
          <p:nvPr/>
        </p:nvSpPr>
        <p:spPr>
          <a:xfrm>
            <a:off x="3486063" y="49720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7" name="Ellipse 217"/>
          <p:cNvSpPr/>
          <p:nvPr/>
        </p:nvSpPr>
        <p:spPr>
          <a:xfrm>
            <a:off x="3771806" y="49720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8" name="Ellipse 218"/>
          <p:cNvSpPr/>
          <p:nvPr/>
        </p:nvSpPr>
        <p:spPr>
          <a:xfrm>
            <a:off x="3914677" y="49720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9" name="Ellipse 219"/>
          <p:cNvSpPr/>
          <p:nvPr/>
        </p:nvSpPr>
        <p:spPr>
          <a:xfrm>
            <a:off x="4200420" y="49720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" name="Ellipse 220"/>
          <p:cNvSpPr/>
          <p:nvPr/>
        </p:nvSpPr>
        <p:spPr>
          <a:xfrm>
            <a:off x="4343291" y="49720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" name="Ellipse 221"/>
          <p:cNvSpPr/>
          <p:nvPr/>
        </p:nvSpPr>
        <p:spPr>
          <a:xfrm>
            <a:off x="2176408" y="2662238"/>
            <a:ext cx="104772" cy="104775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" name="Ellipse 222"/>
          <p:cNvSpPr/>
          <p:nvPr/>
        </p:nvSpPr>
        <p:spPr>
          <a:xfrm>
            <a:off x="4605222" y="2662238"/>
            <a:ext cx="104772" cy="104775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" name="Ellipse 223"/>
          <p:cNvSpPr/>
          <p:nvPr/>
        </p:nvSpPr>
        <p:spPr>
          <a:xfrm>
            <a:off x="1033437" y="2947988"/>
            <a:ext cx="104772" cy="104775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4" name="Ellipse 224"/>
          <p:cNvSpPr/>
          <p:nvPr/>
        </p:nvSpPr>
        <p:spPr>
          <a:xfrm>
            <a:off x="1176308" y="3090862"/>
            <a:ext cx="104772" cy="104775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5" name="Ellipse 225"/>
          <p:cNvSpPr/>
          <p:nvPr/>
        </p:nvSpPr>
        <p:spPr>
          <a:xfrm>
            <a:off x="2890765" y="3233737"/>
            <a:ext cx="104772" cy="104775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6" name="Ellipse 226"/>
          <p:cNvSpPr/>
          <p:nvPr/>
        </p:nvSpPr>
        <p:spPr>
          <a:xfrm>
            <a:off x="4605222" y="3233737"/>
            <a:ext cx="104772" cy="104775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7" name="Ellipse 227"/>
          <p:cNvSpPr/>
          <p:nvPr/>
        </p:nvSpPr>
        <p:spPr>
          <a:xfrm>
            <a:off x="3890865" y="3805238"/>
            <a:ext cx="104772" cy="104775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8" name="Ellipse 228"/>
          <p:cNvSpPr/>
          <p:nvPr/>
        </p:nvSpPr>
        <p:spPr>
          <a:xfrm>
            <a:off x="890565" y="4233863"/>
            <a:ext cx="104772" cy="104775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9" name="Ellipse 229"/>
          <p:cNvSpPr/>
          <p:nvPr/>
        </p:nvSpPr>
        <p:spPr>
          <a:xfrm>
            <a:off x="4033737" y="4376738"/>
            <a:ext cx="104772" cy="104775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30" name="Ellipse 230"/>
          <p:cNvSpPr/>
          <p:nvPr/>
        </p:nvSpPr>
        <p:spPr>
          <a:xfrm>
            <a:off x="4462351" y="4519612"/>
            <a:ext cx="104772" cy="104775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31" name="Ellipse 231"/>
          <p:cNvSpPr/>
          <p:nvPr/>
        </p:nvSpPr>
        <p:spPr>
          <a:xfrm>
            <a:off x="1176308" y="5091113"/>
            <a:ext cx="104772" cy="104775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32" name="Ellipse 232"/>
          <p:cNvSpPr/>
          <p:nvPr/>
        </p:nvSpPr>
        <p:spPr>
          <a:xfrm>
            <a:off x="4033737" y="5091113"/>
            <a:ext cx="104772" cy="104775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33" name="TextBox 233"/>
          <p:cNvSpPr txBox="1"/>
          <p:nvPr/>
        </p:nvSpPr>
        <p:spPr>
          <a:xfrm>
            <a:off x="857229" y="542925"/>
            <a:ext cx="1714457" cy="1428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40" b="1">
                <a:solidFill>
                  <a:srgbClr val="4E5B67"/>
                </a:solidFill>
                <a:latin typeface="PingFang SC"/>
                <a:ea typeface="PingFang SC"/>
                <a:cs typeface="PingFang SC"/>
              </a:rPr>
              <a:t>TASK 1 · MEANING</a:t>
            </a:r>
            <a:endParaRPr lang="zh-CN" sz="840"/>
          </a:p>
        </p:txBody>
      </p:sp>
      <p:sp>
        <p:nvSpPr>
          <p:cNvPr id="234" name="TextBox 234"/>
          <p:cNvSpPr txBox="1"/>
          <p:nvPr/>
        </p:nvSpPr>
        <p:spPr>
          <a:xfrm>
            <a:off x="685783" y="895350"/>
            <a:ext cx="7238819" cy="457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72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任务 1： AGV 任务分配解决“谁去搬”。</a:t>
            </a:r>
            <a:endParaRPr lang="zh-CN" sz="2720"/>
          </a:p>
        </p:txBody>
      </p:sp>
      <p:sp>
        <p:nvSpPr>
          <p:cNvPr id="235" name="TextBox 235"/>
          <p:cNvSpPr txBox="1"/>
          <p:nvPr/>
        </p:nvSpPr>
        <p:spPr>
          <a:xfrm>
            <a:off x="704832" y="1914525"/>
            <a:ext cx="7715057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4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已知 AGV、托盘、工位的位置后，系统要快速决定每辆 AGV 服务哪个托盘，并送往哪个工位。</a:t>
            </a:r>
            <a:endParaRPr lang="zh-CN" sz="1140"/>
          </a:p>
        </p:txBody>
      </p:sp>
      <p:sp>
        <p:nvSpPr>
          <p:cNvPr id="236" name="TextBox 236"/>
          <p:cNvSpPr txBox="1"/>
          <p:nvPr/>
        </p:nvSpPr>
        <p:spPr>
          <a:xfrm>
            <a:off x="6362541" y="2876550"/>
            <a:ext cx="1428714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4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现实解释</a:t>
            </a:r>
            <a:endParaRPr lang="zh-CN" sz="1140"/>
          </a:p>
        </p:txBody>
      </p:sp>
      <p:sp>
        <p:nvSpPr>
          <p:cNvPr id="237" name="TextBox 237"/>
          <p:cNvSpPr txBox="1"/>
          <p:nvPr/>
        </p:nvSpPr>
        <p:spPr>
          <a:xfrm>
            <a:off x="6362541" y="3143250"/>
            <a:ext cx="3619410" cy="3333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90">
                <a:solidFill>
                  <a:srgbClr val="6D7783"/>
                </a:solidFill>
                <a:latin typeface="PingFang SC"/>
                <a:ea typeface="PingFang SC"/>
                <a:cs typeface="PingFang SC"/>
              </a:rPr>
              <a:t>一条分配结果可以读成： AGV i 从当前位置出发，到托盘 j</a:t>
            </a:r>
            <a:endParaRPr lang="zh-CN" sz="890"/>
          </a:p>
          <a:p>
            <a:pPr algn="left"/>
            <a:r>
              <a:rPr lang="zh-CN" sz="890">
                <a:solidFill>
                  <a:srgbClr val="6D7783"/>
                </a:solidFill>
                <a:latin typeface="PingFang SC"/>
                <a:ea typeface="PingFang SC"/>
                <a:cs typeface="PingFang SC"/>
              </a:rPr>
              <a:t>取货，再把它送到工位 k。</a:t>
            </a:r>
            <a:endParaRPr lang="zh-CN" sz="890"/>
          </a:p>
        </p:txBody>
      </p:sp>
      <p:sp>
        <p:nvSpPr>
          <p:cNvPr id="238" name="TextBox 238"/>
          <p:cNvSpPr txBox="1"/>
          <p:nvPr/>
        </p:nvSpPr>
        <p:spPr>
          <a:xfrm>
            <a:off x="6362541" y="3981450"/>
            <a:ext cx="1428714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4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优化目标</a:t>
            </a:r>
            <a:endParaRPr lang="zh-CN" sz="1140"/>
          </a:p>
        </p:txBody>
      </p:sp>
      <p:sp>
        <p:nvSpPr>
          <p:cNvPr id="239" name="TextBox 239"/>
          <p:cNvSpPr txBox="1"/>
          <p:nvPr/>
        </p:nvSpPr>
        <p:spPr>
          <a:xfrm>
            <a:off x="6362541" y="4267200"/>
            <a:ext cx="3667033" cy="3333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90">
                <a:solidFill>
                  <a:srgbClr val="6D7783"/>
                </a:solidFill>
                <a:latin typeface="PingFang SC"/>
                <a:ea typeface="PingFang SC"/>
                <a:cs typeface="PingFang SC"/>
              </a:rPr>
              <a:t>让所有被派出的 AGV 的总行驶距离尽量短，同时满足每辆 AGV</a:t>
            </a:r>
            <a:endParaRPr lang="zh-CN" sz="890"/>
          </a:p>
          <a:p>
            <a:pPr algn="left"/>
            <a:r>
              <a:rPr lang="zh-CN" sz="890">
                <a:solidFill>
                  <a:srgbClr val="6D7783"/>
                </a:solidFill>
                <a:latin typeface="PingFang SC"/>
                <a:ea typeface="PingFang SC"/>
                <a:cs typeface="PingFang SC"/>
              </a:rPr>
              <a:t>只接一个任务、工位容量有限等约束。</a:t>
            </a:r>
            <a:endParaRPr lang="zh-CN" sz="890"/>
          </a:p>
        </p:txBody>
      </p:sp>
      <p:sp>
        <p:nvSpPr>
          <p:cNvPr id="240" name="TextBox 240"/>
          <p:cNvSpPr txBox="1"/>
          <p:nvPr/>
        </p:nvSpPr>
        <p:spPr>
          <a:xfrm>
            <a:off x="6362541" y="5086350"/>
            <a:ext cx="1428714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4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为什么重要</a:t>
            </a:r>
            <a:endParaRPr lang="zh-CN" sz="1140"/>
          </a:p>
        </p:txBody>
      </p:sp>
      <p:sp>
        <p:nvSpPr>
          <p:cNvPr id="241" name="TextBox 241"/>
          <p:cNvSpPr txBox="1"/>
          <p:nvPr/>
        </p:nvSpPr>
        <p:spPr>
          <a:xfrm>
            <a:off x="6362541" y="5372100"/>
            <a:ext cx="3667033" cy="3333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90">
                <a:solidFill>
                  <a:srgbClr val="6D7783"/>
                </a:solidFill>
                <a:latin typeface="PingFang SC"/>
                <a:ea typeface="PingFang SC"/>
                <a:cs typeface="PingFang SC"/>
              </a:rPr>
              <a:t>分配不好会产生空驶和绕路；分配合理能直接降低搬运时间，并提高</a:t>
            </a:r>
            <a:endParaRPr lang="zh-CN" sz="890"/>
          </a:p>
          <a:p>
            <a:pPr algn="left"/>
            <a:r>
              <a:rPr lang="zh-CN" sz="890">
                <a:solidFill>
                  <a:srgbClr val="6D7783"/>
                </a:solidFill>
                <a:latin typeface="PingFang SC"/>
                <a:ea typeface="PingFang SC"/>
                <a:cs typeface="PingFang SC"/>
              </a:rPr>
              <a:t>工位供货稳定性。</a:t>
            </a:r>
            <a:endParaRPr lang="zh-CN" sz="890"/>
          </a:p>
        </p:txBody>
      </p:sp>
      <p:sp>
        <p:nvSpPr>
          <p:cNvPr id="242" name="TextBox 242"/>
          <p:cNvSpPr txBox="1"/>
          <p:nvPr/>
        </p:nvSpPr>
        <p:spPr>
          <a:xfrm>
            <a:off x="685783" y="6448425"/>
            <a:ext cx="3428914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5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AGV 仓储优化课程项目 · 本地 CSV 数据 · Python 自实现算法</a:t>
            </a:r>
            <a:endParaRPr lang="zh-CN" sz="650"/>
          </a:p>
        </p:txBody>
      </p:sp>
      <p:sp>
        <p:nvSpPr>
          <p:cNvPr id="243" name="TextBox 243"/>
          <p:cNvSpPr txBox="1"/>
          <p:nvPr/>
        </p:nvSpPr>
        <p:spPr>
          <a:xfrm>
            <a:off x="11372566" y="6429375"/>
            <a:ext cx="228594" cy="1333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8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07</a:t>
            </a:r>
            <a:endParaRPr lang="zh-CN" sz="78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685783" y="571500"/>
            <a:ext cx="66673" cy="66675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819130" y="2705100"/>
            <a:ext cx="4571886" cy="203835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BEC"/>
            </a:solidFill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6000600" y="2705100"/>
            <a:ext cx="4571886" cy="203835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BEC"/>
            </a:solidFill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1714457" y="5181600"/>
            <a:ext cx="8191295" cy="66675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AEC"/>
            </a:solidFill>
          </a:ln>
        </p:spPr>
        <p:txBody>
          <a:bodyPr/>
          <a:lstStyle/>
          <a:p/>
        </p:txBody>
      </p:sp>
      <p:sp>
        <p:nvSpPr>
          <p:cNvPr id="6" name="Line 6"/>
          <p:cNvSpPr/>
          <p:nvPr/>
        </p:nvSpPr>
        <p:spPr>
          <a:xfrm>
            <a:off x="685783" y="6248400"/>
            <a:ext cx="2847904" cy="0"/>
          </a:xfrm>
          <a:prstGeom prst="line">
            <a:avLst/>
          </a:prstGeom>
          <a:noFill/>
          <a:ln w="12700">
            <a:solidFill>
              <a:srgbClr val="D6DDE3"/>
            </a:solidFill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819130" y="2705100"/>
            <a:ext cx="47624" cy="203835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6000600" y="2705100"/>
            <a:ext cx="47624" cy="2038350"/>
          </a:xfrm>
          <a:prstGeom prst="rect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1714457" y="5181600"/>
            <a:ext cx="47624" cy="666750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857229" y="533400"/>
            <a:ext cx="1333467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80" b="1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TASK 1 · MODEL</a:t>
            </a:r>
            <a:endParaRPr lang="zh-CN" sz="780"/>
          </a:p>
        </p:txBody>
      </p:sp>
      <p:sp>
        <p:nvSpPr>
          <p:cNvPr id="11" name="TextBox 11"/>
          <p:cNvSpPr txBox="1"/>
          <p:nvPr/>
        </p:nvSpPr>
        <p:spPr>
          <a:xfrm>
            <a:off x="685783" y="857250"/>
            <a:ext cx="1714457" cy="457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305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任务 1</a:t>
            </a:r>
            <a:endParaRPr lang="zh-CN" sz="3050"/>
          </a:p>
        </p:txBody>
      </p:sp>
      <p:sp>
        <p:nvSpPr>
          <p:cNvPr id="12" name="TextBox 12"/>
          <p:cNvSpPr txBox="1"/>
          <p:nvPr/>
        </p:nvSpPr>
        <p:spPr>
          <a:xfrm>
            <a:off x="685783" y="1285875"/>
            <a:ext cx="8572286" cy="4762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305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的模型： 把一次搬运拆成取货距离和送货距离。</a:t>
            </a:r>
            <a:endParaRPr lang="zh-CN" sz="3050"/>
          </a:p>
        </p:txBody>
      </p:sp>
      <p:sp>
        <p:nvSpPr>
          <p:cNvPr id="13" name="TextBox 13"/>
          <p:cNvSpPr txBox="1"/>
          <p:nvPr/>
        </p:nvSpPr>
        <p:spPr>
          <a:xfrm>
            <a:off x="695308" y="1885950"/>
            <a:ext cx="8000800" cy="2667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3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模型中同时包含 AGV 到托盘、托盘到工位两段距离。连续松弛用于求解，随后恢复为实际整数分配。</a:t>
            </a:r>
            <a:endParaRPr lang="zh-CN" sz="1130"/>
          </a:p>
        </p:txBody>
      </p:sp>
      <p:sp>
        <p:nvSpPr>
          <p:cNvPr id="14" name="TextBox 14"/>
          <p:cNvSpPr txBox="1"/>
          <p:nvPr/>
        </p:nvSpPr>
        <p:spPr>
          <a:xfrm>
            <a:off x="1009625" y="2886075"/>
            <a:ext cx="1047724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5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决策变量</a:t>
            </a:r>
            <a:endParaRPr lang="zh-CN" sz="1350"/>
          </a:p>
        </p:txBody>
      </p:sp>
      <p:sp>
        <p:nvSpPr>
          <p:cNvPr id="15" name="TextBox 15"/>
          <p:cNvSpPr txBox="1"/>
          <p:nvPr/>
        </p:nvSpPr>
        <p:spPr>
          <a:xfrm>
            <a:off x="1009625" y="3219450"/>
            <a:ext cx="3238419" cy="9048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19">
                <a:solidFill>
                  <a:srgbClr val="1D2630"/>
                </a:solidFill>
                <a:latin typeface="PingFang SC"/>
                <a:ea typeface="PingFang SC"/>
                <a:cs typeface="PingFang SC"/>
              </a:rPr>
              <a:t>x(i,j)：AGV i 是否服务托盘 j</a:t>
            </a:r>
            <a:endParaRPr lang="zh-CN" sz="1019"/>
          </a:p>
          <a:p>
            <a:pPr algn="left"/>
            <a:r>
              <a:rPr lang="zh-CN" sz="1019">
                <a:solidFill>
                  <a:srgbClr val="1D2630"/>
                </a:solidFill>
                <a:latin typeface="PingFang SC"/>
                <a:ea typeface="PingFang SC"/>
                <a:cs typeface="PingFang SC"/>
              </a:rPr>
              <a:t/>
            </a:r>
            <a:endParaRPr lang="zh-CN" sz="1019"/>
          </a:p>
          <a:p>
            <a:pPr algn="left"/>
            <a:r>
              <a:rPr lang="zh-CN" sz="1019">
                <a:solidFill>
                  <a:srgbClr val="1D2630"/>
                </a:solidFill>
                <a:latin typeface="PingFang SC"/>
                <a:ea typeface="PingFang SC"/>
                <a:cs typeface="PingFang SC"/>
              </a:rPr>
              <a:t>y(j,k)：托盘 j 是否送到工位 k</a:t>
            </a:r>
            <a:endParaRPr lang="zh-CN" sz="1019"/>
          </a:p>
          <a:p>
            <a:pPr algn="left"/>
            <a:r>
              <a:rPr lang="zh-CN" sz="1019">
                <a:solidFill>
                  <a:srgbClr val="1D2630"/>
                </a:solidFill>
                <a:latin typeface="PingFang SC"/>
                <a:ea typeface="PingFang SC"/>
                <a:cs typeface="PingFang SC"/>
              </a:rPr>
              <a:t/>
            </a:r>
            <a:endParaRPr lang="zh-CN" sz="1019"/>
          </a:p>
          <a:p>
            <a:pPr algn="left"/>
            <a:r>
              <a:rPr lang="zh-CN" sz="1019">
                <a:solidFill>
                  <a:srgbClr val="1D2630"/>
                </a:solidFill>
                <a:latin typeface="PingFang SC"/>
                <a:ea typeface="PingFang SC"/>
                <a:cs typeface="PingFang SC"/>
              </a:rPr>
              <a:t>距离成本： d(AP) + d(PW)</a:t>
            </a:r>
            <a:endParaRPr lang="zh-CN" sz="1019"/>
          </a:p>
        </p:txBody>
      </p:sp>
      <p:sp>
        <p:nvSpPr>
          <p:cNvPr id="16" name="TextBox 16"/>
          <p:cNvSpPr txBox="1"/>
          <p:nvPr/>
        </p:nvSpPr>
        <p:spPr>
          <a:xfrm>
            <a:off x="6191095" y="2886075"/>
            <a:ext cx="1142971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5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目标与约束</a:t>
            </a:r>
            <a:endParaRPr lang="zh-CN" sz="1350"/>
          </a:p>
        </p:txBody>
      </p:sp>
      <p:sp>
        <p:nvSpPr>
          <p:cNvPr id="17" name="TextBox 17"/>
          <p:cNvSpPr txBox="1"/>
          <p:nvPr/>
        </p:nvSpPr>
        <p:spPr>
          <a:xfrm>
            <a:off x="6191095" y="3209925"/>
            <a:ext cx="3619410" cy="2381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60">
                <a:solidFill>
                  <a:srgbClr val="1D2630"/>
                </a:solidFill>
                <a:latin typeface="PingFang SC"/>
                <a:ea typeface="PingFang SC"/>
                <a:cs typeface="PingFang SC"/>
              </a:rPr>
              <a:t>min  Σ d(AP)x(i,j) + Σ d(PW)y(j,k)</a:t>
            </a:r>
            <a:endParaRPr lang="zh-CN" sz="960"/>
          </a:p>
        </p:txBody>
      </p:sp>
      <p:sp>
        <p:nvSpPr>
          <p:cNvPr id="18" name="TextBox 18"/>
          <p:cNvSpPr txBox="1"/>
          <p:nvPr/>
        </p:nvSpPr>
        <p:spPr>
          <a:xfrm>
            <a:off x="6191095" y="3533775"/>
            <a:ext cx="3809905" cy="8096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19">
                <a:solidFill>
                  <a:srgbClr val="1D2630"/>
                </a:solidFill>
                <a:latin typeface="PingFang SC"/>
                <a:ea typeface="PingFang SC"/>
                <a:cs typeface="PingFang SC"/>
              </a:rPr>
              <a:t>每辆 AGV 至多分配 1 个托盘</a:t>
            </a:r>
            <a:endParaRPr lang="zh-CN" sz="1019"/>
          </a:p>
          <a:p>
            <a:pPr algn="left"/>
            <a:r>
              <a:rPr lang="zh-CN" sz="1019">
                <a:solidFill>
                  <a:srgbClr val="1D2630"/>
                </a:solidFill>
                <a:latin typeface="PingFang SC"/>
                <a:ea typeface="PingFang SC"/>
                <a:cs typeface="PingFang SC"/>
              </a:rPr>
              <a:t/>
            </a:r>
            <a:endParaRPr lang="zh-CN" sz="1019"/>
          </a:p>
          <a:p>
            <a:pPr algn="left"/>
            <a:r>
              <a:rPr lang="zh-CN" sz="1019">
                <a:solidFill>
                  <a:srgbClr val="1D2630"/>
                </a:solidFill>
                <a:latin typeface="PingFang SC"/>
                <a:ea typeface="PingFang SC"/>
                <a:cs typeface="PingFang SC"/>
              </a:rPr>
              <a:t>托盘取货与送达保持一致，工位容量有限</a:t>
            </a:r>
            <a:endParaRPr lang="zh-CN" sz="1019"/>
          </a:p>
        </p:txBody>
      </p:sp>
      <p:sp>
        <p:nvSpPr>
          <p:cNvPr id="19" name="TextBox 19"/>
          <p:cNvSpPr txBox="1"/>
          <p:nvPr/>
        </p:nvSpPr>
        <p:spPr>
          <a:xfrm>
            <a:off x="1885903" y="5334000"/>
            <a:ext cx="1047724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2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建模含义</a:t>
            </a:r>
            <a:endParaRPr lang="zh-CN" sz="1120"/>
          </a:p>
        </p:txBody>
      </p:sp>
      <p:sp>
        <p:nvSpPr>
          <p:cNvPr id="20" name="TextBox 20"/>
          <p:cNvSpPr txBox="1"/>
          <p:nvPr/>
        </p:nvSpPr>
        <p:spPr>
          <a:xfrm>
            <a:off x="1885903" y="5610225"/>
            <a:ext cx="5905352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0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变量不是抽象符号，而是在回答一件具体事情：哪辆车取哪个托盘、这个托盘最终送到哪个工位。</a:t>
            </a:r>
            <a:endParaRPr lang="zh-CN" sz="700"/>
          </a:p>
        </p:txBody>
      </p:sp>
      <p:sp>
        <p:nvSpPr>
          <p:cNvPr id="21" name="TextBox 21"/>
          <p:cNvSpPr txBox="1"/>
          <p:nvPr/>
        </p:nvSpPr>
        <p:spPr>
          <a:xfrm>
            <a:off x="685783" y="6438900"/>
            <a:ext cx="3238419" cy="1333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0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AGV 仓储优化课程项目 · 本地 CSV 数据 · Python 自实现算法</a:t>
            </a:r>
            <a:endParaRPr lang="zh-CN" sz="600"/>
          </a:p>
        </p:txBody>
      </p:sp>
      <p:sp>
        <p:nvSpPr>
          <p:cNvPr id="22" name="TextBox 22"/>
          <p:cNvSpPr txBox="1"/>
          <p:nvPr/>
        </p:nvSpPr>
        <p:spPr>
          <a:xfrm>
            <a:off x="11363041" y="6438900"/>
            <a:ext cx="266693" cy="1428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5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08</a:t>
            </a:r>
            <a:endParaRPr lang="zh-CN" sz="8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2933627" y="3419475"/>
            <a:ext cx="590535" cy="0"/>
          </a:xfrm>
          <a:prstGeom prst="line">
            <a:avLst/>
          </a:prstGeom>
          <a:noFill/>
          <a:ln w="25400">
            <a:solidFill>
              <a:srgbClr val="A9B3BE"/>
            </a:solidFill>
          </a:ln>
        </p:spPr>
        <p:txBody>
          <a:bodyPr/>
          <a:lstStyle/>
          <a:p/>
        </p:txBody>
      </p:sp>
      <p:sp>
        <p:nvSpPr>
          <p:cNvPr id="3" name="Line 3"/>
          <p:cNvSpPr/>
          <p:nvPr/>
        </p:nvSpPr>
        <p:spPr>
          <a:xfrm>
            <a:off x="5714857" y="3419475"/>
            <a:ext cx="590535" cy="0"/>
          </a:xfrm>
          <a:prstGeom prst="line">
            <a:avLst/>
          </a:prstGeom>
          <a:noFill/>
          <a:ln w="25400">
            <a:solidFill>
              <a:srgbClr val="A9B3BE"/>
            </a:solidFill>
          </a:ln>
        </p:spPr>
        <p:txBody>
          <a:bodyPr/>
          <a:lstStyle/>
          <a:p/>
        </p:txBody>
      </p:sp>
      <p:sp>
        <p:nvSpPr>
          <p:cNvPr id="4" name="Line 4"/>
          <p:cNvSpPr/>
          <p:nvPr/>
        </p:nvSpPr>
        <p:spPr>
          <a:xfrm>
            <a:off x="8496088" y="3419475"/>
            <a:ext cx="590535" cy="0"/>
          </a:xfrm>
          <a:prstGeom prst="line">
            <a:avLst/>
          </a:prstGeom>
          <a:noFill/>
          <a:ln w="25400">
            <a:solidFill>
              <a:srgbClr val="A9B3BE"/>
            </a:solidFill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742931" y="2905125"/>
            <a:ext cx="2190695" cy="981075"/>
          </a:xfrm>
          <a:prstGeom prst="rect">
            <a:avLst/>
          </a:prstGeom>
          <a:solidFill>
            <a:srgbClr val="FFFFFF"/>
          </a:solidFill>
          <a:ln w="12700">
            <a:solidFill>
              <a:srgbClr val="E7EAEC"/>
            </a:solidFill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3524162" y="2905125"/>
            <a:ext cx="2190695" cy="981075"/>
          </a:xfrm>
          <a:prstGeom prst="rect">
            <a:avLst/>
          </a:prstGeom>
          <a:solidFill>
            <a:srgbClr val="FFFFFF"/>
          </a:solidFill>
          <a:ln w="12700">
            <a:solidFill>
              <a:srgbClr val="E7EAEC"/>
            </a:solidFill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6305392" y="2905125"/>
            <a:ext cx="2190695" cy="981075"/>
          </a:xfrm>
          <a:prstGeom prst="rect">
            <a:avLst/>
          </a:prstGeom>
          <a:solidFill>
            <a:srgbClr val="FFFFFF"/>
          </a:solidFill>
          <a:ln w="12700">
            <a:solidFill>
              <a:srgbClr val="E7EAEC"/>
            </a:solidFill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9086623" y="2905125"/>
            <a:ext cx="2190695" cy="981075"/>
          </a:xfrm>
          <a:prstGeom prst="rect">
            <a:avLst/>
          </a:prstGeom>
          <a:solidFill>
            <a:srgbClr val="FFFFFF"/>
          </a:solidFill>
          <a:ln w="12700">
            <a:solidFill>
              <a:srgbClr val="E7EAEC"/>
            </a:solidFill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1676358" y="4886325"/>
            <a:ext cx="8381790" cy="828675"/>
          </a:xfrm>
          <a:prstGeom prst="rect">
            <a:avLst/>
          </a:prstGeom>
          <a:solidFill>
            <a:srgbClr val="FFFFFF"/>
          </a:solidFill>
          <a:ln w="12700">
            <a:solidFill>
              <a:srgbClr val="E7EAEC"/>
            </a:solidFill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742931" y="2914650"/>
            <a:ext cx="2190695" cy="4762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3524162" y="2914650"/>
            <a:ext cx="2190695" cy="47625"/>
          </a:xfrm>
          <a:prstGeom prst="rect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6305392" y="2914650"/>
            <a:ext cx="2190695" cy="47625"/>
          </a:xfrm>
          <a:prstGeom prst="rect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9086623" y="2914650"/>
            <a:ext cx="2190695" cy="47625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1676358" y="4895850"/>
            <a:ext cx="47624" cy="81915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Line 15"/>
          <p:cNvSpPr/>
          <p:nvPr/>
        </p:nvSpPr>
        <p:spPr>
          <a:xfrm>
            <a:off x="685783" y="6248400"/>
            <a:ext cx="2857429" cy="0"/>
          </a:xfrm>
          <a:prstGeom prst="line">
            <a:avLst/>
          </a:prstGeom>
          <a:noFill/>
          <a:ln w="12700">
            <a:solidFill>
              <a:srgbClr val="D6DDE3"/>
            </a:solidFill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685783" y="571500"/>
            <a:ext cx="66673" cy="66675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857229" y="533400"/>
            <a:ext cx="1428714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50" b="1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TASK 1 · ALGORITHM</a:t>
            </a:r>
            <a:endParaRPr lang="zh-CN" sz="850"/>
          </a:p>
        </p:txBody>
      </p:sp>
      <p:sp>
        <p:nvSpPr>
          <p:cNvPr id="18" name="TextBox 18"/>
          <p:cNvSpPr txBox="1"/>
          <p:nvPr/>
        </p:nvSpPr>
        <p:spPr>
          <a:xfrm>
            <a:off x="685783" y="838200"/>
            <a:ext cx="9429514" cy="552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300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任务 1 使用线性规划原始–对偶内点法，再做整数恢复。</a:t>
            </a:r>
            <a:endParaRPr lang="zh-CN" sz="3000"/>
          </a:p>
        </p:txBody>
      </p:sp>
      <p:sp>
        <p:nvSpPr>
          <p:cNvPr id="19" name="TextBox 19"/>
          <p:cNvSpPr txBox="1"/>
          <p:nvPr/>
        </p:nvSpPr>
        <p:spPr>
          <a:xfrm>
            <a:off x="685783" y="1885950"/>
            <a:ext cx="8096048" cy="2667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0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教材中的内点法负责求连续松弛；恢复步骤把连续权重转成可执行的 AGV–托盘–工位三元组。</a:t>
            </a:r>
            <a:endParaRPr lang="zh-CN" sz="1200"/>
          </a:p>
        </p:txBody>
      </p:sp>
      <p:sp>
        <p:nvSpPr>
          <p:cNvPr id="20" name="TextBox 20"/>
          <p:cNvSpPr txBox="1"/>
          <p:nvPr/>
        </p:nvSpPr>
        <p:spPr>
          <a:xfrm>
            <a:off x="895328" y="3095625"/>
            <a:ext cx="952476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5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构造 LP</a:t>
            </a:r>
            <a:endParaRPr lang="zh-CN" sz="1350"/>
          </a:p>
        </p:txBody>
      </p:sp>
      <p:sp>
        <p:nvSpPr>
          <p:cNvPr id="21" name="TextBox 21"/>
          <p:cNvSpPr txBox="1"/>
          <p:nvPr/>
        </p:nvSpPr>
        <p:spPr>
          <a:xfrm>
            <a:off x="895328" y="3390900"/>
            <a:ext cx="2000200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8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距离矩阵、等式约束、非负变量</a:t>
            </a:r>
            <a:endParaRPr lang="zh-CN" sz="880"/>
          </a:p>
        </p:txBody>
      </p:sp>
      <p:sp>
        <p:nvSpPr>
          <p:cNvPr id="22" name="TextBox 22"/>
          <p:cNvSpPr txBox="1"/>
          <p:nvPr/>
        </p:nvSpPr>
        <p:spPr>
          <a:xfrm>
            <a:off x="3676558" y="3095625"/>
            <a:ext cx="1095348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5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内点迭代</a:t>
            </a:r>
            <a:endParaRPr lang="zh-CN" sz="1350"/>
          </a:p>
        </p:txBody>
      </p:sp>
      <p:sp>
        <p:nvSpPr>
          <p:cNvPr id="23" name="TextBox 23"/>
          <p:cNvSpPr txBox="1"/>
          <p:nvPr/>
        </p:nvSpPr>
        <p:spPr>
          <a:xfrm>
            <a:off x="3676558" y="3390900"/>
            <a:ext cx="1952576" cy="3619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8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同时降低原始残差、对偶残差和互补</a:t>
            </a:r>
            <a:endParaRPr lang="zh-CN" sz="880"/>
          </a:p>
          <a:p>
            <a:pPr algn="left"/>
            <a:r>
              <a:rPr lang="zh-CN" sz="88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间隙</a:t>
            </a:r>
            <a:endParaRPr lang="zh-CN" sz="880"/>
          </a:p>
        </p:txBody>
      </p:sp>
      <p:sp>
        <p:nvSpPr>
          <p:cNvPr id="24" name="TextBox 24"/>
          <p:cNvSpPr txBox="1"/>
          <p:nvPr/>
        </p:nvSpPr>
        <p:spPr>
          <a:xfrm>
            <a:off x="6457789" y="3095625"/>
            <a:ext cx="1095348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5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整数恢复</a:t>
            </a:r>
            <a:endParaRPr lang="zh-CN" sz="1350"/>
          </a:p>
        </p:txBody>
      </p:sp>
      <p:sp>
        <p:nvSpPr>
          <p:cNvPr id="25" name="TextBox 25"/>
          <p:cNvSpPr txBox="1"/>
          <p:nvPr/>
        </p:nvSpPr>
        <p:spPr>
          <a:xfrm>
            <a:off x="6457789" y="3390900"/>
            <a:ext cx="1952576" cy="3619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8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按松弛解权重和距离排序，生成实际</a:t>
            </a:r>
            <a:endParaRPr lang="zh-CN" sz="880"/>
          </a:p>
          <a:p>
            <a:pPr algn="left"/>
            <a:r>
              <a:rPr lang="zh-CN" sz="88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分配</a:t>
            </a:r>
            <a:endParaRPr lang="zh-CN" sz="880"/>
          </a:p>
        </p:txBody>
      </p:sp>
      <p:sp>
        <p:nvSpPr>
          <p:cNvPr id="26" name="TextBox 26"/>
          <p:cNvSpPr txBox="1"/>
          <p:nvPr/>
        </p:nvSpPr>
        <p:spPr>
          <a:xfrm>
            <a:off x="9239019" y="3095625"/>
            <a:ext cx="1190595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5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可执行结果</a:t>
            </a:r>
            <a:endParaRPr lang="zh-CN" sz="1350"/>
          </a:p>
        </p:txBody>
      </p:sp>
      <p:sp>
        <p:nvSpPr>
          <p:cNvPr id="27" name="TextBox 27"/>
          <p:cNvSpPr txBox="1"/>
          <p:nvPr/>
        </p:nvSpPr>
        <p:spPr>
          <a:xfrm>
            <a:off x="9239019" y="3390900"/>
            <a:ext cx="1904952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8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输出每辆 AGV 的托盘与工位</a:t>
            </a:r>
            <a:endParaRPr lang="zh-CN" sz="880"/>
          </a:p>
        </p:txBody>
      </p:sp>
      <p:sp>
        <p:nvSpPr>
          <p:cNvPr id="28" name="TextBox 28"/>
          <p:cNvSpPr txBox="1"/>
          <p:nvPr/>
        </p:nvSpPr>
        <p:spPr>
          <a:xfrm>
            <a:off x="1866853" y="5067300"/>
            <a:ext cx="1809705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5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内点法停止条件</a:t>
            </a:r>
            <a:endParaRPr lang="zh-CN" sz="1350"/>
          </a:p>
        </p:txBody>
      </p:sp>
      <p:sp>
        <p:nvSpPr>
          <p:cNvPr id="29" name="TextBox 29"/>
          <p:cNvSpPr txBox="1"/>
          <p:nvPr/>
        </p:nvSpPr>
        <p:spPr>
          <a:xfrm>
            <a:off x="1866853" y="5400675"/>
            <a:ext cx="6667333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80">
                <a:solidFill>
                  <a:srgbClr val="101418"/>
                </a:solidFill>
                <a:latin typeface="Arial Unicode MS"/>
                <a:ea typeface="Arial Unicode MS"/>
                <a:cs typeface="Arial Unicode MS"/>
              </a:rPr>
              <a:t>max(原始可行性残差, 对偶可行性残差, 互补间隙) ≤ 10⁻⁷</a:t>
            </a:r>
            <a:endParaRPr lang="zh-CN" sz="1080"/>
          </a:p>
        </p:txBody>
      </p:sp>
      <p:sp>
        <p:nvSpPr>
          <p:cNvPr id="30" name="TextBox 30"/>
          <p:cNvSpPr txBox="1"/>
          <p:nvPr/>
        </p:nvSpPr>
        <p:spPr>
          <a:xfrm>
            <a:off x="685783" y="6438900"/>
            <a:ext cx="3476538" cy="1333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5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AGV 仓储优化课程项目 · 本地 CSV 数据 · Python 自实现算法</a:t>
            </a:r>
            <a:endParaRPr lang="zh-CN" sz="750"/>
          </a:p>
        </p:txBody>
      </p:sp>
      <p:sp>
        <p:nvSpPr>
          <p:cNvPr id="31" name="TextBox 31"/>
          <p:cNvSpPr txBox="1"/>
          <p:nvPr/>
        </p:nvSpPr>
        <p:spPr>
          <a:xfrm>
            <a:off x="11353516" y="6438900"/>
            <a:ext cx="228594" cy="1333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0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09</a:t>
            </a:r>
            <a:endParaRPr lang="zh-CN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676258" y="2571750"/>
            <a:ext cx="4962401" cy="335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6EB"/>
            </a:solidFill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809605" y="2628900"/>
            <a:ext cx="4695708" cy="3209925"/>
          </a:xfrm>
          <a:prstGeom prst="rect">
            <a:avLst/>
          </a:prstGeom>
          <a:solidFill>
            <a:srgbClr val="F9FAF8"/>
          </a:solidFill>
          <a:ln w="12700">
            <a:solidFill>
              <a:srgbClr val="E6EBEC"/>
            </a:solidFill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857229" y="2657475"/>
            <a:ext cx="4600460" cy="3171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Line 5"/>
          <p:cNvSpPr/>
          <p:nvPr/>
        </p:nvSpPr>
        <p:spPr>
          <a:xfrm>
            <a:off x="857229" y="2667000"/>
            <a:ext cx="0" cy="316230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6" name="Line 6"/>
          <p:cNvSpPr/>
          <p:nvPr/>
        </p:nvSpPr>
        <p:spPr>
          <a:xfrm>
            <a:off x="1000100" y="2667000"/>
            <a:ext cx="0" cy="316230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7" name="Line 7"/>
          <p:cNvSpPr/>
          <p:nvPr/>
        </p:nvSpPr>
        <p:spPr>
          <a:xfrm>
            <a:off x="1142971" y="2667000"/>
            <a:ext cx="0" cy="316230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8" name="Line 8"/>
          <p:cNvSpPr/>
          <p:nvPr/>
        </p:nvSpPr>
        <p:spPr>
          <a:xfrm>
            <a:off x="1285843" y="2667000"/>
            <a:ext cx="0" cy="316230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9" name="Line 9"/>
          <p:cNvSpPr/>
          <p:nvPr/>
        </p:nvSpPr>
        <p:spPr>
          <a:xfrm>
            <a:off x="1428714" y="2667000"/>
            <a:ext cx="0" cy="316230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10" name="Line 10"/>
          <p:cNvSpPr/>
          <p:nvPr/>
        </p:nvSpPr>
        <p:spPr>
          <a:xfrm>
            <a:off x="1571586" y="2667000"/>
            <a:ext cx="0" cy="316230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11" name="Line 11"/>
          <p:cNvSpPr/>
          <p:nvPr/>
        </p:nvSpPr>
        <p:spPr>
          <a:xfrm>
            <a:off x="1714457" y="2667000"/>
            <a:ext cx="0" cy="316230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12" name="Line 12"/>
          <p:cNvSpPr/>
          <p:nvPr/>
        </p:nvSpPr>
        <p:spPr>
          <a:xfrm>
            <a:off x="1857329" y="2667000"/>
            <a:ext cx="0" cy="316230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13" name="Line 13"/>
          <p:cNvSpPr/>
          <p:nvPr/>
        </p:nvSpPr>
        <p:spPr>
          <a:xfrm>
            <a:off x="2000200" y="2667000"/>
            <a:ext cx="0" cy="316230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14" name="Line 14"/>
          <p:cNvSpPr/>
          <p:nvPr/>
        </p:nvSpPr>
        <p:spPr>
          <a:xfrm>
            <a:off x="2143071" y="2667000"/>
            <a:ext cx="0" cy="316230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15" name="Line 15"/>
          <p:cNvSpPr/>
          <p:nvPr/>
        </p:nvSpPr>
        <p:spPr>
          <a:xfrm>
            <a:off x="2285943" y="2667000"/>
            <a:ext cx="0" cy="316230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16" name="Line 16"/>
          <p:cNvSpPr/>
          <p:nvPr/>
        </p:nvSpPr>
        <p:spPr>
          <a:xfrm>
            <a:off x="2428814" y="2667000"/>
            <a:ext cx="0" cy="316230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17" name="Line 17"/>
          <p:cNvSpPr/>
          <p:nvPr/>
        </p:nvSpPr>
        <p:spPr>
          <a:xfrm>
            <a:off x="2571686" y="2667000"/>
            <a:ext cx="0" cy="316230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18" name="Line 18"/>
          <p:cNvSpPr/>
          <p:nvPr/>
        </p:nvSpPr>
        <p:spPr>
          <a:xfrm>
            <a:off x="2714557" y="2667000"/>
            <a:ext cx="0" cy="316230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>
            <a:off x="2857429" y="2667000"/>
            <a:ext cx="0" cy="316230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20" name="Line 20"/>
          <p:cNvSpPr/>
          <p:nvPr/>
        </p:nvSpPr>
        <p:spPr>
          <a:xfrm>
            <a:off x="3000300" y="2667000"/>
            <a:ext cx="0" cy="316230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>
            <a:off x="3143171" y="2667000"/>
            <a:ext cx="0" cy="316230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22" name="Line 22"/>
          <p:cNvSpPr/>
          <p:nvPr/>
        </p:nvSpPr>
        <p:spPr>
          <a:xfrm>
            <a:off x="3286043" y="2667000"/>
            <a:ext cx="0" cy="316230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23" name="Line 23"/>
          <p:cNvSpPr/>
          <p:nvPr/>
        </p:nvSpPr>
        <p:spPr>
          <a:xfrm>
            <a:off x="3428914" y="2667000"/>
            <a:ext cx="0" cy="316230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24" name="Line 24"/>
          <p:cNvSpPr/>
          <p:nvPr/>
        </p:nvSpPr>
        <p:spPr>
          <a:xfrm>
            <a:off x="3571786" y="2667000"/>
            <a:ext cx="0" cy="316230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3714657" y="2667000"/>
            <a:ext cx="0" cy="316230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3857529" y="2667000"/>
            <a:ext cx="0" cy="316230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>
            <a:off x="4000400" y="2667000"/>
            <a:ext cx="0" cy="316230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>
            <a:off x="4143271" y="2667000"/>
            <a:ext cx="0" cy="316230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>
            <a:off x="4286143" y="2667000"/>
            <a:ext cx="0" cy="316230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>
            <a:off x="4429014" y="2667000"/>
            <a:ext cx="0" cy="316230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4571886" y="2667000"/>
            <a:ext cx="0" cy="316230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4714757" y="2667000"/>
            <a:ext cx="0" cy="316230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>
            <a:off x="4857629" y="2667000"/>
            <a:ext cx="0" cy="316230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5000500" y="2667000"/>
            <a:ext cx="0" cy="316230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>
            <a:off x="5143371" y="2667000"/>
            <a:ext cx="0" cy="316230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>
            <a:off x="5286243" y="2667000"/>
            <a:ext cx="0" cy="316230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5429114" y="2667000"/>
            <a:ext cx="0" cy="316230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857229" y="2667000"/>
            <a:ext cx="4600460" cy="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857229" y="2809875"/>
            <a:ext cx="4600460" cy="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857229" y="2952750"/>
            <a:ext cx="4600460" cy="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>
            <a:off x="857229" y="3095625"/>
            <a:ext cx="4600460" cy="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>
            <a:off x="857229" y="3238500"/>
            <a:ext cx="4600460" cy="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>
            <a:off x="857229" y="3381375"/>
            <a:ext cx="4600460" cy="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44" name="Line 44"/>
          <p:cNvSpPr/>
          <p:nvPr/>
        </p:nvSpPr>
        <p:spPr>
          <a:xfrm>
            <a:off x="857229" y="3524250"/>
            <a:ext cx="4600460" cy="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>
            <a:off x="857229" y="3667125"/>
            <a:ext cx="4600460" cy="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>
            <a:off x="857229" y="3810000"/>
            <a:ext cx="4600460" cy="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>
            <a:off x="857229" y="3952875"/>
            <a:ext cx="4600460" cy="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>
            <a:off x="857229" y="4095750"/>
            <a:ext cx="4600460" cy="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>
            <a:off x="857229" y="4238625"/>
            <a:ext cx="4600460" cy="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>
            <a:off x="857229" y="4381500"/>
            <a:ext cx="4600460" cy="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>
            <a:off x="857229" y="4524375"/>
            <a:ext cx="4600460" cy="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52" name="Line 52"/>
          <p:cNvSpPr/>
          <p:nvPr/>
        </p:nvSpPr>
        <p:spPr>
          <a:xfrm>
            <a:off x="857229" y="4667250"/>
            <a:ext cx="4600460" cy="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>
            <a:off x="857229" y="4810125"/>
            <a:ext cx="4600460" cy="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54" name="Line 54"/>
          <p:cNvSpPr/>
          <p:nvPr/>
        </p:nvSpPr>
        <p:spPr>
          <a:xfrm>
            <a:off x="857229" y="4953000"/>
            <a:ext cx="4600460" cy="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55" name="Line 55"/>
          <p:cNvSpPr/>
          <p:nvPr/>
        </p:nvSpPr>
        <p:spPr>
          <a:xfrm>
            <a:off x="857229" y="5095875"/>
            <a:ext cx="4600460" cy="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56" name="Line 56"/>
          <p:cNvSpPr/>
          <p:nvPr/>
        </p:nvSpPr>
        <p:spPr>
          <a:xfrm>
            <a:off x="857229" y="5238750"/>
            <a:ext cx="4600460" cy="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57" name="Line 57"/>
          <p:cNvSpPr/>
          <p:nvPr/>
        </p:nvSpPr>
        <p:spPr>
          <a:xfrm>
            <a:off x="857229" y="5381625"/>
            <a:ext cx="4600460" cy="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58" name="Line 58"/>
          <p:cNvSpPr/>
          <p:nvPr/>
        </p:nvSpPr>
        <p:spPr>
          <a:xfrm>
            <a:off x="857229" y="5524500"/>
            <a:ext cx="4600460" cy="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59" name="Line 59"/>
          <p:cNvSpPr/>
          <p:nvPr/>
        </p:nvSpPr>
        <p:spPr>
          <a:xfrm>
            <a:off x="857229" y="5667375"/>
            <a:ext cx="4600460" cy="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60" name="Line 60"/>
          <p:cNvSpPr/>
          <p:nvPr/>
        </p:nvSpPr>
        <p:spPr>
          <a:xfrm>
            <a:off x="857229" y="5810250"/>
            <a:ext cx="4600460" cy="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61" name="Line 61"/>
          <p:cNvSpPr/>
          <p:nvPr/>
        </p:nvSpPr>
        <p:spPr>
          <a:xfrm>
            <a:off x="5457689" y="2667000"/>
            <a:ext cx="0" cy="316230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62" name="Line 62"/>
          <p:cNvSpPr/>
          <p:nvPr/>
        </p:nvSpPr>
        <p:spPr>
          <a:xfrm>
            <a:off x="857229" y="5829300"/>
            <a:ext cx="4600460" cy="0"/>
          </a:xfrm>
          <a:prstGeom prst="line">
            <a:avLst/>
          </a:prstGeom>
          <a:noFill/>
          <a:ln w="12700">
            <a:solidFill>
              <a:srgbClr val="F4F6F8"/>
            </a:solidFill>
          </a:ln>
        </p:spPr>
        <p:txBody>
          <a:bodyPr/>
          <a:lstStyle/>
          <a:p/>
        </p:txBody>
      </p:sp>
      <p:sp>
        <p:nvSpPr>
          <p:cNvPr id="63" name="Line 63"/>
          <p:cNvSpPr/>
          <p:nvPr/>
        </p:nvSpPr>
        <p:spPr>
          <a:xfrm>
            <a:off x="685783" y="6248400"/>
            <a:ext cx="2847904" cy="0"/>
          </a:xfrm>
          <a:prstGeom prst="line">
            <a:avLst/>
          </a:prstGeom>
          <a:noFill/>
          <a:ln w="12700">
            <a:solidFill>
              <a:srgbClr val="D6DDE3"/>
            </a:solidFill>
          </a:ln>
        </p:spPr>
        <p:txBody>
          <a:bodyPr/>
          <a:lstStyle/>
          <a:p/>
        </p:txBody>
      </p:sp>
      <p:sp>
        <p:nvSpPr>
          <p:cNvPr id="64" name="Rect 64"/>
          <p:cNvSpPr/>
          <p:nvPr/>
        </p:nvSpPr>
        <p:spPr>
          <a:xfrm>
            <a:off x="6191095" y="4133850"/>
            <a:ext cx="3905152" cy="285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Rect 65"/>
          <p:cNvSpPr/>
          <p:nvPr/>
        </p:nvSpPr>
        <p:spPr>
          <a:xfrm>
            <a:off x="6191095" y="4419600"/>
            <a:ext cx="3905152" cy="28575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Rect 66"/>
          <p:cNvSpPr/>
          <p:nvPr/>
        </p:nvSpPr>
        <p:spPr>
          <a:xfrm>
            <a:off x="6191095" y="4705350"/>
            <a:ext cx="3905152" cy="285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Rect 67"/>
          <p:cNvSpPr/>
          <p:nvPr/>
        </p:nvSpPr>
        <p:spPr>
          <a:xfrm>
            <a:off x="6191095" y="4991100"/>
            <a:ext cx="3905152" cy="28575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Rect 68"/>
          <p:cNvSpPr/>
          <p:nvPr/>
        </p:nvSpPr>
        <p:spPr>
          <a:xfrm>
            <a:off x="6191095" y="5276850"/>
            <a:ext cx="3905152" cy="285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Rect 69"/>
          <p:cNvSpPr/>
          <p:nvPr/>
        </p:nvSpPr>
        <p:spPr>
          <a:xfrm>
            <a:off x="6191095" y="5562600"/>
            <a:ext cx="3905152" cy="28575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Rect 70"/>
          <p:cNvSpPr/>
          <p:nvPr/>
        </p:nvSpPr>
        <p:spPr>
          <a:xfrm>
            <a:off x="6191095" y="5848350"/>
            <a:ext cx="3905152" cy="285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Rect 71"/>
          <p:cNvSpPr/>
          <p:nvPr/>
        </p:nvSpPr>
        <p:spPr>
          <a:xfrm>
            <a:off x="6191095" y="3810000"/>
            <a:ext cx="3905152" cy="323850"/>
          </a:xfrm>
          <a:prstGeom prst="rect">
            <a:avLst/>
          </a:prstGeom>
          <a:solidFill>
            <a:srgbClr val="1D2630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Line 72"/>
          <p:cNvSpPr/>
          <p:nvPr/>
        </p:nvSpPr>
        <p:spPr>
          <a:xfrm>
            <a:off x="6191095" y="3810000"/>
            <a:ext cx="3905152" cy="0"/>
          </a:xfrm>
          <a:prstGeom prst="line">
            <a:avLst/>
          </a:prstGeom>
          <a:noFill/>
          <a:ln w="12700">
            <a:solidFill>
              <a:srgbClr val="E4E8EB"/>
            </a:solidFill>
          </a:ln>
        </p:spPr>
        <p:txBody>
          <a:bodyPr/>
          <a:lstStyle/>
          <a:p/>
        </p:txBody>
      </p:sp>
      <p:sp>
        <p:nvSpPr>
          <p:cNvPr id="73" name="Line 73"/>
          <p:cNvSpPr/>
          <p:nvPr/>
        </p:nvSpPr>
        <p:spPr>
          <a:xfrm>
            <a:off x="6191095" y="4133850"/>
            <a:ext cx="3905152" cy="0"/>
          </a:xfrm>
          <a:prstGeom prst="line">
            <a:avLst/>
          </a:prstGeom>
          <a:noFill/>
          <a:ln w="12700">
            <a:solidFill>
              <a:srgbClr val="E4E8EB"/>
            </a:solidFill>
          </a:ln>
        </p:spPr>
        <p:txBody>
          <a:bodyPr/>
          <a:lstStyle/>
          <a:p/>
        </p:txBody>
      </p:sp>
      <p:sp>
        <p:nvSpPr>
          <p:cNvPr id="74" name="Line 74"/>
          <p:cNvSpPr/>
          <p:nvPr/>
        </p:nvSpPr>
        <p:spPr>
          <a:xfrm>
            <a:off x="6191095" y="4419600"/>
            <a:ext cx="3905152" cy="0"/>
          </a:xfrm>
          <a:prstGeom prst="line">
            <a:avLst/>
          </a:prstGeom>
          <a:noFill/>
          <a:ln w="12700">
            <a:solidFill>
              <a:srgbClr val="E4E8EB"/>
            </a:solidFill>
          </a:ln>
        </p:spPr>
        <p:txBody>
          <a:bodyPr/>
          <a:lstStyle/>
          <a:p/>
        </p:txBody>
      </p:sp>
      <p:sp>
        <p:nvSpPr>
          <p:cNvPr id="75" name="Line 75"/>
          <p:cNvSpPr/>
          <p:nvPr/>
        </p:nvSpPr>
        <p:spPr>
          <a:xfrm>
            <a:off x="6191095" y="4705350"/>
            <a:ext cx="3905152" cy="0"/>
          </a:xfrm>
          <a:prstGeom prst="line">
            <a:avLst/>
          </a:prstGeom>
          <a:noFill/>
          <a:ln w="12700">
            <a:solidFill>
              <a:srgbClr val="E4E8EB"/>
            </a:solidFill>
          </a:ln>
        </p:spPr>
        <p:txBody>
          <a:bodyPr/>
          <a:lstStyle/>
          <a:p/>
        </p:txBody>
      </p:sp>
      <p:sp>
        <p:nvSpPr>
          <p:cNvPr id="76" name="Line 76"/>
          <p:cNvSpPr/>
          <p:nvPr/>
        </p:nvSpPr>
        <p:spPr>
          <a:xfrm>
            <a:off x="6191095" y="4991100"/>
            <a:ext cx="3905152" cy="0"/>
          </a:xfrm>
          <a:prstGeom prst="line">
            <a:avLst/>
          </a:prstGeom>
          <a:noFill/>
          <a:ln w="12700">
            <a:solidFill>
              <a:srgbClr val="E4E8EB"/>
            </a:solidFill>
          </a:ln>
        </p:spPr>
        <p:txBody>
          <a:bodyPr/>
          <a:lstStyle/>
          <a:p/>
        </p:txBody>
      </p:sp>
      <p:sp>
        <p:nvSpPr>
          <p:cNvPr id="77" name="Line 77"/>
          <p:cNvSpPr/>
          <p:nvPr/>
        </p:nvSpPr>
        <p:spPr>
          <a:xfrm>
            <a:off x="6191095" y="5276850"/>
            <a:ext cx="3905152" cy="0"/>
          </a:xfrm>
          <a:prstGeom prst="line">
            <a:avLst/>
          </a:prstGeom>
          <a:noFill/>
          <a:ln w="12700">
            <a:solidFill>
              <a:srgbClr val="E4E8EB"/>
            </a:solidFill>
          </a:ln>
        </p:spPr>
        <p:txBody>
          <a:bodyPr/>
          <a:lstStyle/>
          <a:p/>
        </p:txBody>
      </p:sp>
      <p:sp>
        <p:nvSpPr>
          <p:cNvPr id="78" name="Line 78"/>
          <p:cNvSpPr/>
          <p:nvPr/>
        </p:nvSpPr>
        <p:spPr>
          <a:xfrm>
            <a:off x="6191095" y="5562600"/>
            <a:ext cx="3905152" cy="0"/>
          </a:xfrm>
          <a:prstGeom prst="line">
            <a:avLst/>
          </a:prstGeom>
          <a:noFill/>
          <a:ln w="12700">
            <a:solidFill>
              <a:srgbClr val="E4E8EB"/>
            </a:solidFill>
          </a:ln>
        </p:spPr>
        <p:txBody>
          <a:bodyPr/>
          <a:lstStyle/>
          <a:p/>
        </p:txBody>
      </p:sp>
      <p:sp>
        <p:nvSpPr>
          <p:cNvPr id="79" name="Line 79"/>
          <p:cNvSpPr/>
          <p:nvPr/>
        </p:nvSpPr>
        <p:spPr>
          <a:xfrm>
            <a:off x="6191095" y="5848350"/>
            <a:ext cx="3905152" cy="0"/>
          </a:xfrm>
          <a:prstGeom prst="line">
            <a:avLst/>
          </a:prstGeom>
          <a:noFill/>
          <a:ln w="12700">
            <a:solidFill>
              <a:srgbClr val="E4E8EB"/>
            </a:solidFill>
          </a:ln>
        </p:spPr>
        <p:txBody>
          <a:bodyPr/>
          <a:lstStyle/>
          <a:p/>
        </p:txBody>
      </p:sp>
      <p:sp>
        <p:nvSpPr>
          <p:cNvPr id="80" name="Line 80"/>
          <p:cNvSpPr/>
          <p:nvPr/>
        </p:nvSpPr>
        <p:spPr>
          <a:xfrm>
            <a:off x="6191095" y="6134100"/>
            <a:ext cx="3905152" cy="0"/>
          </a:xfrm>
          <a:prstGeom prst="line">
            <a:avLst/>
          </a:prstGeom>
          <a:noFill/>
          <a:ln w="12700">
            <a:solidFill>
              <a:srgbClr val="E4E8EB"/>
            </a:solidFill>
          </a:ln>
        </p:spPr>
        <p:txBody>
          <a:bodyPr/>
          <a:lstStyle/>
          <a:p/>
        </p:txBody>
      </p:sp>
      <p:sp>
        <p:nvSpPr>
          <p:cNvPr id="81" name="Rect 81"/>
          <p:cNvSpPr/>
          <p:nvPr/>
        </p:nvSpPr>
        <p:spPr>
          <a:xfrm>
            <a:off x="685783" y="571500"/>
            <a:ext cx="66673" cy="66675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Ellipse 82"/>
          <p:cNvSpPr/>
          <p:nvPr/>
        </p:nvSpPr>
        <p:spPr>
          <a:xfrm>
            <a:off x="1628734" y="3429000"/>
            <a:ext cx="47624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Ellipse 83"/>
          <p:cNvSpPr/>
          <p:nvPr/>
        </p:nvSpPr>
        <p:spPr>
          <a:xfrm>
            <a:off x="1771606" y="3429000"/>
            <a:ext cx="47624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4" name="Ellipse 84"/>
          <p:cNvSpPr/>
          <p:nvPr/>
        </p:nvSpPr>
        <p:spPr>
          <a:xfrm>
            <a:off x="2485963" y="34290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Ellipse 85"/>
          <p:cNvSpPr/>
          <p:nvPr/>
        </p:nvSpPr>
        <p:spPr>
          <a:xfrm>
            <a:off x="2628834" y="34290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Ellipse 86"/>
          <p:cNvSpPr/>
          <p:nvPr/>
        </p:nvSpPr>
        <p:spPr>
          <a:xfrm>
            <a:off x="2781230" y="3429000"/>
            <a:ext cx="47624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7" name="Ellipse 87"/>
          <p:cNvSpPr/>
          <p:nvPr/>
        </p:nvSpPr>
        <p:spPr>
          <a:xfrm>
            <a:off x="2924102" y="3429000"/>
            <a:ext cx="47624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8" name="Ellipse 88"/>
          <p:cNvSpPr/>
          <p:nvPr/>
        </p:nvSpPr>
        <p:spPr>
          <a:xfrm>
            <a:off x="3352716" y="3429000"/>
            <a:ext cx="47624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Ellipse 89"/>
          <p:cNvSpPr/>
          <p:nvPr/>
        </p:nvSpPr>
        <p:spPr>
          <a:xfrm>
            <a:off x="3495588" y="3429000"/>
            <a:ext cx="47624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Ellipse 90"/>
          <p:cNvSpPr/>
          <p:nvPr/>
        </p:nvSpPr>
        <p:spPr>
          <a:xfrm>
            <a:off x="3638459" y="34290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1" name="Ellipse 91"/>
          <p:cNvSpPr/>
          <p:nvPr/>
        </p:nvSpPr>
        <p:spPr>
          <a:xfrm>
            <a:off x="3781330" y="34290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Ellipse 92"/>
          <p:cNvSpPr/>
          <p:nvPr/>
        </p:nvSpPr>
        <p:spPr>
          <a:xfrm>
            <a:off x="3924202" y="34290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3" name="Ellipse 93"/>
          <p:cNvSpPr/>
          <p:nvPr/>
        </p:nvSpPr>
        <p:spPr>
          <a:xfrm>
            <a:off x="4067073" y="34290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4" name="Ellipse 94"/>
          <p:cNvSpPr/>
          <p:nvPr/>
        </p:nvSpPr>
        <p:spPr>
          <a:xfrm>
            <a:off x="4362341" y="3429000"/>
            <a:ext cx="47624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Ellipse 95"/>
          <p:cNvSpPr/>
          <p:nvPr/>
        </p:nvSpPr>
        <p:spPr>
          <a:xfrm>
            <a:off x="1628734" y="3571875"/>
            <a:ext cx="47624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6" name="Ellipse 96"/>
          <p:cNvSpPr/>
          <p:nvPr/>
        </p:nvSpPr>
        <p:spPr>
          <a:xfrm>
            <a:off x="1771606" y="3571875"/>
            <a:ext cx="47624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7" name="Ellipse 97"/>
          <p:cNvSpPr/>
          <p:nvPr/>
        </p:nvSpPr>
        <p:spPr>
          <a:xfrm>
            <a:off x="1914477" y="35718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8" name="Ellipse 98"/>
          <p:cNvSpPr/>
          <p:nvPr/>
        </p:nvSpPr>
        <p:spPr>
          <a:xfrm>
            <a:off x="2057349" y="35718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9" name="Ellipse 99"/>
          <p:cNvSpPr/>
          <p:nvPr/>
        </p:nvSpPr>
        <p:spPr>
          <a:xfrm>
            <a:off x="2200220" y="35718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" name="Ellipse 100"/>
          <p:cNvSpPr/>
          <p:nvPr/>
        </p:nvSpPr>
        <p:spPr>
          <a:xfrm>
            <a:off x="2485963" y="35718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Ellipse 101"/>
          <p:cNvSpPr/>
          <p:nvPr/>
        </p:nvSpPr>
        <p:spPr>
          <a:xfrm>
            <a:off x="2628834" y="35718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Ellipse 102"/>
          <p:cNvSpPr/>
          <p:nvPr/>
        </p:nvSpPr>
        <p:spPr>
          <a:xfrm>
            <a:off x="2771706" y="35718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Ellipse 103"/>
          <p:cNvSpPr/>
          <p:nvPr/>
        </p:nvSpPr>
        <p:spPr>
          <a:xfrm>
            <a:off x="2924102" y="3571875"/>
            <a:ext cx="47624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Ellipse 104"/>
          <p:cNvSpPr/>
          <p:nvPr/>
        </p:nvSpPr>
        <p:spPr>
          <a:xfrm>
            <a:off x="3352716" y="3571875"/>
            <a:ext cx="47624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Ellipse 105"/>
          <p:cNvSpPr/>
          <p:nvPr/>
        </p:nvSpPr>
        <p:spPr>
          <a:xfrm>
            <a:off x="3495588" y="35718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" name="Ellipse 106"/>
          <p:cNvSpPr/>
          <p:nvPr/>
        </p:nvSpPr>
        <p:spPr>
          <a:xfrm>
            <a:off x="3638459" y="35718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Ellipse 107"/>
          <p:cNvSpPr/>
          <p:nvPr/>
        </p:nvSpPr>
        <p:spPr>
          <a:xfrm>
            <a:off x="3781330" y="35718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" name="Ellipse 108"/>
          <p:cNvSpPr/>
          <p:nvPr/>
        </p:nvSpPr>
        <p:spPr>
          <a:xfrm>
            <a:off x="3924202" y="35718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" name="Ellipse 109"/>
          <p:cNvSpPr/>
          <p:nvPr/>
        </p:nvSpPr>
        <p:spPr>
          <a:xfrm>
            <a:off x="4067073" y="35718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" name="Ellipse 110"/>
          <p:cNvSpPr/>
          <p:nvPr/>
        </p:nvSpPr>
        <p:spPr>
          <a:xfrm>
            <a:off x="1628734" y="3857625"/>
            <a:ext cx="47624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" name="Ellipse 111"/>
          <p:cNvSpPr/>
          <p:nvPr/>
        </p:nvSpPr>
        <p:spPr>
          <a:xfrm>
            <a:off x="1771606" y="38576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Ellipse 112"/>
          <p:cNvSpPr/>
          <p:nvPr/>
        </p:nvSpPr>
        <p:spPr>
          <a:xfrm>
            <a:off x="1914477" y="38576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" name="Ellipse 113"/>
          <p:cNvSpPr/>
          <p:nvPr/>
        </p:nvSpPr>
        <p:spPr>
          <a:xfrm>
            <a:off x="2057349" y="38576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" name="Ellipse 114"/>
          <p:cNvSpPr/>
          <p:nvPr/>
        </p:nvSpPr>
        <p:spPr>
          <a:xfrm>
            <a:off x="2200220" y="38576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" name="Ellipse 115"/>
          <p:cNvSpPr/>
          <p:nvPr/>
        </p:nvSpPr>
        <p:spPr>
          <a:xfrm>
            <a:off x="2485963" y="38576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" name="Ellipse 116"/>
          <p:cNvSpPr/>
          <p:nvPr/>
        </p:nvSpPr>
        <p:spPr>
          <a:xfrm>
            <a:off x="2771706" y="38576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" name="Ellipse 117"/>
          <p:cNvSpPr/>
          <p:nvPr/>
        </p:nvSpPr>
        <p:spPr>
          <a:xfrm>
            <a:off x="2914577" y="38576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" name="Ellipse 118"/>
          <p:cNvSpPr/>
          <p:nvPr/>
        </p:nvSpPr>
        <p:spPr>
          <a:xfrm>
            <a:off x="3352716" y="38576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" name="Ellipse 119"/>
          <p:cNvSpPr/>
          <p:nvPr/>
        </p:nvSpPr>
        <p:spPr>
          <a:xfrm>
            <a:off x="3495588" y="38576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" name="Ellipse 120"/>
          <p:cNvSpPr/>
          <p:nvPr/>
        </p:nvSpPr>
        <p:spPr>
          <a:xfrm>
            <a:off x="3638459" y="38576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" name="Ellipse 121"/>
          <p:cNvSpPr/>
          <p:nvPr/>
        </p:nvSpPr>
        <p:spPr>
          <a:xfrm>
            <a:off x="3781330" y="38576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" name="Ellipse 122"/>
          <p:cNvSpPr/>
          <p:nvPr/>
        </p:nvSpPr>
        <p:spPr>
          <a:xfrm>
            <a:off x="4352816" y="38576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" name="Ellipse 123"/>
          <p:cNvSpPr/>
          <p:nvPr/>
        </p:nvSpPr>
        <p:spPr>
          <a:xfrm>
            <a:off x="4495688" y="38576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" name="Ellipse 124"/>
          <p:cNvSpPr/>
          <p:nvPr/>
        </p:nvSpPr>
        <p:spPr>
          <a:xfrm>
            <a:off x="4648084" y="3857625"/>
            <a:ext cx="47624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" name="Ellipse 125"/>
          <p:cNvSpPr/>
          <p:nvPr/>
        </p:nvSpPr>
        <p:spPr>
          <a:xfrm>
            <a:off x="2343091" y="3867150"/>
            <a:ext cx="57149" cy="4762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" name="Ellipse 126"/>
          <p:cNvSpPr/>
          <p:nvPr/>
        </p:nvSpPr>
        <p:spPr>
          <a:xfrm>
            <a:off x="1628734" y="4000500"/>
            <a:ext cx="47624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" name="Ellipse 127"/>
          <p:cNvSpPr/>
          <p:nvPr/>
        </p:nvSpPr>
        <p:spPr>
          <a:xfrm>
            <a:off x="1771606" y="40005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" name="Ellipse 128"/>
          <p:cNvSpPr/>
          <p:nvPr/>
        </p:nvSpPr>
        <p:spPr>
          <a:xfrm>
            <a:off x="1914477" y="40005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" name="Ellipse 129"/>
          <p:cNvSpPr/>
          <p:nvPr/>
        </p:nvSpPr>
        <p:spPr>
          <a:xfrm>
            <a:off x="2057349" y="40005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" name="Ellipse 130"/>
          <p:cNvSpPr/>
          <p:nvPr/>
        </p:nvSpPr>
        <p:spPr>
          <a:xfrm>
            <a:off x="2771706" y="40005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" name="Ellipse 131"/>
          <p:cNvSpPr/>
          <p:nvPr/>
        </p:nvSpPr>
        <p:spPr>
          <a:xfrm>
            <a:off x="2914577" y="40005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" name="Ellipse 132"/>
          <p:cNvSpPr/>
          <p:nvPr/>
        </p:nvSpPr>
        <p:spPr>
          <a:xfrm>
            <a:off x="3352716" y="40005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" name="Ellipse 133"/>
          <p:cNvSpPr/>
          <p:nvPr/>
        </p:nvSpPr>
        <p:spPr>
          <a:xfrm>
            <a:off x="3495588" y="40005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" name="Ellipse 134"/>
          <p:cNvSpPr/>
          <p:nvPr/>
        </p:nvSpPr>
        <p:spPr>
          <a:xfrm>
            <a:off x="3638459" y="40005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" name="Ellipse 135"/>
          <p:cNvSpPr/>
          <p:nvPr/>
        </p:nvSpPr>
        <p:spPr>
          <a:xfrm>
            <a:off x="4352816" y="40005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" name="Ellipse 136"/>
          <p:cNvSpPr/>
          <p:nvPr/>
        </p:nvSpPr>
        <p:spPr>
          <a:xfrm>
            <a:off x="4495688" y="40005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" name="Ellipse 137"/>
          <p:cNvSpPr/>
          <p:nvPr/>
        </p:nvSpPr>
        <p:spPr>
          <a:xfrm>
            <a:off x="4648084" y="4000500"/>
            <a:ext cx="47624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" name="Ellipse 138"/>
          <p:cNvSpPr/>
          <p:nvPr/>
        </p:nvSpPr>
        <p:spPr>
          <a:xfrm>
            <a:off x="2343091" y="4010025"/>
            <a:ext cx="57149" cy="4762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" name="Ellipse 139"/>
          <p:cNvSpPr/>
          <p:nvPr/>
        </p:nvSpPr>
        <p:spPr>
          <a:xfrm>
            <a:off x="2485963" y="4010025"/>
            <a:ext cx="57149" cy="4762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" name="Ellipse 140"/>
          <p:cNvSpPr/>
          <p:nvPr/>
        </p:nvSpPr>
        <p:spPr>
          <a:xfrm>
            <a:off x="2628834" y="4010025"/>
            <a:ext cx="57149" cy="4762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" name="Ellipse 141"/>
          <p:cNvSpPr/>
          <p:nvPr/>
        </p:nvSpPr>
        <p:spPr>
          <a:xfrm>
            <a:off x="3781330" y="4010025"/>
            <a:ext cx="57149" cy="4762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" name="Ellipse 142"/>
          <p:cNvSpPr/>
          <p:nvPr/>
        </p:nvSpPr>
        <p:spPr>
          <a:xfrm>
            <a:off x="3924202" y="4010025"/>
            <a:ext cx="57149" cy="4762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" name="Ellipse 143"/>
          <p:cNvSpPr/>
          <p:nvPr/>
        </p:nvSpPr>
        <p:spPr>
          <a:xfrm>
            <a:off x="4067073" y="4010025"/>
            <a:ext cx="57149" cy="4762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" name="Ellipse 144"/>
          <p:cNvSpPr/>
          <p:nvPr/>
        </p:nvSpPr>
        <p:spPr>
          <a:xfrm>
            <a:off x="4209945" y="4010025"/>
            <a:ext cx="57149" cy="4762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" name="Ellipse 145"/>
          <p:cNvSpPr/>
          <p:nvPr/>
        </p:nvSpPr>
        <p:spPr>
          <a:xfrm>
            <a:off x="1771606" y="44386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" name="Ellipse 146"/>
          <p:cNvSpPr/>
          <p:nvPr/>
        </p:nvSpPr>
        <p:spPr>
          <a:xfrm>
            <a:off x="1914477" y="44386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" name="Ellipse 147"/>
          <p:cNvSpPr/>
          <p:nvPr/>
        </p:nvSpPr>
        <p:spPr>
          <a:xfrm>
            <a:off x="2057349" y="4438650"/>
            <a:ext cx="57149" cy="4762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" name="Ellipse 148"/>
          <p:cNvSpPr/>
          <p:nvPr/>
        </p:nvSpPr>
        <p:spPr>
          <a:xfrm>
            <a:off x="2200220" y="4438650"/>
            <a:ext cx="57149" cy="4762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" name="Ellipse 149"/>
          <p:cNvSpPr/>
          <p:nvPr/>
        </p:nvSpPr>
        <p:spPr>
          <a:xfrm>
            <a:off x="2343091" y="4438650"/>
            <a:ext cx="57149" cy="4762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" name="Ellipse 150"/>
          <p:cNvSpPr/>
          <p:nvPr/>
        </p:nvSpPr>
        <p:spPr>
          <a:xfrm>
            <a:off x="2485963" y="4438650"/>
            <a:ext cx="57149" cy="4762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1" name="Ellipse 151"/>
          <p:cNvSpPr/>
          <p:nvPr/>
        </p:nvSpPr>
        <p:spPr>
          <a:xfrm>
            <a:off x="2628834" y="4438650"/>
            <a:ext cx="57149" cy="4762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" name="Ellipse 152"/>
          <p:cNvSpPr/>
          <p:nvPr/>
        </p:nvSpPr>
        <p:spPr>
          <a:xfrm>
            <a:off x="2771706" y="44386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" name="Ellipse 153"/>
          <p:cNvSpPr/>
          <p:nvPr/>
        </p:nvSpPr>
        <p:spPr>
          <a:xfrm>
            <a:off x="2914577" y="44386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" name="Ellipse 154"/>
          <p:cNvSpPr/>
          <p:nvPr/>
        </p:nvSpPr>
        <p:spPr>
          <a:xfrm>
            <a:off x="3352716" y="44386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" name="Ellipse 155"/>
          <p:cNvSpPr/>
          <p:nvPr/>
        </p:nvSpPr>
        <p:spPr>
          <a:xfrm>
            <a:off x="3495588" y="44386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" name="Ellipse 156"/>
          <p:cNvSpPr/>
          <p:nvPr/>
        </p:nvSpPr>
        <p:spPr>
          <a:xfrm>
            <a:off x="3638459" y="4438650"/>
            <a:ext cx="57149" cy="4762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" name="Ellipse 157"/>
          <p:cNvSpPr/>
          <p:nvPr/>
        </p:nvSpPr>
        <p:spPr>
          <a:xfrm>
            <a:off x="3781330" y="4438650"/>
            <a:ext cx="57149" cy="4762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" name="Ellipse 158"/>
          <p:cNvSpPr/>
          <p:nvPr/>
        </p:nvSpPr>
        <p:spPr>
          <a:xfrm>
            <a:off x="3924202" y="4438650"/>
            <a:ext cx="57149" cy="4762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9" name="Ellipse 159"/>
          <p:cNvSpPr/>
          <p:nvPr/>
        </p:nvSpPr>
        <p:spPr>
          <a:xfrm>
            <a:off x="4209945" y="4438650"/>
            <a:ext cx="57149" cy="4762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0" name="Ellipse 160"/>
          <p:cNvSpPr/>
          <p:nvPr/>
        </p:nvSpPr>
        <p:spPr>
          <a:xfrm>
            <a:off x="4352816" y="44386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1" name="Ellipse 161"/>
          <p:cNvSpPr/>
          <p:nvPr/>
        </p:nvSpPr>
        <p:spPr>
          <a:xfrm>
            <a:off x="4495688" y="44386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2" name="Ellipse 162"/>
          <p:cNvSpPr/>
          <p:nvPr/>
        </p:nvSpPr>
        <p:spPr>
          <a:xfrm>
            <a:off x="4648084" y="4438650"/>
            <a:ext cx="47624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3" name="Ellipse 163"/>
          <p:cNvSpPr/>
          <p:nvPr/>
        </p:nvSpPr>
        <p:spPr>
          <a:xfrm>
            <a:off x="1771606" y="45815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4" name="Ellipse 164"/>
          <p:cNvSpPr/>
          <p:nvPr/>
        </p:nvSpPr>
        <p:spPr>
          <a:xfrm>
            <a:off x="1914477" y="45815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5" name="Ellipse 165"/>
          <p:cNvSpPr/>
          <p:nvPr/>
        </p:nvSpPr>
        <p:spPr>
          <a:xfrm>
            <a:off x="2057349" y="45815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6" name="Ellipse 166"/>
          <p:cNvSpPr/>
          <p:nvPr/>
        </p:nvSpPr>
        <p:spPr>
          <a:xfrm>
            <a:off x="2200220" y="45815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7" name="Ellipse 167"/>
          <p:cNvSpPr/>
          <p:nvPr/>
        </p:nvSpPr>
        <p:spPr>
          <a:xfrm>
            <a:off x="2343091" y="4581525"/>
            <a:ext cx="57149" cy="4762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8" name="Ellipse 168"/>
          <p:cNvSpPr/>
          <p:nvPr/>
        </p:nvSpPr>
        <p:spPr>
          <a:xfrm>
            <a:off x="2485963" y="45815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9" name="Ellipse 169"/>
          <p:cNvSpPr/>
          <p:nvPr/>
        </p:nvSpPr>
        <p:spPr>
          <a:xfrm>
            <a:off x="2628834" y="45815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0" name="Ellipse 170"/>
          <p:cNvSpPr/>
          <p:nvPr/>
        </p:nvSpPr>
        <p:spPr>
          <a:xfrm>
            <a:off x="2771706" y="45815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1" name="Ellipse 171"/>
          <p:cNvSpPr/>
          <p:nvPr/>
        </p:nvSpPr>
        <p:spPr>
          <a:xfrm>
            <a:off x="2914577" y="45815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2" name="Ellipse 172"/>
          <p:cNvSpPr/>
          <p:nvPr/>
        </p:nvSpPr>
        <p:spPr>
          <a:xfrm>
            <a:off x="3352716" y="45815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3" name="Ellipse 173"/>
          <p:cNvSpPr/>
          <p:nvPr/>
        </p:nvSpPr>
        <p:spPr>
          <a:xfrm>
            <a:off x="3495588" y="45815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4" name="Ellipse 174"/>
          <p:cNvSpPr/>
          <p:nvPr/>
        </p:nvSpPr>
        <p:spPr>
          <a:xfrm>
            <a:off x="3781330" y="45815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5" name="Ellipse 175"/>
          <p:cNvSpPr/>
          <p:nvPr/>
        </p:nvSpPr>
        <p:spPr>
          <a:xfrm>
            <a:off x="3924202" y="4581525"/>
            <a:ext cx="57149" cy="4762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6" name="Ellipse 176"/>
          <p:cNvSpPr/>
          <p:nvPr/>
        </p:nvSpPr>
        <p:spPr>
          <a:xfrm>
            <a:off x="4209945" y="45815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7" name="Ellipse 177"/>
          <p:cNvSpPr/>
          <p:nvPr/>
        </p:nvSpPr>
        <p:spPr>
          <a:xfrm>
            <a:off x="4352816" y="45815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8" name="Ellipse 178"/>
          <p:cNvSpPr/>
          <p:nvPr/>
        </p:nvSpPr>
        <p:spPr>
          <a:xfrm>
            <a:off x="2057349" y="48672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9" name="Ellipse 179"/>
          <p:cNvSpPr/>
          <p:nvPr/>
        </p:nvSpPr>
        <p:spPr>
          <a:xfrm>
            <a:off x="2200220" y="48672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0" name="Ellipse 180"/>
          <p:cNvSpPr/>
          <p:nvPr/>
        </p:nvSpPr>
        <p:spPr>
          <a:xfrm>
            <a:off x="2485963" y="48672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1" name="Ellipse 181"/>
          <p:cNvSpPr/>
          <p:nvPr/>
        </p:nvSpPr>
        <p:spPr>
          <a:xfrm>
            <a:off x="2771706" y="48672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2" name="Ellipse 182"/>
          <p:cNvSpPr/>
          <p:nvPr/>
        </p:nvSpPr>
        <p:spPr>
          <a:xfrm>
            <a:off x="2924102" y="4867275"/>
            <a:ext cx="47624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3" name="Ellipse 183"/>
          <p:cNvSpPr/>
          <p:nvPr/>
        </p:nvSpPr>
        <p:spPr>
          <a:xfrm>
            <a:off x="3352716" y="4867275"/>
            <a:ext cx="47624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4" name="Ellipse 184"/>
          <p:cNvSpPr/>
          <p:nvPr/>
        </p:nvSpPr>
        <p:spPr>
          <a:xfrm>
            <a:off x="3495588" y="48672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5" name="Ellipse 185"/>
          <p:cNvSpPr/>
          <p:nvPr/>
        </p:nvSpPr>
        <p:spPr>
          <a:xfrm>
            <a:off x="3638459" y="48672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6" name="Ellipse 186"/>
          <p:cNvSpPr/>
          <p:nvPr/>
        </p:nvSpPr>
        <p:spPr>
          <a:xfrm>
            <a:off x="3781330" y="48672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7" name="Ellipse 187"/>
          <p:cNvSpPr/>
          <p:nvPr/>
        </p:nvSpPr>
        <p:spPr>
          <a:xfrm>
            <a:off x="3924202" y="48672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8" name="Ellipse 188"/>
          <p:cNvSpPr/>
          <p:nvPr/>
        </p:nvSpPr>
        <p:spPr>
          <a:xfrm>
            <a:off x="4209945" y="48672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9" name="Ellipse 189"/>
          <p:cNvSpPr/>
          <p:nvPr/>
        </p:nvSpPr>
        <p:spPr>
          <a:xfrm>
            <a:off x="4352816" y="48672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0" name="Ellipse 190"/>
          <p:cNvSpPr/>
          <p:nvPr/>
        </p:nvSpPr>
        <p:spPr>
          <a:xfrm>
            <a:off x="1628734" y="5010150"/>
            <a:ext cx="47624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1" name="Ellipse 191"/>
          <p:cNvSpPr/>
          <p:nvPr/>
        </p:nvSpPr>
        <p:spPr>
          <a:xfrm>
            <a:off x="1771606" y="5010150"/>
            <a:ext cx="47624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2" name="Ellipse 192"/>
          <p:cNvSpPr/>
          <p:nvPr/>
        </p:nvSpPr>
        <p:spPr>
          <a:xfrm>
            <a:off x="2057349" y="5010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3" name="Ellipse 193"/>
          <p:cNvSpPr/>
          <p:nvPr/>
        </p:nvSpPr>
        <p:spPr>
          <a:xfrm>
            <a:off x="2200220" y="5010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4" name="Ellipse 194"/>
          <p:cNvSpPr/>
          <p:nvPr/>
        </p:nvSpPr>
        <p:spPr>
          <a:xfrm>
            <a:off x="2485963" y="5010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5" name="Ellipse 195"/>
          <p:cNvSpPr/>
          <p:nvPr/>
        </p:nvSpPr>
        <p:spPr>
          <a:xfrm>
            <a:off x="2628834" y="5010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6" name="Ellipse 196"/>
          <p:cNvSpPr/>
          <p:nvPr/>
        </p:nvSpPr>
        <p:spPr>
          <a:xfrm>
            <a:off x="2924102" y="5010150"/>
            <a:ext cx="47624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7" name="Ellipse 197"/>
          <p:cNvSpPr/>
          <p:nvPr/>
        </p:nvSpPr>
        <p:spPr>
          <a:xfrm>
            <a:off x="3352716" y="5010150"/>
            <a:ext cx="47624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8" name="Ellipse 198"/>
          <p:cNvSpPr/>
          <p:nvPr/>
        </p:nvSpPr>
        <p:spPr>
          <a:xfrm>
            <a:off x="3495588" y="5010150"/>
            <a:ext cx="47624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9" name="Ellipse 199"/>
          <p:cNvSpPr/>
          <p:nvPr/>
        </p:nvSpPr>
        <p:spPr>
          <a:xfrm>
            <a:off x="3781330" y="5010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0" name="Ellipse 200"/>
          <p:cNvSpPr/>
          <p:nvPr/>
        </p:nvSpPr>
        <p:spPr>
          <a:xfrm>
            <a:off x="3924202" y="5010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Ellipse 201"/>
          <p:cNvSpPr/>
          <p:nvPr/>
        </p:nvSpPr>
        <p:spPr>
          <a:xfrm>
            <a:off x="4209945" y="5010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Ellipse 202"/>
          <p:cNvSpPr/>
          <p:nvPr/>
        </p:nvSpPr>
        <p:spPr>
          <a:xfrm>
            <a:off x="4362341" y="5010150"/>
            <a:ext cx="47624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Rect 203"/>
          <p:cNvSpPr/>
          <p:nvPr/>
        </p:nvSpPr>
        <p:spPr>
          <a:xfrm>
            <a:off x="2314517" y="26860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Rect 204"/>
          <p:cNvSpPr/>
          <p:nvPr/>
        </p:nvSpPr>
        <p:spPr>
          <a:xfrm>
            <a:off x="2457389" y="26860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Rect 205"/>
          <p:cNvSpPr/>
          <p:nvPr/>
        </p:nvSpPr>
        <p:spPr>
          <a:xfrm>
            <a:off x="2600260" y="26860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6" name="Rect 206"/>
          <p:cNvSpPr/>
          <p:nvPr/>
        </p:nvSpPr>
        <p:spPr>
          <a:xfrm>
            <a:off x="4181370" y="26860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7" name="Rect 207"/>
          <p:cNvSpPr/>
          <p:nvPr/>
        </p:nvSpPr>
        <p:spPr>
          <a:xfrm>
            <a:off x="4324242" y="26860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8" name="Rect 208"/>
          <p:cNvSpPr/>
          <p:nvPr/>
        </p:nvSpPr>
        <p:spPr>
          <a:xfrm>
            <a:off x="4467113" y="26860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9" name="Rect 209"/>
          <p:cNvSpPr/>
          <p:nvPr/>
        </p:nvSpPr>
        <p:spPr>
          <a:xfrm>
            <a:off x="5333867" y="3400425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0" name="Rect 210"/>
          <p:cNvSpPr/>
          <p:nvPr/>
        </p:nvSpPr>
        <p:spPr>
          <a:xfrm>
            <a:off x="5333867" y="354330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1" name="Rect 211"/>
          <p:cNvSpPr/>
          <p:nvPr/>
        </p:nvSpPr>
        <p:spPr>
          <a:xfrm>
            <a:off x="5333867" y="3686175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2" name="Rect 212"/>
          <p:cNvSpPr/>
          <p:nvPr/>
        </p:nvSpPr>
        <p:spPr>
          <a:xfrm>
            <a:off x="5333867" y="45529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3" name="Rect 213"/>
          <p:cNvSpPr/>
          <p:nvPr/>
        </p:nvSpPr>
        <p:spPr>
          <a:xfrm>
            <a:off x="5333867" y="4695825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4" name="Rect 214"/>
          <p:cNvSpPr/>
          <p:nvPr/>
        </p:nvSpPr>
        <p:spPr>
          <a:xfrm>
            <a:off x="5333867" y="483870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5" name="Rect 215"/>
          <p:cNvSpPr/>
          <p:nvPr/>
        </p:nvSpPr>
        <p:spPr>
          <a:xfrm>
            <a:off x="1885903" y="56959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6" name="Rect 216"/>
          <p:cNvSpPr/>
          <p:nvPr/>
        </p:nvSpPr>
        <p:spPr>
          <a:xfrm>
            <a:off x="2028774" y="56959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7" name="Rect 217"/>
          <p:cNvSpPr/>
          <p:nvPr/>
        </p:nvSpPr>
        <p:spPr>
          <a:xfrm>
            <a:off x="2171646" y="56959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8" name="Rect 218"/>
          <p:cNvSpPr/>
          <p:nvPr/>
        </p:nvSpPr>
        <p:spPr>
          <a:xfrm>
            <a:off x="3895628" y="56959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9" name="Rect 219"/>
          <p:cNvSpPr/>
          <p:nvPr/>
        </p:nvSpPr>
        <p:spPr>
          <a:xfrm>
            <a:off x="4038499" y="56959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" name="Rect 220"/>
          <p:cNvSpPr/>
          <p:nvPr/>
        </p:nvSpPr>
        <p:spPr>
          <a:xfrm>
            <a:off x="4181370" y="56959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" name="Line 221"/>
          <p:cNvSpPr/>
          <p:nvPr/>
        </p:nvSpPr>
        <p:spPr>
          <a:xfrm>
            <a:off x="2371666" y="2800350"/>
            <a:ext cx="0" cy="657225"/>
          </a:xfrm>
          <a:prstGeom prst="line">
            <a:avLst/>
          </a:prstGeom>
          <a:noFill/>
          <a:ln w="25400">
            <a:solidFill>
              <a:srgbClr val="E6A72A"/>
            </a:solidFill>
          </a:ln>
        </p:spPr>
        <p:txBody>
          <a:bodyPr/>
          <a:lstStyle/>
          <a:p/>
        </p:txBody>
      </p:sp>
      <p:sp>
        <p:nvSpPr>
          <p:cNvPr id="222" name="Line 222"/>
          <p:cNvSpPr/>
          <p:nvPr/>
        </p:nvSpPr>
        <p:spPr>
          <a:xfrm>
            <a:off x="2228794" y="3457575"/>
            <a:ext cx="142871" cy="0"/>
          </a:xfrm>
          <a:prstGeom prst="line">
            <a:avLst/>
          </a:prstGeom>
          <a:noFill/>
          <a:ln w="25400">
            <a:solidFill>
              <a:srgbClr val="E6A72A"/>
            </a:solidFill>
          </a:ln>
        </p:spPr>
        <p:txBody>
          <a:bodyPr/>
          <a:lstStyle/>
          <a:p/>
        </p:txBody>
      </p:sp>
      <p:sp>
        <p:nvSpPr>
          <p:cNvPr id="223" name="Line 223"/>
          <p:cNvSpPr/>
          <p:nvPr/>
        </p:nvSpPr>
        <p:spPr>
          <a:xfrm>
            <a:off x="4238519" y="2800350"/>
            <a:ext cx="0" cy="1085850"/>
          </a:xfrm>
          <a:prstGeom prst="line">
            <a:avLst/>
          </a:prstGeom>
          <a:noFill/>
          <a:ln w="25400">
            <a:solidFill>
              <a:srgbClr val="E6A72A"/>
            </a:solidFill>
          </a:ln>
        </p:spPr>
        <p:txBody>
          <a:bodyPr/>
          <a:lstStyle/>
          <a:p/>
        </p:txBody>
      </p:sp>
      <p:sp>
        <p:nvSpPr>
          <p:cNvPr id="224" name="Line 224"/>
          <p:cNvSpPr/>
          <p:nvPr/>
        </p:nvSpPr>
        <p:spPr>
          <a:xfrm>
            <a:off x="3952776" y="3886200"/>
            <a:ext cx="285743" cy="0"/>
          </a:xfrm>
          <a:prstGeom prst="line">
            <a:avLst/>
          </a:prstGeom>
          <a:noFill/>
          <a:ln w="25400">
            <a:solidFill>
              <a:srgbClr val="E6A72A"/>
            </a:solidFill>
          </a:ln>
        </p:spPr>
        <p:txBody>
          <a:bodyPr/>
          <a:lstStyle/>
          <a:p/>
        </p:txBody>
      </p:sp>
      <p:sp>
        <p:nvSpPr>
          <p:cNvPr id="225" name="Line 225"/>
          <p:cNvSpPr/>
          <p:nvPr/>
        </p:nvSpPr>
        <p:spPr>
          <a:xfrm>
            <a:off x="1647784" y="4895850"/>
            <a:ext cx="295268" cy="0"/>
          </a:xfrm>
          <a:prstGeom prst="line">
            <a:avLst/>
          </a:prstGeom>
          <a:noFill/>
          <a:ln w="25400">
            <a:solidFill>
              <a:srgbClr val="E6A72A"/>
            </a:solidFill>
          </a:ln>
        </p:spPr>
        <p:txBody>
          <a:bodyPr/>
          <a:lstStyle/>
          <a:p/>
        </p:txBody>
      </p:sp>
      <p:sp>
        <p:nvSpPr>
          <p:cNvPr id="226" name="Line 226"/>
          <p:cNvSpPr/>
          <p:nvPr/>
        </p:nvSpPr>
        <p:spPr>
          <a:xfrm>
            <a:off x="1943051" y="4895850"/>
            <a:ext cx="0" cy="800100"/>
          </a:xfrm>
          <a:prstGeom prst="line">
            <a:avLst/>
          </a:prstGeom>
          <a:noFill/>
          <a:ln w="25400">
            <a:solidFill>
              <a:srgbClr val="E6A72A"/>
            </a:solidFill>
          </a:ln>
        </p:spPr>
        <p:txBody>
          <a:bodyPr/>
          <a:lstStyle/>
          <a:p/>
        </p:txBody>
      </p:sp>
      <p:sp>
        <p:nvSpPr>
          <p:cNvPr id="227" name="Line 227"/>
          <p:cNvSpPr/>
          <p:nvPr/>
        </p:nvSpPr>
        <p:spPr>
          <a:xfrm>
            <a:off x="4095648" y="4467225"/>
            <a:ext cx="0" cy="1228725"/>
          </a:xfrm>
          <a:prstGeom prst="line">
            <a:avLst/>
          </a:prstGeom>
          <a:noFill/>
          <a:ln w="25400">
            <a:solidFill>
              <a:srgbClr val="E6A72A"/>
            </a:solidFill>
          </a:ln>
        </p:spPr>
        <p:txBody>
          <a:bodyPr/>
          <a:lstStyle/>
          <a:p/>
        </p:txBody>
      </p:sp>
      <p:sp>
        <p:nvSpPr>
          <p:cNvPr id="228" name="Line 228"/>
          <p:cNvSpPr/>
          <p:nvPr/>
        </p:nvSpPr>
        <p:spPr>
          <a:xfrm>
            <a:off x="4533787" y="4610100"/>
            <a:ext cx="781030" cy="0"/>
          </a:xfrm>
          <a:prstGeom prst="line">
            <a:avLst/>
          </a:prstGeom>
          <a:noFill/>
          <a:ln w="25400">
            <a:solidFill>
              <a:srgbClr val="E6A72A"/>
            </a:solidFill>
          </a:ln>
        </p:spPr>
        <p:txBody>
          <a:bodyPr/>
          <a:lstStyle/>
          <a:p/>
        </p:txBody>
      </p:sp>
      <p:sp>
        <p:nvSpPr>
          <p:cNvPr id="229" name="Line 229"/>
          <p:cNvSpPr/>
          <p:nvPr/>
        </p:nvSpPr>
        <p:spPr>
          <a:xfrm>
            <a:off x="1076298" y="3028950"/>
            <a:ext cx="1019150" cy="0"/>
          </a:xfrm>
          <a:prstGeom prst="line">
            <a:avLst/>
          </a:prstGeom>
          <a:noFill/>
          <a:ln w="25400">
            <a:solidFill>
              <a:srgbClr val="F25E4B"/>
            </a:solidFill>
          </a:ln>
        </p:spPr>
        <p:txBody>
          <a:bodyPr/>
          <a:lstStyle/>
          <a:p/>
        </p:txBody>
      </p:sp>
      <p:sp>
        <p:nvSpPr>
          <p:cNvPr id="230" name="Line 230"/>
          <p:cNvSpPr/>
          <p:nvPr/>
        </p:nvSpPr>
        <p:spPr>
          <a:xfrm>
            <a:off x="2085923" y="3028950"/>
            <a:ext cx="0" cy="428625"/>
          </a:xfrm>
          <a:prstGeom prst="line">
            <a:avLst/>
          </a:prstGeom>
          <a:noFill/>
          <a:ln w="25400">
            <a:solidFill>
              <a:srgbClr val="F25E4B"/>
            </a:solidFill>
          </a:ln>
        </p:spPr>
        <p:txBody>
          <a:bodyPr/>
          <a:lstStyle/>
          <a:p/>
        </p:txBody>
      </p:sp>
      <p:sp>
        <p:nvSpPr>
          <p:cNvPr id="231" name="Line 231"/>
          <p:cNvSpPr/>
          <p:nvPr/>
        </p:nvSpPr>
        <p:spPr>
          <a:xfrm>
            <a:off x="1219170" y="3171825"/>
            <a:ext cx="723882" cy="0"/>
          </a:xfrm>
          <a:prstGeom prst="line">
            <a:avLst/>
          </a:prstGeom>
          <a:noFill/>
          <a:ln w="25400">
            <a:solidFill>
              <a:srgbClr val="F25E4B"/>
            </a:solidFill>
          </a:ln>
        </p:spPr>
        <p:txBody>
          <a:bodyPr/>
          <a:lstStyle/>
          <a:p/>
        </p:txBody>
      </p:sp>
      <p:sp>
        <p:nvSpPr>
          <p:cNvPr id="232" name="Line 232"/>
          <p:cNvSpPr/>
          <p:nvPr/>
        </p:nvSpPr>
        <p:spPr>
          <a:xfrm>
            <a:off x="1943051" y="3171825"/>
            <a:ext cx="0" cy="285750"/>
          </a:xfrm>
          <a:prstGeom prst="line">
            <a:avLst/>
          </a:prstGeom>
          <a:noFill/>
          <a:ln w="25400">
            <a:solidFill>
              <a:srgbClr val="F25E4B"/>
            </a:solidFill>
          </a:ln>
        </p:spPr>
        <p:txBody>
          <a:bodyPr/>
          <a:lstStyle/>
          <a:p/>
        </p:txBody>
      </p:sp>
      <p:sp>
        <p:nvSpPr>
          <p:cNvPr id="233" name="Line 233"/>
          <p:cNvSpPr/>
          <p:nvPr/>
        </p:nvSpPr>
        <p:spPr>
          <a:xfrm>
            <a:off x="2228794" y="2743200"/>
            <a:ext cx="0" cy="714375"/>
          </a:xfrm>
          <a:prstGeom prst="line">
            <a:avLst/>
          </a:prstGeom>
          <a:noFill/>
          <a:ln w="25400">
            <a:solidFill>
              <a:srgbClr val="F25E4B"/>
            </a:solidFill>
          </a:ln>
        </p:spPr>
        <p:txBody>
          <a:bodyPr/>
          <a:lstStyle/>
          <a:p/>
        </p:txBody>
      </p:sp>
      <p:sp>
        <p:nvSpPr>
          <p:cNvPr id="234" name="Line 234"/>
          <p:cNvSpPr/>
          <p:nvPr/>
        </p:nvSpPr>
        <p:spPr>
          <a:xfrm>
            <a:off x="1943051" y="3457575"/>
            <a:ext cx="285743" cy="0"/>
          </a:xfrm>
          <a:prstGeom prst="line">
            <a:avLst/>
          </a:prstGeom>
          <a:noFill/>
          <a:ln w="25400">
            <a:solidFill>
              <a:srgbClr val="F25E4B"/>
            </a:solidFill>
          </a:ln>
        </p:spPr>
        <p:txBody>
          <a:bodyPr/>
          <a:lstStyle/>
          <a:p/>
        </p:txBody>
      </p:sp>
      <p:sp>
        <p:nvSpPr>
          <p:cNvPr id="235" name="Line 235"/>
          <p:cNvSpPr/>
          <p:nvPr/>
        </p:nvSpPr>
        <p:spPr>
          <a:xfrm>
            <a:off x="4248044" y="3314700"/>
            <a:ext cx="419090" cy="0"/>
          </a:xfrm>
          <a:prstGeom prst="line">
            <a:avLst/>
          </a:prstGeom>
          <a:noFill/>
          <a:ln w="25400">
            <a:solidFill>
              <a:srgbClr val="F25E4B"/>
            </a:solidFill>
          </a:ln>
        </p:spPr>
        <p:txBody>
          <a:bodyPr/>
          <a:lstStyle/>
          <a:p/>
        </p:txBody>
      </p:sp>
      <p:sp>
        <p:nvSpPr>
          <p:cNvPr id="236" name="Line 236"/>
          <p:cNvSpPr/>
          <p:nvPr/>
        </p:nvSpPr>
        <p:spPr>
          <a:xfrm>
            <a:off x="933427" y="4324350"/>
            <a:ext cx="714357" cy="0"/>
          </a:xfrm>
          <a:prstGeom prst="line">
            <a:avLst/>
          </a:prstGeom>
          <a:noFill/>
          <a:ln w="25400">
            <a:solidFill>
              <a:srgbClr val="F25E4B"/>
            </a:solidFill>
          </a:ln>
        </p:spPr>
        <p:txBody>
          <a:bodyPr/>
          <a:lstStyle/>
          <a:p/>
        </p:txBody>
      </p:sp>
      <p:sp>
        <p:nvSpPr>
          <p:cNvPr id="237" name="Line 237"/>
          <p:cNvSpPr/>
          <p:nvPr/>
        </p:nvSpPr>
        <p:spPr>
          <a:xfrm>
            <a:off x="1647784" y="4324350"/>
            <a:ext cx="0" cy="571500"/>
          </a:xfrm>
          <a:prstGeom prst="line">
            <a:avLst/>
          </a:prstGeom>
          <a:noFill/>
          <a:ln w="25400">
            <a:solidFill>
              <a:srgbClr val="F25E4B"/>
            </a:solidFill>
          </a:ln>
        </p:spPr>
        <p:txBody>
          <a:bodyPr/>
          <a:lstStyle/>
          <a:p/>
        </p:txBody>
      </p:sp>
      <p:sp>
        <p:nvSpPr>
          <p:cNvPr id="238" name="Ellipse 238"/>
          <p:cNvSpPr/>
          <p:nvPr/>
        </p:nvSpPr>
        <p:spPr>
          <a:xfrm>
            <a:off x="2181170" y="2695575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39" name="Ellipse 239"/>
          <p:cNvSpPr/>
          <p:nvPr/>
        </p:nvSpPr>
        <p:spPr>
          <a:xfrm>
            <a:off x="4629034" y="2695575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0" name="Ellipse 240"/>
          <p:cNvSpPr/>
          <p:nvPr/>
        </p:nvSpPr>
        <p:spPr>
          <a:xfrm>
            <a:off x="1028674" y="2981325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1" name="Ellipse 241"/>
          <p:cNvSpPr/>
          <p:nvPr/>
        </p:nvSpPr>
        <p:spPr>
          <a:xfrm>
            <a:off x="1171546" y="3124200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2" name="Ellipse 242"/>
          <p:cNvSpPr/>
          <p:nvPr/>
        </p:nvSpPr>
        <p:spPr>
          <a:xfrm>
            <a:off x="2905052" y="3267075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3" name="Ellipse 243"/>
          <p:cNvSpPr/>
          <p:nvPr/>
        </p:nvSpPr>
        <p:spPr>
          <a:xfrm>
            <a:off x="4629034" y="3267075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4" name="Ellipse 244"/>
          <p:cNvSpPr/>
          <p:nvPr/>
        </p:nvSpPr>
        <p:spPr>
          <a:xfrm>
            <a:off x="3905152" y="3848100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5" name="Ellipse 245"/>
          <p:cNvSpPr/>
          <p:nvPr/>
        </p:nvSpPr>
        <p:spPr>
          <a:xfrm>
            <a:off x="885803" y="4276725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6" name="Ellipse 246"/>
          <p:cNvSpPr/>
          <p:nvPr/>
        </p:nvSpPr>
        <p:spPr>
          <a:xfrm>
            <a:off x="4048024" y="4419600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7" name="Ellipse 247"/>
          <p:cNvSpPr/>
          <p:nvPr/>
        </p:nvSpPr>
        <p:spPr>
          <a:xfrm>
            <a:off x="4486163" y="4562475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8" name="Ellipse 248"/>
          <p:cNvSpPr/>
          <p:nvPr/>
        </p:nvSpPr>
        <p:spPr>
          <a:xfrm>
            <a:off x="1181070" y="5133975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9" name="Ellipse 249"/>
          <p:cNvSpPr/>
          <p:nvPr/>
        </p:nvSpPr>
        <p:spPr>
          <a:xfrm>
            <a:off x="4048024" y="5133975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0" name="TextBox 250"/>
          <p:cNvSpPr txBox="1"/>
          <p:nvPr/>
        </p:nvSpPr>
        <p:spPr>
          <a:xfrm>
            <a:off x="857229" y="552450"/>
            <a:ext cx="1619210" cy="1428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80" b="1">
                <a:solidFill>
                  <a:srgbClr val="4E5B67"/>
                </a:solidFill>
                <a:latin typeface="PingFang SC"/>
                <a:ea typeface="PingFang SC"/>
                <a:cs typeface="PingFang SC"/>
              </a:rPr>
              <a:t>TASK 1 · RESULT</a:t>
            </a:r>
            <a:endParaRPr lang="zh-CN" sz="780"/>
          </a:p>
        </p:txBody>
      </p:sp>
      <p:sp>
        <p:nvSpPr>
          <p:cNvPr id="251" name="TextBox 251"/>
          <p:cNvSpPr txBox="1"/>
          <p:nvPr/>
        </p:nvSpPr>
        <p:spPr>
          <a:xfrm>
            <a:off x="685783" y="895350"/>
            <a:ext cx="7238819" cy="457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84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任务 1 的结果是一组可执行搬运安排。</a:t>
            </a:r>
            <a:endParaRPr lang="zh-CN" sz="2840"/>
          </a:p>
        </p:txBody>
      </p:sp>
      <p:sp>
        <p:nvSpPr>
          <p:cNvPr id="252" name="TextBox 252"/>
          <p:cNvSpPr txBox="1"/>
          <p:nvPr/>
        </p:nvSpPr>
        <p:spPr>
          <a:xfrm>
            <a:off x="704832" y="1914525"/>
            <a:ext cx="8191295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4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实验输出每辆 AGV 选中的托盘、目标工位和对应距离，既能看总目标值，也能追踪单条路线。</a:t>
            </a:r>
            <a:endParaRPr lang="zh-CN" sz="1140"/>
          </a:p>
        </p:txBody>
      </p:sp>
      <p:sp>
        <p:nvSpPr>
          <p:cNvPr id="253" name="TextBox 253"/>
          <p:cNvSpPr txBox="1"/>
          <p:nvPr/>
        </p:nvSpPr>
        <p:spPr>
          <a:xfrm>
            <a:off x="6191095" y="2667000"/>
            <a:ext cx="819130" cy="3238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360" b="1">
                <a:solidFill>
                  <a:srgbClr val="2276FF"/>
                </a:solidFill>
                <a:latin typeface="PingFang SC"/>
                <a:ea typeface="PingFang SC"/>
                <a:cs typeface="PingFang SC"/>
              </a:rPr>
              <a:t>131</a:t>
            </a:r>
            <a:endParaRPr lang="zh-CN" sz="2360"/>
          </a:p>
        </p:txBody>
      </p:sp>
      <p:sp>
        <p:nvSpPr>
          <p:cNvPr id="254" name="TextBox 254"/>
          <p:cNvSpPr txBox="1"/>
          <p:nvPr/>
        </p:nvSpPr>
        <p:spPr>
          <a:xfrm>
            <a:off x="6191095" y="3076575"/>
            <a:ext cx="1333467" cy="1524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6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整数分配总距离</a:t>
            </a:r>
            <a:endParaRPr lang="zh-CN" sz="860"/>
          </a:p>
        </p:txBody>
      </p:sp>
      <p:sp>
        <p:nvSpPr>
          <p:cNvPr id="255" name="TextBox 255"/>
          <p:cNvSpPr txBox="1"/>
          <p:nvPr/>
        </p:nvSpPr>
        <p:spPr>
          <a:xfrm>
            <a:off x="6191095" y="3314700"/>
            <a:ext cx="1333467" cy="1333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60">
                <a:solidFill>
                  <a:srgbClr val="6D7783"/>
                </a:solidFill>
                <a:latin typeface="PingFang SC"/>
                <a:ea typeface="PingFang SC"/>
                <a:cs typeface="PingFang SC"/>
              </a:rPr>
              <a:t>AGV 取货 + 送货</a:t>
            </a:r>
            <a:endParaRPr lang="zh-CN" sz="660"/>
          </a:p>
        </p:txBody>
      </p:sp>
      <p:sp>
        <p:nvSpPr>
          <p:cNvPr id="256" name="TextBox 256"/>
          <p:cNvSpPr txBox="1"/>
          <p:nvPr/>
        </p:nvSpPr>
        <p:spPr>
          <a:xfrm>
            <a:off x="8305592" y="2667000"/>
            <a:ext cx="609585" cy="3238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360" b="1">
                <a:solidFill>
                  <a:srgbClr val="35A66A"/>
                </a:solidFill>
                <a:latin typeface="PingFang SC"/>
                <a:ea typeface="PingFang SC"/>
                <a:cs typeface="PingFang SC"/>
              </a:rPr>
              <a:t>13</a:t>
            </a:r>
            <a:endParaRPr lang="zh-CN" sz="2360"/>
          </a:p>
        </p:txBody>
      </p:sp>
      <p:sp>
        <p:nvSpPr>
          <p:cNvPr id="257" name="TextBox 257"/>
          <p:cNvSpPr txBox="1"/>
          <p:nvPr/>
        </p:nvSpPr>
        <p:spPr>
          <a:xfrm>
            <a:off x="8305592" y="3076575"/>
            <a:ext cx="1333467" cy="1524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6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内点迭代次数</a:t>
            </a:r>
            <a:endParaRPr lang="zh-CN" sz="860"/>
          </a:p>
        </p:txBody>
      </p:sp>
      <p:sp>
        <p:nvSpPr>
          <p:cNvPr id="258" name="TextBox 258"/>
          <p:cNvSpPr txBox="1"/>
          <p:nvPr/>
        </p:nvSpPr>
        <p:spPr>
          <a:xfrm>
            <a:off x="8305592" y="3314700"/>
            <a:ext cx="1047724" cy="1333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60">
                <a:solidFill>
                  <a:srgbClr val="6D7783"/>
                </a:solidFill>
                <a:latin typeface="PingFang SC"/>
                <a:ea typeface="PingFang SC"/>
                <a:cs typeface="PingFang SC"/>
              </a:rPr>
              <a:t>耗时 0.314s</a:t>
            </a:r>
            <a:endParaRPr lang="zh-CN" sz="660"/>
          </a:p>
        </p:txBody>
      </p:sp>
      <p:sp>
        <p:nvSpPr>
          <p:cNvPr id="259" name="TextBox 259"/>
          <p:cNvSpPr txBox="1"/>
          <p:nvPr/>
        </p:nvSpPr>
        <p:spPr>
          <a:xfrm>
            <a:off x="676258" y="6438900"/>
            <a:ext cx="4000400" cy="1143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580">
                <a:solidFill>
                  <a:srgbClr val="6F7B86"/>
                </a:solidFill>
                <a:latin typeface="PingFang SC"/>
                <a:ea typeface="PingFang SC"/>
                <a:cs typeface="PingFang SC"/>
              </a:rPr>
              <a:t>AGV 仓储优化课程项目 · 本地 CSV 数据 · Python 自实现算法</a:t>
            </a:r>
            <a:endParaRPr lang="zh-CN" sz="580"/>
          </a:p>
        </p:txBody>
      </p:sp>
      <p:sp>
        <p:nvSpPr>
          <p:cNvPr id="260" name="TextBox 260"/>
          <p:cNvSpPr txBox="1"/>
          <p:nvPr/>
        </p:nvSpPr>
        <p:spPr>
          <a:xfrm>
            <a:off x="11391615" y="6438900"/>
            <a:ext cx="228594" cy="1143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right"/>
            <a:r>
              <a:rPr lang="zh-CN" sz="680">
                <a:solidFill>
                  <a:srgbClr val="6F7B86"/>
                </a:solidFill>
                <a:latin typeface="PingFang SC"/>
                <a:ea typeface="PingFang SC"/>
                <a:cs typeface="PingFang SC"/>
              </a:rPr>
              <a:t>10</a:t>
            </a:r>
            <a:endParaRPr lang="zh-CN" sz="680"/>
          </a:p>
        </p:txBody>
      </p:sp>
      <p:sp>
        <p:nvSpPr>
          <p:cNvPr id="261" name="TextBox 261"/>
          <p:cNvSpPr txBox="1"/>
          <p:nvPr/>
        </p:nvSpPr>
        <p:spPr>
          <a:xfrm>
            <a:off x="6333967" y="3905250"/>
            <a:ext cx="400040" cy="1333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8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AGV</a:t>
            </a:r>
            <a:endParaRPr lang="zh-CN" sz="680"/>
          </a:p>
        </p:txBody>
      </p:sp>
      <p:sp>
        <p:nvSpPr>
          <p:cNvPr id="262" name="TextBox 262"/>
          <p:cNvSpPr txBox="1"/>
          <p:nvPr/>
        </p:nvSpPr>
        <p:spPr>
          <a:xfrm>
            <a:off x="6953076" y="3905250"/>
            <a:ext cx="457189" cy="1333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8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托盘</a:t>
            </a:r>
            <a:endParaRPr lang="zh-CN" sz="680"/>
          </a:p>
        </p:txBody>
      </p:sp>
      <p:sp>
        <p:nvSpPr>
          <p:cNvPr id="263" name="TextBox 263"/>
          <p:cNvSpPr txBox="1"/>
          <p:nvPr/>
        </p:nvSpPr>
        <p:spPr>
          <a:xfrm>
            <a:off x="7619810" y="3905250"/>
            <a:ext cx="457189" cy="1333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8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工位</a:t>
            </a:r>
            <a:endParaRPr lang="zh-CN" sz="680"/>
          </a:p>
        </p:txBody>
      </p:sp>
      <p:sp>
        <p:nvSpPr>
          <p:cNvPr id="264" name="TextBox 264"/>
          <p:cNvSpPr txBox="1"/>
          <p:nvPr/>
        </p:nvSpPr>
        <p:spPr>
          <a:xfrm>
            <a:off x="9686683" y="3905250"/>
            <a:ext cx="342891" cy="1333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8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距离</a:t>
            </a:r>
            <a:endParaRPr lang="zh-CN" sz="680"/>
          </a:p>
        </p:txBody>
      </p:sp>
      <p:sp>
        <p:nvSpPr>
          <p:cNvPr id="265" name="TextBox 265"/>
          <p:cNvSpPr txBox="1"/>
          <p:nvPr/>
        </p:nvSpPr>
        <p:spPr>
          <a:xfrm>
            <a:off x="6333967" y="4229100"/>
            <a:ext cx="304792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60">
                <a:solidFill>
                  <a:srgbClr val="4A535C"/>
                </a:solidFill>
                <a:latin typeface="PingFang SC"/>
                <a:ea typeface="PingFang SC"/>
                <a:cs typeface="PingFang SC"/>
              </a:rPr>
              <a:t>0</a:t>
            </a:r>
            <a:endParaRPr lang="zh-CN" sz="660"/>
          </a:p>
        </p:txBody>
      </p:sp>
      <p:sp>
        <p:nvSpPr>
          <p:cNvPr id="266" name="TextBox 266"/>
          <p:cNvSpPr txBox="1"/>
          <p:nvPr/>
        </p:nvSpPr>
        <p:spPr>
          <a:xfrm>
            <a:off x="6953076" y="4229100"/>
            <a:ext cx="438139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60">
                <a:solidFill>
                  <a:srgbClr val="4A535C"/>
                </a:solidFill>
                <a:latin typeface="PingFang SC"/>
                <a:ea typeface="PingFang SC"/>
                <a:cs typeface="PingFang SC"/>
              </a:rPr>
              <a:t>49</a:t>
            </a:r>
            <a:endParaRPr lang="zh-CN" sz="660"/>
          </a:p>
        </p:txBody>
      </p:sp>
      <p:sp>
        <p:nvSpPr>
          <p:cNvPr id="267" name="TextBox 267"/>
          <p:cNvSpPr txBox="1"/>
          <p:nvPr/>
        </p:nvSpPr>
        <p:spPr>
          <a:xfrm>
            <a:off x="7619810" y="4229100"/>
            <a:ext cx="495288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60">
                <a:solidFill>
                  <a:srgbClr val="4A535C"/>
                </a:solidFill>
                <a:latin typeface="PingFang SC"/>
                <a:ea typeface="PingFang SC"/>
                <a:cs typeface="PingFang SC"/>
              </a:rPr>
              <a:t>W15</a:t>
            </a:r>
            <a:endParaRPr lang="zh-CN" sz="660"/>
          </a:p>
        </p:txBody>
      </p:sp>
      <p:sp>
        <p:nvSpPr>
          <p:cNvPr id="268" name="TextBox 268"/>
          <p:cNvSpPr txBox="1"/>
          <p:nvPr/>
        </p:nvSpPr>
        <p:spPr>
          <a:xfrm>
            <a:off x="9686683" y="4229100"/>
            <a:ext cx="342891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right"/>
            <a:r>
              <a:rPr lang="zh-CN" sz="660">
                <a:solidFill>
                  <a:srgbClr val="4A535C"/>
                </a:solidFill>
                <a:latin typeface="PingFang SC"/>
                <a:ea typeface="PingFang SC"/>
                <a:cs typeface="PingFang SC"/>
              </a:rPr>
              <a:t>10</a:t>
            </a:r>
            <a:endParaRPr lang="zh-CN" sz="660"/>
          </a:p>
        </p:txBody>
      </p:sp>
      <p:sp>
        <p:nvSpPr>
          <p:cNvPr id="269" name="TextBox 269"/>
          <p:cNvSpPr txBox="1"/>
          <p:nvPr/>
        </p:nvSpPr>
        <p:spPr>
          <a:xfrm>
            <a:off x="6333967" y="4514850"/>
            <a:ext cx="304792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60">
                <a:solidFill>
                  <a:srgbClr val="4A535C"/>
                </a:solidFill>
                <a:latin typeface="PingFang SC"/>
                <a:ea typeface="PingFang SC"/>
                <a:cs typeface="PingFang SC"/>
              </a:rPr>
              <a:t>1</a:t>
            </a:r>
            <a:endParaRPr lang="zh-CN" sz="660"/>
          </a:p>
        </p:txBody>
      </p:sp>
      <p:sp>
        <p:nvSpPr>
          <p:cNvPr id="270" name="TextBox 270"/>
          <p:cNvSpPr txBox="1"/>
          <p:nvPr/>
        </p:nvSpPr>
        <p:spPr>
          <a:xfrm>
            <a:off x="6953076" y="4514850"/>
            <a:ext cx="438139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60">
                <a:solidFill>
                  <a:srgbClr val="4A535C"/>
                </a:solidFill>
                <a:latin typeface="PingFang SC"/>
                <a:ea typeface="PingFang SC"/>
                <a:cs typeface="PingFang SC"/>
              </a:rPr>
              <a:t>14</a:t>
            </a:r>
            <a:endParaRPr lang="zh-CN" sz="660"/>
          </a:p>
        </p:txBody>
      </p:sp>
      <p:sp>
        <p:nvSpPr>
          <p:cNvPr id="271" name="TextBox 271"/>
          <p:cNvSpPr txBox="1"/>
          <p:nvPr/>
        </p:nvSpPr>
        <p:spPr>
          <a:xfrm>
            <a:off x="7619810" y="4514850"/>
            <a:ext cx="495288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60">
                <a:solidFill>
                  <a:srgbClr val="4A535C"/>
                </a:solidFill>
                <a:latin typeface="PingFang SC"/>
                <a:ea typeface="PingFang SC"/>
                <a:cs typeface="PingFang SC"/>
              </a:rPr>
              <a:t>W0</a:t>
            </a:r>
            <a:endParaRPr lang="zh-CN" sz="660"/>
          </a:p>
        </p:txBody>
      </p:sp>
      <p:sp>
        <p:nvSpPr>
          <p:cNvPr id="272" name="TextBox 272"/>
          <p:cNvSpPr txBox="1"/>
          <p:nvPr/>
        </p:nvSpPr>
        <p:spPr>
          <a:xfrm>
            <a:off x="9686683" y="4514850"/>
            <a:ext cx="342891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right"/>
            <a:r>
              <a:rPr lang="zh-CN" sz="660">
                <a:solidFill>
                  <a:srgbClr val="4A535C"/>
                </a:solidFill>
                <a:latin typeface="PingFang SC"/>
                <a:ea typeface="PingFang SC"/>
                <a:cs typeface="PingFang SC"/>
              </a:rPr>
              <a:t>17</a:t>
            </a:r>
            <a:endParaRPr lang="zh-CN" sz="660"/>
          </a:p>
        </p:txBody>
      </p:sp>
      <p:sp>
        <p:nvSpPr>
          <p:cNvPr id="273" name="TextBox 273"/>
          <p:cNvSpPr txBox="1"/>
          <p:nvPr/>
        </p:nvSpPr>
        <p:spPr>
          <a:xfrm>
            <a:off x="6333967" y="4800600"/>
            <a:ext cx="304792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60">
                <a:solidFill>
                  <a:srgbClr val="4A535C"/>
                </a:solidFill>
                <a:latin typeface="PingFang SC"/>
                <a:ea typeface="PingFang SC"/>
                <a:cs typeface="PingFang SC"/>
              </a:rPr>
              <a:t>2</a:t>
            </a:r>
            <a:endParaRPr lang="zh-CN" sz="660"/>
          </a:p>
        </p:txBody>
      </p:sp>
      <p:sp>
        <p:nvSpPr>
          <p:cNvPr id="274" name="TextBox 274"/>
          <p:cNvSpPr txBox="1"/>
          <p:nvPr/>
        </p:nvSpPr>
        <p:spPr>
          <a:xfrm>
            <a:off x="6953076" y="4800600"/>
            <a:ext cx="438139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60">
                <a:solidFill>
                  <a:srgbClr val="4A535C"/>
                </a:solidFill>
                <a:latin typeface="PingFang SC"/>
                <a:ea typeface="PingFang SC"/>
                <a:cs typeface="PingFang SC"/>
              </a:rPr>
              <a:t>92</a:t>
            </a:r>
            <a:endParaRPr lang="zh-CN" sz="660"/>
          </a:p>
        </p:txBody>
      </p:sp>
      <p:sp>
        <p:nvSpPr>
          <p:cNvPr id="275" name="TextBox 275"/>
          <p:cNvSpPr txBox="1"/>
          <p:nvPr/>
        </p:nvSpPr>
        <p:spPr>
          <a:xfrm>
            <a:off x="7619810" y="4800600"/>
            <a:ext cx="495288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60">
                <a:solidFill>
                  <a:srgbClr val="4A535C"/>
                </a:solidFill>
                <a:latin typeface="PingFang SC"/>
                <a:ea typeface="PingFang SC"/>
                <a:cs typeface="PingFang SC"/>
              </a:rPr>
              <a:t>W4</a:t>
            </a:r>
            <a:endParaRPr lang="zh-CN" sz="660"/>
          </a:p>
        </p:txBody>
      </p:sp>
      <p:sp>
        <p:nvSpPr>
          <p:cNvPr id="276" name="TextBox 276"/>
          <p:cNvSpPr txBox="1"/>
          <p:nvPr/>
        </p:nvSpPr>
        <p:spPr>
          <a:xfrm>
            <a:off x="9686683" y="4800600"/>
            <a:ext cx="342891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right"/>
            <a:r>
              <a:rPr lang="zh-CN" sz="660">
                <a:solidFill>
                  <a:srgbClr val="4A535C"/>
                </a:solidFill>
                <a:latin typeface="PingFang SC"/>
                <a:ea typeface="PingFang SC"/>
                <a:cs typeface="PingFang SC"/>
              </a:rPr>
              <a:t>9</a:t>
            </a:r>
            <a:endParaRPr lang="zh-CN" sz="660"/>
          </a:p>
        </p:txBody>
      </p:sp>
      <p:sp>
        <p:nvSpPr>
          <p:cNvPr id="277" name="TextBox 277"/>
          <p:cNvSpPr txBox="1"/>
          <p:nvPr/>
        </p:nvSpPr>
        <p:spPr>
          <a:xfrm>
            <a:off x="6333967" y="5086350"/>
            <a:ext cx="304792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60">
                <a:solidFill>
                  <a:srgbClr val="4A535C"/>
                </a:solidFill>
                <a:latin typeface="PingFang SC"/>
                <a:ea typeface="PingFang SC"/>
                <a:cs typeface="PingFang SC"/>
              </a:rPr>
              <a:t>3</a:t>
            </a:r>
            <a:endParaRPr lang="zh-CN" sz="660"/>
          </a:p>
        </p:txBody>
      </p:sp>
      <p:sp>
        <p:nvSpPr>
          <p:cNvPr id="278" name="TextBox 278"/>
          <p:cNvSpPr txBox="1"/>
          <p:nvPr/>
        </p:nvSpPr>
        <p:spPr>
          <a:xfrm>
            <a:off x="6953076" y="5086350"/>
            <a:ext cx="438139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60">
                <a:solidFill>
                  <a:srgbClr val="4A535C"/>
                </a:solidFill>
                <a:latin typeface="PingFang SC"/>
                <a:ea typeface="PingFang SC"/>
                <a:cs typeface="PingFang SC"/>
              </a:rPr>
              <a:t>127</a:t>
            </a:r>
            <a:endParaRPr lang="zh-CN" sz="660"/>
          </a:p>
        </p:txBody>
      </p:sp>
      <p:sp>
        <p:nvSpPr>
          <p:cNvPr id="279" name="TextBox 279"/>
          <p:cNvSpPr txBox="1"/>
          <p:nvPr/>
        </p:nvSpPr>
        <p:spPr>
          <a:xfrm>
            <a:off x="7619810" y="5086350"/>
            <a:ext cx="495288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60">
                <a:solidFill>
                  <a:srgbClr val="4A535C"/>
                </a:solidFill>
                <a:latin typeface="PingFang SC"/>
                <a:ea typeface="PingFang SC"/>
                <a:cs typeface="PingFang SC"/>
              </a:rPr>
              <a:t>W12</a:t>
            </a:r>
            <a:endParaRPr lang="zh-CN" sz="660"/>
          </a:p>
        </p:txBody>
      </p:sp>
      <p:sp>
        <p:nvSpPr>
          <p:cNvPr id="280" name="TextBox 280"/>
          <p:cNvSpPr txBox="1"/>
          <p:nvPr/>
        </p:nvSpPr>
        <p:spPr>
          <a:xfrm>
            <a:off x="9686683" y="5086350"/>
            <a:ext cx="342891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right"/>
            <a:r>
              <a:rPr lang="zh-CN" sz="660">
                <a:solidFill>
                  <a:srgbClr val="4A535C"/>
                </a:solidFill>
                <a:latin typeface="PingFang SC"/>
                <a:ea typeface="PingFang SC"/>
                <a:cs typeface="PingFang SC"/>
              </a:rPr>
              <a:t>15</a:t>
            </a:r>
            <a:endParaRPr lang="zh-CN" sz="660"/>
          </a:p>
        </p:txBody>
      </p:sp>
      <p:sp>
        <p:nvSpPr>
          <p:cNvPr id="281" name="TextBox 281"/>
          <p:cNvSpPr txBox="1"/>
          <p:nvPr/>
        </p:nvSpPr>
        <p:spPr>
          <a:xfrm>
            <a:off x="6333967" y="5372100"/>
            <a:ext cx="304792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60">
                <a:solidFill>
                  <a:srgbClr val="4A535C"/>
                </a:solidFill>
                <a:latin typeface="PingFang SC"/>
                <a:ea typeface="PingFang SC"/>
                <a:cs typeface="PingFang SC"/>
              </a:rPr>
              <a:t>4</a:t>
            </a:r>
            <a:endParaRPr lang="zh-CN" sz="660"/>
          </a:p>
        </p:txBody>
      </p:sp>
      <p:sp>
        <p:nvSpPr>
          <p:cNvPr id="282" name="TextBox 282"/>
          <p:cNvSpPr txBox="1"/>
          <p:nvPr/>
        </p:nvSpPr>
        <p:spPr>
          <a:xfrm>
            <a:off x="6953076" y="5372100"/>
            <a:ext cx="438139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60">
                <a:solidFill>
                  <a:srgbClr val="4A535C"/>
                </a:solidFill>
                <a:latin typeface="PingFang SC"/>
                <a:ea typeface="PingFang SC"/>
                <a:cs typeface="PingFang SC"/>
              </a:rPr>
              <a:t>21</a:t>
            </a:r>
            <a:endParaRPr lang="zh-CN" sz="660"/>
          </a:p>
        </p:txBody>
      </p:sp>
      <p:sp>
        <p:nvSpPr>
          <p:cNvPr id="283" name="TextBox 283"/>
          <p:cNvSpPr txBox="1"/>
          <p:nvPr/>
        </p:nvSpPr>
        <p:spPr>
          <a:xfrm>
            <a:off x="7619810" y="5372100"/>
            <a:ext cx="495288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60">
                <a:solidFill>
                  <a:srgbClr val="4A535C"/>
                </a:solidFill>
                <a:latin typeface="PingFang SC"/>
                <a:ea typeface="PingFang SC"/>
                <a:cs typeface="PingFang SC"/>
              </a:rPr>
              <a:t>W8</a:t>
            </a:r>
            <a:endParaRPr lang="zh-CN" sz="660"/>
          </a:p>
        </p:txBody>
      </p:sp>
      <p:sp>
        <p:nvSpPr>
          <p:cNvPr id="284" name="TextBox 284"/>
          <p:cNvSpPr txBox="1"/>
          <p:nvPr/>
        </p:nvSpPr>
        <p:spPr>
          <a:xfrm>
            <a:off x="9686683" y="5372100"/>
            <a:ext cx="342891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right"/>
            <a:r>
              <a:rPr lang="zh-CN" sz="660">
                <a:solidFill>
                  <a:srgbClr val="4A535C"/>
                </a:solidFill>
                <a:latin typeface="PingFang SC"/>
                <a:ea typeface="PingFang SC"/>
                <a:cs typeface="PingFang SC"/>
              </a:rPr>
              <a:t>6</a:t>
            </a:r>
            <a:endParaRPr lang="zh-CN" sz="660"/>
          </a:p>
        </p:txBody>
      </p:sp>
      <p:sp>
        <p:nvSpPr>
          <p:cNvPr id="285" name="TextBox 285"/>
          <p:cNvSpPr txBox="1"/>
          <p:nvPr/>
        </p:nvSpPr>
        <p:spPr>
          <a:xfrm>
            <a:off x="6333967" y="5657850"/>
            <a:ext cx="304792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60">
                <a:solidFill>
                  <a:srgbClr val="4A535C"/>
                </a:solidFill>
                <a:latin typeface="PingFang SC"/>
                <a:ea typeface="PingFang SC"/>
                <a:cs typeface="PingFang SC"/>
              </a:rPr>
              <a:t>5</a:t>
            </a:r>
            <a:endParaRPr lang="zh-CN" sz="660"/>
          </a:p>
        </p:txBody>
      </p:sp>
      <p:sp>
        <p:nvSpPr>
          <p:cNvPr id="286" name="TextBox 286"/>
          <p:cNvSpPr txBox="1"/>
          <p:nvPr/>
        </p:nvSpPr>
        <p:spPr>
          <a:xfrm>
            <a:off x="6953076" y="5657850"/>
            <a:ext cx="438139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60">
                <a:solidFill>
                  <a:srgbClr val="4A535C"/>
                </a:solidFill>
                <a:latin typeface="PingFang SC"/>
                <a:ea typeface="PingFang SC"/>
                <a:cs typeface="PingFang SC"/>
              </a:rPr>
              <a:t>63</a:t>
            </a:r>
            <a:endParaRPr lang="zh-CN" sz="660"/>
          </a:p>
        </p:txBody>
      </p:sp>
      <p:sp>
        <p:nvSpPr>
          <p:cNvPr id="287" name="TextBox 287"/>
          <p:cNvSpPr txBox="1"/>
          <p:nvPr/>
        </p:nvSpPr>
        <p:spPr>
          <a:xfrm>
            <a:off x="7619810" y="5657850"/>
            <a:ext cx="495288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60">
                <a:solidFill>
                  <a:srgbClr val="4A535C"/>
                </a:solidFill>
                <a:latin typeface="PingFang SC"/>
                <a:ea typeface="PingFang SC"/>
                <a:cs typeface="PingFang SC"/>
              </a:rPr>
              <a:t>W12</a:t>
            </a:r>
            <a:endParaRPr lang="zh-CN" sz="660"/>
          </a:p>
        </p:txBody>
      </p:sp>
      <p:sp>
        <p:nvSpPr>
          <p:cNvPr id="288" name="TextBox 288"/>
          <p:cNvSpPr txBox="1"/>
          <p:nvPr/>
        </p:nvSpPr>
        <p:spPr>
          <a:xfrm>
            <a:off x="9686683" y="5657850"/>
            <a:ext cx="342891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right"/>
            <a:r>
              <a:rPr lang="zh-CN" sz="660">
                <a:solidFill>
                  <a:srgbClr val="4A535C"/>
                </a:solidFill>
                <a:latin typeface="PingFang SC"/>
                <a:ea typeface="PingFang SC"/>
                <a:cs typeface="PingFang SC"/>
              </a:rPr>
              <a:t>17</a:t>
            </a:r>
            <a:endParaRPr lang="zh-CN" sz="660"/>
          </a:p>
        </p:txBody>
      </p:sp>
      <p:sp>
        <p:nvSpPr>
          <p:cNvPr id="289" name="TextBox 289"/>
          <p:cNvSpPr txBox="1"/>
          <p:nvPr/>
        </p:nvSpPr>
        <p:spPr>
          <a:xfrm>
            <a:off x="6333967" y="5943600"/>
            <a:ext cx="304792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60">
                <a:solidFill>
                  <a:srgbClr val="4A535C"/>
                </a:solidFill>
                <a:latin typeface="PingFang SC"/>
                <a:ea typeface="PingFang SC"/>
                <a:cs typeface="PingFang SC"/>
              </a:rPr>
              <a:t>6</a:t>
            </a:r>
            <a:endParaRPr lang="zh-CN" sz="660"/>
          </a:p>
        </p:txBody>
      </p:sp>
      <p:sp>
        <p:nvSpPr>
          <p:cNvPr id="290" name="TextBox 290"/>
          <p:cNvSpPr txBox="1"/>
          <p:nvPr/>
        </p:nvSpPr>
        <p:spPr>
          <a:xfrm>
            <a:off x="6953076" y="5943600"/>
            <a:ext cx="438139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60">
                <a:solidFill>
                  <a:srgbClr val="4A535C"/>
                </a:solidFill>
                <a:latin typeface="PingFang SC"/>
                <a:ea typeface="PingFang SC"/>
                <a:cs typeface="PingFang SC"/>
              </a:rPr>
              <a:t>113</a:t>
            </a:r>
            <a:endParaRPr lang="zh-CN" sz="660"/>
          </a:p>
        </p:txBody>
      </p:sp>
      <p:sp>
        <p:nvSpPr>
          <p:cNvPr id="291" name="TextBox 291"/>
          <p:cNvSpPr txBox="1"/>
          <p:nvPr/>
        </p:nvSpPr>
        <p:spPr>
          <a:xfrm>
            <a:off x="7619810" y="5943600"/>
            <a:ext cx="495288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60">
                <a:solidFill>
                  <a:srgbClr val="4A535C"/>
                </a:solidFill>
                <a:latin typeface="PingFang SC"/>
                <a:ea typeface="PingFang SC"/>
                <a:cs typeface="PingFang SC"/>
              </a:rPr>
              <a:t>W15</a:t>
            </a:r>
            <a:endParaRPr lang="zh-CN" sz="660"/>
          </a:p>
        </p:txBody>
      </p:sp>
      <p:sp>
        <p:nvSpPr>
          <p:cNvPr id="292" name="TextBox 292"/>
          <p:cNvSpPr txBox="1"/>
          <p:nvPr/>
        </p:nvSpPr>
        <p:spPr>
          <a:xfrm>
            <a:off x="9686683" y="5943600"/>
            <a:ext cx="342891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right"/>
            <a:r>
              <a:rPr lang="zh-CN" sz="660">
                <a:solidFill>
                  <a:srgbClr val="4A535C"/>
                </a:solidFill>
                <a:latin typeface="PingFang SC"/>
                <a:ea typeface="PingFang SC"/>
                <a:cs typeface="PingFang SC"/>
              </a:rPr>
              <a:t>9</a:t>
            </a:r>
            <a:endParaRPr lang="zh-CN" sz="66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704832" y="2647950"/>
            <a:ext cx="4895728" cy="323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EC"/>
            </a:solidFill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885803" y="2686050"/>
            <a:ext cx="4533787" cy="3152775"/>
          </a:xfrm>
          <a:prstGeom prst="rect">
            <a:avLst/>
          </a:prstGeom>
          <a:solidFill>
            <a:srgbClr val="F9FAF8"/>
          </a:solidFill>
          <a:ln w="12700">
            <a:solidFill>
              <a:srgbClr val="EDF1F3"/>
            </a:solidFill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933427" y="2733675"/>
            <a:ext cx="4419490" cy="304800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1066773" y="2733675"/>
            <a:ext cx="9525" cy="30480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1209645" y="2733675"/>
            <a:ext cx="9525" cy="30480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1352516" y="2733675"/>
            <a:ext cx="9525" cy="30480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1495388" y="2733675"/>
            <a:ext cx="9525" cy="30480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1638259" y="2733675"/>
            <a:ext cx="9525" cy="30480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1781130" y="2733675"/>
            <a:ext cx="9525" cy="30480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1924002" y="2733675"/>
            <a:ext cx="9525" cy="30480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2066873" y="2733675"/>
            <a:ext cx="9525" cy="30480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2209745" y="2733675"/>
            <a:ext cx="9525" cy="30480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2352616" y="2733675"/>
            <a:ext cx="9525" cy="30480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2495488" y="2733675"/>
            <a:ext cx="9525" cy="30480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2638359" y="2733675"/>
            <a:ext cx="9525" cy="30480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2781230" y="2733675"/>
            <a:ext cx="9525" cy="30480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2924102" y="2733675"/>
            <a:ext cx="9525" cy="30480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3066973" y="2733675"/>
            <a:ext cx="9525" cy="30480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3209845" y="2733675"/>
            <a:ext cx="9525" cy="30480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3352716" y="2733675"/>
            <a:ext cx="9525" cy="30480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3495588" y="2733675"/>
            <a:ext cx="9525" cy="30480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3638459" y="2733675"/>
            <a:ext cx="9525" cy="30480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3781330" y="2733675"/>
            <a:ext cx="9525" cy="30480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3924202" y="2733675"/>
            <a:ext cx="9525" cy="30480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Rect 26"/>
          <p:cNvSpPr/>
          <p:nvPr/>
        </p:nvSpPr>
        <p:spPr>
          <a:xfrm>
            <a:off x="4067073" y="2733675"/>
            <a:ext cx="9525" cy="30480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Rect 27"/>
          <p:cNvSpPr/>
          <p:nvPr/>
        </p:nvSpPr>
        <p:spPr>
          <a:xfrm>
            <a:off x="4209945" y="2733675"/>
            <a:ext cx="9525" cy="30480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4352816" y="2733675"/>
            <a:ext cx="9525" cy="30480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ect 29"/>
          <p:cNvSpPr/>
          <p:nvPr/>
        </p:nvSpPr>
        <p:spPr>
          <a:xfrm>
            <a:off x="4495688" y="2733675"/>
            <a:ext cx="9525" cy="30480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ect 30"/>
          <p:cNvSpPr/>
          <p:nvPr/>
        </p:nvSpPr>
        <p:spPr>
          <a:xfrm>
            <a:off x="4638559" y="2733675"/>
            <a:ext cx="9525" cy="30480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4781430" y="2733675"/>
            <a:ext cx="9525" cy="30480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ect 32"/>
          <p:cNvSpPr/>
          <p:nvPr/>
        </p:nvSpPr>
        <p:spPr>
          <a:xfrm>
            <a:off x="4924302" y="2733675"/>
            <a:ext cx="9525" cy="30480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5067173" y="2733675"/>
            <a:ext cx="9525" cy="30480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Rect 34"/>
          <p:cNvSpPr/>
          <p:nvPr/>
        </p:nvSpPr>
        <p:spPr>
          <a:xfrm>
            <a:off x="5210045" y="2733675"/>
            <a:ext cx="9525" cy="30480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933427" y="2876550"/>
            <a:ext cx="4419490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ect 36"/>
          <p:cNvSpPr/>
          <p:nvPr/>
        </p:nvSpPr>
        <p:spPr>
          <a:xfrm>
            <a:off x="933427" y="3019425"/>
            <a:ext cx="4419490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ect 37"/>
          <p:cNvSpPr/>
          <p:nvPr/>
        </p:nvSpPr>
        <p:spPr>
          <a:xfrm>
            <a:off x="933427" y="3162300"/>
            <a:ext cx="4419490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Rect 38"/>
          <p:cNvSpPr/>
          <p:nvPr/>
        </p:nvSpPr>
        <p:spPr>
          <a:xfrm>
            <a:off x="933427" y="3305175"/>
            <a:ext cx="4419490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Rect 39"/>
          <p:cNvSpPr/>
          <p:nvPr/>
        </p:nvSpPr>
        <p:spPr>
          <a:xfrm>
            <a:off x="933427" y="3448050"/>
            <a:ext cx="4419490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Rect 40"/>
          <p:cNvSpPr/>
          <p:nvPr/>
        </p:nvSpPr>
        <p:spPr>
          <a:xfrm>
            <a:off x="933427" y="3590925"/>
            <a:ext cx="4419490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Rect 41"/>
          <p:cNvSpPr/>
          <p:nvPr/>
        </p:nvSpPr>
        <p:spPr>
          <a:xfrm>
            <a:off x="933427" y="3733800"/>
            <a:ext cx="4419490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Rect 42"/>
          <p:cNvSpPr/>
          <p:nvPr/>
        </p:nvSpPr>
        <p:spPr>
          <a:xfrm>
            <a:off x="933427" y="3876675"/>
            <a:ext cx="4419490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ect 43"/>
          <p:cNvSpPr/>
          <p:nvPr/>
        </p:nvSpPr>
        <p:spPr>
          <a:xfrm>
            <a:off x="933427" y="4019550"/>
            <a:ext cx="4419490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ect 44"/>
          <p:cNvSpPr/>
          <p:nvPr/>
        </p:nvSpPr>
        <p:spPr>
          <a:xfrm>
            <a:off x="933427" y="4162425"/>
            <a:ext cx="4419490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Rect 45"/>
          <p:cNvSpPr/>
          <p:nvPr/>
        </p:nvSpPr>
        <p:spPr>
          <a:xfrm>
            <a:off x="933427" y="4305300"/>
            <a:ext cx="4419490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Rect 46"/>
          <p:cNvSpPr/>
          <p:nvPr/>
        </p:nvSpPr>
        <p:spPr>
          <a:xfrm>
            <a:off x="933427" y="4448175"/>
            <a:ext cx="4419490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Rect 47"/>
          <p:cNvSpPr/>
          <p:nvPr/>
        </p:nvSpPr>
        <p:spPr>
          <a:xfrm>
            <a:off x="933427" y="4591050"/>
            <a:ext cx="4419490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Rect 48"/>
          <p:cNvSpPr/>
          <p:nvPr/>
        </p:nvSpPr>
        <p:spPr>
          <a:xfrm>
            <a:off x="933427" y="4733925"/>
            <a:ext cx="4419490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Rect 49"/>
          <p:cNvSpPr/>
          <p:nvPr/>
        </p:nvSpPr>
        <p:spPr>
          <a:xfrm>
            <a:off x="933427" y="4876800"/>
            <a:ext cx="4419490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Rect 50"/>
          <p:cNvSpPr/>
          <p:nvPr/>
        </p:nvSpPr>
        <p:spPr>
          <a:xfrm>
            <a:off x="933427" y="5019675"/>
            <a:ext cx="4419490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Rect 51"/>
          <p:cNvSpPr/>
          <p:nvPr/>
        </p:nvSpPr>
        <p:spPr>
          <a:xfrm>
            <a:off x="933427" y="5162550"/>
            <a:ext cx="4419490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Rect 52"/>
          <p:cNvSpPr/>
          <p:nvPr/>
        </p:nvSpPr>
        <p:spPr>
          <a:xfrm>
            <a:off x="933427" y="5305425"/>
            <a:ext cx="4419490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Rect 53"/>
          <p:cNvSpPr/>
          <p:nvPr/>
        </p:nvSpPr>
        <p:spPr>
          <a:xfrm>
            <a:off x="933427" y="5448300"/>
            <a:ext cx="4419490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Rect 54"/>
          <p:cNvSpPr/>
          <p:nvPr/>
        </p:nvSpPr>
        <p:spPr>
          <a:xfrm>
            <a:off x="933427" y="5591175"/>
            <a:ext cx="4419490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Rect 55"/>
          <p:cNvSpPr/>
          <p:nvPr/>
        </p:nvSpPr>
        <p:spPr>
          <a:xfrm>
            <a:off x="685783" y="571500"/>
            <a:ext cx="66673" cy="66675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Rect 56"/>
          <p:cNvSpPr/>
          <p:nvPr/>
        </p:nvSpPr>
        <p:spPr>
          <a:xfrm>
            <a:off x="685783" y="6248400"/>
            <a:ext cx="2857429" cy="9525"/>
          </a:xfrm>
          <a:prstGeom prst="rect">
            <a:avLst/>
          </a:prstGeom>
          <a:solidFill>
            <a:srgbClr val="DBE2E6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Rect 57"/>
          <p:cNvSpPr/>
          <p:nvPr/>
        </p:nvSpPr>
        <p:spPr>
          <a:xfrm>
            <a:off x="6105372" y="2790825"/>
            <a:ext cx="4114697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BEC"/>
            </a:solidFill>
          </a:ln>
        </p:spPr>
        <p:txBody>
          <a:bodyPr/>
          <a:lstStyle/>
          <a:p/>
        </p:txBody>
      </p:sp>
      <p:sp>
        <p:nvSpPr>
          <p:cNvPr id="58" name="Rect 58"/>
          <p:cNvSpPr/>
          <p:nvPr/>
        </p:nvSpPr>
        <p:spPr>
          <a:xfrm>
            <a:off x="6105372" y="3876675"/>
            <a:ext cx="4114697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BEC"/>
            </a:solidFill>
          </a:ln>
        </p:spPr>
        <p:txBody>
          <a:bodyPr/>
          <a:lstStyle/>
          <a:p/>
        </p:txBody>
      </p:sp>
      <p:sp>
        <p:nvSpPr>
          <p:cNvPr id="59" name="Rect 59"/>
          <p:cNvSpPr/>
          <p:nvPr/>
        </p:nvSpPr>
        <p:spPr>
          <a:xfrm>
            <a:off x="6105372" y="4962525"/>
            <a:ext cx="4114697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BEC"/>
            </a:solidFill>
          </a:ln>
        </p:spPr>
        <p:txBody>
          <a:bodyPr/>
          <a:lstStyle/>
          <a:p/>
        </p:txBody>
      </p:sp>
      <p:sp>
        <p:nvSpPr>
          <p:cNvPr id="60" name="Rect 60"/>
          <p:cNvSpPr/>
          <p:nvPr/>
        </p:nvSpPr>
        <p:spPr>
          <a:xfrm>
            <a:off x="6114897" y="2800350"/>
            <a:ext cx="47624" cy="800100"/>
          </a:xfrm>
          <a:prstGeom prst="rect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Rect 61"/>
          <p:cNvSpPr/>
          <p:nvPr/>
        </p:nvSpPr>
        <p:spPr>
          <a:xfrm>
            <a:off x="6114897" y="3886200"/>
            <a:ext cx="47624" cy="8001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Rect 62"/>
          <p:cNvSpPr/>
          <p:nvPr/>
        </p:nvSpPr>
        <p:spPr>
          <a:xfrm>
            <a:off x="6114897" y="4972050"/>
            <a:ext cx="47624" cy="800100"/>
          </a:xfrm>
          <a:prstGeom prst="rect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Rect 63"/>
          <p:cNvSpPr/>
          <p:nvPr/>
        </p:nvSpPr>
        <p:spPr>
          <a:xfrm>
            <a:off x="2333567" y="2762250"/>
            <a:ext cx="114297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Rect 64"/>
          <p:cNvSpPr/>
          <p:nvPr/>
        </p:nvSpPr>
        <p:spPr>
          <a:xfrm>
            <a:off x="2476438" y="2762250"/>
            <a:ext cx="104772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Rect 65"/>
          <p:cNvSpPr/>
          <p:nvPr/>
        </p:nvSpPr>
        <p:spPr>
          <a:xfrm>
            <a:off x="2609785" y="2762250"/>
            <a:ext cx="114297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Rect 66"/>
          <p:cNvSpPr/>
          <p:nvPr/>
        </p:nvSpPr>
        <p:spPr>
          <a:xfrm>
            <a:off x="4133747" y="2762250"/>
            <a:ext cx="114297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Rect 67"/>
          <p:cNvSpPr/>
          <p:nvPr/>
        </p:nvSpPr>
        <p:spPr>
          <a:xfrm>
            <a:off x="4276618" y="2762250"/>
            <a:ext cx="104772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Rect 68"/>
          <p:cNvSpPr/>
          <p:nvPr/>
        </p:nvSpPr>
        <p:spPr>
          <a:xfrm>
            <a:off x="4409965" y="2762250"/>
            <a:ext cx="114297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Rect 69"/>
          <p:cNvSpPr/>
          <p:nvPr/>
        </p:nvSpPr>
        <p:spPr>
          <a:xfrm>
            <a:off x="5248144" y="3448050"/>
            <a:ext cx="104772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Rect 70"/>
          <p:cNvSpPr/>
          <p:nvPr/>
        </p:nvSpPr>
        <p:spPr>
          <a:xfrm>
            <a:off x="5248144" y="3590925"/>
            <a:ext cx="104772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Rect 71"/>
          <p:cNvSpPr/>
          <p:nvPr/>
        </p:nvSpPr>
        <p:spPr>
          <a:xfrm>
            <a:off x="5248144" y="3724275"/>
            <a:ext cx="104772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Rect 72"/>
          <p:cNvSpPr/>
          <p:nvPr/>
        </p:nvSpPr>
        <p:spPr>
          <a:xfrm>
            <a:off x="5248144" y="4562475"/>
            <a:ext cx="104772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Rect 73"/>
          <p:cNvSpPr/>
          <p:nvPr/>
        </p:nvSpPr>
        <p:spPr>
          <a:xfrm>
            <a:off x="5248144" y="4695825"/>
            <a:ext cx="104772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Rect 74"/>
          <p:cNvSpPr/>
          <p:nvPr/>
        </p:nvSpPr>
        <p:spPr>
          <a:xfrm>
            <a:off x="5248144" y="4838700"/>
            <a:ext cx="104772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Rect 75"/>
          <p:cNvSpPr/>
          <p:nvPr/>
        </p:nvSpPr>
        <p:spPr>
          <a:xfrm>
            <a:off x="1924002" y="5667375"/>
            <a:ext cx="104772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6" name="Rect 76"/>
          <p:cNvSpPr/>
          <p:nvPr/>
        </p:nvSpPr>
        <p:spPr>
          <a:xfrm>
            <a:off x="2057349" y="5667375"/>
            <a:ext cx="114297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Rect 77"/>
          <p:cNvSpPr/>
          <p:nvPr/>
        </p:nvSpPr>
        <p:spPr>
          <a:xfrm>
            <a:off x="2200220" y="5667375"/>
            <a:ext cx="104772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Rect 78"/>
          <p:cNvSpPr/>
          <p:nvPr/>
        </p:nvSpPr>
        <p:spPr>
          <a:xfrm>
            <a:off x="3857529" y="5667375"/>
            <a:ext cx="114297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9" name="Rect 79"/>
          <p:cNvSpPr/>
          <p:nvPr/>
        </p:nvSpPr>
        <p:spPr>
          <a:xfrm>
            <a:off x="4000400" y="5667375"/>
            <a:ext cx="104772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0" name="Rect 80"/>
          <p:cNvSpPr/>
          <p:nvPr/>
        </p:nvSpPr>
        <p:spPr>
          <a:xfrm>
            <a:off x="4133747" y="5667375"/>
            <a:ext cx="114297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Ellipse 81"/>
          <p:cNvSpPr/>
          <p:nvPr/>
        </p:nvSpPr>
        <p:spPr>
          <a:xfrm>
            <a:off x="1657309" y="346710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Ellipse 82"/>
          <p:cNvSpPr/>
          <p:nvPr/>
        </p:nvSpPr>
        <p:spPr>
          <a:xfrm>
            <a:off x="1800180" y="346710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Ellipse 83"/>
          <p:cNvSpPr/>
          <p:nvPr/>
        </p:nvSpPr>
        <p:spPr>
          <a:xfrm>
            <a:off x="1933527" y="346710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4" name="Ellipse 84"/>
          <p:cNvSpPr/>
          <p:nvPr/>
        </p:nvSpPr>
        <p:spPr>
          <a:xfrm>
            <a:off x="2076398" y="346710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Ellipse 85"/>
          <p:cNvSpPr/>
          <p:nvPr/>
        </p:nvSpPr>
        <p:spPr>
          <a:xfrm>
            <a:off x="2209745" y="346710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Ellipse 86"/>
          <p:cNvSpPr/>
          <p:nvPr/>
        </p:nvSpPr>
        <p:spPr>
          <a:xfrm>
            <a:off x="1657309" y="3600450"/>
            <a:ext cx="76198" cy="85725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7" name="Ellipse 87"/>
          <p:cNvSpPr/>
          <p:nvPr/>
        </p:nvSpPr>
        <p:spPr>
          <a:xfrm>
            <a:off x="1800180" y="3600450"/>
            <a:ext cx="76198" cy="85725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8" name="Ellipse 88"/>
          <p:cNvSpPr/>
          <p:nvPr/>
        </p:nvSpPr>
        <p:spPr>
          <a:xfrm>
            <a:off x="1933527" y="3600450"/>
            <a:ext cx="76198" cy="85725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Ellipse 89"/>
          <p:cNvSpPr/>
          <p:nvPr/>
        </p:nvSpPr>
        <p:spPr>
          <a:xfrm>
            <a:off x="2209745" y="3600450"/>
            <a:ext cx="85723" cy="85725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Ellipse 90"/>
          <p:cNvSpPr/>
          <p:nvPr/>
        </p:nvSpPr>
        <p:spPr>
          <a:xfrm>
            <a:off x="2076398" y="3609975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1" name="Ellipse 91"/>
          <p:cNvSpPr/>
          <p:nvPr/>
        </p:nvSpPr>
        <p:spPr>
          <a:xfrm>
            <a:off x="1657309" y="388620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Ellipse 92"/>
          <p:cNvSpPr/>
          <p:nvPr/>
        </p:nvSpPr>
        <p:spPr>
          <a:xfrm>
            <a:off x="1800180" y="388620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3" name="Ellipse 93"/>
          <p:cNvSpPr/>
          <p:nvPr/>
        </p:nvSpPr>
        <p:spPr>
          <a:xfrm>
            <a:off x="1933527" y="388620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4" name="Ellipse 94"/>
          <p:cNvSpPr/>
          <p:nvPr/>
        </p:nvSpPr>
        <p:spPr>
          <a:xfrm>
            <a:off x="2076398" y="388620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Ellipse 95"/>
          <p:cNvSpPr/>
          <p:nvPr/>
        </p:nvSpPr>
        <p:spPr>
          <a:xfrm>
            <a:off x="2209745" y="3886200"/>
            <a:ext cx="85723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6" name="Ellipse 96"/>
          <p:cNvSpPr/>
          <p:nvPr/>
        </p:nvSpPr>
        <p:spPr>
          <a:xfrm>
            <a:off x="2352616" y="388620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7" name="Ellipse 97"/>
          <p:cNvSpPr/>
          <p:nvPr/>
        </p:nvSpPr>
        <p:spPr>
          <a:xfrm>
            <a:off x="1657309" y="401955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8" name="Ellipse 98"/>
          <p:cNvSpPr/>
          <p:nvPr/>
        </p:nvSpPr>
        <p:spPr>
          <a:xfrm>
            <a:off x="1800180" y="401955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9" name="Ellipse 99"/>
          <p:cNvSpPr/>
          <p:nvPr/>
        </p:nvSpPr>
        <p:spPr>
          <a:xfrm>
            <a:off x="1933527" y="401955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" name="Ellipse 100"/>
          <p:cNvSpPr/>
          <p:nvPr/>
        </p:nvSpPr>
        <p:spPr>
          <a:xfrm>
            <a:off x="2076398" y="401955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Ellipse 101"/>
          <p:cNvSpPr/>
          <p:nvPr/>
        </p:nvSpPr>
        <p:spPr>
          <a:xfrm>
            <a:off x="2352616" y="401955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Ellipse 102"/>
          <p:cNvSpPr/>
          <p:nvPr/>
        </p:nvSpPr>
        <p:spPr>
          <a:xfrm>
            <a:off x="1657309" y="443865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Ellipse 103"/>
          <p:cNvSpPr/>
          <p:nvPr/>
        </p:nvSpPr>
        <p:spPr>
          <a:xfrm>
            <a:off x="1800180" y="443865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Ellipse 104"/>
          <p:cNvSpPr/>
          <p:nvPr/>
        </p:nvSpPr>
        <p:spPr>
          <a:xfrm>
            <a:off x="1933527" y="443865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Ellipse 105"/>
          <p:cNvSpPr/>
          <p:nvPr/>
        </p:nvSpPr>
        <p:spPr>
          <a:xfrm>
            <a:off x="1657309" y="457200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" name="Ellipse 106"/>
          <p:cNvSpPr/>
          <p:nvPr/>
        </p:nvSpPr>
        <p:spPr>
          <a:xfrm>
            <a:off x="1800180" y="457200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Ellipse 107"/>
          <p:cNvSpPr/>
          <p:nvPr/>
        </p:nvSpPr>
        <p:spPr>
          <a:xfrm>
            <a:off x="1933527" y="457200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" name="Ellipse 108"/>
          <p:cNvSpPr/>
          <p:nvPr/>
        </p:nvSpPr>
        <p:spPr>
          <a:xfrm>
            <a:off x="1657309" y="4848225"/>
            <a:ext cx="76198" cy="85725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" name="Ellipse 109"/>
          <p:cNvSpPr/>
          <p:nvPr/>
        </p:nvSpPr>
        <p:spPr>
          <a:xfrm>
            <a:off x="1800180" y="4848225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" name="Ellipse 110"/>
          <p:cNvSpPr/>
          <p:nvPr/>
        </p:nvSpPr>
        <p:spPr>
          <a:xfrm>
            <a:off x="1933527" y="4848225"/>
            <a:ext cx="76198" cy="85725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" name="Ellipse 111"/>
          <p:cNvSpPr/>
          <p:nvPr/>
        </p:nvSpPr>
        <p:spPr>
          <a:xfrm>
            <a:off x="4152796" y="4848225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Ellipse 112"/>
          <p:cNvSpPr/>
          <p:nvPr/>
        </p:nvSpPr>
        <p:spPr>
          <a:xfrm>
            <a:off x="4295668" y="4848225"/>
            <a:ext cx="76198" cy="85725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" name="Ellipse 113"/>
          <p:cNvSpPr/>
          <p:nvPr/>
        </p:nvSpPr>
        <p:spPr>
          <a:xfrm>
            <a:off x="1657309" y="499110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" name="Ellipse 114"/>
          <p:cNvSpPr/>
          <p:nvPr/>
        </p:nvSpPr>
        <p:spPr>
          <a:xfrm>
            <a:off x="1800180" y="499110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" name="Ellipse 115"/>
          <p:cNvSpPr/>
          <p:nvPr/>
        </p:nvSpPr>
        <p:spPr>
          <a:xfrm>
            <a:off x="1933527" y="499110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" name="Ellipse 116"/>
          <p:cNvSpPr/>
          <p:nvPr/>
        </p:nvSpPr>
        <p:spPr>
          <a:xfrm>
            <a:off x="3457489" y="346710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" name="Ellipse 117"/>
          <p:cNvSpPr/>
          <p:nvPr/>
        </p:nvSpPr>
        <p:spPr>
          <a:xfrm>
            <a:off x="3600360" y="346710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" name="Ellipse 118"/>
          <p:cNvSpPr/>
          <p:nvPr/>
        </p:nvSpPr>
        <p:spPr>
          <a:xfrm>
            <a:off x="3733707" y="346710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" name="Ellipse 119"/>
          <p:cNvSpPr/>
          <p:nvPr/>
        </p:nvSpPr>
        <p:spPr>
          <a:xfrm>
            <a:off x="3876578" y="346710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" name="Ellipse 120"/>
          <p:cNvSpPr/>
          <p:nvPr/>
        </p:nvSpPr>
        <p:spPr>
          <a:xfrm>
            <a:off x="4019450" y="346710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" name="Ellipse 121"/>
          <p:cNvSpPr/>
          <p:nvPr/>
        </p:nvSpPr>
        <p:spPr>
          <a:xfrm>
            <a:off x="4152796" y="346710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" name="Ellipse 122"/>
          <p:cNvSpPr/>
          <p:nvPr/>
        </p:nvSpPr>
        <p:spPr>
          <a:xfrm>
            <a:off x="3457489" y="3600450"/>
            <a:ext cx="76198" cy="85725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" name="Ellipse 123"/>
          <p:cNvSpPr/>
          <p:nvPr/>
        </p:nvSpPr>
        <p:spPr>
          <a:xfrm>
            <a:off x="3876578" y="3609975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" name="Ellipse 124"/>
          <p:cNvSpPr/>
          <p:nvPr/>
        </p:nvSpPr>
        <p:spPr>
          <a:xfrm>
            <a:off x="3457489" y="388620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" name="Ellipse 125"/>
          <p:cNvSpPr/>
          <p:nvPr/>
        </p:nvSpPr>
        <p:spPr>
          <a:xfrm>
            <a:off x="3600360" y="388620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" name="Ellipse 126"/>
          <p:cNvSpPr/>
          <p:nvPr/>
        </p:nvSpPr>
        <p:spPr>
          <a:xfrm>
            <a:off x="3733707" y="3886200"/>
            <a:ext cx="85723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" name="Ellipse 127"/>
          <p:cNvSpPr/>
          <p:nvPr/>
        </p:nvSpPr>
        <p:spPr>
          <a:xfrm>
            <a:off x="4009925" y="3886200"/>
            <a:ext cx="85723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" name="Ellipse 128"/>
          <p:cNvSpPr/>
          <p:nvPr/>
        </p:nvSpPr>
        <p:spPr>
          <a:xfrm>
            <a:off x="4152796" y="388620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" name="Ellipse 129"/>
          <p:cNvSpPr/>
          <p:nvPr/>
        </p:nvSpPr>
        <p:spPr>
          <a:xfrm>
            <a:off x="4429014" y="388620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" name="Ellipse 130"/>
          <p:cNvSpPr/>
          <p:nvPr/>
        </p:nvSpPr>
        <p:spPr>
          <a:xfrm>
            <a:off x="4571886" y="388620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" name="Ellipse 131"/>
          <p:cNvSpPr/>
          <p:nvPr/>
        </p:nvSpPr>
        <p:spPr>
          <a:xfrm>
            <a:off x="3457489" y="401955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" name="Ellipse 132"/>
          <p:cNvSpPr/>
          <p:nvPr/>
        </p:nvSpPr>
        <p:spPr>
          <a:xfrm>
            <a:off x="3600360" y="401955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" name="Ellipse 133"/>
          <p:cNvSpPr/>
          <p:nvPr/>
        </p:nvSpPr>
        <p:spPr>
          <a:xfrm>
            <a:off x="3733707" y="4019550"/>
            <a:ext cx="85723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" name="Ellipse 134"/>
          <p:cNvSpPr/>
          <p:nvPr/>
        </p:nvSpPr>
        <p:spPr>
          <a:xfrm>
            <a:off x="4009925" y="4019550"/>
            <a:ext cx="85723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" name="Ellipse 135"/>
          <p:cNvSpPr/>
          <p:nvPr/>
        </p:nvSpPr>
        <p:spPr>
          <a:xfrm>
            <a:off x="4152796" y="401955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" name="Ellipse 136"/>
          <p:cNvSpPr/>
          <p:nvPr/>
        </p:nvSpPr>
        <p:spPr>
          <a:xfrm>
            <a:off x="4295668" y="401955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" name="Ellipse 137"/>
          <p:cNvSpPr/>
          <p:nvPr/>
        </p:nvSpPr>
        <p:spPr>
          <a:xfrm>
            <a:off x="4429014" y="401955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" name="Ellipse 138"/>
          <p:cNvSpPr/>
          <p:nvPr/>
        </p:nvSpPr>
        <p:spPr>
          <a:xfrm>
            <a:off x="4571886" y="401955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" name="Ellipse 139"/>
          <p:cNvSpPr/>
          <p:nvPr/>
        </p:nvSpPr>
        <p:spPr>
          <a:xfrm>
            <a:off x="3324142" y="443865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" name="Ellipse 140"/>
          <p:cNvSpPr/>
          <p:nvPr/>
        </p:nvSpPr>
        <p:spPr>
          <a:xfrm>
            <a:off x="3457489" y="443865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" name="Ellipse 141"/>
          <p:cNvSpPr/>
          <p:nvPr/>
        </p:nvSpPr>
        <p:spPr>
          <a:xfrm>
            <a:off x="3600360" y="443865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" name="Ellipse 142"/>
          <p:cNvSpPr/>
          <p:nvPr/>
        </p:nvSpPr>
        <p:spPr>
          <a:xfrm>
            <a:off x="3733707" y="4438650"/>
            <a:ext cx="85723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" name="Ellipse 143"/>
          <p:cNvSpPr/>
          <p:nvPr/>
        </p:nvSpPr>
        <p:spPr>
          <a:xfrm>
            <a:off x="3876578" y="443865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" name="Ellipse 144"/>
          <p:cNvSpPr/>
          <p:nvPr/>
        </p:nvSpPr>
        <p:spPr>
          <a:xfrm>
            <a:off x="3324142" y="457200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" name="Ellipse 145"/>
          <p:cNvSpPr/>
          <p:nvPr/>
        </p:nvSpPr>
        <p:spPr>
          <a:xfrm>
            <a:off x="3457489" y="457200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" name="Ellipse 146"/>
          <p:cNvSpPr/>
          <p:nvPr/>
        </p:nvSpPr>
        <p:spPr>
          <a:xfrm>
            <a:off x="3733707" y="4572000"/>
            <a:ext cx="85723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" name="Ellipse 147"/>
          <p:cNvSpPr/>
          <p:nvPr/>
        </p:nvSpPr>
        <p:spPr>
          <a:xfrm>
            <a:off x="3876578" y="457200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" name="Ellipse 148"/>
          <p:cNvSpPr/>
          <p:nvPr/>
        </p:nvSpPr>
        <p:spPr>
          <a:xfrm>
            <a:off x="3324142" y="4848225"/>
            <a:ext cx="76198" cy="85725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" name="Ellipse 149"/>
          <p:cNvSpPr/>
          <p:nvPr/>
        </p:nvSpPr>
        <p:spPr>
          <a:xfrm>
            <a:off x="3457489" y="4848225"/>
            <a:ext cx="76198" cy="85725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" name="Ellipse 150"/>
          <p:cNvSpPr/>
          <p:nvPr/>
        </p:nvSpPr>
        <p:spPr>
          <a:xfrm>
            <a:off x="3600360" y="4848225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1" name="Ellipse 151"/>
          <p:cNvSpPr/>
          <p:nvPr/>
        </p:nvSpPr>
        <p:spPr>
          <a:xfrm>
            <a:off x="3733707" y="4848225"/>
            <a:ext cx="85723" cy="85725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" name="Ellipse 152"/>
          <p:cNvSpPr/>
          <p:nvPr/>
        </p:nvSpPr>
        <p:spPr>
          <a:xfrm>
            <a:off x="3876578" y="4848225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" name="Ellipse 153"/>
          <p:cNvSpPr/>
          <p:nvPr/>
        </p:nvSpPr>
        <p:spPr>
          <a:xfrm>
            <a:off x="3324142" y="499110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" name="Ellipse 154"/>
          <p:cNvSpPr/>
          <p:nvPr/>
        </p:nvSpPr>
        <p:spPr>
          <a:xfrm>
            <a:off x="3457489" y="499110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" name="Ellipse 155"/>
          <p:cNvSpPr/>
          <p:nvPr/>
        </p:nvSpPr>
        <p:spPr>
          <a:xfrm>
            <a:off x="3733707" y="499110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" name="Ellipse 156"/>
          <p:cNvSpPr/>
          <p:nvPr/>
        </p:nvSpPr>
        <p:spPr>
          <a:xfrm>
            <a:off x="3876578" y="499110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" name="Ellipse 157"/>
          <p:cNvSpPr/>
          <p:nvPr/>
        </p:nvSpPr>
        <p:spPr>
          <a:xfrm>
            <a:off x="2628834" y="346710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" name="Ellipse 158"/>
          <p:cNvSpPr/>
          <p:nvPr/>
        </p:nvSpPr>
        <p:spPr>
          <a:xfrm>
            <a:off x="2771706" y="346710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9" name="Ellipse 159"/>
          <p:cNvSpPr/>
          <p:nvPr/>
        </p:nvSpPr>
        <p:spPr>
          <a:xfrm>
            <a:off x="2905052" y="346710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0" name="Ellipse 160"/>
          <p:cNvSpPr/>
          <p:nvPr/>
        </p:nvSpPr>
        <p:spPr>
          <a:xfrm>
            <a:off x="3324142" y="346710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1" name="Ellipse 161"/>
          <p:cNvSpPr/>
          <p:nvPr/>
        </p:nvSpPr>
        <p:spPr>
          <a:xfrm>
            <a:off x="2628834" y="3600450"/>
            <a:ext cx="76198" cy="85725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2" name="Ellipse 162"/>
          <p:cNvSpPr/>
          <p:nvPr/>
        </p:nvSpPr>
        <p:spPr>
          <a:xfrm>
            <a:off x="2771706" y="3600450"/>
            <a:ext cx="76198" cy="85725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3" name="Ellipse 163"/>
          <p:cNvSpPr/>
          <p:nvPr/>
        </p:nvSpPr>
        <p:spPr>
          <a:xfrm>
            <a:off x="2905052" y="3600450"/>
            <a:ext cx="76198" cy="85725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4" name="Ellipse 164"/>
          <p:cNvSpPr/>
          <p:nvPr/>
        </p:nvSpPr>
        <p:spPr>
          <a:xfrm>
            <a:off x="3324142" y="3600450"/>
            <a:ext cx="76198" cy="85725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5" name="Ellipse 165"/>
          <p:cNvSpPr/>
          <p:nvPr/>
        </p:nvSpPr>
        <p:spPr>
          <a:xfrm>
            <a:off x="2771706" y="388620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6" name="Ellipse 166"/>
          <p:cNvSpPr/>
          <p:nvPr/>
        </p:nvSpPr>
        <p:spPr>
          <a:xfrm>
            <a:off x="2905052" y="388620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7" name="Ellipse 167"/>
          <p:cNvSpPr/>
          <p:nvPr/>
        </p:nvSpPr>
        <p:spPr>
          <a:xfrm>
            <a:off x="3324142" y="388620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8" name="Ellipse 168"/>
          <p:cNvSpPr/>
          <p:nvPr/>
        </p:nvSpPr>
        <p:spPr>
          <a:xfrm>
            <a:off x="2628834" y="401955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9" name="Ellipse 169"/>
          <p:cNvSpPr/>
          <p:nvPr/>
        </p:nvSpPr>
        <p:spPr>
          <a:xfrm>
            <a:off x="2771706" y="401955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0" name="Ellipse 170"/>
          <p:cNvSpPr/>
          <p:nvPr/>
        </p:nvSpPr>
        <p:spPr>
          <a:xfrm>
            <a:off x="2905052" y="401955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1" name="Ellipse 171"/>
          <p:cNvSpPr/>
          <p:nvPr/>
        </p:nvSpPr>
        <p:spPr>
          <a:xfrm>
            <a:off x="3324142" y="401955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2" name="Ellipse 172"/>
          <p:cNvSpPr/>
          <p:nvPr/>
        </p:nvSpPr>
        <p:spPr>
          <a:xfrm>
            <a:off x="2209745" y="4438650"/>
            <a:ext cx="85723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3" name="Ellipse 173"/>
          <p:cNvSpPr/>
          <p:nvPr/>
        </p:nvSpPr>
        <p:spPr>
          <a:xfrm>
            <a:off x="2352616" y="443865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4" name="Ellipse 174"/>
          <p:cNvSpPr/>
          <p:nvPr/>
        </p:nvSpPr>
        <p:spPr>
          <a:xfrm>
            <a:off x="2485963" y="4438650"/>
            <a:ext cx="85723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5" name="Ellipse 175"/>
          <p:cNvSpPr/>
          <p:nvPr/>
        </p:nvSpPr>
        <p:spPr>
          <a:xfrm>
            <a:off x="2628834" y="443865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6" name="Ellipse 176"/>
          <p:cNvSpPr/>
          <p:nvPr/>
        </p:nvSpPr>
        <p:spPr>
          <a:xfrm>
            <a:off x="2771706" y="443865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7" name="Ellipse 177"/>
          <p:cNvSpPr/>
          <p:nvPr/>
        </p:nvSpPr>
        <p:spPr>
          <a:xfrm>
            <a:off x="2905052" y="443865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8" name="Ellipse 178"/>
          <p:cNvSpPr/>
          <p:nvPr/>
        </p:nvSpPr>
        <p:spPr>
          <a:xfrm>
            <a:off x="4429014" y="443865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9" name="Ellipse 179"/>
          <p:cNvSpPr/>
          <p:nvPr/>
        </p:nvSpPr>
        <p:spPr>
          <a:xfrm>
            <a:off x="2209745" y="4572000"/>
            <a:ext cx="85723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80" name="Ellipse 180"/>
          <p:cNvSpPr/>
          <p:nvPr/>
        </p:nvSpPr>
        <p:spPr>
          <a:xfrm>
            <a:off x="2352616" y="457200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81" name="Ellipse 181"/>
          <p:cNvSpPr/>
          <p:nvPr/>
        </p:nvSpPr>
        <p:spPr>
          <a:xfrm>
            <a:off x="2485963" y="4572000"/>
            <a:ext cx="85723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82" name="Ellipse 182"/>
          <p:cNvSpPr/>
          <p:nvPr/>
        </p:nvSpPr>
        <p:spPr>
          <a:xfrm>
            <a:off x="2628834" y="457200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83" name="Ellipse 183"/>
          <p:cNvSpPr/>
          <p:nvPr/>
        </p:nvSpPr>
        <p:spPr>
          <a:xfrm>
            <a:off x="2771706" y="457200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84" name="Ellipse 184"/>
          <p:cNvSpPr/>
          <p:nvPr/>
        </p:nvSpPr>
        <p:spPr>
          <a:xfrm>
            <a:off x="2905052" y="457200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85" name="Ellipse 185"/>
          <p:cNvSpPr/>
          <p:nvPr/>
        </p:nvSpPr>
        <p:spPr>
          <a:xfrm>
            <a:off x="4295668" y="457200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86" name="Ellipse 186"/>
          <p:cNvSpPr/>
          <p:nvPr/>
        </p:nvSpPr>
        <p:spPr>
          <a:xfrm>
            <a:off x="2209745" y="4848225"/>
            <a:ext cx="85723" cy="85725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87" name="Ellipse 187"/>
          <p:cNvSpPr/>
          <p:nvPr/>
        </p:nvSpPr>
        <p:spPr>
          <a:xfrm>
            <a:off x="2485963" y="4848225"/>
            <a:ext cx="85723" cy="85725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88" name="Ellipse 188"/>
          <p:cNvSpPr/>
          <p:nvPr/>
        </p:nvSpPr>
        <p:spPr>
          <a:xfrm>
            <a:off x="2771706" y="4848225"/>
            <a:ext cx="76198" cy="85725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89" name="Ellipse 189"/>
          <p:cNvSpPr/>
          <p:nvPr/>
        </p:nvSpPr>
        <p:spPr>
          <a:xfrm>
            <a:off x="2905052" y="4848225"/>
            <a:ext cx="76198" cy="85725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0" name="Ellipse 190"/>
          <p:cNvSpPr/>
          <p:nvPr/>
        </p:nvSpPr>
        <p:spPr>
          <a:xfrm>
            <a:off x="2209745" y="499110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1" name="Ellipse 191"/>
          <p:cNvSpPr/>
          <p:nvPr/>
        </p:nvSpPr>
        <p:spPr>
          <a:xfrm>
            <a:off x="2495488" y="499110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2" name="Ellipse 192"/>
          <p:cNvSpPr/>
          <p:nvPr/>
        </p:nvSpPr>
        <p:spPr>
          <a:xfrm>
            <a:off x="2628834" y="499110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3" name="Ellipse 193"/>
          <p:cNvSpPr/>
          <p:nvPr/>
        </p:nvSpPr>
        <p:spPr>
          <a:xfrm>
            <a:off x="2905052" y="499110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4" name="Ellipse 194"/>
          <p:cNvSpPr/>
          <p:nvPr/>
        </p:nvSpPr>
        <p:spPr>
          <a:xfrm>
            <a:off x="2495488" y="3467100"/>
            <a:ext cx="76198" cy="7620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5" name="Ellipse 195"/>
          <p:cNvSpPr/>
          <p:nvPr/>
        </p:nvSpPr>
        <p:spPr>
          <a:xfrm>
            <a:off x="2485963" y="3600450"/>
            <a:ext cx="85723" cy="85725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6" name="Ellipse 196"/>
          <p:cNvSpPr/>
          <p:nvPr/>
        </p:nvSpPr>
        <p:spPr>
          <a:xfrm>
            <a:off x="2485963" y="3886200"/>
            <a:ext cx="85723" cy="7620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7" name="Ellipse 197"/>
          <p:cNvSpPr/>
          <p:nvPr/>
        </p:nvSpPr>
        <p:spPr>
          <a:xfrm>
            <a:off x="2485963" y="4019550"/>
            <a:ext cx="85723" cy="7620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8" name="Ellipse 198"/>
          <p:cNvSpPr/>
          <p:nvPr/>
        </p:nvSpPr>
        <p:spPr>
          <a:xfrm>
            <a:off x="2076398" y="4438650"/>
            <a:ext cx="76198" cy="7620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9" name="Ellipse 199"/>
          <p:cNvSpPr/>
          <p:nvPr/>
        </p:nvSpPr>
        <p:spPr>
          <a:xfrm>
            <a:off x="4009925" y="4438650"/>
            <a:ext cx="85723" cy="7620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0" name="Ellipse 200"/>
          <p:cNvSpPr/>
          <p:nvPr/>
        </p:nvSpPr>
        <p:spPr>
          <a:xfrm>
            <a:off x="4152796" y="4438650"/>
            <a:ext cx="76198" cy="7620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Ellipse 201"/>
          <p:cNvSpPr/>
          <p:nvPr/>
        </p:nvSpPr>
        <p:spPr>
          <a:xfrm>
            <a:off x="4295668" y="4438650"/>
            <a:ext cx="76198" cy="7620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Ellipse 202"/>
          <p:cNvSpPr/>
          <p:nvPr/>
        </p:nvSpPr>
        <p:spPr>
          <a:xfrm>
            <a:off x="4571886" y="4438650"/>
            <a:ext cx="76198" cy="7620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Ellipse 203"/>
          <p:cNvSpPr/>
          <p:nvPr/>
        </p:nvSpPr>
        <p:spPr>
          <a:xfrm>
            <a:off x="2076398" y="4572000"/>
            <a:ext cx="76198" cy="7620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Ellipse 204"/>
          <p:cNvSpPr/>
          <p:nvPr/>
        </p:nvSpPr>
        <p:spPr>
          <a:xfrm>
            <a:off x="4009925" y="4572000"/>
            <a:ext cx="85723" cy="7620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Ellipse 205"/>
          <p:cNvSpPr/>
          <p:nvPr/>
        </p:nvSpPr>
        <p:spPr>
          <a:xfrm>
            <a:off x="4152796" y="4572000"/>
            <a:ext cx="76198" cy="7620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6" name="Ellipse 206"/>
          <p:cNvSpPr/>
          <p:nvPr/>
        </p:nvSpPr>
        <p:spPr>
          <a:xfrm>
            <a:off x="4429014" y="4572000"/>
            <a:ext cx="76198" cy="7620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7" name="Ellipse 207"/>
          <p:cNvSpPr/>
          <p:nvPr/>
        </p:nvSpPr>
        <p:spPr>
          <a:xfrm>
            <a:off x="4571886" y="4572000"/>
            <a:ext cx="76198" cy="7620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8" name="Ellipse 208"/>
          <p:cNvSpPr/>
          <p:nvPr/>
        </p:nvSpPr>
        <p:spPr>
          <a:xfrm>
            <a:off x="2076398" y="4848225"/>
            <a:ext cx="76198" cy="7620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9" name="Ellipse 209"/>
          <p:cNvSpPr/>
          <p:nvPr/>
        </p:nvSpPr>
        <p:spPr>
          <a:xfrm>
            <a:off x="2076398" y="4991100"/>
            <a:ext cx="76198" cy="7620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210" name="Ellipse 210"/>
          <p:cNvSpPr/>
          <p:nvPr/>
        </p:nvSpPr>
        <p:spPr>
          <a:xfrm>
            <a:off x="4295668" y="3467100"/>
            <a:ext cx="76198" cy="7620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1" name="Ellipse 211"/>
          <p:cNvSpPr/>
          <p:nvPr/>
        </p:nvSpPr>
        <p:spPr>
          <a:xfrm>
            <a:off x="3600360" y="3600450"/>
            <a:ext cx="76198" cy="85725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2" name="Ellipse 212"/>
          <p:cNvSpPr/>
          <p:nvPr/>
        </p:nvSpPr>
        <p:spPr>
          <a:xfrm>
            <a:off x="3733707" y="3600450"/>
            <a:ext cx="85723" cy="85725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3" name="Ellipse 213"/>
          <p:cNvSpPr/>
          <p:nvPr/>
        </p:nvSpPr>
        <p:spPr>
          <a:xfrm>
            <a:off x="4009925" y="3600450"/>
            <a:ext cx="85723" cy="85725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4" name="Ellipse 214"/>
          <p:cNvSpPr/>
          <p:nvPr/>
        </p:nvSpPr>
        <p:spPr>
          <a:xfrm>
            <a:off x="3876578" y="3886200"/>
            <a:ext cx="76198" cy="7620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5" name="Ellipse 215"/>
          <p:cNvSpPr/>
          <p:nvPr/>
        </p:nvSpPr>
        <p:spPr>
          <a:xfrm>
            <a:off x="4295668" y="3886200"/>
            <a:ext cx="76198" cy="7620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6" name="Ellipse 216"/>
          <p:cNvSpPr/>
          <p:nvPr/>
        </p:nvSpPr>
        <p:spPr>
          <a:xfrm>
            <a:off x="3876578" y="4019550"/>
            <a:ext cx="76198" cy="7620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7" name="Ellipse 217"/>
          <p:cNvSpPr/>
          <p:nvPr/>
        </p:nvSpPr>
        <p:spPr>
          <a:xfrm>
            <a:off x="4009925" y="4848225"/>
            <a:ext cx="85723" cy="85725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8" name="Ellipse 218"/>
          <p:cNvSpPr/>
          <p:nvPr/>
        </p:nvSpPr>
        <p:spPr>
          <a:xfrm>
            <a:off x="4019450" y="4991100"/>
            <a:ext cx="76198" cy="7620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9" name="Ellipse 219"/>
          <p:cNvSpPr/>
          <p:nvPr/>
        </p:nvSpPr>
        <p:spPr>
          <a:xfrm>
            <a:off x="4152796" y="4991100"/>
            <a:ext cx="76198" cy="76200"/>
          </a:xfrm>
          <a:prstGeom prst="ellipse">
            <a:avLst/>
          </a:prstGeom>
          <a:solidFill>
            <a:srgbClr val="2DB8C6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" name="Ellipse 220"/>
          <p:cNvSpPr/>
          <p:nvPr/>
        </p:nvSpPr>
        <p:spPr>
          <a:xfrm>
            <a:off x="4295668" y="4991100"/>
            <a:ext cx="76198" cy="76200"/>
          </a:xfrm>
          <a:prstGeom prst="ellipse">
            <a:avLst/>
          </a:prstGeom>
          <a:solidFill>
            <a:srgbClr val="2DB8C6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" name="TextBox 221"/>
          <p:cNvSpPr txBox="1"/>
          <p:nvPr/>
        </p:nvSpPr>
        <p:spPr>
          <a:xfrm>
            <a:off x="857229" y="542925"/>
            <a:ext cx="1714457" cy="1428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40" b="1">
                <a:solidFill>
                  <a:srgbClr val="4E5B67"/>
                </a:solidFill>
                <a:latin typeface="PingFang SC"/>
                <a:ea typeface="PingFang SC"/>
                <a:cs typeface="PingFang SC"/>
              </a:rPr>
              <a:t>TASK 2 · MEANING</a:t>
            </a:r>
            <a:endParaRPr lang="zh-CN" sz="840"/>
          </a:p>
        </p:txBody>
      </p:sp>
      <p:sp>
        <p:nvSpPr>
          <p:cNvPr id="222" name="TextBox 222"/>
          <p:cNvSpPr txBox="1"/>
          <p:nvPr/>
        </p:nvSpPr>
        <p:spPr>
          <a:xfrm>
            <a:off x="685783" y="895350"/>
            <a:ext cx="8000800" cy="457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72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任务 2： 动态分区解决“货量归谁处理”。</a:t>
            </a:r>
            <a:endParaRPr lang="zh-CN" sz="2720"/>
          </a:p>
        </p:txBody>
      </p:sp>
      <p:sp>
        <p:nvSpPr>
          <p:cNvPr id="223" name="TextBox 223"/>
          <p:cNvSpPr txBox="1"/>
          <p:nvPr/>
        </p:nvSpPr>
        <p:spPr>
          <a:xfrm>
            <a:off x="704832" y="1914525"/>
            <a:ext cx="8191295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4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这里不直接分配 AGV，而是把托盘上的货量分给不同工位，从而形成随数据变化的服务区域。</a:t>
            </a:r>
            <a:endParaRPr lang="zh-CN" sz="1140"/>
          </a:p>
        </p:txBody>
      </p:sp>
      <p:sp>
        <p:nvSpPr>
          <p:cNvPr id="224" name="TextBox 224"/>
          <p:cNvSpPr txBox="1"/>
          <p:nvPr/>
        </p:nvSpPr>
        <p:spPr>
          <a:xfrm>
            <a:off x="6295868" y="2952750"/>
            <a:ext cx="1714457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4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区别于任务 1</a:t>
            </a:r>
            <a:endParaRPr lang="zh-CN" sz="1140"/>
          </a:p>
        </p:txBody>
      </p:sp>
      <p:sp>
        <p:nvSpPr>
          <p:cNvPr id="225" name="TextBox 225"/>
          <p:cNvSpPr txBox="1"/>
          <p:nvPr/>
        </p:nvSpPr>
        <p:spPr>
          <a:xfrm>
            <a:off x="6295868" y="3238500"/>
            <a:ext cx="3733707" cy="3619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6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任务 1 是车辆与任务匹配；任务 2</a:t>
            </a:r>
            <a:endParaRPr lang="zh-CN" sz="860"/>
          </a:p>
          <a:p>
            <a:pPr algn="left"/>
            <a:r>
              <a:rPr lang="zh-CN" sz="86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是货量与工位匹配。它更像仓库内部的作业区域划分。</a:t>
            </a:r>
            <a:endParaRPr lang="zh-CN" sz="860"/>
          </a:p>
        </p:txBody>
      </p:sp>
      <p:sp>
        <p:nvSpPr>
          <p:cNvPr id="226" name="TextBox 226"/>
          <p:cNvSpPr txBox="1"/>
          <p:nvPr/>
        </p:nvSpPr>
        <p:spPr>
          <a:xfrm>
            <a:off x="6295868" y="4038600"/>
            <a:ext cx="1714457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4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为什么叫动态</a:t>
            </a:r>
            <a:endParaRPr lang="zh-CN" sz="1140"/>
          </a:p>
        </p:txBody>
      </p:sp>
      <p:sp>
        <p:nvSpPr>
          <p:cNvPr id="227" name="TextBox 227"/>
          <p:cNvSpPr txBox="1"/>
          <p:nvPr/>
        </p:nvSpPr>
        <p:spPr>
          <a:xfrm>
            <a:off x="6295868" y="4314825"/>
            <a:ext cx="3828954" cy="3619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4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区域不是固定房间，而是由模型根据托盘位置、货量和工位位置实时形成</a:t>
            </a:r>
            <a:endParaRPr lang="zh-CN" sz="840"/>
          </a:p>
          <a:p>
            <a:pPr algn="left"/>
            <a:r>
              <a:rPr lang="zh-CN" sz="84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。数据变了，区域也会变。</a:t>
            </a:r>
            <a:endParaRPr lang="zh-CN" sz="840"/>
          </a:p>
        </p:txBody>
      </p:sp>
      <p:sp>
        <p:nvSpPr>
          <p:cNvPr id="228" name="TextBox 228"/>
          <p:cNvSpPr txBox="1"/>
          <p:nvPr/>
        </p:nvSpPr>
        <p:spPr>
          <a:xfrm>
            <a:off x="6295868" y="5124450"/>
            <a:ext cx="1714457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4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优化目标</a:t>
            </a:r>
            <a:endParaRPr lang="zh-CN" sz="1140"/>
          </a:p>
        </p:txBody>
      </p:sp>
      <p:sp>
        <p:nvSpPr>
          <p:cNvPr id="229" name="TextBox 229"/>
          <p:cNvSpPr txBox="1"/>
          <p:nvPr/>
        </p:nvSpPr>
        <p:spPr>
          <a:xfrm>
            <a:off x="6295868" y="5410200"/>
            <a:ext cx="4095648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6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距离不能太长，同时工位不能过度不均衡，至少要获得一定服务货量。</a:t>
            </a:r>
            <a:endParaRPr lang="zh-CN" sz="860"/>
          </a:p>
        </p:txBody>
      </p:sp>
      <p:sp>
        <p:nvSpPr>
          <p:cNvPr id="230" name="TextBox 230"/>
          <p:cNvSpPr txBox="1"/>
          <p:nvPr/>
        </p:nvSpPr>
        <p:spPr>
          <a:xfrm>
            <a:off x="676258" y="6438900"/>
            <a:ext cx="4095648" cy="1333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70">
                <a:solidFill>
                  <a:srgbClr val="73808C"/>
                </a:solidFill>
                <a:latin typeface="PingFang SC"/>
                <a:ea typeface="PingFang SC"/>
                <a:cs typeface="PingFang SC"/>
              </a:rPr>
              <a:t>AGV 仓储优化课程项目 · 本地 CSV 数据 · Python 自实现算法</a:t>
            </a:r>
            <a:endParaRPr lang="zh-CN" sz="670"/>
          </a:p>
        </p:txBody>
      </p:sp>
      <p:sp>
        <p:nvSpPr>
          <p:cNvPr id="231" name="TextBox 231"/>
          <p:cNvSpPr txBox="1"/>
          <p:nvPr/>
        </p:nvSpPr>
        <p:spPr>
          <a:xfrm>
            <a:off x="11429714" y="6438900"/>
            <a:ext cx="209545" cy="1333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60">
                <a:solidFill>
                  <a:srgbClr val="6F7680"/>
                </a:solidFill>
                <a:latin typeface="PingFang SC"/>
                <a:ea typeface="PingFang SC"/>
                <a:cs typeface="PingFang SC"/>
              </a:rPr>
              <a:t>11</a:t>
            </a:r>
            <a:endParaRPr lang="zh-CN" sz="76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695308" y="2562225"/>
            <a:ext cx="5638659" cy="3438525"/>
          </a:xfrm>
          <a:prstGeom prst="rect">
            <a:avLst/>
          </a:prstGeom>
          <a:solidFill>
            <a:srgbClr val="FFFFFF"/>
          </a:solidFill>
          <a:ln w="12700">
            <a:solidFill>
              <a:srgbClr val="E6EDF1"/>
            </a:solidFill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1104872" y="2628900"/>
            <a:ext cx="4819530" cy="3314700"/>
          </a:xfrm>
          <a:prstGeom prst="rect">
            <a:avLst/>
          </a:prstGeom>
          <a:solidFill>
            <a:srgbClr val="F9FAF8"/>
          </a:solidFill>
          <a:ln w="12700">
            <a:solidFill>
              <a:srgbClr val="EDF1F3"/>
            </a:solidFill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1162021" y="2667000"/>
            <a:ext cx="4695708" cy="322897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1295368" y="2667000"/>
            <a:ext cx="9525" cy="322897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1438239" y="2667000"/>
            <a:ext cx="9525" cy="322897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1581110" y="2667000"/>
            <a:ext cx="9525" cy="322897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1723982" y="2667000"/>
            <a:ext cx="9525" cy="322897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1866853" y="2667000"/>
            <a:ext cx="9525" cy="322897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2009725" y="2667000"/>
            <a:ext cx="9525" cy="322897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2152596" y="2667000"/>
            <a:ext cx="9525" cy="322897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2295468" y="2667000"/>
            <a:ext cx="9525" cy="322897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2438339" y="2667000"/>
            <a:ext cx="9525" cy="322897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2581210" y="2667000"/>
            <a:ext cx="9525" cy="322897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2724082" y="2667000"/>
            <a:ext cx="9525" cy="322897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2866953" y="2667000"/>
            <a:ext cx="9525" cy="322897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3009825" y="2667000"/>
            <a:ext cx="9525" cy="322897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3152696" y="2667000"/>
            <a:ext cx="9525" cy="322897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3295568" y="2667000"/>
            <a:ext cx="9525" cy="322897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3438439" y="2667000"/>
            <a:ext cx="9525" cy="322897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3581310" y="2667000"/>
            <a:ext cx="9525" cy="322897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3724182" y="2667000"/>
            <a:ext cx="9525" cy="322897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3867053" y="2667000"/>
            <a:ext cx="9525" cy="322897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4009925" y="2667000"/>
            <a:ext cx="9525" cy="322897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4152796" y="2667000"/>
            <a:ext cx="9525" cy="322897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Rect 26"/>
          <p:cNvSpPr/>
          <p:nvPr/>
        </p:nvSpPr>
        <p:spPr>
          <a:xfrm>
            <a:off x="4295668" y="2667000"/>
            <a:ext cx="9525" cy="322897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Rect 27"/>
          <p:cNvSpPr/>
          <p:nvPr/>
        </p:nvSpPr>
        <p:spPr>
          <a:xfrm>
            <a:off x="4438539" y="2667000"/>
            <a:ext cx="9525" cy="322897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4581410" y="2667000"/>
            <a:ext cx="9525" cy="322897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ect 29"/>
          <p:cNvSpPr/>
          <p:nvPr/>
        </p:nvSpPr>
        <p:spPr>
          <a:xfrm>
            <a:off x="4724282" y="2667000"/>
            <a:ext cx="9525" cy="322897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ect 30"/>
          <p:cNvSpPr/>
          <p:nvPr/>
        </p:nvSpPr>
        <p:spPr>
          <a:xfrm>
            <a:off x="4867153" y="2667000"/>
            <a:ext cx="9525" cy="322897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5010025" y="2667000"/>
            <a:ext cx="9525" cy="322897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ect 32"/>
          <p:cNvSpPr/>
          <p:nvPr/>
        </p:nvSpPr>
        <p:spPr>
          <a:xfrm>
            <a:off x="5152896" y="2667000"/>
            <a:ext cx="9525" cy="322897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5295768" y="2667000"/>
            <a:ext cx="9525" cy="322897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Rect 34"/>
          <p:cNvSpPr/>
          <p:nvPr/>
        </p:nvSpPr>
        <p:spPr>
          <a:xfrm>
            <a:off x="5438639" y="2667000"/>
            <a:ext cx="9525" cy="322897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5581510" y="2667000"/>
            <a:ext cx="9525" cy="322897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ect 36"/>
          <p:cNvSpPr/>
          <p:nvPr/>
        </p:nvSpPr>
        <p:spPr>
          <a:xfrm>
            <a:off x="5724382" y="2667000"/>
            <a:ext cx="9525" cy="322897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ect 37"/>
          <p:cNvSpPr/>
          <p:nvPr/>
        </p:nvSpPr>
        <p:spPr>
          <a:xfrm>
            <a:off x="5857729" y="2667000"/>
            <a:ext cx="9525" cy="322897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Rect 38"/>
          <p:cNvSpPr/>
          <p:nvPr/>
        </p:nvSpPr>
        <p:spPr>
          <a:xfrm>
            <a:off x="1162021" y="2800350"/>
            <a:ext cx="4695708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Rect 39"/>
          <p:cNvSpPr/>
          <p:nvPr/>
        </p:nvSpPr>
        <p:spPr>
          <a:xfrm>
            <a:off x="1162021" y="2943225"/>
            <a:ext cx="4695708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Rect 40"/>
          <p:cNvSpPr/>
          <p:nvPr/>
        </p:nvSpPr>
        <p:spPr>
          <a:xfrm>
            <a:off x="1162021" y="3086100"/>
            <a:ext cx="4695708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Rect 41"/>
          <p:cNvSpPr/>
          <p:nvPr/>
        </p:nvSpPr>
        <p:spPr>
          <a:xfrm>
            <a:off x="1162021" y="3228975"/>
            <a:ext cx="4695708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Rect 42"/>
          <p:cNvSpPr/>
          <p:nvPr/>
        </p:nvSpPr>
        <p:spPr>
          <a:xfrm>
            <a:off x="1162021" y="3371850"/>
            <a:ext cx="4695708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ect 43"/>
          <p:cNvSpPr/>
          <p:nvPr/>
        </p:nvSpPr>
        <p:spPr>
          <a:xfrm>
            <a:off x="1162021" y="3514725"/>
            <a:ext cx="4695708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ect 44"/>
          <p:cNvSpPr/>
          <p:nvPr/>
        </p:nvSpPr>
        <p:spPr>
          <a:xfrm>
            <a:off x="1162021" y="3657600"/>
            <a:ext cx="4695708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Rect 45"/>
          <p:cNvSpPr/>
          <p:nvPr/>
        </p:nvSpPr>
        <p:spPr>
          <a:xfrm>
            <a:off x="1162021" y="3800475"/>
            <a:ext cx="4695708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Rect 46"/>
          <p:cNvSpPr/>
          <p:nvPr/>
        </p:nvSpPr>
        <p:spPr>
          <a:xfrm>
            <a:off x="1162021" y="3943350"/>
            <a:ext cx="4695708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Rect 47"/>
          <p:cNvSpPr/>
          <p:nvPr/>
        </p:nvSpPr>
        <p:spPr>
          <a:xfrm>
            <a:off x="1162021" y="4086225"/>
            <a:ext cx="4695708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Rect 48"/>
          <p:cNvSpPr/>
          <p:nvPr/>
        </p:nvSpPr>
        <p:spPr>
          <a:xfrm>
            <a:off x="1162021" y="4229100"/>
            <a:ext cx="4695708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Rect 49"/>
          <p:cNvSpPr/>
          <p:nvPr/>
        </p:nvSpPr>
        <p:spPr>
          <a:xfrm>
            <a:off x="1162021" y="4371975"/>
            <a:ext cx="4695708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Rect 50"/>
          <p:cNvSpPr/>
          <p:nvPr/>
        </p:nvSpPr>
        <p:spPr>
          <a:xfrm>
            <a:off x="1162021" y="4514850"/>
            <a:ext cx="4695708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Rect 51"/>
          <p:cNvSpPr/>
          <p:nvPr/>
        </p:nvSpPr>
        <p:spPr>
          <a:xfrm>
            <a:off x="1162021" y="4657725"/>
            <a:ext cx="4695708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Rect 52"/>
          <p:cNvSpPr/>
          <p:nvPr/>
        </p:nvSpPr>
        <p:spPr>
          <a:xfrm>
            <a:off x="1162021" y="4800600"/>
            <a:ext cx="4695708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Rect 53"/>
          <p:cNvSpPr/>
          <p:nvPr/>
        </p:nvSpPr>
        <p:spPr>
          <a:xfrm>
            <a:off x="1162021" y="4943475"/>
            <a:ext cx="4695708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Rect 54"/>
          <p:cNvSpPr/>
          <p:nvPr/>
        </p:nvSpPr>
        <p:spPr>
          <a:xfrm>
            <a:off x="1162021" y="5086350"/>
            <a:ext cx="4695708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Rect 55"/>
          <p:cNvSpPr/>
          <p:nvPr/>
        </p:nvSpPr>
        <p:spPr>
          <a:xfrm>
            <a:off x="1162021" y="5229225"/>
            <a:ext cx="4695708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Rect 56"/>
          <p:cNvSpPr/>
          <p:nvPr/>
        </p:nvSpPr>
        <p:spPr>
          <a:xfrm>
            <a:off x="1162021" y="5372100"/>
            <a:ext cx="4695708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Rect 57"/>
          <p:cNvSpPr/>
          <p:nvPr/>
        </p:nvSpPr>
        <p:spPr>
          <a:xfrm>
            <a:off x="1162021" y="5514975"/>
            <a:ext cx="4695708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Rect 58"/>
          <p:cNvSpPr/>
          <p:nvPr/>
        </p:nvSpPr>
        <p:spPr>
          <a:xfrm>
            <a:off x="1162021" y="5657850"/>
            <a:ext cx="4695708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Rect 59"/>
          <p:cNvSpPr/>
          <p:nvPr/>
        </p:nvSpPr>
        <p:spPr>
          <a:xfrm>
            <a:off x="1162021" y="5895975"/>
            <a:ext cx="4695708" cy="9525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Rect 60"/>
          <p:cNvSpPr/>
          <p:nvPr/>
        </p:nvSpPr>
        <p:spPr>
          <a:xfrm>
            <a:off x="6695908" y="4333875"/>
            <a:ext cx="3724182" cy="1114425"/>
          </a:xfrm>
          <a:prstGeom prst="rect">
            <a:avLst/>
          </a:prstGeom>
          <a:solidFill>
            <a:srgbClr val="FFFFFF"/>
          </a:solidFill>
          <a:ln w="12700">
            <a:solidFill>
              <a:srgbClr val="E1E9ED"/>
            </a:solidFill>
          </a:ln>
        </p:spPr>
        <p:txBody>
          <a:bodyPr/>
          <a:lstStyle/>
          <a:p/>
        </p:txBody>
      </p:sp>
      <p:sp>
        <p:nvSpPr>
          <p:cNvPr id="61" name="Rect 61"/>
          <p:cNvSpPr/>
          <p:nvPr/>
        </p:nvSpPr>
        <p:spPr>
          <a:xfrm>
            <a:off x="6705432" y="4343400"/>
            <a:ext cx="47624" cy="1104900"/>
          </a:xfrm>
          <a:prstGeom prst="rect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Rect 62"/>
          <p:cNvSpPr/>
          <p:nvPr/>
        </p:nvSpPr>
        <p:spPr>
          <a:xfrm>
            <a:off x="685783" y="571500"/>
            <a:ext cx="66673" cy="66675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Rect 63"/>
          <p:cNvSpPr/>
          <p:nvPr/>
        </p:nvSpPr>
        <p:spPr>
          <a:xfrm>
            <a:off x="685783" y="6248400"/>
            <a:ext cx="2857429" cy="9525"/>
          </a:xfrm>
          <a:prstGeom prst="rect">
            <a:avLst/>
          </a:prstGeom>
          <a:solidFill>
            <a:srgbClr val="DBE2E6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Rect 64"/>
          <p:cNvSpPr/>
          <p:nvPr/>
        </p:nvSpPr>
        <p:spPr>
          <a:xfrm>
            <a:off x="2647884" y="2686050"/>
            <a:ext cx="114297" cy="114300"/>
          </a:xfrm>
          <a:prstGeom prst="rect">
            <a:avLst/>
          </a:prstGeom>
          <a:solidFill>
            <a:srgbClr val="2276FF"/>
          </a:solidFill>
          <a:ln w="5080">
            <a:solidFill>
              <a:srgbClr val="DCEEFF"/>
            </a:solidFill>
          </a:ln>
        </p:spPr>
        <p:txBody>
          <a:bodyPr/>
          <a:lstStyle/>
          <a:p/>
        </p:txBody>
      </p:sp>
      <p:sp>
        <p:nvSpPr>
          <p:cNvPr id="65" name="Rect 65"/>
          <p:cNvSpPr/>
          <p:nvPr/>
        </p:nvSpPr>
        <p:spPr>
          <a:xfrm>
            <a:off x="2790755" y="2686050"/>
            <a:ext cx="114297" cy="114300"/>
          </a:xfrm>
          <a:prstGeom prst="rect">
            <a:avLst/>
          </a:prstGeom>
          <a:solidFill>
            <a:srgbClr val="2276FF"/>
          </a:solidFill>
          <a:ln w="5080">
            <a:solidFill>
              <a:srgbClr val="DCEEFF"/>
            </a:solidFill>
          </a:ln>
        </p:spPr>
        <p:txBody>
          <a:bodyPr/>
          <a:lstStyle/>
          <a:p/>
        </p:txBody>
      </p:sp>
      <p:sp>
        <p:nvSpPr>
          <p:cNvPr id="66" name="Rect 66"/>
          <p:cNvSpPr/>
          <p:nvPr/>
        </p:nvSpPr>
        <p:spPr>
          <a:xfrm>
            <a:off x="2943151" y="2686050"/>
            <a:ext cx="114297" cy="114300"/>
          </a:xfrm>
          <a:prstGeom prst="rect">
            <a:avLst/>
          </a:prstGeom>
          <a:solidFill>
            <a:srgbClr val="2276FF"/>
          </a:solidFill>
          <a:ln w="5080">
            <a:solidFill>
              <a:srgbClr val="DCEEFF"/>
            </a:solidFill>
          </a:ln>
        </p:spPr>
        <p:txBody>
          <a:bodyPr/>
          <a:lstStyle/>
          <a:p/>
        </p:txBody>
      </p:sp>
      <p:sp>
        <p:nvSpPr>
          <p:cNvPr id="67" name="Rect 67"/>
          <p:cNvSpPr/>
          <p:nvPr/>
        </p:nvSpPr>
        <p:spPr>
          <a:xfrm>
            <a:off x="4562361" y="2686050"/>
            <a:ext cx="114297" cy="114300"/>
          </a:xfrm>
          <a:prstGeom prst="rect">
            <a:avLst/>
          </a:prstGeom>
          <a:solidFill>
            <a:srgbClr val="2276FF"/>
          </a:solidFill>
          <a:ln w="5080">
            <a:solidFill>
              <a:srgbClr val="DCEEFF"/>
            </a:solidFill>
          </a:ln>
        </p:spPr>
        <p:txBody>
          <a:bodyPr/>
          <a:lstStyle/>
          <a:p/>
        </p:txBody>
      </p:sp>
      <p:sp>
        <p:nvSpPr>
          <p:cNvPr id="68" name="Rect 68"/>
          <p:cNvSpPr/>
          <p:nvPr/>
        </p:nvSpPr>
        <p:spPr>
          <a:xfrm>
            <a:off x="4705232" y="2686050"/>
            <a:ext cx="114297" cy="114300"/>
          </a:xfrm>
          <a:prstGeom prst="rect">
            <a:avLst/>
          </a:prstGeom>
          <a:solidFill>
            <a:srgbClr val="2276FF"/>
          </a:solidFill>
          <a:ln w="5080">
            <a:solidFill>
              <a:srgbClr val="DCEEFF"/>
            </a:solidFill>
          </a:ln>
        </p:spPr>
        <p:txBody>
          <a:bodyPr/>
          <a:lstStyle/>
          <a:p/>
        </p:txBody>
      </p:sp>
      <p:sp>
        <p:nvSpPr>
          <p:cNvPr id="69" name="Rect 69"/>
          <p:cNvSpPr/>
          <p:nvPr/>
        </p:nvSpPr>
        <p:spPr>
          <a:xfrm>
            <a:off x="4857629" y="2686050"/>
            <a:ext cx="114297" cy="114300"/>
          </a:xfrm>
          <a:prstGeom prst="rect">
            <a:avLst/>
          </a:prstGeom>
          <a:solidFill>
            <a:srgbClr val="2276FF"/>
          </a:solidFill>
          <a:ln w="5080">
            <a:solidFill>
              <a:srgbClr val="DCEEFF"/>
            </a:solidFill>
          </a:ln>
        </p:spPr>
        <p:txBody>
          <a:bodyPr/>
          <a:lstStyle/>
          <a:p/>
        </p:txBody>
      </p:sp>
      <p:sp>
        <p:nvSpPr>
          <p:cNvPr id="70" name="Rect 70"/>
          <p:cNvSpPr/>
          <p:nvPr/>
        </p:nvSpPr>
        <p:spPr>
          <a:xfrm>
            <a:off x="5743431" y="3419475"/>
            <a:ext cx="114297" cy="114300"/>
          </a:xfrm>
          <a:prstGeom prst="rect">
            <a:avLst/>
          </a:prstGeom>
          <a:solidFill>
            <a:srgbClr val="2276FF"/>
          </a:solidFill>
          <a:ln w="5080">
            <a:solidFill>
              <a:srgbClr val="DCEEFF"/>
            </a:solidFill>
          </a:ln>
        </p:spPr>
        <p:txBody>
          <a:bodyPr/>
          <a:lstStyle/>
          <a:p/>
        </p:txBody>
      </p:sp>
      <p:sp>
        <p:nvSpPr>
          <p:cNvPr id="71" name="Rect 71"/>
          <p:cNvSpPr/>
          <p:nvPr/>
        </p:nvSpPr>
        <p:spPr>
          <a:xfrm>
            <a:off x="5743431" y="3562350"/>
            <a:ext cx="114297" cy="114300"/>
          </a:xfrm>
          <a:prstGeom prst="rect">
            <a:avLst/>
          </a:prstGeom>
          <a:solidFill>
            <a:srgbClr val="2276FF"/>
          </a:solidFill>
          <a:ln w="5080">
            <a:solidFill>
              <a:srgbClr val="DCEEFF"/>
            </a:solidFill>
          </a:ln>
        </p:spPr>
        <p:txBody>
          <a:bodyPr/>
          <a:lstStyle/>
          <a:p/>
        </p:txBody>
      </p:sp>
      <p:sp>
        <p:nvSpPr>
          <p:cNvPr id="72" name="Rect 72"/>
          <p:cNvSpPr/>
          <p:nvPr/>
        </p:nvSpPr>
        <p:spPr>
          <a:xfrm>
            <a:off x="5743431" y="3714750"/>
            <a:ext cx="114297" cy="114300"/>
          </a:xfrm>
          <a:prstGeom prst="rect">
            <a:avLst/>
          </a:prstGeom>
          <a:solidFill>
            <a:srgbClr val="2276FF"/>
          </a:solidFill>
          <a:ln w="5080">
            <a:solidFill>
              <a:srgbClr val="DCEEFF"/>
            </a:solidFill>
          </a:ln>
        </p:spPr>
        <p:txBody>
          <a:bodyPr/>
          <a:lstStyle/>
          <a:p/>
        </p:txBody>
      </p:sp>
      <p:sp>
        <p:nvSpPr>
          <p:cNvPr id="73" name="Rect 73"/>
          <p:cNvSpPr/>
          <p:nvPr/>
        </p:nvSpPr>
        <p:spPr>
          <a:xfrm>
            <a:off x="5743431" y="4600575"/>
            <a:ext cx="114297" cy="114300"/>
          </a:xfrm>
          <a:prstGeom prst="rect">
            <a:avLst/>
          </a:prstGeom>
          <a:solidFill>
            <a:srgbClr val="2276FF"/>
          </a:solidFill>
          <a:ln w="5080">
            <a:solidFill>
              <a:srgbClr val="DCEEFF"/>
            </a:solidFill>
          </a:ln>
        </p:spPr>
        <p:txBody>
          <a:bodyPr/>
          <a:lstStyle/>
          <a:p/>
        </p:txBody>
      </p:sp>
      <p:sp>
        <p:nvSpPr>
          <p:cNvPr id="74" name="Rect 74"/>
          <p:cNvSpPr/>
          <p:nvPr/>
        </p:nvSpPr>
        <p:spPr>
          <a:xfrm>
            <a:off x="5743431" y="4743450"/>
            <a:ext cx="114297" cy="114300"/>
          </a:xfrm>
          <a:prstGeom prst="rect">
            <a:avLst/>
          </a:prstGeom>
          <a:solidFill>
            <a:srgbClr val="2276FF"/>
          </a:solidFill>
          <a:ln w="5080">
            <a:solidFill>
              <a:srgbClr val="DCEEFF"/>
            </a:solidFill>
          </a:ln>
        </p:spPr>
        <p:txBody>
          <a:bodyPr/>
          <a:lstStyle/>
          <a:p/>
        </p:txBody>
      </p:sp>
      <p:sp>
        <p:nvSpPr>
          <p:cNvPr id="75" name="Rect 75"/>
          <p:cNvSpPr/>
          <p:nvPr/>
        </p:nvSpPr>
        <p:spPr>
          <a:xfrm>
            <a:off x="5743431" y="4895850"/>
            <a:ext cx="114297" cy="114300"/>
          </a:xfrm>
          <a:prstGeom prst="rect">
            <a:avLst/>
          </a:prstGeom>
          <a:solidFill>
            <a:srgbClr val="2276FF"/>
          </a:solidFill>
          <a:ln w="5080">
            <a:solidFill>
              <a:srgbClr val="DCEEFF"/>
            </a:solidFill>
          </a:ln>
        </p:spPr>
        <p:txBody>
          <a:bodyPr/>
          <a:lstStyle/>
          <a:p/>
        </p:txBody>
      </p:sp>
      <p:sp>
        <p:nvSpPr>
          <p:cNvPr id="76" name="Rect 76"/>
          <p:cNvSpPr/>
          <p:nvPr/>
        </p:nvSpPr>
        <p:spPr>
          <a:xfrm>
            <a:off x="2209745" y="5772150"/>
            <a:ext cx="114297" cy="114300"/>
          </a:xfrm>
          <a:prstGeom prst="rect">
            <a:avLst/>
          </a:prstGeom>
          <a:solidFill>
            <a:srgbClr val="2276FF"/>
          </a:solidFill>
          <a:ln w="5080">
            <a:solidFill>
              <a:srgbClr val="DCEEFF"/>
            </a:solidFill>
          </a:ln>
        </p:spPr>
        <p:txBody>
          <a:bodyPr/>
          <a:lstStyle/>
          <a:p/>
        </p:txBody>
      </p:sp>
      <p:sp>
        <p:nvSpPr>
          <p:cNvPr id="77" name="Rect 77"/>
          <p:cNvSpPr/>
          <p:nvPr/>
        </p:nvSpPr>
        <p:spPr>
          <a:xfrm>
            <a:off x="2352616" y="5772150"/>
            <a:ext cx="114297" cy="114300"/>
          </a:xfrm>
          <a:prstGeom prst="rect">
            <a:avLst/>
          </a:prstGeom>
          <a:solidFill>
            <a:srgbClr val="2276FF"/>
          </a:solidFill>
          <a:ln w="5080">
            <a:solidFill>
              <a:srgbClr val="DCEEFF"/>
            </a:solidFill>
          </a:ln>
        </p:spPr>
        <p:txBody>
          <a:bodyPr/>
          <a:lstStyle/>
          <a:p/>
        </p:txBody>
      </p:sp>
      <p:sp>
        <p:nvSpPr>
          <p:cNvPr id="78" name="Rect 78"/>
          <p:cNvSpPr/>
          <p:nvPr/>
        </p:nvSpPr>
        <p:spPr>
          <a:xfrm>
            <a:off x="2505012" y="5772150"/>
            <a:ext cx="114297" cy="114300"/>
          </a:xfrm>
          <a:prstGeom prst="rect">
            <a:avLst/>
          </a:prstGeom>
          <a:solidFill>
            <a:srgbClr val="2276FF"/>
          </a:solidFill>
          <a:ln w="5080">
            <a:solidFill>
              <a:srgbClr val="DCEEFF"/>
            </a:solidFill>
          </a:ln>
        </p:spPr>
        <p:txBody>
          <a:bodyPr/>
          <a:lstStyle/>
          <a:p/>
        </p:txBody>
      </p:sp>
      <p:sp>
        <p:nvSpPr>
          <p:cNvPr id="79" name="Rect 79"/>
          <p:cNvSpPr/>
          <p:nvPr/>
        </p:nvSpPr>
        <p:spPr>
          <a:xfrm>
            <a:off x="4267093" y="5772150"/>
            <a:ext cx="114297" cy="114300"/>
          </a:xfrm>
          <a:prstGeom prst="rect">
            <a:avLst/>
          </a:prstGeom>
          <a:solidFill>
            <a:srgbClr val="2276FF"/>
          </a:solidFill>
          <a:ln w="5080">
            <a:solidFill>
              <a:srgbClr val="DCEEFF"/>
            </a:solidFill>
          </a:ln>
        </p:spPr>
        <p:txBody>
          <a:bodyPr/>
          <a:lstStyle/>
          <a:p/>
        </p:txBody>
      </p:sp>
      <p:sp>
        <p:nvSpPr>
          <p:cNvPr id="80" name="Rect 80"/>
          <p:cNvSpPr/>
          <p:nvPr/>
        </p:nvSpPr>
        <p:spPr>
          <a:xfrm>
            <a:off x="4409965" y="5772150"/>
            <a:ext cx="114297" cy="114300"/>
          </a:xfrm>
          <a:prstGeom prst="rect">
            <a:avLst/>
          </a:prstGeom>
          <a:solidFill>
            <a:srgbClr val="2276FF"/>
          </a:solidFill>
          <a:ln w="5080">
            <a:solidFill>
              <a:srgbClr val="DCEEFF"/>
            </a:solidFill>
          </a:ln>
        </p:spPr>
        <p:txBody>
          <a:bodyPr/>
          <a:lstStyle/>
          <a:p/>
        </p:txBody>
      </p:sp>
      <p:sp>
        <p:nvSpPr>
          <p:cNvPr id="81" name="Rect 81"/>
          <p:cNvSpPr/>
          <p:nvPr/>
        </p:nvSpPr>
        <p:spPr>
          <a:xfrm>
            <a:off x="4562361" y="5772150"/>
            <a:ext cx="114297" cy="114300"/>
          </a:xfrm>
          <a:prstGeom prst="rect">
            <a:avLst/>
          </a:prstGeom>
          <a:solidFill>
            <a:srgbClr val="2276FF"/>
          </a:solidFill>
          <a:ln w="5080">
            <a:solidFill>
              <a:srgbClr val="DCEEFF"/>
            </a:solidFill>
          </a:ln>
        </p:spPr>
        <p:txBody>
          <a:bodyPr/>
          <a:lstStyle/>
          <a:p/>
        </p:txBody>
      </p:sp>
      <p:sp>
        <p:nvSpPr>
          <p:cNvPr id="82" name="Ellipse 82"/>
          <p:cNvSpPr/>
          <p:nvPr/>
        </p:nvSpPr>
        <p:spPr>
          <a:xfrm>
            <a:off x="6686383" y="2752725"/>
            <a:ext cx="104772" cy="104775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Ellipse 83"/>
          <p:cNvSpPr/>
          <p:nvPr/>
        </p:nvSpPr>
        <p:spPr>
          <a:xfrm>
            <a:off x="6686383" y="2981325"/>
            <a:ext cx="104772" cy="104775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84" name="Ellipse 84"/>
          <p:cNvSpPr/>
          <p:nvPr/>
        </p:nvSpPr>
        <p:spPr>
          <a:xfrm>
            <a:off x="6686383" y="3209925"/>
            <a:ext cx="104772" cy="104775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Ellipse 85"/>
          <p:cNvSpPr/>
          <p:nvPr/>
        </p:nvSpPr>
        <p:spPr>
          <a:xfrm>
            <a:off x="6686383" y="3438525"/>
            <a:ext cx="104772" cy="104775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Ellipse 86"/>
          <p:cNvSpPr/>
          <p:nvPr/>
        </p:nvSpPr>
        <p:spPr>
          <a:xfrm>
            <a:off x="6686383" y="3667125"/>
            <a:ext cx="104772" cy="104775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87" name="Ellipse 87"/>
          <p:cNvSpPr/>
          <p:nvPr/>
        </p:nvSpPr>
        <p:spPr>
          <a:xfrm>
            <a:off x="1924002" y="3429000"/>
            <a:ext cx="95248" cy="9525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8" name="Ellipse 88"/>
          <p:cNvSpPr/>
          <p:nvPr/>
        </p:nvSpPr>
        <p:spPr>
          <a:xfrm>
            <a:off x="2066873" y="3429000"/>
            <a:ext cx="95248" cy="9525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Ellipse 89"/>
          <p:cNvSpPr/>
          <p:nvPr/>
        </p:nvSpPr>
        <p:spPr>
          <a:xfrm>
            <a:off x="2219270" y="3429000"/>
            <a:ext cx="95248" cy="9525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Ellipse 90"/>
          <p:cNvSpPr/>
          <p:nvPr/>
        </p:nvSpPr>
        <p:spPr>
          <a:xfrm>
            <a:off x="2362141" y="3429000"/>
            <a:ext cx="95248" cy="9525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1" name="Ellipse 91"/>
          <p:cNvSpPr/>
          <p:nvPr/>
        </p:nvSpPr>
        <p:spPr>
          <a:xfrm>
            <a:off x="2514537" y="3429000"/>
            <a:ext cx="95248" cy="9525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Ellipse 92"/>
          <p:cNvSpPr/>
          <p:nvPr/>
        </p:nvSpPr>
        <p:spPr>
          <a:xfrm>
            <a:off x="1924002" y="3576638"/>
            <a:ext cx="95248" cy="9525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3" name="Ellipse 93"/>
          <p:cNvSpPr/>
          <p:nvPr/>
        </p:nvSpPr>
        <p:spPr>
          <a:xfrm>
            <a:off x="2066873" y="3576638"/>
            <a:ext cx="95248" cy="9525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4" name="Ellipse 94"/>
          <p:cNvSpPr/>
          <p:nvPr/>
        </p:nvSpPr>
        <p:spPr>
          <a:xfrm>
            <a:off x="2219270" y="3576638"/>
            <a:ext cx="95248" cy="9525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Ellipse 95"/>
          <p:cNvSpPr/>
          <p:nvPr/>
        </p:nvSpPr>
        <p:spPr>
          <a:xfrm>
            <a:off x="2362141" y="3576638"/>
            <a:ext cx="95248" cy="9525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6" name="Ellipse 96"/>
          <p:cNvSpPr/>
          <p:nvPr/>
        </p:nvSpPr>
        <p:spPr>
          <a:xfrm>
            <a:off x="2509775" y="3576638"/>
            <a:ext cx="95248" cy="9525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7" name="Ellipse 97"/>
          <p:cNvSpPr/>
          <p:nvPr/>
        </p:nvSpPr>
        <p:spPr>
          <a:xfrm>
            <a:off x="1924002" y="3867150"/>
            <a:ext cx="95248" cy="9525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8" name="Ellipse 98"/>
          <p:cNvSpPr/>
          <p:nvPr/>
        </p:nvSpPr>
        <p:spPr>
          <a:xfrm>
            <a:off x="2066873" y="3867150"/>
            <a:ext cx="95248" cy="9525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9" name="Ellipse 99"/>
          <p:cNvSpPr/>
          <p:nvPr/>
        </p:nvSpPr>
        <p:spPr>
          <a:xfrm>
            <a:off x="2219270" y="3867150"/>
            <a:ext cx="95248" cy="9525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" name="Ellipse 100"/>
          <p:cNvSpPr/>
          <p:nvPr/>
        </p:nvSpPr>
        <p:spPr>
          <a:xfrm>
            <a:off x="2362141" y="3867150"/>
            <a:ext cx="95248" cy="9525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Ellipse 101"/>
          <p:cNvSpPr/>
          <p:nvPr/>
        </p:nvSpPr>
        <p:spPr>
          <a:xfrm>
            <a:off x="2509775" y="3867150"/>
            <a:ext cx="95248" cy="9525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Ellipse 102"/>
          <p:cNvSpPr/>
          <p:nvPr/>
        </p:nvSpPr>
        <p:spPr>
          <a:xfrm>
            <a:off x="2657409" y="3867150"/>
            <a:ext cx="95248" cy="9525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Ellipse 103"/>
          <p:cNvSpPr/>
          <p:nvPr/>
        </p:nvSpPr>
        <p:spPr>
          <a:xfrm>
            <a:off x="1924002" y="4019550"/>
            <a:ext cx="95248" cy="9525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Ellipse 104"/>
          <p:cNvSpPr/>
          <p:nvPr/>
        </p:nvSpPr>
        <p:spPr>
          <a:xfrm>
            <a:off x="2066873" y="4019550"/>
            <a:ext cx="95248" cy="9525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Ellipse 105"/>
          <p:cNvSpPr/>
          <p:nvPr/>
        </p:nvSpPr>
        <p:spPr>
          <a:xfrm>
            <a:off x="2219270" y="4019550"/>
            <a:ext cx="95248" cy="9525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" name="Ellipse 106"/>
          <p:cNvSpPr/>
          <p:nvPr/>
        </p:nvSpPr>
        <p:spPr>
          <a:xfrm>
            <a:off x="2362141" y="4019550"/>
            <a:ext cx="95248" cy="9525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Ellipse 107"/>
          <p:cNvSpPr/>
          <p:nvPr/>
        </p:nvSpPr>
        <p:spPr>
          <a:xfrm>
            <a:off x="2657409" y="4019550"/>
            <a:ext cx="95248" cy="9525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" name="Ellipse 108"/>
          <p:cNvSpPr/>
          <p:nvPr/>
        </p:nvSpPr>
        <p:spPr>
          <a:xfrm>
            <a:off x="1924002" y="4457700"/>
            <a:ext cx="95248" cy="9525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" name="Ellipse 109"/>
          <p:cNvSpPr/>
          <p:nvPr/>
        </p:nvSpPr>
        <p:spPr>
          <a:xfrm>
            <a:off x="2066873" y="4457700"/>
            <a:ext cx="95248" cy="9525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" name="Ellipse 110"/>
          <p:cNvSpPr/>
          <p:nvPr/>
        </p:nvSpPr>
        <p:spPr>
          <a:xfrm>
            <a:off x="2219270" y="4457700"/>
            <a:ext cx="95248" cy="9525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" name="Ellipse 111"/>
          <p:cNvSpPr/>
          <p:nvPr/>
        </p:nvSpPr>
        <p:spPr>
          <a:xfrm>
            <a:off x="1924002" y="4610100"/>
            <a:ext cx="95248" cy="9525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Ellipse 112"/>
          <p:cNvSpPr/>
          <p:nvPr/>
        </p:nvSpPr>
        <p:spPr>
          <a:xfrm>
            <a:off x="2066873" y="4610100"/>
            <a:ext cx="95248" cy="9525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" name="Ellipse 113"/>
          <p:cNvSpPr/>
          <p:nvPr/>
        </p:nvSpPr>
        <p:spPr>
          <a:xfrm>
            <a:off x="2219270" y="4610100"/>
            <a:ext cx="95248" cy="9525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" name="Ellipse 114"/>
          <p:cNvSpPr/>
          <p:nvPr/>
        </p:nvSpPr>
        <p:spPr>
          <a:xfrm>
            <a:off x="1924002" y="4900612"/>
            <a:ext cx="95248" cy="9525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" name="Ellipse 115"/>
          <p:cNvSpPr/>
          <p:nvPr/>
        </p:nvSpPr>
        <p:spPr>
          <a:xfrm>
            <a:off x="2066873" y="4900612"/>
            <a:ext cx="95248" cy="9525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" name="Ellipse 116"/>
          <p:cNvSpPr/>
          <p:nvPr/>
        </p:nvSpPr>
        <p:spPr>
          <a:xfrm>
            <a:off x="2214507" y="4900612"/>
            <a:ext cx="95248" cy="9525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" name="Ellipse 117"/>
          <p:cNvSpPr/>
          <p:nvPr/>
        </p:nvSpPr>
        <p:spPr>
          <a:xfrm>
            <a:off x="4571886" y="4900612"/>
            <a:ext cx="95248" cy="9525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" name="Ellipse 118"/>
          <p:cNvSpPr/>
          <p:nvPr/>
        </p:nvSpPr>
        <p:spPr>
          <a:xfrm>
            <a:off x="4714757" y="4900612"/>
            <a:ext cx="95248" cy="9525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" name="Ellipse 119"/>
          <p:cNvSpPr/>
          <p:nvPr/>
        </p:nvSpPr>
        <p:spPr>
          <a:xfrm>
            <a:off x="1924002" y="5048250"/>
            <a:ext cx="95248" cy="9525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" name="Ellipse 120"/>
          <p:cNvSpPr/>
          <p:nvPr/>
        </p:nvSpPr>
        <p:spPr>
          <a:xfrm>
            <a:off x="2066873" y="5048250"/>
            <a:ext cx="95248" cy="9525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" name="Ellipse 121"/>
          <p:cNvSpPr/>
          <p:nvPr/>
        </p:nvSpPr>
        <p:spPr>
          <a:xfrm>
            <a:off x="2219270" y="5048250"/>
            <a:ext cx="95248" cy="9525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" name="Ellipse 122"/>
          <p:cNvSpPr/>
          <p:nvPr/>
        </p:nvSpPr>
        <p:spPr>
          <a:xfrm>
            <a:off x="2800280" y="3429000"/>
            <a:ext cx="95248" cy="9525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" name="Ellipse 123"/>
          <p:cNvSpPr/>
          <p:nvPr/>
        </p:nvSpPr>
        <p:spPr>
          <a:xfrm>
            <a:off x="2805042" y="3576638"/>
            <a:ext cx="95248" cy="9525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" name="Ellipse 124"/>
          <p:cNvSpPr/>
          <p:nvPr/>
        </p:nvSpPr>
        <p:spPr>
          <a:xfrm>
            <a:off x="2805042" y="3867150"/>
            <a:ext cx="95248" cy="9525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" name="Ellipse 125"/>
          <p:cNvSpPr/>
          <p:nvPr/>
        </p:nvSpPr>
        <p:spPr>
          <a:xfrm>
            <a:off x="2805042" y="4019550"/>
            <a:ext cx="95248" cy="9525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" name="Ellipse 126"/>
          <p:cNvSpPr/>
          <p:nvPr/>
        </p:nvSpPr>
        <p:spPr>
          <a:xfrm>
            <a:off x="2362141" y="4457700"/>
            <a:ext cx="95248" cy="9525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" name="Ellipse 127"/>
          <p:cNvSpPr/>
          <p:nvPr/>
        </p:nvSpPr>
        <p:spPr>
          <a:xfrm>
            <a:off x="4424252" y="4457700"/>
            <a:ext cx="95248" cy="9525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" name="Ellipse 128"/>
          <p:cNvSpPr/>
          <p:nvPr/>
        </p:nvSpPr>
        <p:spPr>
          <a:xfrm>
            <a:off x="4571886" y="4457700"/>
            <a:ext cx="95248" cy="9525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" name="Ellipse 129"/>
          <p:cNvSpPr/>
          <p:nvPr/>
        </p:nvSpPr>
        <p:spPr>
          <a:xfrm>
            <a:off x="4714757" y="4457700"/>
            <a:ext cx="95248" cy="9525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" name="Ellipse 130"/>
          <p:cNvSpPr/>
          <p:nvPr/>
        </p:nvSpPr>
        <p:spPr>
          <a:xfrm>
            <a:off x="5010025" y="4457700"/>
            <a:ext cx="95248" cy="9525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" name="Ellipse 131"/>
          <p:cNvSpPr/>
          <p:nvPr/>
        </p:nvSpPr>
        <p:spPr>
          <a:xfrm>
            <a:off x="4424252" y="4605338"/>
            <a:ext cx="95248" cy="9525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" name="Ellipse 132"/>
          <p:cNvSpPr/>
          <p:nvPr/>
        </p:nvSpPr>
        <p:spPr>
          <a:xfrm>
            <a:off x="2362141" y="4610100"/>
            <a:ext cx="95248" cy="9525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" name="Ellipse 133"/>
          <p:cNvSpPr/>
          <p:nvPr/>
        </p:nvSpPr>
        <p:spPr>
          <a:xfrm>
            <a:off x="4571886" y="4610100"/>
            <a:ext cx="95248" cy="9525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" name="Ellipse 134"/>
          <p:cNvSpPr/>
          <p:nvPr/>
        </p:nvSpPr>
        <p:spPr>
          <a:xfrm>
            <a:off x="4867153" y="4610100"/>
            <a:ext cx="95248" cy="9525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" name="Ellipse 135"/>
          <p:cNvSpPr/>
          <p:nvPr/>
        </p:nvSpPr>
        <p:spPr>
          <a:xfrm>
            <a:off x="5010025" y="4610100"/>
            <a:ext cx="95248" cy="9525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" name="Ellipse 136"/>
          <p:cNvSpPr/>
          <p:nvPr/>
        </p:nvSpPr>
        <p:spPr>
          <a:xfrm>
            <a:off x="2362141" y="4900612"/>
            <a:ext cx="95248" cy="9525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" name="Ellipse 137"/>
          <p:cNvSpPr/>
          <p:nvPr/>
        </p:nvSpPr>
        <p:spPr>
          <a:xfrm>
            <a:off x="2362141" y="5048250"/>
            <a:ext cx="95248" cy="9525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" name="Ellipse 138"/>
          <p:cNvSpPr/>
          <p:nvPr/>
        </p:nvSpPr>
        <p:spPr>
          <a:xfrm>
            <a:off x="2952676" y="3429000"/>
            <a:ext cx="95248" cy="9525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" name="Ellipse 139"/>
          <p:cNvSpPr/>
          <p:nvPr/>
        </p:nvSpPr>
        <p:spPr>
          <a:xfrm>
            <a:off x="3095548" y="3429000"/>
            <a:ext cx="95248" cy="9525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" name="Ellipse 140"/>
          <p:cNvSpPr/>
          <p:nvPr/>
        </p:nvSpPr>
        <p:spPr>
          <a:xfrm>
            <a:off x="3247944" y="3429000"/>
            <a:ext cx="95248" cy="9525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" name="Ellipse 141"/>
          <p:cNvSpPr/>
          <p:nvPr/>
        </p:nvSpPr>
        <p:spPr>
          <a:xfrm>
            <a:off x="3686083" y="3429000"/>
            <a:ext cx="95248" cy="9525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" name="Ellipse 142"/>
          <p:cNvSpPr/>
          <p:nvPr/>
        </p:nvSpPr>
        <p:spPr>
          <a:xfrm>
            <a:off x="2952676" y="3576638"/>
            <a:ext cx="95248" cy="9525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" name="Ellipse 143"/>
          <p:cNvSpPr/>
          <p:nvPr/>
        </p:nvSpPr>
        <p:spPr>
          <a:xfrm>
            <a:off x="3095548" y="3576638"/>
            <a:ext cx="95248" cy="9525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" name="Ellipse 144"/>
          <p:cNvSpPr/>
          <p:nvPr/>
        </p:nvSpPr>
        <p:spPr>
          <a:xfrm>
            <a:off x="3247944" y="3576638"/>
            <a:ext cx="95248" cy="9525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" name="Ellipse 145"/>
          <p:cNvSpPr/>
          <p:nvPr/>
        </p:nvSpPr>
        <p:spPr>
          <a:xfrm>
            <a:off x="3686083" y="3576638"/>
            <a:ext cx="95248" cy="9525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" name="Ellipse 146"/>
          <p:cNvSpPr/>
          <p:nvPr/>
        </p:nvSpPr>
        <p:spPr>
          <a:xfrm>
            <a:off x="3095548" y="3867150"/>
            <a:ext cx="95248" cy="9525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" name="Ellipse 147"/>
          <p:cNvSpPr/>
          <p:nvPr/>
        </p:nvSpPr>
        <p:spPr>
          <a:xfrm>
            <a:off x="3247944" y="3867150"/>
            <a:ext cx="95248" cy="9525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" name="Ellipse 148"/>
          <p:cNvSpPr/>
          <p:nvPr/>
        </p:nvSpPr>
        <p:spPr>
          <a:xfrm>
            <a:off x="3686083" y="3867150"/>
            <a:ext cx="95248" cy="9525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" name="Ellipse 149"/>
          <p:cNvSpPr/>
          <p:nvPr/>
        </p:nvSpPr>
        <p:spPr>
          <a:xfrm>
            <a:off x="2952676" y="4019550"/>
            <a:ext cx="95248" cy="9525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" name="Ellipse 150"/>
          <p:cNvSpPr/>
          <p:nvPr/>
        </p:nvSpPr>
        <p:spPr>
          <a:xfrm>
            <a:off x="3095548" y="4019550"/>
            <a:ext cx="95248" cy="9525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1" name="Ellipse 151"/>
          <p:cNvSpPr/>
          <p:nvPr/>
        </p:nvSpPr>
        <p:spPr>
          <a:xfrm>
            <a:off x="3247944" y="4019550"/>
            <a:ext cx="95248" cy="9525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" name="Ellipse 152"/>
          <p:cNvSpPr/>
          <p:nvPr/>
        </p:nvSpPr>
        <p:spPr>
          <a:xfrm>
            <a:off x="3686083" y="4019550"/>
            <a:ext cx="95248" cy="9525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" name="Ellipse 153"/>
          <p:cNvSpPr/>
          <p:nvPr/>
        </p:nvSpPr>
        <p:spPr>
          <a:xfrm>
            <a:off x="2509775" y="4457700"/>
            <a:ext cx="95248" cy="9525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" name="Ellipse 154"/>
          <p:cNvSpPr/>
          <p:nvPr/>
        </p:nvSpPr>
        <p:spPr>
          <a:xfrm>
            <a:off x="2657409" y="4457700"/>
            <a:ext cx="95248" cy="9525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" name="Ellipse 155"/>
          <p:cNvSpPr/>
          <p:nvPr/>
        </p:nvSpPr>
        <p:spPr>
          <a:xfrm>
            <a:off x="2805042" y="4457700"/>
            <a:ext cx="95248" cy="9525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" name="Ellipse 156"/>
          <p:cNvSpPr/>
          <p:nvPr/>
        </p:nvSpPr>
        <p:spPr>
          <a:xfrm>
            <a:off x="2952676" y="4457700"/>
            <a:ext cx="95248" cy="9525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" name="Ellipse 157"/>
          <p:cNvSpPr/>
          <p:nvPr/>
        </p:nvSpPr>
        <p:spPr>
          <a:xfrm>
            <a:off x="3095548" y="4457700"/>
            <a:ext cx="95248" cy="9525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" name="Ellipse 158"/>
          <p:cNvSpPr/>
          <p:nvPr/>
        </p:nvSpPr>
        <p:spPr>
          <a:xfrm>
            <a:off x="3247944" y="4457700"/>
            <a:ext cx="95248" cy="9525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9" name="Ellipse 159"/>
          <p:cNvSpPr/>
          <p:nvPr/>
        </p:nvSpPr>
        <p:spPr>
          <a:xfrm>
            <a:off x="4867153" y="4457700"/>
            <a:ext cx="95248" cy="9525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0" name="Ellipse 160"/>
          <p:cNvSpPr/>
          <p:nvPr/>
        </p:nvSpPr>
        <p:spPr>
          <a:xfrm>
            <a:off x="2509775" y="4610100"/>
            <a:ext cx="95248" cy="9525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1" name="Ellipse 161"/>
          <p:cNvSpPr/>
          <p:nvPr/>
        </p:nvSpPr>
        <p:spPr>
          <a:xfrm>
            <a:off x="2657409" y="4610100"/>
            <a:ext cx="95248" cy="9525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2" name="Ellipse 162"/>
          <p:cNvSpPr/>
          <p:nvPr/>
        </p:nvSpPr>
        <p:spPr>
          <a:xfrm>
            <a:off x="2805042" y="4610100"/>
            <a:ext cx="95248" cy="9525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3" name="Ellipse 163"/>
          <p:cNvSpPr/>
          <p:nvPr/>
        </p:nvSpPr>
        <p:spPr>
          <a:xfrm>
            <a:off x="2952676" y="4610100"/>
            <a:ext cx="95248" cy="9525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4" name="Ellipse 164"/>
          <p:cNvSpPr/>
          <p:nvPr/>
        </p:nvSpPr>
        <p:spPr>
          <a:xfrm>
            <a:off x="3095548" y="4610100"/>
            <a:ext cx="95248" cy="9525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5" name="Ellipse 165"/>
          <p:cNvSpPr/>
          <p:nvPr/>
        </p:nvSpPr>
        <p:spPr>
          <a:xfrm>
            <a:off x="3247944" y="4610100"/>
            <a:ext cx="95248" cy="9525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6" name="Ellipse 166"/>
          <p:cNvSpPr/>
          <p:nvPr/>
        </p:nvSpPr>
        <p:spPr>
          <a:xfrm>
            <a:off x="4714757" y="4610100"/>
            <a:ext cx="95248" cy="9525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7" name="Ellipse 167"/>
          <p:cNvSpPr/>
          <p:nvPr/>
        </p:nvSpPr>
        <p:spPr>
          <a:xfrm>
            <a:off x="2509775" y="4900612"/>
            <a:ext cx="95248" cy="9525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8" name="Ellipse 168"/>
          <p:cNvSpPr/>
          <p:nvPr/>
        </p:nvSpPr>
        <p:spPr>
          <a:xfrm>
            <a:off x="2805042" y="4900612"/>
            <a:ext cx="95248" cy="9525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9" name="Ellipse 169"/>
          <p:cNvSpPr/>
          <p:nvPr/>
        </p:nvSpPr>
        <p:spPr>
          <a:xfrm>
            <a:off x="3095548" y="4900612"/>
            <a:ext cx="95248" cy="9525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0" name="Ellipse 170"/>
          <p:cNvSpPr/>
          <p:nvPr/>
        </p:nvSpPr>
        <p:spPr>
          <a:xfrm>
            <a:off x="3247944" y="4900612"/>
            <a:ext cx="95248" cy="9525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1" name="Ellipse 171"/>
          <p:cNvSpPr/>
          <p:nvPr/>
        </p:nvSpPr>
        <p:spPr>
          <a:xfrm>
            <a:off x="2514537" y="5048250"/>
            <a:ext cx="95248" cy="9525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2" name="Ellipse 172"/>
          <p:cNvSpPr/>
          <p:nvPr/>
        </p:nvSpPr>
        <p:spPr>
          <a:xfrm>
            <a:off x="2800280" y="5048250"/>
            <a:ext cx="95248" cy="9525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3" name="Ellipse 173"/>
          <p:cNvSpPr/>
          <p:nvPr/>
        </p:nvSpPr>
        <p:spPr>
          <a:xfrm>
            <a:off x="2952676" y="5048250"/>
            <a:ext cx="95248" cy="9525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4" name="Ellipse 174"/>
          <p:cNvSpPr/>
          <p:nvPr/>
        </p:nvSpPr>
        <p:spPr>
          <a:xfrm>
            <a:off x="3247944" y="5048250"/>
            <a:ext cx="95248" cy="9525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5" name="Ellipse 175"/>
          <p:cNvSpPr/>
          <p:nvPr/>
        </p:nvSpPr>
        <p:spPr>
          <a:xfrm>
            <a:off x="3838479" y="3429000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6" name="Ellipse 176"/>
          <p:cNvSpPr/>
          <p:nvPr/>
        </p:nvSpPr>
        <p:spPr>
          <a:xfrm>
            <a:off x="3981350" y="3429000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7" name="Ellipse 177"/>
          <p:cNvSpPr/>
          <p:nvPr/>
        </p:nvSpPr>
        <p:spPr>
          <a:xfrm>
            <a:off x="4133747" y="3429000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8" name="Ellipse 178"/>
          <p:cNvSpPr/>
          <p:nvPr/>
        </p:nvSpPr>
        <p:spPr>
          <a:xfrm>
            <a:off x="4276618" y="3429000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9" name="Ellipse 179"/>
          <p:cNvSpPr/>
          <p:nvPr/>
        </p:nvSpPr>
        <p:spPr>
          <a:xfrm>
            <a:off x="4419490" y="3429000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80" name="Ellipse 180"/>
          <p:cNvSpPr/>
          <p:nvPr/>
        </p:nvSpPr>
        <p:spPr>
          <a:xfrm>
            <a:off x="4571886" y="3429000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81" name="Ellipse 181"/>
          <p:cNvSpPr/>
          <p:nvPr/>
        </p:nvSpPr>
        <p:spPr>
          <a:xfrm>
            <a:off x="3833717" y="3576638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82" name="Ellipse 182"/>
          <p:cNvSpPr/>
          <p:nvPr/>
        </p:nvSpPr>
        <p:spPr>
          <a:xfrm>
            <a:off x="4276618" y="3571875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83" name="Ellipse 183"/>
          <p:cNvSpPr/>
          <p:nvPr/>
        </p:nvSpPr>
        <p:spPr>
          <a:xfrm>
            <a:off x="3838479" y="3867150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84" name="Ellipse 184"/>
          <p:cNvSpPr/>
          <p:nvPr/>
        </p:nvSpPr>
        <p:spPr>
          <a:xfrm>
            <a:off x="3981350" y="3867150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85" name="Ellipse 185"/>
          <p:cNvSpPr/>
          <p:nvPr/>
        </p:nvSpPr>
        <p:spPr>
          <a:xfrm>
            <a:off x="4128984" y="3867150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86" name="Ellipse 186"/>
          <p:cNvSpPr/>
          <p:nvPr/>
        </p:nvSpPr>
        <p:spPr>
          <a:xfrm>
            <a:off x="4424252" y="3867150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87" name="Ellipse 187"/>
          <p:cNvSpPr/>
          <p:nvPr/>
        </p:nvSpPr>
        <p:spPr>
          <a:xfrm>
            <a:off x="4571886" y="3867150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88" name="Ellipse 188"/>
          <p:cNvSpPr/>
          <p:nvPr/>
        </p:nvSpPr>
        <p:spPr>
          <a:xfrm>
            <a:off x="4867153" y="3867150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89" name="Ellipse 189"/>
          <p:cNvSpPr/>
          <p:nvPr/>
        </p:nvSpPr>
        <p:spPr>
          <a:xfrm>
            <a:off x="5010025" y="3867150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0" name="Ellipse 190"/>
          <p:cNvSpPr/>
          <p:nvPr/>
        </p:nvSpPr>
        <p:spPr>
          <a:xfrm>
            <a:off x="3838479" y="4019550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1" name="Ellipse 191"/>
          <p:cNvSpPr/>
          <p:nvPr/>
        </p:nvSpPr>
        <p:spPr>
          <a:xfrm>
            <a:off x="3981350" y="4019550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2" name="Ellipse 192"/>
          <p:cNvSpPr/>
          <p:nvPr/>
        </p:nvSpPr>
        <p:spPr>
          <a:xfrm>
            <a:off x="4128984" y="4019550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3" name="Ellipse 193"/>
          <p:cNvSpPr/>
          <p:nvPr/>
        </p:nvSpPr>
        <p:spPr>
          <a:xfrm>
            <a:off x="4424252" y="4019550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4" name="Ellipse 194"/>
          <p:cNvSpPr/>
          <p:nvPr/>
        </p:nvSpPr>
        <p:spPr>
          <a:xfrm>
            <a:off x="4571886" y="4019550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5" name="Ellipse 195"/>
          <p:cNvSpPr/>
          <p:nvPr/>
        </p:nvSpPr>
        <p:spPr>
          <a:xfrm>
            <a:off x="4714757" y="4019550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6" name="Ellipse 196"/>
          <p:cNvSpPr/>
          <p:nvPr/>
        </p:nvSpPr>
        <p:spPr>
          <a:xfrm>
            <a:off x="4867153" y="4019550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7" name="Ellipse 197"/>
          <p:cNvSpPr/>
          <p:nvPr/>
        </p:nvSpPr>
        <p:spPr>
          <a:xfrm>
            <a:off x="5010025" y="4019550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8" name="Ellipse 198"/>
          <p:cNvSpPr/>
          <p:nvPr/>
        </p:nvSpPr>
        <p:spPr>
          <a:xfrm>
            <a:off x="3686083" y="4457700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9" name="Ellipse 199"/>
          <p:cNvSpPr/>
          <p:nvPr/>
        </p:nvSpPr>
        <p:spPr>
          <a:xfrm>
            <a:off x="3838479" y="4457700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0" name="Ellipse 200"/>
          <p:cNvSpPr/>
          <p:nvPr/>
        </p:nvSpPr>
        <p:spPr>
          <a:xfrm>
            <a:off x="3981350" y="4457700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Ellipse 201"/>
          <p:cNvSpPr/>
          <p:nvPr/>
        </p:nvSpPr>
        <p:spPr>
          <a:xfrm>
            <a:off x="4128984" y="4457700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Ellipse 202"/>
          <p:cNvSpPr/>
          <p:nvPr/>
        </p:nvSpPr>
        <p:spPr>
          <a:xfrm>
            <a:off x="4276618" y="4457700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Ellipse 203"/>
          <p:cNvSpPr/>
          <p:nvPr/>
        </p:nvSpPr>
        <p:spPr>
          <a:xfrm>
            <a:off x="4128984" y="4605338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Ellipse 204"/>
          <p:cNvSpPr/>
          <p:nvPr/>
        </p:nvSpPr>
        <p:spPr>
          <a:xfrm>
            <a:off x="3686083" y="4610100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Ellipse 205"/>
          <p:cNvSpPr/>
          <p:nvPr/>
        </p:nvSpPr>
        <p:spPr>
          <a:xfrm>
            <a:off x="3838479" y="4610100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6" name="Ellipse 206"/>
          <p:cNvSpPr/>
          <p:nvPr/>
        </p:nvSpPr>
        <p:spPr>
          <a:xfrm>
            <a:off x="4276618" y="4610100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7" name="Ellipse 207"/>
          <p:cNvSpPr/>
          <p:nvPr/>
        </p:nvSpPr>
        <p:spPr>
          <a:xfrm>
            <a:off x="3686083" y="4900612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8" name="Ellipse 208"/>
          <p:cNvSpPr/>
          <p:nvPr/>
        </p:nvSpPr>
        <p:spPr>
          <a:xfrm>
            <a:off x="3833717" y="4900612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9" name="Ellipse 209"/>
          <p:cNvSpPr/>
          <p:nvPr/>
        </p:nvSpPr>
        <p:spPr>
          <a:xfrm>
            <a:off x="3981350" y="4900612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0" name="Ellipse 210"/>
          <p:cNvSpPr/>
          <p:nvPr/>
        </p:nvSpPr>
        <p:spPr>
          <a:xfrm>
            <a:off x="4128984" y="4900612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1" name="Ellipse 211"/>
          <p:cNvSpPr/>
          <p:nvPr/>
        </p:nvSpPr>
        <p:spPr>
          <a:xfrm>
            <a:off x="4276618" y="4905375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2" name="Ellipse 212"/>
          <p:cNvSpPr/>
          <p:nvPr/>
        </p:nvSpPr>
        <p:spPr>
          <a:xfrm>
            <a:off x="3686083" y="5048250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3" name="Ellipse 213"/>
          <p:cNvSpPr/>
          <p:nvPr/>
        </p:nvSpPr>
        <p:spPr>
          <a:xfrm>
            <a:off x="3838479" y="5048250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4" name="Ellipse 214"/>
          <p:cNvSpPr/>
          <p:nvPr/>
        </p:nvSpPr>
        <p:spPr>
          <a:xfrm>
            <a:off x="4133747" y="5048250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5" name="Ellipse 215"/>
          <p:cNvSpPr/>
          <p:nvPr/>
        </p:nvSpPr>
        <p:spPr>
          <a:xfrm>
            <a:off x="4276618" y="5048250"/>
            <a:ext cx="95248" cy="9525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6" name="Ellipse 216"/>
          <p:cNvSpPr/>
          <p:nvPr/>
        </p:nvSpPr>
        <p:spPr>
          <a:xfrm>
            <a:off x="4714757" y="3429000"/>
            <a:ext cx="95248" cy="9525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7" name="Ellipse 217"/>
          <p:cNvSpPr/>
          <p:nvPr/>
        </p:nvSpPr>
        <p:spPr>
          <a:xfrm>
            <a:off x="3981350" y="3576638"/>
            <a:ext cx="95248" cy="9525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8" name="Ellipse 218"/>
          <p:cNvSpPr/>
          <p:nvPr/>
        </p:nvSpPr>
        <p:spPr>
          <a:xfrm>
            <a:off x="4128984" y="3576638"/>
            <a:ext cx="95248" cy="9525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9" name="Ellipse 219"/>
          <p:cNvSpPr/>
          <p:nvPr/>
        </p:nvSpPr>
        <p:spPr>
          <a:xfrm>
            <a:off x="4424252" y="3576638"/>
            <a:ext cx="95248" cy="9525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" name="Ellipse 220"/>
          <p:cNvSpPr/>
          <p:nvPr/>
        </p:nvSpPr>
        <p:spPr>
          <a:xfrm>
            <a:off x="4276618" y="3867150"/>
            <a:ext cx="95248" cy="9525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" name="Ellipse 221"/>
          <p:cNvSpPr/>
          <p:nvPr/>
        </p:nvSpPr>
        <p:spPr>
          <a:xfrm>
            <a:off x="4714757" y="3867150"/>
            <a:ext cx="95248" cy="9525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" name="Ellipse 222"/>
          <p:cNvSpPr/>
          <p:nvPr/>
        </p:nvSpPr>
        <p:spPr>
          <a:xfrm>
            <a:off x="4276618" y="4019550"/>
            <a:ext cx="95248" cy="9525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" name="Ellipse 223"/>
          <p:cNvSpPr/>
          <p:nvPr/>
        </p:nvSpPr>
        <p:spPr>
          <a:xfrm>
            <a:off x="4424252" y="4900612"/>
            <a:ext cx="95248" cy="9525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24" name="Ellipse 224"/>
          <p:cNvSpPr/>
          <p:nvPr/>
        </p:nvSpPr>
        <p:spPr>
          <a:xfrm>
            <a:off x="4419490" y="5048250"/>
            <a:ext cx="95248" cy="9525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25" name="TextBox 225"/>
          <p:cNvSpPr txBox="1"/>
          <p:nvPr/>
        </p:nvSpPr>
        <p:spPr>
          <a:xfrm>
            <a:off x="857229" y="542925"/>
            <a:ext cx="1619210" cy="1524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40" b="1">
                <a:solidFill>
                  <a:srgbClr val="4E5B67"/>
                </a:solidFill>
                <a:latin typeface="PingFang SC"/>
                <a:ea typeface="PingFang SC"/>
                <a:cs typeface="PingFang SC"/>
              </a:rPr>
              <a:t>TASK 2 · AREA</a:t>
            </a:r>
            <a:endParaRPr lang="zh-CN" sz="840"/>
          </a:p>
        </p:txBody>
      </p:sp>
      <p:sp>
        <p:nvSpPr>
          <p:cNvPr id="226" name="TextBox 226"/>
          <p:cNvSpPr txBox="1"/>
          <p:nvPr/>
        </p:nvSpPr>
        <p:spPr>
          <a:xfrm>
            <a:off x="695308" y="876300"/>
            <a:ext cx="8858029" cy="5143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72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仓库区域不是预先画好的房间，而是工位的服务范围。</a:t>
            </a:r>
            <a:endParaRPr lang="zh-CN" sz="2720"/>
          </a:p>
        </p:txBody>
      </p:sp>
      <p:sp>
        <p:nvSpPr>
          <p:cNvPr id="227" name="TextBox 227"/>
          <p:cNvSpPr txBox="1"/>
          <p:nvPr/>
        </p:nvSpPr>
        <p:spPr>
          <a:xfrm>
            <a:off x="704832" y="1914525"/>
            <a:ext cx="8238919" cy="2381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4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如果某批托盘货量主要分给 W1，那么它们就构成 W1 的服务区域；多个工位的服务范围合起来就是动态分区。</a:t>
            </a:r>
            <a:endParaRPr lang="zh-CN" sz="1140"/>
          </a:p>
        </p:txBody>
      </p:sp>
      <p:sp>
        <p:nvSpPr>
          <p:cNvPr id="228" name="TextBox 228"/>
          <p:cNvSpPr txBox="1"/>
          <p:nvPr/>
        </p:nvSpPr>
        <p:spPr>
          <a:xfrm>
            <a:off x="6886403" y="2714625"/>
            <a:ext cx="1523962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4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W0 服务货量 776</a:t>
            </a:r>
            <a:endParaRPr lang="zh-CN" sz="840"/>
          </a:p>
        </p:txBody>
      </p:sp>
      <p:sp>
        <p:nvSpPr>
          <p:cNvPr id="229" name="TextBox 229"/>
          <p:cNvSpPr txBox="1"/>
          <p:nvPr/>
        </p:nvSpPr>
        <p:spPr>
          <a:xfrm>
            <a:off x="6886403" y="2943225"/>
            <a:ext cx="1523962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4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W1 服务货量 289</a:t>
            </a:r>
            <a:endParaRPr lang="zh-CN" sz="840"/>
          </a:p>
        </p:txBody>
      </p:sp>
      <p:sp>
        <p:nvSpPr>
          <p:cNvPr id="230" name="TextBox 230"/>
          <p:cNvSpPr txBox="1"/>
          <p:nvPr/>
        </p:nvSpPr>
        <p:spPr>
          <a:xfrm>
            <a:off x="6886403" y="3171825"/>
            <a:ext cx="1523962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4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W2 服务货量 1268</a:t>
            </a:r>
            <a:endParaRPr lang="zh-CN" sz="840"/>
          </a:p>
        </p:txBody>
      </p:sp>
      <p:sp>
        <p:nvSpPr>
          <p:cNvPr id="231" name="TextBox 231"/>
          <p:cNvSpPr txBox="1"/>
          <p:nvPr/>
        </p:nvSpPr>
        <p:spPr>
          <a:xfrm>
            <a:off x="6886403" y="3400425"/>
            <a:ext cx="1523962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4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W3 服务货量 590</a:t>
            </a:r>
            <a:endParaRPr lang="zh-CN" sz="840"/>
          </a:p>
        </p:txBody>
      </p:sp>
      <p:sp>
        <p:nvSpPr>
          <p:cNvPr id="232" name="TextBox 232"/>
          <p:cNvSpPr txBox="1"/>
          <p:nvPr/>
        </p:nvSpPr>
        <p:spPr>
          <a:xfrm>
            <a:off x="6886403" y="3629025"/>
            <a:ext cx="1523962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4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W4 服务货量 283</a:t>
            </a:r>
            <a:endParaRPr lang="zh-CN" sz="840"/>
          </a:p>
        </p:txBody>
      </p:sp>
      <p:sp>
        <p:nvSpPr>
          <p:cNvPr id="233" name="TextBox 233"/>
          <p:cNvSpPr txBox="1"/>
          <p:nvPr/>
        </p:nvSpPr>
        <p:spPr>
          <a:xfrm>
            <a:off x="6895928" y="4495800"/>
            <a:ext cx="1523962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4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讲给听众的版本</a:t>
            </a:r>
            <a:endParaRPr lang="zh-CN" sz="1140"/>
          </a:p>
        </p:txBody>
      </p:sp>
      <p:sp>
        <p:nvSpPr>
          <p:cNvPr id="234" name="TextBox 234"/>
          <p:cNvSpPr txBox="1"/>
          <p:nvPr/>
        </p:nvSpPr>
        <p:spPr>
          <a:xfrm>
            <a:off x="6895928" y="4781550"/>
            <a:ext cx="3276518" cy="4095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80">
                <a:solidFill>
                  <a:srgbClr val="6D7783"/>
                </a:solidFill>
                <a:latin typeface="PingFang SC"/>
                <a:ea typeface="PingFang SC"/>
                <a:cs typeface="PingFang SC"/>
              </a:rPr>
              <a:t>动态分区就是让每个工位负责一片“由托盘和货量组成的服务范围</a:t>
            </a:r>
            <a:endParaRPr lang="zh-CN" sz="880"/>
          </a:p>
          <a:p>
            <a:pPr algn="left"/>
            <a:r>
              <a:rPr lang="zh-CN" sz="880">
                <a:solidFill>
                  <a:srgbClr val="6D7783"/>
                </a:solidFill>
                <a:latin typeface="PingFang SC"/>
                <a:ea typeface="PingFang SC"/>
                <a:cs typeface="PingFang SC"/>
              </a:rPr>
              <a:t>”。它不是地图上的墙，而是模型算出来的业务归属。</a:t>
            </a:r>
            <a:endParaRPr lang="zh-CN" sz="880"/>
          </a:p>
        </p:txBody>
      </p:sp>
      <p:sp>
        <p:nvSpPr>
          <p:cNvPr id="235" name="TextBox 235"/>
          <p:cNvSpPr txBox="1"/>
          <p:nvPr/>
        </p:nvSpPr>
        <p:spPr>
          <a:xfrm>
            <a:off x="685783" y="6448425"/>
            <a:ext cx="3428914" cy="1333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5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AGV 仓储优化课程项目 · 本地 CSV 数据 · Python 自实现算法</a:t>
            </a:r>
            <a:endParaRPr lang="zh-CN" sz="650"/>
          </a:p>
        </p:txBody>
      </p:sp>
      <p:sp>
        <p:nvSpPr>
          <p:cNvPr id="236" name="TextBox 236"/>
          <p:cNvSpPr txBox="1"/>
          <p:nvPr/>
        </p:nvSpPr>
        <p:spPr>
          <a:xfrm>
            <a:off x="11401140" y="6438900"/>
            <a:ext cx="228594" cy="1333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8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12</a:t>
            </a:r>
            <a:endParaRPr lang="zh-CN" sz="78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800080" y="2724150"/>
            <a:ext cx="4762381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B"/>
            </a:solidFill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6095848" y="2724150"/>
            <a:ext cx="4762381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B"/>
            </a:solidFill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1809705" y="5314950"/>
            <a:ext cx="8096048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EB"/>
            </a:solidFill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800080" y="2724150"/>
            <a:ext cx="47624" cy="2286000"/>
          </a:xfrm>
          <a:prstGeom prst="rect">
            <a:avLst/>
          </a:prstGeom>
          <a:solidFill>
            <a:srgbClr val="38B378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6095848" y="2724150"/>
            <a:ext cx="47624" cy="22860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1809705" y="5314950"/>
            <a:ext cx="47624" cy="609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685783" y="571500"/>
            <a:ext cx="66673" cy="66675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685783" y="6248400"/>
            <a:ext cx="2857429" cy="9525"/>
          </a:xfrm>
          <a:prstGeom prst="rect">
            <a:avLst/>
          </a:prstGeom>
          <a:solidFill>
            <a:srgbClr val="DBE2E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857229" y="542925"/>
            <a:ext cx="1619210" cy="1428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40" b="1">
                <a:solidFill>
                  <a:srgbClr val="4E5B67"/>
                </a:solidFill>
                <a:latin typeface="PingFang SC"/>
                <a:ea typeface="PingFang SC"/>
                <a:cs typeface="PingFang SC"/>
              </a:rPr>
              <a:t>TASK 2 · MODEL</a:t>
            </a:r>
            <a:endParaRPr lang="zh-CN" sz="840"/>
          </a:p>
        </p:txBody>
      </p:sp>
      <p:sp>
        <p:nvSpPr>
          <p:cNvPr id="11" name="TextBox 11"/>
          <p:cNvSpPr txBox="1"/>
          <p:nvPr/>
        </p:nvSpPr>
        <p:spPr>
          <a:xfrm>
            <a:off x="685783" y="895350"/>
            <a:ext cx="8667533" cy="4762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72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任务 2 的模型：把托盘货量作为流量分给工位。</a:t>
            </a:r>
            <a:endParaRPr lang="zh-CN" sz="2720"/>
          </a:p>
        </p:txBody>
      </p:sp>
      <p:sp>
        <p:nvSpPr>
          <p:cNvPr id="12" name="TextBox 12"/>
          <p:cNvSpPr txBox="1"/>
          <p:nvPr/>
        </p:nvSpPr>
        <p:spPr>
          <a:xfrm>
            <a:off x="704832" y="1914525"/>
            <a:ext cx="5190995" cy="4191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0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变量不再是 0–1 分配，而是“托盘 j 有多少货量分给工位</a:t>
            </a:r>
            <a:endParaRPr lang="zh-CN" sz="1100"/>
          </a:p>
          <a:p>
            <a:pPr algn="left"/>
            <a:r>
              <a:rPr lang="zh-CN" sz="110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k”。这样能表达一个托盘货量被分配和负载约束。</a:t>
            </a:r>
            <a:endParaRPr lang="zh-CN" sz="1100"/>
          </a:p>
        </p:txBody>
      </p:sp>
      <p:sp>
        <p:nvSpPr>
          <p:cNvPr id="13" name="TextBox 13"/>
          <p:cNvSpPr txBox="1"/>
          <p:nvPr/>
        </p:nvSpPr>
        <p:spPr>
          <a:xfrm>
            <a:off x="990575" y="2914650"/>
            <a:ext cx="1428714" cy="2000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4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决策变量</a:t>
            </a:r>
            <a:endParaRPr lang="zh-CN" sz="1140"/>
          </a:p>
        </p:txBody>
      </p:sp>
      <p:sp>
        <p:nvSpPr>
          <p:cNvPr id="14" name="TextBox 14"/>
          <p:cNvSpPr txBox="1"/>
          <p:nvPr/>
        </p:nvSpPr>
        <p:spPr>
          <a:xfrm>
            <a:off x="990575" y="3257550"/>
            <a:ext cx="3333667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19">
                <a:solidFill>
                  <a:srgbClr val="25313B"/>
                </a:solidFill>
                <a:latin typeface="PingFang SC"/>
                <a:ea typeface="PingFang SC"/>
                <a:cs typeface="PingFang SC"/>
              </a:rPr>
              <a:t>z(j,k)：托盘 j 分给工位 k 的货量</a:t>
            </a:r>
            <a:endParaRPr lang="zh-CN" sz="919"/>
          </a:p>
        </p:txBody>
      </p:sp>
      <p:sp>
        <p:nvSpPr>
          <p:cNvPr id="15" name="TextBox 15"/>
          <p:cNvSpPr txBox="1"/>
          <p:nvPr/>
        </p:nvSpPr>
        <p:spPr>
          <a:xfrm>
            <a:off x="990575" y="3590925"/>
            <a:ext cx="2666933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19">
                <a:solidFill>
                  <a:srgbClr val="25313B"/>
                </a:solidFill>
                <a:latin typeface="PingFang SC"/>
                <a:ea typeface="PingFang SC"/>
                <a:cs typeface="PingFang SC"/>
              </a:rPr>
              <a:t>q(j)：托盘 j 的总货量</a:t>
            </a:r>
            <a:endParaRPr lang="zh-CN" sz="919"/>
          </a:p>
        </p:txBody>
      </p:sp>
      <p:sp>
        <p:nvSpPr>
          <p:cNvPr id="16" name="TextBox 16"/>
          <p:cNvSpPr txBox="1"/>
          <p:nvPr/>
        </p:nvSpPr>
        <p:spPr>
          <a:xfrm>
            <a:off x="990575" y="3914775"/>
            <a:ext cx="3476538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19">
                <a:solidFill>
                  <a:srgbClr val="25313B"/>
                </a:solidFill>
                <a:latin typeface="PingFang SC"/>
                <a:ea typeface="PingFang SC"/>
                <a:cs typeface="PingFang SC"/>
              </a:rPr>
              <a:t>d(j,k)：托盘 j 到工位 k 的通道距离</a:t>
            </a:r>
            <a:endParaRPr lang="zh-CN" sz="919"/>
          </a:p>
        </p:txBody>
      </p:sp>
      <p:sp>
        <p:nvSpPr>
          <p:cNvPr id="17" name="TextBox 17"/>
          <p:cNvSpPr txBox="1"/>
          <p:nvPr/>
        </p:nvSpPr>
        <p:spPr>
          <a:xfrm>
            <a:off x="990575" y="4248150"/>
            <a:ext cx="2857429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19">
                <a:solidFill>
                  <a:srgbClr val="25313B"/>
                </a:solidFill>
                <a:latin typeface="PingFang SC"/>
                <a:ea typeface="PingFang SC"/>
                <a:cs typeface="PingFang SC"/>
              </a:rPr>
              <a:t>目标：min Σ d(j,k) z(j,k)</a:t>
            </a:r>
            <a:endParaRPr lang="zh-CN" sz="919"/>
          </a:p>
        </p:txBody>
      </p:sp>
      <p:sp>
        <p:nvSpPr>
          <p:cNvPr id="18" name="TextBox 18"/>
          <p:cNvSpPr txBox="1"/>
          <p:nvPr/>
        </p:nvSpPr>
        <p:spPr>
          <a:xfrm>
            <a:off x="6286343" y="2914650"/>
            <a:ext cx="1428714" cy="2000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4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约束含义</a:t>
            </a:r>
            <a:endParaRPr lang="zh-CN" sz="1140"/>
          </a:p>
        </p:txBody>
      </p:sp>
      <p:sp>
        <p:nvSpPr>
          <p:cNvPr id="19" name="TextBox 19"/>
          <p:cNvSpPr txBox="1"/>
          <p:nvPr/>
        </p:nvSpPr>
        <p:spPr>
          <a:xfrm>
            <a:off x="6286343" y="3248025"/>
            <a:ext cx="4000400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19">
                <a:solidFill>
                  <a:srgbClr val="25313B"/>
                </a:solidFill>
                <a:latin typeface="PingFang SC"/>
                <a:ea typeface="PingFang SC"/>
                <a:cs typeface="PingFang SC"/>
              </a:rPr>
              <a:t>每个托盘的货量必须全部分完：按 k 求和 z(j,k) = q(j)</a:t>
            </a:r>
            <a:endParaRPr lang="zh-CN" sz="919"/>
          </a:p>
        </p:txBody>
      </p:sp>
      <p:sp>
        <p:nvSpPr>
          <p:cNvPr id="20" name="TextBox 20"/>
          <p:cNvSpPr txBox="1"/>
          <p:nvPr/>
        </p:nvSpPr>
        <p:spPr>
          <a:xfrm>
            <a:off x="6286343" y="3581400"/>
            <a:ext cx="2857429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19">
                <a:solidFill>
                  <a:srgbClr val="25313B"/>
                </a:solidFill>
                <a:latin typeface="PingFang SC"/>
                <a:ea typeface="PingFang SC"/>
                <a:cs typeface="PingFang SC"/>
              </a:rPr>
              <a:t>每个工位至少获得一定货量</a:t>
            </a:r>
            <a:endParaRPr lang="zh-CN" sz="919"/>
          </a:p>
        </p:txBody>
      </p:sp>
      <p:sp>
        <p:nvSpPr>
          <p:cNvPr id="21" name="TextBox 21"/>
          <p:cNvSpPr txBox="1"/>
          <p:nvPr/>
        </p:nvSpPr>
        <p:spPr>
          <a:xfrm>
            <a:off x="6286343" y="3914775"/>
            <a:ext cx="3381290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19">
                <a:solidFill>
                  <a:srgbClr val="25313B"/>
                </a:solidFill>
                <a:latin typeface="PingFang SC"/>
                <a:ea typeface="PingFang SC"/>
                <a:cs typeface="PingFang SC"/>
              </a:rPr>
              <a:t>所有 z(j,k) 非负，避免无意义的负流量</a:t>
            </a:r>
            <a:endParaRPr lang="zh-CN" sz="919"/>
          </a:p>
        </p:txBody>
      </p:sp>
      <p:sp>
        <p:nvSpPr>
          <p:cNvPr id="22" name="TextBox 22"/>
          <p:cNvSpPr txBox="1"/>
          <p:nvPr/>
        </p:nvSpPr>
        <p:spPr>
          <a:xfrm>
            <a:off x="1990675" y="5467350"/>
            <a:ext cx="1428714" cy="1809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4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实际意义</a:t>
            </a:r>
            <a:endParaRPr lang="zh-CN" sz="1140"/>
          </a:p>
        </p:txBody>
      </p:sp>
      <p:sp>
        <p:nvSpPr>
          <p:cNvPr id="23" name="TextBox 23"/>
          <p:cNvSpPr txBox="1"/>
          <p:nvPr/>
        </p:nvSpPr>
        <p:spPr>
          <a:xfrm>
            <a:off x="1990675" y="5753100"/>
            <a:ext cx="7953176" cy="1524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4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这个模型在距离成本和工位负载之间做权衡：不能只贪图最近距离，也不能让工位任务严重失衡。</a:t>
            </a:r>
            <a:endParaRPr lang="zh-CN" sz="740"/>
          </a:p>
        </p:txBody>
      </p:sp>
      <p:sp>
        <p:nvSpPr>
          <p:cNvPr id="24" name="TextBox 24"/>
          <p:cNvSpPr txBox="1"/>
          <p:nvPr/>
        </p:nvSpPr>
        <p:spPr>
          <a:xfrm>
            <a:off x="685783" y="6448425"/>
            <a:ext cx="3428914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5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AGV 仓储优化课程项目 · 本地 CSV 数据 · Python 自实现算法</a:t>
            </a:r>
            <a:endParaRPr lang="zh-CN" sz="650"/>
          </a:p>
        </p:txBody>
      </p:sp>
      <p:sp>
        <p:nvSpPr>
          <p:cNvPr id="25" name="TextBox 25"/>
          <p:cNvSpPr txBox="1"/>
          <p:nvPr/>
        </p:nvSpPr>
        <p:spPr>
          <a:xfrm>
            <a:off x="11401140" y="6429375"/>
            <a:ext cx="228594" cy="1333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8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13</a:t>
            </a:r>
            <a:endParaRPr lang="zh-CN" sz="78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857229" y="2781300"/>
            <a:ext cx="4286143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AEC"/>
            </a:solidFill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6095848" y="2781300"/>
            <a:ext cx="4286143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AEC"/>
            </a:solidFill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857229" y="4076700"/>
            <a:ext cx="4286143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AEC"/>
            </a:solidFill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6095848" y="4076700"/>
            <a:ext cx="4286143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AEC"/>
            </a:solidFill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2000200" y="5429250"/>
            <a:ext cx="7619810" cy="55245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AEC"/>
            </a:solidFill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857229" y="2781300"/>
            <a:ext cx="47624" cy="914400"/>
          </a:xfrm>
          <a:prstGeom prst="rect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6095848" y="2781300"/>
            <a:ext cx="47624" cy="9144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857229" y="4076700"/>
            <a:ext cx="47624" cy="9144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6095848" y="4076700"/>
            <a:ext cx="47624" cy="914400"/>
          </a:xfrm>
          <a:prstGeom prst="rect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2000200" y="5429250"/>
            <a:ext cx="47624" cy="552450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Line 12"/>
          <p:cNvSpPr/>
          <p:nvPr/>
        </p:nvSpPr>
        <p:spPr>
          <a:xfrm>
            <a:off x="685783" y="6248400"/>
            <a:ext cx="2857429" cy="0"/>
          </a:xfrm>
          <a:prstGeom prst="line">
            <a:avLst/>
          </a:prstGeom>
          <a:noFill/>
          <a:ln w="12700">
            <a:solidFill>
              <a:srgbClr val="D6DDE3"/>
            </a:solidFill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685783" y="571500"/>
            <a:ext cx="66673" cy="66675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857229" y="533400"/>
            <a:ext cx="1523962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50" b="1">
                <a:solidFill>
                  <a:srgbClr val="59636E"/>
                </a:solidFill>
                <a:latin typeface="PingFang SC"/>
                <a:ea typeface="PingFang SC"/>
                <a:cs typeface="PingFang SC"/>
              </a:rPr>
              <a:t>TASK 2 · ALGORITHM</a:t>
            </a:r>
            <a:endParaRPr lang="zh-CN" sz="850"/>
          </a:p>
        </p:txBody>
      </p:sp>
      <p:sp>
        <p:nvSpPr>
          <p:cNvPr id="15" name="TextBox 15"/>
          <p:cNvSpPr txBox="1"/>
          <p:nvPr/>
        </p:nvSpPr>
        <p:spPr>
          <a:xfrm>
            <a:off x="685783" y="847725"/>
            <a:ext cx="10096248" cy="552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300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任务 2 仍然是线性规划， 直接使用原始–对偶内点法。</a:t>
            </a:r>
            <a:endParaRPr lang="zh-CN" sz="3000"/>
          </a:p>
        </p:txBody>
      </p:sp>
      <p:sp>
        <p:nvSpPr>
          <p:cNvPr id="16" name="TextBox 16"/>
          <p:cNvSpPr txBox="1"/>
          <p:nvPr/>
        </p:nvSpPr>
        <p:spPr>
          <a:xfrm>
            <a:off x="685783" y="1914525"/>
            <a:ext cx="8858029" cy="2667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8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动态分区模型规模更像标准 LP：目标线性，约束线性，非负变量。内点法适合一次性处理大量 z_jk。</a:t>
            </a:r>
            <a:endParaRPr lang="zh-CN" sz="1280"/>
          </a:p>
        </p:txBody>
      </p:sp>
      <p:sp>
        <p:nvSpPr>
          <p:cNvPr id="17" name="TextBox 17"/>
          <p:cNvSpPr txBox="1"/>
          <p:nvPr/>
        </p:nvSpPr>
        <p:spPr>
          <a:xfrm>
            <a:off x="1028674" y="2943225"/>
            <a:ext cx="1142971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5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原始问题</a:t>
            </a:r>
            <a:endParaRPr lang="zh-CN" sz="1350"/>
          </a:p>
        </p:txBody>
      </p:sp>
      <p:sp>
        <p:nvSpPr>
          <p:cNvPr id="18" name="TextBox 18"/>
          <p:cNvSpPr txBox="1"/>
          <p:nvPr/>
        </p:nvSpPr>
        <p:spPr>
          <a:xfrm>
            <a:off x="1028674" y="3248025"/>
            <a:ext cx="3619410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8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A z = b, z ≥ 0，代表货量守恒和工位最低负载</a:t>
            </a:r>
            <a:endParaRPr lang="zh-CN" sz="880"/>
          </a:p>
        </p:txBody>
      </p:sp>
      <p:sp>
        <p:nvSpPr>
          <p:cNvPr id="19" name="TextBox 19"/>
          <p:cNvSpPr txBox="1"/>
          <p:nvPr/>
        </p:nvSpPr>
        <p:spPr>
          <a:xfrm>
            <a:off x="6267293" y="2943225"/>
            <a:ext cx="1142971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5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对偶问题</a:t>
            </a:r>
            <a:endParaRPr lang="zh-CN" sz="1350"/>
          </a:p>
        </p:txBody>
      </p:sp>
      <p:sp>
        <p:nvSpPr>
          <p:cNvPr id="20" name="TextBox 20"/>
          <p:cNvSpPr txBox="1"/>
          <p:nvPr/>
        </p:nvSpPr>
        <p:spPr>
          <a:xfrm>
            <a:off x="6267293" y="3248025"/>
            <a:ext cx="3143171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8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通过拉格朗日乘子刻画约束价格</a:t>
            </a:r>
            <a:endParaRPr lang="zh-CN" sz="880"/>
          </a:p>
        </p:txBody>
      </p:sp>
      <p:sp>
        <p:nvSpPr>
          <p:cNvPr id="21" name="TextBox 21"/>
          <p:cNvSpPr txBox="1"/>
          <p:nvPr/>
        </p:nvSpPr>
        <p:spPr>
          <a:xfrm>
            <a:off x="1028674" y="4238625"/>
            <a:ext cx="1142971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5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牛顿方向</a:t>
            </a:r>
            <a:endParaRPr lang="zh-CN" sz="1350"/>
          </a:p>
        </p:txBody>
      </p:sp>
      <p:sp>
        <p:nvSpPr>
          <p:cNvPr id="22" name="TextBox 22"/>
          <p:cNvSpPr txBox="1"/>
          <p:nvPr/>
        </p:nvSpPr>
        <p:spPr>
          <a:xfrm>
            <a:off x="1028674" y="4543425"/>
            <a:ext cx="3762281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8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解正规方程，更新原始变量、对偶变量和松弛变量</a:t>
            </a:r>
            <a:endParaRPr lang="zh-CN" sz="880"/>
          </a:p>
        </p:txBody>
      </p:sp>
      <p:sp>
        <p:nvSpPr>
          <p:cNvPr id="23" name="TextBox 23"/>
          <p:cNvSpPr txBox="1"/>
          <p:nvPr/>
        </p:nvSpPr>
        <p:spPr>
          <a:xfrm>
            <a:off x="6267293" y="4238625"/>
            <a:ext cx="1142971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5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路径跟踪</a:t>
            </a:r>
            <a:endParaRPr lang="zh-CN" sz="1350"/>
          </a:p>
        </p:txBody>
      </p:sp>
      <p:sp>
        <p:nvSpPr>
          <p:cNvPr id="24" name="TextBox 24"/>
          <p:cNvSpPr txBox="1"/>
          <p:nvPr/>
        </p:nvSpPr>
        <p:spPr>
          <a:xfrm>
            <a:off x="6267293" y="4543425"/>
            <a:ext cx="3238419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8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用中心化参数控制互补间隙逐步下降</a:t>
            </a:r>
            <a:endParaRPr lang="zh-CN" sz="880"/>
          </a:p>
        </p:txBody>
      </p:sp>
      <p:sp>
        <p:nvSpPr>
          <p:cNvPr id="25" name="TextBox 25"/>
          <p:cNvSpPr txBox="1"/>
          <p:nvPr/>
        </p:nvSpPr>
        <p:spPr>
          <a:xfrm>
            <a:off x="2190695" y="5619750"/>
            <a:ext cx="857229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5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输出</a:t>
            </a:r>
            <a:endParaRPr lang="zh-CN" sz="1350"/>
          </a:p>
        </p:txBody>
      </p:sp>
      <p:sp>
        <p:nvSpPr>
          <p:cNvPr id="26" name="TextBox 26"/>
          <p:cNvSpPr txBox="1"/>
          <p:nvPr/>
        </p:nvSpPr>
        <p:spPr>
          <a:xfrm>
            <a:off x="2190695" y="5953125"/>
            <a:ext cx="6095848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19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z 矩阵直接解释为“每个托盘货量流向每个工位的数量”。</a:t>
            </a:r>
            <a:endParaRPr lang="zh-CN" sz="1019"/>
          </a:p>
        </p:txBody>
      </p:sp>
      <p:sp>
        <p:nvSpPr>
          <p:cNvPr id="27" name="TextBox 27"/>
          <p:cNvSpPr txBox="1"/>
          <p:nvPr/>
        </p:nvSpPr>
        <p:spPr>
          <a:xfrm>
            <a:off x="685783" y="6438900"/>
            <a:ext cx="3476538" cy="1333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5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AGV 仓储优化课程项目 · 本地 CSV 数据 · Python 自实现算法</a:t>
            </a:r>
            <a:endParaRPr lang="zh-CN" sz="750"/>
          </a:p>
        </p:txBody>
      </p:sp>
      <p:sp>
        <p:nvSpPr>
          <p:cNvPr id="28" name="TextBox 28"/>
          <p:cNvSpPr txBox="1"/>
          <p:nvPr/>
        </p:nvSpPr>
        <p:spPr>
          <a:xfrm>
            <a:off x="11391615" y="6438900"/>
            <a:ext cx="228594" cy="1333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0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14</a:t>
            </a:r>
            <a:endParaRPr lang="zh-CN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685783" y="2609850"/>
            <a:ext cx="5152896" cy="335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904852" y="2667000"/>
            <a:ext cx="4695708" cy="3238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952476" y="2705100"/>
            <a:ext cx="4590935" cy="315277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Line 5"/>
          <p:cNvSpPr/>
          <p:nvPr/>
        </p:nvSpPr>
        <p:spPr>
          <a:xfrm>
            <a:off x="952476" y="2705100"/>
            <a:ext cx="0" cy="3152775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6" name="Line 6"/>
          <p:cNvSpPr/>
          <p:nvPr/>
        </p:nvSpPr>
        <p:spPr>
          <a:xfrm>
            <a:off x="1095348" y="2705100"/>
            <a:ext cx="0" cy="3152775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7" name="Line 7"/>
          <p:cNvSpPr/>
          <p:nvPr/>
        </p:nvSpPr>
        <p:spPr>
          <a:xfrm>
            <a:off x="1238219" y="2705100"/>
            <a:ext cx="0" cy="3152775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8" name="Line 8"/>
          <p:cNvSpPr/>
          <p:nvPr/>
        </p:nvSpPr>
        <p:spPr>
          <a:xfrm>
            <a:off x="1381090" y="2705100"/>
            <a:ext cx="0" cy="3152775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9" name="Line 9"/>
          <p:cNvSpPr/>
          <p:nvPr/>
        </p:nvSpPr>
        <p:spPr>
          <a:xfrm>
            <a:off x="1523962" y="2705100"/>
            <a:ext cx="0" cy="3152775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10" name="Line 10"/>
          <p:cNvSpPr/>
          <p:nvPr/>
        </p:nvSpPr>
        <p:spPr>
          <a:xfrm>
            <a:off x="1666833" y="2705100"/>
            <a:ext cx="0" cy="3152775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11" name="Line 11"/>
          <p:cNvSpPr/>
          <p:nvPr/>
        </p:nvSpPr>
        <p:spPr>
          <a:xfrm>
            <a:off x="1809705" y="2705100"/>
            <a:ext cx="0" cy="3152775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12" name="Line 12"/>
          <p:cNvSpPr/>
          <p:nvPr/>
        </p:nvSpPr>
        <p:spPr>
          <a:xfrm>
            <a:off x="1952576" y="2705100"/>
            <a:ext cx="0" cy="3152775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13" name="Line 13"/>
          <p:cNvSpPr/>
          <p:nvPr/>
        </p:nvSpPr>
        <p:spPr>
          <a:xfrm>
            <a:off x="2095448" y="2705100"/>
            <a:ext cx="0" cy="3152775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14" name="Line 14"/>
          <p:cNvSpPr/>
          <p:nvPr/>
        </p:nvSpPr>
        <p:spPr>
          <a:xfrm>
            <a:off x="2238319" y="2705100"/>
            <a:ext cx="0" cy="3152775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15" name="Line 15"/>
          <p:cNvSpPr/>
          <p:nvPr/>
        </p:nvSpPr>
        <p:spPr>
          <a:xfrm>
            <a:off x="2381190" y="2705100"/>
            <a:ext cx="0" cy="3152775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16" name="Line 16"/>
          <p:cNvSpPr/>
          <p:nvPr/>
        </p:nvSpPr>
        <p:spPr>
          <a:xfrm>
            <a:off x="2524062" y="2705100"/>
            <a:ext cx="0" cy="3152775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17" name="Line 17"/>
          <p:cNvSpPr/>
          <p:nvPr/>
        </p:nvSpPr>
        <p:spPr>
          <a:xfrm>
            <a:off x="2666933" y="2705100"/>
            <a:ext cx="0" cy="3152775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18" name="Line 18"/>
          <p:cNvSpPr/>
          <p:nvPr/>
        </p:nvSpPr>
        <p:spPr>
          <a:xfrm>
            <a:off x="2809805" y="2705100"/>
            <a:ext cx="0" cy="3152775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>
            <a:off x="2952676" y="2705100"/>
            <a:ext cx="0" cy="3152775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20" name="Line 20"/>
          <p:cNvSpPr/>
          <p:nvPr/>
        </p:nvSpPr>
        <p:spPr>
          <a:xfrm>
            <a:off x="3095548" y="2705100"/>
            <a:ext cx="0" cy="3152775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>
            <a:off x="3238419" y="2705100"/>
            <a:ext cx="0" cy="3152775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22" name="Line 22"/>
          <p:cNvSpPr/>
          <p:nvPr/>
        </p:nvSpPr>
        <p:spPr>
          <a:xfrm>
            <a:off x="3381290" y="2705100"/>
            <a:ext cx="0" cy="3152775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23" name="Line 23"/>
          <p:cNvSpPr/>
          <p:nvPr/>
        </p:nvSpPr>
        <p:spPr>
          <a:xfrm>
            <a:off x="3524162" y="2705100"/>
            <a:ext cx="0" cy="3152775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24" name="Line 24"/>
          <p:cNvSpPr/>
          <p:nvPr/>
        </p:nvSpPr>
        <p:spPr>
          <a:xfrm>
            <a:off x="3667033" y="2705100"/>
            <a:ext cx="0" cy="3152775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3809905" y="2705100"/>
            <a:ext cx="0" cy="3152775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3952776" y="2705100"/>
            <a:ext cx="0" cy="3152775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>
            <a:off x="4095648" y="2705100"/>
            <a:ext cx="0" cy="3152775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>
            <a:off x="4238519" y="2705100"/>
            <a:ext cx="0" cy="3152775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>
            <a:off x="4381390" y="2705100"/>
            <a:ext cx="0" cy="3152775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>
            <a:off x="4524262" y="2705100"/>
            <a:ext cx="0" cy="3152775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4667133" y="2705100"/>
            <a:ext cx="0" cy="3152775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4810005" y="2705100"/>
            <a:ext cx="0" cy="3152775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>
            <a:off x="4952876" y="2705100"/>
            <a:ext cx="0" cy="3152775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5095748" y="2705100"/>
            <a:ext cx="0" cy="3152775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>
            <a:off x="5238619" y="2705100"/>
            <a:ext cx="0" cy="3152775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>
            <a:off x="5381490" y="2705100"/>
            <a:ext cx="0" cy="3152775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5524362" y="2705100"/>
            <a:ext cx="0" cy="3152775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952476" y="2705100"/>
            <a:ext cx="4590935" cy="0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952476" y="2847975"/>
            <a:ext cx="4590935" cy="0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952476" y="2990850"/>
            <a:ext cx="4590935" cy="0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>
            <a:off x="952476" y="3133725"/>
            <a:ext cx="4590935" cy="0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>
            <a:off x="952476" y="3276600"/>
            <a:ext cx="4590935" cy="0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>
            <a:off x="952476" y="3419475"/>
            <a:ext cx="4590935" cy="0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44" name="Line 44"/>
          <p:cNvSpPr/>
          <p:nvPr/>
        </p:nvSpPr>
        <p:spPr>
          <a:xfrm>
            <a:off x="952476" y="3562350"/>
            <a:ext cx="4590935" cy="0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>
            <a:off x="952476" y="3705225"/>
            <a:ext cx="4590935" cy="0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>
            <a:off x="952476" y="3848100"/>
            <a:ext cx="4590935" cy="0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>
            <a:off x="952476" y="3990975"/>
            <a:ext cx="4590935" cy="0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>
            <a:off x="952476" y="4133850"/>
            <a:ext cx="4590935" cy="0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>
            <a:off x="952476" y="4276725"/>
            <a:ext cx="4590935" cy="0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>
            <a:off x="952476" y="4419600"/>
            <a:ext cx="4590935" cy="0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>
            <a:off x="952476" y="4562475"/>
            <a:ext cx="4590935" cy="0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52" name="Line 52"/>
          <p:cNvSpPr/>
          <p:nvPr/>
        </p:nvSpPr>
        <p:spPr>
          <a:xfrm>
            <a:off x="952476" y="4705350"/>
            <a:ext cx="4590935" cy="0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>
            <a:off x="952476" y="4848225"/>
            <a:ext cx="4590935" cy="0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54" name="Line 54"/>
          <p:cNvSpPr/>
          <p:nvPr/>
        </p:nvSpPr>
        <p:spPr>
          <a:xfrm>
            <a:off x="952476" y="4991100"/>
            <a:ext cx="4590935" cy="0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55" name="Line 55"/>
          <p:cNvSpPr/>
          <p:nvPr/>
        </p:nvSpPr>
        <p:spPr>
          <a:xfrm>
            <a:off x="952476" y="5133975"/>
            <a:ext cx="4590935" cy="0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56" name="Line 56"/>
          <p:cNvSpPr/>
          <p:nvPr/>
        </p:nvSpPr>
        <p:spPr>
          <a:xfrm>
            <a:off x="952476" y="5276850"/>
            <a:ext cx="4590935" cy="0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57" name="Line 57"/>
          <p:cNvSpPr/>
          <p:nvPr/>
        </p:nvSpPr>
        <p:spPr>
          <a:xfrm>
            <a:off x="952476" y="5419725"/>
            <a:ext cx="4590935" cy="0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58" name="Line 58"/>
          <p:cNvSpPr/>
          <p:nvPr/>
        </p:nvSpPr>
        <p:spPr>
          <a:xfrm>
            <a:off x="952476" y="5562600"/>
            <a:ext cx="4590935" cy="0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59" name="Line 59"/>
          <p:cNvSpPr/>
          <p:nvPr/>
        </p:nvSpPr>
        <p:spPr>
          <a:xfrm>
            <a:off x="952476" y="5705475"/>
            <a:ext cx="4590935" cy="0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60" name="Line 60"/>
          <p:cNvSpPr/>
          <p:nvPr/>
        </p:nvSpPr>
        <p:spPr>
          <a:xfrm>
            <a:off x="952476" y="5848350"/>
            <a:ext cx="4590935" cy="0"/>
          </a:xfrm>
          <a:prstGeom prst="line">
            <a:avLst/>
          </a:prstGeom>
          <a:noFill/>
          <a:ln w="5080">
            <a:solidFill>
              <a:srgbClr val="F4F6F6"/>
            </a:solidFill>
          </a:ln>
        </p:spPr>
        <p:txBody>
          <a:bodyPr/>
          <a:lstStyle/>
          <a:p/>
        </p:txBody>
      </p:sp>
      <p:sp>
        <p:nvSpPr>
          <p:cNvPr id="61" name="Line 61"/>
          <p:cNvSpPr/>
          <p:nvPr/>
        </p:nvSpPr>
        <p:spPr>
          <a:xfrm>
            <a:off x="685783" y="6248400"/>
            <a:ext cx="2857429" cy="0"/>
          </a:xfrm>
          <a:prstGeom prst="line">
            <a:avLst/>
          </a:prstGeom>
          <a:noFill/>
          <a:ln w="8890">
            <a:solidFill>
              <a:srgbClr val="D7DEE5"/>
            </a:solidFill>
          </a:ln>
        </p:spPr>
        <p:txBody>
          <a:bodyPr/>
          <a:lstStyle/>
          <a:p/>
        </p:txBody>
      </p:sp>
      <p:sp>
        <p:nvSpPr>
          <p:cNvPr id="62" name="Rect 62"/>
          <p:cNvSpPr/>
          <p:nvPr/>
        </p:nvSpPr>
        <p:spPr>
          <a:xfrm>
            <a:off x="2409765" y="2724150"/>
            <a:ext cx="114297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Rect 63"/>
          <p:cNvSpPr/>
          <p:nvPr/>
        </p:nvSpPr>
        <p:spPr>
          <a:xfrm>
            <a:off x="2552636" y="2724150"/>
            <a:ext cx="114297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Rect 64"/>
          <p:cNvSpPr/>
          <p:nvPr/>
        </p:nvSpPr>
        <p:spPr>
          <a:xfrm>
            <a:off x="2695508" y="2724150"/>
            <a:ext cx="114297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Rect 65"/>
          <p:cNvSpPr/>
          <p:nvPr/>
        </p:nvSpPr>
        <p:spPr>
          <a:xfrm>
            <a:off x="4276618" y="2724150"/>
            <a:ext cx="114297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Rect 66"/>
          <p:cNvSpPr/>
          <p:nvPr/>
        </p:nvSpPr>
        <p:spPr>
          <a:xfrm>
            <a:off x="4419490" y="2724150"/>
            <a:ext cx="114297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Rect 67"/>
          <p:cNvSpPr/>
          <p:nvPr/>
        </p:nvSpPr>
        <p:spPr>
          <a:xfrm>
            <a:off x="4571886" y="2724150"/>
            <a:ext cx="104772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Rect 68"/>
          <p:cNvSpPr/>
          <p:nvPr/>
        </p:nvSpPr>
        <p:spPr>
          <a:xfrm>
            <a:off x="5429114" y="3438525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Rect 69"/>
          <p:cNvSpPr/>
          <p:nvPr/>
        </p:nvSpPr>
        <p:spPr>
          <a:xfrm>
            <a:off x="5429114" y="358140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Rect 70"/>
          <p:cNvSpPr/>
          <p:nvPr/>
        </p:nvSpPr>
        <p:spPr>
          <a:xfrm>
            <a:off x="5429114" y="3724275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Rect 71"/>
          <p:cNvSpPr/>
          <p:nvPr/>
        </p:nvSpPr>
        <p:spPr>
          <a:xfrm>
            <a:off x="5429114" y="45910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Rect 72"/>
          <p:cNvSpPr/>
          <p:nvPr/>
        </p:nvSpPr>
        <p:spPr>
          <a:xfrm>
            <a:off x="5429114" y="4733925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Rect 73"/>
          <p:cNvSpPr/>
          <p:nvPr/>
        </p:nvSpPr>
        <p:spPr>
          <a:xfrm>
            <a:off x="5429114" y="487680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Rect 74"/>
          <p:cNvSpPr/>
          <p:nvPr/>
        </p:nvSpPr>
        <p:spPr>
          <a:xfrm>
            <a:off x="1981150" y="5743575"/>
            <a:ext cx="114297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Rect 75"/>
          <p:cNvSpPr/>
          <p:nvPr/>
        </p:nvSpPr>
        <p:spPr>
          <a:xfrm>
            <a:off x="2124022" y="5743575"/>
            <a:ext cx="114297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6" name="Rect 76"/>
          <p:cNvSpPr/>
          <p:nvPr/>
        </p:nvSpPr>
        <p:spPr>
          <a:xfrm>
            <a:off x="2266893" y="5743575"/>
            <a:ext cx="114297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Rect 77"/>
          <p:cNvSpPr/>
          <p:nvPr/>
        </p:nvSpPr>
        <p:spPr>
          <a:xfrm>
            <a:off x="3990875" y="5743575"/>
            <a:ext cx="114297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Rect 78"/>
          <p:cNvSpPr/>
          <p:nvPr/>
        </p:nvSpPr>
        <p:spPr>
          <a:xfrm>
            <a:off x="4133747" y="5743575"/>
            <a:ext cx="114297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9" name="Rect 79"/>
          <p:cNvSpPr/>
          <p:nvPr/>
        </p:nvSpPr>
        <p:spPr>
          <a:xfrm>
            <a:off x="4276618" y="5743575"/>
            <a:ext cx="114297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0" name="Ellipse 80"/>
          <p:cNvSpPr/>
          <p:nvPr/>
        </p:nvSpPr>
        <p:spPr>
          <a:xfrm>
            <a:off x="1714457" y="3457575"/>
            <a:ext cx="66673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Ellipse 81"/>
          <p:cNvSpPr/>
          <p:nvPr/>
        </p:nvSpPr>
        <p:spPr>
          <a:xfrm>
            <a:off x="1857329" y="3457575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Ellipse 82"/>
          <p:cNvSpPr/>
          <p:nvPr/>
        </p:nvSpPr>
        <p:spPr>
          <a:xfrm>
            <a:off x="2000200" y="3457575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Ellipse 83"/>
          <p:cNvSpPr/>
          <p:nvPr/>
        </p:nvSpPr>
        <p:spPr>
          <a:xfrm>
            <a:off x="2143071" y="3457575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4" name="Ellipse 84"/>
          <p:cNvSpPr/>
          <p:nvPr/>
        </p:nvSpPr>
        <p:spPr>
          <a:xfrm>
            <a:off x="2285943" y="3457575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Ellipse 85"/>
          <p:cNvSpPr/>
          <p:nvPr/>
        </p:nvSpPr>
        <p:spPr>
          <a:xfrm>
            <a:off x="1714457" y="3600450"/>
            <a:ext cx="66673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Ellipse 86"/>
          <p:cNvSpPr/>
          <p:nvPr/>
        </p:nvSpPr>
        <p:spPr>
          <a:xfrm>
            <a:off x="1857329" y="360045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7" name="Ellipse 87"/>
          <p:cNvSpPr/>
          <p:nvPr/>
        </p:nvSpPr>
        <p:spPr>
          <a:xfrm>
            <a:off x="2000200" y="360045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8" name="Ellipse 88"/>
          <p:cNvSpPr/>
          <p:nvPr/>
        </p:nvSpPr>
        <p:spPr>
          <a:xfrm>
            <a:off x="2143071" y="360045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Ellipse 89"/>
          <p:cNvSpPr/>
          <p:nvPr/>
        </p:nvSpPr>
        <p:spPr>
          <a:xfrm>
            <a:off x="2285943" y="360045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Ellipse 90"/>
          <p:cNvSpPr/>
          <p:nvPr/>
        </p:nvSpPr>
        <p:spPr>
          <a:xfrm>
            <a:off x="1714457" y="3886200"/>
            <a:ext cx="66673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1" name="Ellipse 91"/>
          <p:cNvSpPr/>
          <p:nvPr/>
        </p:nvSpPr>
        <p:spPr>
          <a:xfrm>
            <a:off x="1857329" y="388620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Ellipse 92"/>
          <p:cNvSpPr/>
          <p:nvPr/>
        </p:nvSpPr>
        <p:spPr>
          <a:xfrm>
            <a:off x="2000200" y="388620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3" name="Ellipse 93"/>
          <p:cNvSpPr/>
          <p:nvPr/>
        </p:nvSpPr>
        <p:spPr>
          <a:xfrm>
            <a:off x="2143071" y="388620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4" name="Ellipse 94"/>
          <p:cNvSpPr/>
          <p:nvPr/>
        </p:nvSpPr>
        <p:spPr>
          <a:xfrm>
            <a:off x="2285943" y="388620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Ellipse 95"/>
          <p:cNvSpPr/>
          <p:nvPr/>
        </p:nvSpPr>
        <p:spPr>
          <a:xfrm>
            <a:off x="2428814" y="388620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6" name="Ellipse 96"/>
          <p:cNvSpPr/>
          <p:nvPr/>
        </p:nvSpPr>
        <p:spPr>
          <a:xfrm>
            <a:off x="1714457" y="4029075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7" name="Ellipse 97"/>
          <p:cNvSpPr/>
          <p:nvPr/>
        </p:nvSpPr>
        <p:spPr>
          <a:xfrm>
            <a:off x="1857329" y="4029075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8" name="Ellipse 98"/>
          <p:cNvSpPr/>
          <p:nvPr/>
        </p:nvSpPr>
        <p:spPr>
          <a:xfrm>
            <a:off x="2000200" y="4029075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9" name="Ellipse 99"/>
          <p:cNvSpPr/>
          <p:nvPr/>
        </p:nvSpPr>
        <p:spPr>
          <a:xfrm>
            <a:off x="2143071" y="4029075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" name="Ellipse 100"/>
          <p:cNvSpPr/>
          <p:nvPr/>
        </p:nvSpPr>
        <p:spPr>
          <a:xfrm>
            <a:off x="2428814" y="4029075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Ellipse 101"/>
          <p:cNvSpPr/>
          <p:nvPr/>
        </p:nvSpPr>
        <p:spPr>
          <a:xfrm>
            <a:off x="1714457" y="4467225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Ellipse 102"/>
          <p:cNvSpPr/>
          <p:nvPr/>
        </p:nvSpPr>
        <p:spPr>
          <a:xfrm>
            <a:off x="1857329" y="4467225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Ellipse 103"/>
          <p:cNvSpPr/>
          <p:nvPr/>
        </p:nvSpPr>
        <p:spPr>
          <a:xfrm>
            <a:off x="2000200" y="4467225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Ellipse 104"/>
          <p:cNvSpPr/>
          <p:nvPr/>
        </p:nvSpPr>
        <p:spPr>
          <a:xfrm>
            <a:off x="1714457" y="4610100"/>
            <a:ext cx="66673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Ellipse 105"/>
          <p:cNvSpPr/>
          <p:nvPr/>
        </p:nvSpPr>
        <p:spPr>
          <a:xfrm>
            <a:off x="1857329" y="461010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" name="Ellipse 106"/>
          <p:cNvSpPr/>
          <p:nvPr/>
        </p:nvSpPr>
        <p:spPr>
          <a:xfrm>
            <a:off x="2000200" y="461010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Ellipse 107"/>
          <p:cNvSpPr/>
          <p:nvPr/>
        </p:nvSpPr>
        <p:spPr>
          <a:xfrm>
            <a:off x="1714457" y="4895850"/>
            <a:ext cx="66673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" name="Ellipse 108"/>
          <p:cNvSpPr/>
          <p:nvPr/>
        </p:nvSpPr>
        <p:spPr>
          <a:xfrm>
            <a:off x="1857329" y="489585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" name="Ellipse 109"/>
          <p:cNvSpPr/>
          <p:nvPr/>
        </p:nvSpPr>
        <p:spPr>
          <a:xfrm>
            <a:off x="2000200" y="489585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" name="Ellipse 110"/>
          <p:cNvSpPr/>
          <p:nvPr/>
        </p:nvSpPr>
        <p:spPr>
          <a:xfrm>
            <a:off x="4295668" y="489585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" name="Ellipse 111"/>
          <p:cNvSpPr/>
          <p:nvPr/>
        </p:nvSpPr>
        <p:spPr>
          <a:xfrm>
            <a:off x="4438539" y="4895850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Ellipse 112"/>
          <p:cNvSpPr/>
          <p:nvPr/>
        </p:nvSpPr>
        <p:spPr>
          <a:xfrm>
            <a:off x="1714457" y="5038725"/>
            <a:ext cx="66673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" name="Ellipse 113"/>
          <p:cNvSpPr/>
          <p:nvPr/>
        </p:nvSpPr>
        <p:spPr>
          <a:xfrm>
            <a:off x="1857329" y="5038725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" name="Ellipse 114"/>
          <p:cNvSpPr/>
          <p:nvPr/>
        </p:nvSpPr>
        <p:spPr>
          <a:xfrm>
            <a:off x="2000200" y="5038725"/>
            <a:ext cx="76198" cy="76200"/>
          </a:xfrm>
          <a:prstGeom prst="ellipse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" name="Ellipse 115"/>
          <p:cNvSpPr/>
          <p:nvPr/>
        </p:nvSpPr>
        <p:spPr>
          <a:xfrm>
            <a:off x="2571686" y="3457575"/>
            <a:ext cx="76198" cy="7620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" name="Ellipse 116"/>
          <p:cNvSpPr/>
          <p:nvPr/>
        </p:nvSpPr>
        <p:spPr>
          <a:xfrm>
            <a:off x="2571686" y="3600450"/>
            <a:ext cx="76198" cy="7620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" name="Ellipse 117"/>
          <p:cNvSpPr/>
          <p:nvPr/>
        </p:nvSpPr>
        <p:spPr>
          <a:xfrm>
            <a:off x="2571686" y="3886200"/>
            <a:ext cx="76198" cy="7620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" name="Ellipse 118"/>
          <p:cNvSpPr/>
          <p:nvPr/>
        </p:nvSpPr>
        <p:spPr>
          <a:xfrm>
            <a:off x="2571686" y="4029075"/>
            <a:ext cx="76198" cy="7620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" name="Ellipse 119"/>
          <p:cNvSpPr/>
          <p:nvPr/>
        </p:nvSpPr>
        <p:spPr>
          <a:xfrm>
            <a:off x="2143071" y="4467225"/>
            <a:ext cx="76198" cy="7620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" name="Ellipse 120"/>
          <p:cNvSpPr/>
          <p:nvPr/>
        </p:nvSpPr>
        <p:spPr>
          <a:xfrm>
            <a:off x="4152796" y="4467225"/>
            <a:ext cx="76198" cy="7620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" name="Ellipse 121"/>
          <p:cNvSpPr/>
          <p:nvPr/>
        </p:nvSpPr>
        <p:spPr>
          <a:xfrm>
            <a:off x="4295668" y="4467225"/>
            <a:ext cx="76198" cy="7620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" name="Ellipse 122"/>
          <p:cNvSpPr/>
          <p:nvPr/>
        </p:nvSpPr>
        <p:spPr>
          <a:xfrm>
            <a:off x="4438539" y="4467225"/>
            <a:ext cx="76198" cy="7620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" name="Ellipse 123"/>
          <p:cNvSpPr/>
          <p:nvPr/>
        </p:nvSpPr>
        <p:spPr>
          <a:xfrm>
            <a:off x="4724282" y="4467225"/>
            <a:ext cx="76198" cy="7620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" name="Ellipse 124"/>
          <p:cNvSpPr/>
          <p:nvPr/>
        </p:nvSpPr>
        <p:spPr>
          <a:xfrm>
            <a:off x="2143071" y="4610100"/>
            <a:ext cx="76198" cy="7620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" name="Ellipse 125"/>
          <p:cNvSpPr/>
          <p:nvPr/>
        </p:nvSpPr>
        <p:spPr>
          <a:xfrm>
            <a:off x="4152796" y="4610100"/>
            <a:ext cx="76198" cy="7620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" name="Ellipse 126"/>
          <p:cNvSpPr/>
          <p:nvPr/>
        </p:nvSpPr>
        <p:spPr>
          <a:xfrm>
            <a:off x="4295668" y="4610100"/>
            <a:ext cx="76198" cy="7620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" name="Ellipse 127"/>
          <p:cNvSpPr/>
          <p:nvPr/>
        </p:nvSpPr>
        <p:spPr>
          <a:xfrm>
            <a:off x="4581410" y="4610100"/>
            <a:ext cx="76198" cy="7620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" name="Ellipse 128"/>
          <p:cNvSpPr/>
          <p:nvPr/>
        </p:nvSpPr>
        <p:spPr>
          <a:xfrm>
            <a:off x="4724282" y="4610100"/>
            <a:ext cx="76198" cy="7620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" name="Ellipse 129"/>
          <p:cNvSpPr/>
          <p:nvPr/>
        </p:nvSpPr>
        <p:spPr>
          <a:xfrm>
            <a:off x="2143071" y="4895850"/>
            <a:ext cx="76198" cy="7620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" name="Ellipse 130"/>
          <p:cNvSpPr/>
          <p:nvPr/>
        </p:nvSpPr>
        <p:spPr>
          <a:xfrm>
            <a:off x="2143071" y="5038725"/>
            <a:ext cx="76198" cy="76200"/>
          </a:xfrm>
          <a:prstGeom prst="ellipse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" name="Ellipse 131"/>
          <p:cNvSpPr/>
          <p:nvPr/>
        </p:nvSpPr>
        <p:spPr>
          <a:xfrm>
            <a:off x="2714557" y="3457575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" name="Ellipse 132"/>
          <p:cNvSpPr/>
          <p:nvPr/>
        </p:nvSpPr>
        <p:spPr>
          <a:xfrm>
            <a:off x="2857429" y="3457575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" name="Ellipse 133"/>
          <p:cNvSpPr/>
          <p:nvPr/>
        </p:nvSpPr>
        <p:spPr>
          <a:xfrm>
            <a:off x="3000300" y="3457575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" name="Ellipse 134"/>
          <p:cNvSpPr/>
          <p:nvPr/>
        </p:nvSpPr>
        <p:spPr>
          <a:xfrm>
            <a:off x="3438439" y="3457575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" name="Ellipse 135"/>
          <p:cNvSpPr/>
          <p:nvPr/>
        </p:nvSpPr>
        <p:spPr>
          <a:xfrm>
            <a:off x="2714557" y="360045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" name="Ellipse 136"/>
          <p:cNvSpPr/>
          <p:nvPr/>
        </p:nvSpPr>
        <p:spPr>
          <a:xfrm>
            <a:off x="2857429" y="360045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" name="Ellipse 137"/>
          <p:cNvSpPr/>
          <p:nvPr/>
        </p:nvSpPr>
        <p:spPr>
          <a:xfrm>
            <a:off x="3000300" y="360045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" name="Ellipse 138"/>
          <p:cNvSpPr/>
          <p:nvPr/>
        </p:nvSpPr>
        <p:spPr>
          <a:xfrm>
            <a:off x="3438439" y="360045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" name="Ellipse 139"/>
          <p:cNvSpPr/>
          <p:nvPr/>
        </p:nvSpPr>
        <p:spPr>
          <a:xfrm>
            <a:off x="2857429" y="388620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" name="Ellipse 140"/>
          <p:cNvSpPr/>
          <p:nvPr/>
        </p:nvSpPr>
        <p:spPr>
          <a:xfrm>
            <a:off x="3000300" y="388620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" name="Ellipse 141"/>
          <p:cNvSpPr/>
          <p:nvPr/>
        </p:nvSpPr>
        <p:spPr>
          <a:xfrm>
            <a:off x="3438439" y="388620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" name="Ellipse 142"/>
          <p:cNvSpPr/>
          <p:nvPr/>
        </p:nvSpPr>
        <p:spPr>
          <a:xfrm>
            <a:off x="2714557" y="4029075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" name="Ellipse 143"/>
          <p:cNvSpPr/>
          <p:nvPr/>
        </p:nvSpPr>
        <p:spPr>
          <a:xfrm>
            <a:off x="2857429" y="4029075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" name="Ellipse 144"/>
          <p:cNvSpPr/>
          <p:nvPr/>
        </p:nvSpPr>
        <p:spPr>
          <a:xfrm>
            <a:off x="3000300" y="4029075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" name="Ellipse 145"/>
          <p:cNvSpPr/>
          <p:nvPr/>
        </p:nvSpPr>
        <p:spPr>
          <a:xfrm>
            <a:off x="3438439" y="4029075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" name="Ellipse 146"/>
          <p:cNvSpPr/>
          <p:nvPr/>
        </p:nvSpPr>
        <p:spPr>
          <a:xfrm>
            <a:off x="2285943" y="4467225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" name="Ellipse 147"/>
          <p:cNvSpPr/>
          <p:nvPr/>
        </p:nvSpPr>
        <p:spPr>
          <a:xfrm>
            <a:off x="2428814" y="4467225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" name="Ellipse 148"/>
          <p:cNvSpPr/>
          <p:nvPr/>
        </p:nvSpPr>
        <p:spPr>
          <a:xfrm>
            <a:off x="2571686" y="4467225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" name="Ellipse 149"/>
          <p:cNvSpPr/>
          <p:nvPr/>
        </p:nvSpPr>
        <p:spPr>
          <a:xfrm>
            <a:off x="2714557" y="4467225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" name="Ellipse 150"/>
          <p:cNvSpPr/>
          <p:nvPr/>
        </p:nvSpPr>
        <p:spPr>
          <a:xfrm>
            <a:off x="2857429" y="4467225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1" name="Ellipse 151"/>
          <p:cNvSpPr/>
          <p:nvPr/>
        </p:nvSpPr>
        <p:spPr>
          <a:xfrm>
            <a:off x="3000300" y="4467225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" name="Ellipse 152"/>
          <p:cNvSpPr/>
          <p:nvPr/>
        </p:nvSpPr>
        <p:spPr>
          <a:xfrm>
            <a:off x="4581410" y="4467225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" name="Ellipse 153"/>
          <p:cNvSpPr/>
          <p:nvPr/>
        </p:nvSpPr>
        <p:spPr>
          <a:xfrm>
            <a:off x="2285943" y="461010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" name="Ellipse 154"/>
          <p:cNvSpPr/>
          <p:nvPr/>
        </p:nvSpPr>
        <p:spPr>
          <a:xfrm>
            <a:off x="2428814" y="461010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" name="Ellipse 155"/>
          <p:cNvSpPr/>
          <p:nvPr/>
        </p:nvSpPr>
        <p:spPr>
          <a:xfrm>
            <a:off x="2571686" y="461010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" name="Ellipse 156"/>
          <p:cNvSpPr/>
          <p:nvPr/>
        </p:nvSpPr>
        <p:spPr>
          <a:xfrm>
            <a:off x="2714557" y="461010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" name="Ellipse 157"/>
          <p:cNvSpPr/>
          <p:nvPr/>
        </p:nvSpPr>
        <p:spPr>
          <a:xfrm>
            <a:off x="2857429" y="461010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" name="Ellipse 158"/>
          <p:cNvSpPr/>
          <p:nvPr/>
        </p:nvSpPr>
        <p:spPr>
          <a:xfrm>
            <a:off x="3000300" y="461010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9" name="Ellipse 159"/>
          <p:cNvSpPr/>
          <p:nvPr/>
        </p:nvSpPr>
        <p:spPr>
          <a:xfrm>
            <a:off x="4438539" y="461010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0" name="Ellipse 160"/>
          <p:cNvSpPr/>
          <p:nvPr/>
        </p:nvSpPr>
        <p:spPr>
          <a:xfrm>
            <a:off x="2285943" y="489585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1" name="Ellipse 161"/>
          <p:cNvSpPr/>
          <p:nvPr/>
        </p:nvSpPr>
        <p:spPr>
          <a:xfrm>
            <a:off x="2571686" y="489585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2" name="Ellipse 162"/>
          <p:cNvSpPr/>
          <p:nvPr/>
        </p:nvSpPr>
        <p:spPr>
          <a:xfrm>
            <a:off x="2857429" y="489585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3" name="Ellipse 163"/>
          <p:cNvSpPr/>
          <p:nvPr/>
        </p:nvSpPr>
        <p:spPr>
          <a:xfrm>
            <a:off x="3000300" y="4895850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4" name="Ellipse 164"/>
          <p:cNvSpPr/>
          <p:nvPr/>
        </p:nvSpPr>
        <p:spPr>
          <a:xfrm>
            <a:off x="2285943" y="5038725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5" name="Ellipse 165"/>
          <p:cNvSpPr/>
          <p:nvPr/>
        </p:nvSpPr>
        <p:spPr>
          <a:xfrm>
            <a:off x="2571686" y="5038725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6" name="Ellipse 166"/>
          <p:cNvSpPr/>
          <p:nvPr/>
        </p:nvSpPr>
        <p:spPr>
          <a:xfrm>
            <a:off x="2714557" y="5038725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7" name="Ellipse 167"/>
          <p:cNvSpPr/>
          <p:nvPr/>
        </p:nvSpPr>
        <p:spPr>
          <a:xfrm>
            <a:off x="3000300" y="5038725"/>
            <a:ext cx="76198" cy="76200"/>
          </a:xfrm>
          <a:prstGeom prst="ellipse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8" name="Ellipse 168"/>
          <p:cNvSpPr/>
          <p:nvPr/>
        </p:nvSpPr>
        <p:spPr>
          <a:xfrm>
            <a:off x="3581310" y="3457575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9" name="Ellipse 169"/>
          <p:cNvSpPr/>
          <p:nvPr/>
        </p:nvSpPr>
        <p:spPr>
          <a:xfrm>
            <a:off x="3724182" y="3457575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0" name="Ellipse 170"/>
          <p:cNvSpPr/>
          <p:nvPr/>
        </p:nvSpPr>
        <p:spPr>
          <a:xfrm>
            <a:off x="3867053" y="3457575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1" name="Ellipse 171"/>
          <p:cNvSpPr/>
          <p:nvPr/>
        </p:nvSpPr>
        <p:spPr>
          <a:xfrm>
            <a:off x="4009925" y="3457575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2" name="Ellipse 172"/>
          <p:cNvSpPr/>
          <p:nvPr/>
        </p:nvSpPr>
        <p:spPr>
          <a:xfrm>
            <a:off x="4152796" y="3457575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3" name="Ellipse 173"/>
          <p:cNvSpPr/>
          <p:nvPr/>
        </p:nvSpPr>
        <p:spPr>
          <a:xfrm>
            <a:off x="4295668" y="3457575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4" name="Ellipse 174"/>
          <p:cNvSpPr/>
          <p:nvPr/>
        </p:nvSpPr>
        <p:spPr>
          <a:xfrm>
            <a:off x="3581310" y="360045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5" name="Ellipse 175"/>
          <p:cNvSpPr/>
          <p:nvPr/>
        </p:nvSpPr>
        <p:spPr>
          <a:xfrm>
            <a:off x="4009925" y="360045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6" name="Ellipse 176"/>
          <p:cNvSpPr/>
          <p:nvPr/>
        </p:nvSpPr>
        <p:spPr>
          <a:xfrm>
            <a:off x="3581310" y="388620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7" name="Ellipse 177"/>
          <p:cNvSpPr/>
          <p:nvPr/>
        </p:nvSpPr>
        <p:spPr>
          <a:xfrm>
            <a:off x="3724182" y="388620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8" name="Ellipse 178"/>
          <p:cNvSpPr/>
          <p:nvPr/>
        </p:nvSpPr>
        <p:spPr>
          <a:xfrm>
            <a:off x="3867053" y="388620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9" name="Ellipse 179"/>
          <p:cNvSpPr/>
          <p:nvPr/>
        </p:nvSpPr>
        <p:spPr>
          <a:xfrm>
            <a:off x="4152796" y="388620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80" name="Ellipse 180"/>
          <p:cNvSpPr/>
          <p:nvPr/>
        </p:nvSpPr>
        <p:spPr>
          <a:xfrm>
            <a:off x="4295668" y="388620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81" name="Ellipse 181"/>
          <p:cNvSpPr/>
          <p:nvPr/>
        </p:nvSpPr>
        <p:spPr>
          <a:xfrm>
            <a:off x="4581410" y="388620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82" name="Ellipse 182"/>
          <p:cNvSpPr/>
          <p:nvPr/>
        </p:nvSpPr>
        <p:spPr>
          <a:xfrm>
            <a:off x="4724282" y="388620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83" name="Ellipse 183"/>
          <p:cNvSpPr/>
          <p:nvPr/>
        </p:nvSpPr>
        <p:spPr>
          <a:xfrm>
            <a:off x="3581310" y="4029075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84" name="Ellipse 184"/>
          <p:cNvSpPr/>
          <p:nvPr/>
        </p:nvSpPr>
        <p:spPr>
          <a:xfrm>
            <a:off x="3724182" y="4029075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85" name="Ellipse 185"/>
          <p:cNvSpPr/>
          <p:nvPr/>
        </p:nvSpPr>
        <p:spPr>
          <a:xfrm>
            <a:off x="3867053" y="4029075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86" name="Ellipse 186"/>
          <p:cNvSpPr/>
          <p:nvPr/>
        </p:nvSpPr>
        <p:spPr>
          <a:xfrm>
            <a:off x="4152796" y="4029075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87" name="Ellipse 187"/>
          <p:cNvSpPr/>
          <p:nvPr/>
        </p:nvSpPr>
        <p:spPr>
          <a:xfrm>
            <a:off x="4295668" y="4029075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88" name="Ellipse 188"/>
          <p:cNvSpPr/>
          <p:nvPr/>
        </p:nvSpPr>
        <p:spPr>
          <a:xfrm>
            <a:off x="4438539" y="4029075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89" name="Ellipse 189"/>
          <p:cNvSpPr/>
          <p:nvPr/>
        </p:nvSpPr>
        <p:spPr>
          <a:xfrm>
            <a:off x="4581410" y="4029075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0" name="Ellipse 190"/>
          <p:cNvSpPr/>
          <p:nvPr/>
        </p:nvSpPr>
        <p:spPr>
          <a:xfrm>
            <a:off x="4724282" y="4029075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1" name="Ellipse 191"/>
          <p:cNvSpPr/>
          <p:nvPr/>
        </p:nvSpPr>
        <p:spPr>
          <a:xfrm>
            <a:off x="3438439" y="4467225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2" name="Ellipse 192"/>
          <p:cNvSpPr/>
          <p:nvPr/>
        </p:nvSpPr>
        <p:spPr>
          <a:xfrm>
            <a:off x="3581310" y="4467225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3" name="Ellipse 193"/>
          <p:cNvSpPr/>
          <p:nvPr/>
        </p:nvSpPr>
        <p:spPr>
          <a:xfrm>
            <a:off x="3724182" y="4467225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4" name="Ellipse 194"/>
          <p:cNvSpPr/>
          <p:nvPr/>
        </p:nvSpPr>
        <p:spPr>
          <a:xfrm>
            <a:off x="3867053" y="4467225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5" name="Ellipse 195"/>
          <p:cNvSpPr/>
          <p:nvPr/>
        </p:nvSpPr>
        <p:spPr>
          <a:xfrm>
            <a:off x="4009925" y="4467225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6" name="Ellipse 196"/>
          <p:cNvSpPr/>
          <p:nvPr/>
        </p:nvSpPr>
        <p:spPr>
          <a:xfrm>
            <a:off x="3438439" y="461010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7" name="Ellipse 197"/>
          <p:cNvSpPr/>
          <p:nvPr/>
        </p:nvSpPr>
        <p:spPr>
          <a:xfrm>
            <a:off x="3581310" y="461010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8" name="Ellipse 198"/>
          <p:cNvSpPr/>
          <p:nvPr/>
        </p:nvSpPr>
        <p:spPr>
          <a:xfrm>
            <a:off x="3867053" y="461010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9" name="Ellipse 199"/>
          <p:cNvSpPr/>
          <p:nvPr/>
        </p:nvSpPr>
        <p:spPr>
          <a:xfrm>
            <a:off x="4009925" y="461010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0" name="Ellipse 200"/>
          <p:cNvSpPr/>
          <p:nvPr/>
        </p:nvSpPr>
        <p:spPr>
          <a:xfrm>
            <a:off x="3438439" y="489585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Ellipse 201"/>
          <p:cNvSpPr/>
          <p:nvPr/>
        </p:nvSpPr>
        <p:spPr>
          <a:xfrm>
            <a:off x="3581310" y="489585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Ellipse 202"/>
          <p:cNvSpPr/>
          <p:nvPr/>
        </p:nvSpPr>
        <p:spPr>
          <a:xfrm>
            <a:off x="3724182" y="489585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Ellipse 203"/>
          <p:cNvSpPr/>
          <p:nvPr/>
        </p:nvSpPr>
        <p:spPr>
          <a:xfrm>
            <a:off x="3867053" y="489585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Ellipse 204"/>
          <p:cNvSpPr/>
          <p:nvPr/>
        </p:nvSpPr>
        <p:spPr>
          <a:xfrm>
            <a:off x="4009925" y="4895850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Ellipse 205"/>
          <p:cNvSpPr/>
          <p:nvPr/>
        </p:nvSpPr>
        <p:spPr>
          <a:xfrm>
            <a:off x="3438439" y="5038725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6" name="Ellipse 206"/>
          <p:cNvSpPr/>
          <p:nvPr/>
        </p:nvSpPr>
        <p:spPr>
          <a:xfrm>
            <a:off x="3581310" y="5038725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7" name="Ellipse 207"/>
          <p:cNvSpPr/>
          <p:nvPr/>
        </p:nvSpPr>
        <p:spPr>
          <a:xfrm>
            <a:off x="3867053" y="5038725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8" name="Ellipse 208"/>
          <p:cNvSpPr/>
          <p:nvPr/>
        </p:nvSpPr>
        <p:spPr>
          <a:xfrm>
            <a:off x="4009925" y="5038725"/>
            <a:ext cx="76198" cy="76200"/>
          </a:xfrm>
          <a:prstGeom prst="ellipse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9" name="Ellipse 209"/>
          <p:cNvSpPr/>
          <p:nvPr/>
        </p:nvSpPr>
        <p:spPr>
          <a:xfrm>
            <a:off x="4438539" y="3457575"/>
            <a:ext cx="76198" cy="7620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0" name="Ellipse 210"/>
          <p:cNvSpPr/>
          <p:nvPr/>
        </p:nvSpPr>
        <p:spPr>
          <a:xfrm>
            <a:off x="3724182" y="3600450"/>
            <a:ext cx="76198" cy="7620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1" name="Ellipse 211"/>
          <p:cNvSpPr/>
          <p:nvPr/>
        </p:nvSpPr>
        <p:spPr>
          <a:xfrm>
            <a:off x="3867053" y="3600450"/>
            <a:ext cx="76198" cy="7620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2" name="Ellipse 212"/>
          <p:cNvSpPr/>
          <p:nvPr/>
        </p:nvSpPr>
        <p:spPr>
          <a:xfrm>
            <a:off x="4152796" y="3600450"/>
            <a:ext cx="76198" cy="7620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3" name="Ellipse 213"/>
          <p:cNvSpPr/>
          <p:nvPr/>
        </p:nvSpPr>
        <p:spPr>
          <a:xfrm>
            <a:off x="4009925" y="3886200"/>
            <a:ext cx="76198" cy="7620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4" name="Ellipse 214"/>
          <p:cNvSpPr/>
          <p:nvPr/>
        </p:nvSpPr>
        <p:spPr>
          <a:xfrm>
            <a:off x="4438539" y="3886200"/>
            <a:ext cx="76198" cy="7620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5" name="Ellipse 215"/>
          <p:cNvSpPr/>
          <p:nvPr/>
        </p:nvSpPr>
        <p:spPr>
          <a:xfrm>
            <a:off x="4009925" y="4029075"/>
            <a:ext cx="76198" cy="7620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6" name="Ellipse 216"/>
          <p:cNvSpPr/>
          <p:nvPr/>
        </p:nvSpPr>
        <p:spPr>
          <a:xfrm>
            <a:off x="4152796" y="4895850"/>
            <a:ext cx="76198" cy="7620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7" name="Ellipse 217"/>
          <p:cNvSpPr/>
          <p:nvPr/>
        </p:nvSpPr>
        <p:spPr>
          <a:xfrm>
            <a:off x="4152796" y="5038725"/>
            <a:ext cx="76198" cy="7620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8" name="Ellipse 218"/>
          <p:cNvSpPr/>
          <p:nvPr/>
        </p:nvSpPr>
        <p:spPr>
          <a:xfrm>
            <a:off x="4295668" y="5038725"/>
            <a:ext cx="76198" cy="76200"/>
          </a:xfrm>
          <a:prstGeom prst="ellipse">
            <a:avLst/>
          </a:prstGeom>
          <a:solidFill>
            <a:srgbClr val="2DB8C6"/>
          </a:solidFill>
          <a:ln>
            <a:noFill/>
          </a:ln>
        </p:spPr>
        <p:txBody>
          <a:bodyPr/>
          <a:lstStyle/>
          <a:p/>
        </p:txBody>
      </p:sp>
      <p:sp>
        <p:nvSpPr>
          <p:cNvPr id="219" name="Ellipse 219"/>
          <p:cNvSpPr/>
          <p:nvPr/>
        </p:nvSpPr>
        <p:spPr>
          <a:xfrm>
            <a:off x="4438539" y="5038725"/>
            <a:ext cx="76198" cy="76200"/>
          </a:xfrm>
          <a:prstGeom prst="ellipse">
            <a:avLst/>
          </a:prstGeom>
          <a:solidFill>
            <a:srgbClr val="2DB8C6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" name="Rect 220"/>
          <p:cNvSpPr/>
          <p:nvPr/>
        </p:nvSpPr>
        <p:spPr>
          <a:xfrm>
            <a:off x="6819730" y="2895600"/>
            <a:ext cx="2476438" cy="114300"/>
          </a:xfrm>
          <a:prstGeom prst="rect">
            <a:avLst/>
          </a:prstGeom>
          <a:solidFill>
            <a:srgbClr val="E7EBE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" name="Rect 221"/>
          <p:cNvSpPr/>
          <p:nvPr/>
        </p:nvSpPr>
        <p:spPr>
          <a:xfrm>
            <a:off x="6819730" y="3238500"/>
            <a:ext cx="2476438" cy="114300"/>
          </a:xfrm>
          <a:prstGeom prst="rect">
            <a:avLst/>
          </a:prstGeom>
          <a:solidFill>
            <a:srgbClr val="E7EBE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" name="Rect 222"/>
          <p:cNvSpPr/>
          <p:nvPr/>
        </p:nvSpPr>
        <p:spPr>
          <a:xfrm>
            <a:off x="6819730" y="3581400"/>
            <a:ext cx="2476438" cy="114300"/>
          </a:xfrm>
          <a:prstGeom prst="rect">
            <a:avLst/>
          </a:prstGeom>
          <a:solidFill>
            <a:srgbClr val="E7EBE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" name="Rect 223"/>
          <p:cNvSpPr/>
          <p:nvPr/>
        </p:nvSpPr>
        <p:spPr>
          <a:xfrm>
            <a:off x="6819730" y="3924300"/>
            <a:ext cx="2476438" cy="114300"/>
          </a:xfrm>
          <a:prstGeom prst="rect">
            <a:avLst/>
          </a:prstGeom>
          <a:solidFill>
            <a:srgbClr val="E7EBE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4" name="Rect 224"/>
          <p:cNvSpPr/>
          <p:nvPr/>
        </p:nvSpPr>
        <p:spPr>
          <a:xfrm>
            <a:off x="6819730" y="4267200"/>
            <a:ext cx="2476438" cy="114300"/>
          </a:xfrm>
          <a:prstGeom prst="rect">
            <a:avLst/>
          </a:prstGeom>
          <a:solidFill>
            <a:srgbClr val="E7EBE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5" name="Rect 225"/>
          <p:cNvSpPr/>
          <p:nvPr/>
        </p:nvSpPr>
        <p:spPr>
          <a:xfrm>
            <a:off x="6819730" y="4610100"/>
            <a:ext cx="2476438" cy="114300"/>
          </a:xfrm>
          <a:prstGeom prst="rect">
            <a:avLst/>
          </a:prstGeom>
          <a:solidFill>
            <a:srgbClr val="E7EBE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6" name="Rect 226"/>
          <p:cNvSpPr/>
          <p:nvPr/>
        </p:nvSpPr>
        <p:spPr>
          <a:xfrm>
            <a:off x="6819730" y="4953000"/>
            <a:ext cx="2476438" cy="114300"/>
          </a:xfrm>
          <a:prstGeom prst="rect">
            <a:avLst/>
          </a:prstGeom>
          <a:solidFill>
            <a:srgbClr val="E7EBE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7" name="Rect 227"/>
          <p:cNvSpPr/>
          <p:nvPr/>
        </p:nvSpPr>
        <p:spPr>
          <a:xfrm>
            <a:off x="6819730" y="5295900"/>
            <a:ext cx="2476438" cy="114300"/>
          </a:xfrm>
          <a:prstGeom prst="rect">
            <a:avLst/>
          </a:prstGeom>
          <a:solidFill>
            <a:srgbClr val="E7EBE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8" name="Rect 228"/>
          <p:cNvSpPr/>
          <p:nvPr/>
        </p:nvSpPr>
        <p:spPr>
          <a:xfrm>
            <a:off x="6819730" y="5638800"/>
            <a:ext cx="2476438" cy="114300"/>
          </a:xfrm>
          <a:prstGeom prst="rect">
            <a:avLst/>
          </a:prstGeom>
          <a:solidFill>
            <a:srgbClr val="E7EBE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9" name="Rect 229"/>
          <p:cNvSpPr/>
          <p:nvPr/>
        </p:nvSpPr>
        <p:spPr>
          <a:xfrm>
            <a:off x="6819730" y="5981700"/>
            <a:ext cx="2476438" cy="114300"/>
          </a:xfrm>
          <a:prstGeom prst="rect">
            <a:avLst/>
          </a:prstGeom>
          <a:solidFill>
            <a:srgbClr val="E7EBEF"/>
          </a:solidFill>
          <a:ln>
            <a:noFill/>
          </a:ln>
        </p:spPr>
        <p:txBody>
          <a:bodyPr/>
          <a:lstStyle/>
          <a:p/>
        </p:txBody>
      </p:sp>
      <p:sp>
        <p:nvSpPr>
          <p:cNvPr id="230" name="Rect 230"/>
          <p:cNvSpPr/>
          <p:nvPr/>
        </p:nvSpPr>
        <p:spPr>
          <a:xfrm>
            <a:off x="6819730" y="6324600"/>
            <a:ext cx="2476438" cy="114300"/>
          </a:xfrm>
          <a:prstGeom prst="rect">
            <a:avLst/>
          </a:prstGeom>
          <a:solidFill>
            <a:srgbClr val="E7EBEF"/>
          </a:solidFill>
          <a:ln>
            <a:noFill/>
          </a:ln>
        </p:spPr>
        <p:txBody>
          <a:bodyPr/>
          <a:lstStyle/>
          <a:p/>
        </p:txBody>
      </p:sp>
      <p:sp>
        <p:nvSpPr>
          <p:cNvPr id="231" name="Rect 231"/>
          <p:cNvSpPr/>
          <p:nvPr/>
        </p:nvSpPr>
        <p:spPr>
          <a:xfrm>
            <a:off x="6819730" y="6667500"/>
            <a:ext cx="2476438" cy="114300"/>
          </a:xfrm>
          <a:prstGeom prst="rect">
            <a:avLst/>
          </a:prstGeom>
          <a:solidFill>
            <a:srgbClr val="E7EBEF"/>
          </a:solidFill>
          <a:ln>
            <a:noFill/>
          </a:ln>
        </p:spPr>
        <p:txBody>
          <a:bodyPr/>
          <a:lstStyle/>
          <a:p/>
        </p:txBody>
      </p:sp>
      <p:sp>
        <p:nvSpPr>
          <p:cNvPr id="232" name="Rect 232"/>
          <p:cNvSpPr/>
          <p:nvPr/>
        </p:nvSpPr>
        <p:spPr>
          <a:xfrm>
            <a:off x="6819730" y="2895600"/>
            <a:ext cx="151443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33" name="Rect 233"/>
          <p:cNvSpPr/>
          <p:nvPr/>
        </p:nvSpPr>
        <p:spPr>
          <a:xfrm>
            <a:off x="6819730" y="3238500"/>
            <a:ext cx="561961" cy="114300"/>
          </a:xfrm>
          <a:prstGeom prst="rect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4" name="Rect 234"/>
          <p:cNvSpPr/>
          <p:nvPr/>
        </p:nvSpPr>
        <p:spPr>
          <a:xfrm>
            <a:off x="6819730" y="3581400"/>
            <a:ext cx="2476438" cy="114300"/>
          </a:xfrm>
          <a:prstGeom prst="rect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5" name="Rect 235"/>
          <p:cNvSpPr/>
          <p:nvPr/>
        </p:nvSpPr>
        <p:spPr>
          <a:xfrm>
            <a:off x="6819730" y="3924300"/>
            <a:ext cx="1142971" cy="114300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36" name="Rect 236"/>
          <p:cNvSpPr/>
          <p:nvPr/>
        </p:nvSpPr>
        <p:spPr>
          <a:xfrm>
            <a:off x="6819730" y="4267200"/>
            <a:ext cx="542911" cy="1143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37" name="Rect 237"/>
          <p:cNvSpPr/>
          <p:nvPr/>
        </p:nvSpPr>
        <p:spPr>
          <a:xfrm>
            <a:off x="6819730" y="4610100"/>
            <a:ext cx="542911" cy="114300"/>
          </a:xfrm>
          <a:prstGeom prst="rect">
            <a:avLst/>
          </a:prstGeom>
          <a:solidFill>
            <a:srgbClr val="2DB8C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8" name="Rect 238"/>
          <p:cNvSpPr/>
          <p:nvPr/>
        </p:nvSpPr>
        <p:spPr>
          <a:xfrm>
            <a:off x="6819730" y="4953000"/>
            <a:ext cx="542911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39" name="Rect 239"/>
          <p:cNvSpPr/>
          <p:nvPr/>
        </p:nvSpPr>
        <p:spPr>
          <a:xfrm>
            <a:off x="6819730" y="5295900"/>
            <a:ext cx="542911" cy="114300"/>
          </a:xfrm>
          <a:prstGeom prst="rect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240" name="Rect 240"/>
          <p:cNvSpPr/>
          <p:nvPr/>
        </p:nvSpPr>
        <p:spPr>
          <a:xfrm>
            <a:off x="6819730" y="5638800"/>
            <a:ext cx="542911" cy="114300"/>
          </a:xfrm>
          <a:prstGeom prst="rect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241" name="Rect 241"/>
          <p:cNvSpPr/>
          <p:nvPr/>
        </p:nvSpPr>
        <p:spPr>
          <a:xfrm>
            <a:off x="6819730" y="5981700"/>
            <a:ext cx="542911" cy="114300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2" name="Rect 242"/>
          <p:cNvSpPr/>
          <p:nvPr/>
        </p:nvSpPr>
        <p:spPr>
          <a:xfrm>
            <a:off x="6819730" y="6324600"/>
            <a:ext cx="542911" cy="1143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43" name="Rect 243"/>
          <p:cNvSpPr/>
          <p:nvPr/>
        </p:nvSpPr>
        <p:spPr>
          <a:xfrm>
            <a:off x="6819730" y="6667500"/>
            <a:ext cx="542911" cy="114300"/>
          </a:xfrm>
          <a:prstGeom prst="rect">
            <a:avLst/>
          </a:prstGeom>
          <a:solidFill>
            <a:srgbClr val="2DB8C6"/>
          </a:solidFill>
          <a:ln>
            <a:noFill/>
          </a:ln>
        </p:spPr>
        <p:txBody>
          <a:bodyPr/>
          <a:lstStyle/>
          <a:p/>
        </p:txBody>
      </p:sp>
      <p:sp>
        <p:nvSpPr>
          <p:cNvPr id="244" name="Rect 244"/>
          <p:cNvSpPr/>
          <p:nvPr/>
        </p:nvSpPr>
        <p:spPr>
          <a:xfrm>
            <a:off x="685783" y="571500"/>
            <a:ext cx="66673" cy="66675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txBody>
          <a:bodyPr/>
          <a:lstStyle/>
          <a:p/>
        </p:txBody>
      </p:sp>
      <p:sp>
        <p:nvSpPr>
          <p:cNvPr id="245" name="TextBox 245"/>
          <p:cNvSpPr txBox="1"/>
          <p:nvPr/>
        </p:nvSpPr>
        <p:spPr>
          <a:xfrm>
            <a:off x="857229" y="542925"/>
            <a:ext cx="1714457" cy="1524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40" b="1">
                <a:solidFill>
                  <a:srgbClr val="4E5B67"/>
                </a:solidFill>
                <a:latin typeface="PingFang SC"/>
                <a:ea typeface="PingFang SC"/>
                <a:cs typeface="PingFang SC"/>
              </a:rPr>
              <a:t>TASK 2 · RESULT</a:t>
            </a:r>
            <a:endParaRPr lang="zh-CN" sz="840"/>
          </a:p>
        </p:txBody>
      </p:sp>
      <p:sp>
        <p:nvSpPr>
          <p:cNvPr id="246" name="TextBox 246"/>
          <p:cNvSpPr txBox="1"/>
          <p:nvPr/>
        </p:nvSpPr>
        <p:spPr>
          <a:xfrm>
            <a:off x="685783" y="876300"/>
            <a:ext cx="8286543" cy="5334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72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任务 2 的结果显示每个工位获得了多少服务货量。</a:t>
            </a:r>
            <a:endParaRPr lang="zh-CN" sz="2720"/>
          </a:p>
        </p:txBody>
      </p:sp>
      <p:sp>
        <p:nvSpPr>
          <p:cNvPr id="247" name="TextBox 247"/>
          <p:cNvSpPr txBox="1"/>
          <p:nvPr/>
        </p:nvSpPr>
        <p:spPr>
          <a:xfrm>
            <a:off x="704832" y="1914525"/>
            <a:ext cx="8000800" cy="2476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4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可视化时，同色托盘点表示它们主要归同一个工位服务；右侧柱状图展示工位负载。</a:t>
            </a:r>
            <a:endParaRPr lang="zh-CN" sz="1140"/>
          </a:p>
        </p:txBody>
      </p:sp>
      <p:sp>
        <p:nvSpPr>
          <p:cNvPr id="248" name="TextBox 248"/>
          <p:cNvSpPr txBox="1"/>
          <p:nvPr/>
        </p:nvSpPr>
        <p:spPr>
          <a:xfrm>
            <a:off x="6362541" y="2876550"/>
            <a:ext cx="400040" cy="1619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80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W0</a:t>
            </a:r>
            <a:endParaRPr lang="zh-CN" sz="880"/>
          </a:p>
        </p:txBody>
      </p:sp>
      <p:sp>
        <p:nvSpPr>
          <p:cNvPr id="249" name="TextBox 249"/>
          <p:cNvSpPr txBox="1"/>
          <p:nvPr/>
        </p:nvSpPr>
        <p:spPr>
          <a:xfrm>
            <a:off x="9858129" y="2867025"/>
            <a:ext cx="495288" cy="1428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8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776</a:t>
            </a:r>
            <a:endParaRPr lang="zh-CN" sz="680"/>
          </a:p>
        </p:txBody>
      </p:sp>
      <p:sp>
        <p:nvSpPr>
          <p:cNvPr id="250" name="TextBox 250"/>
          <p:cNvSpPr txBox="1"/>
          <p:nvPr/>
        </p:nvSpPr>
        <p:spPr>
          <a:xfrm>
            <a:off x="6362541" y="3219450"/>
            <a:ext cx="400040" cy="1619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80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W1</a:t>
            </a:r>
            <a:endParaRPr lang="zh-CN" sz="880"/>
          </a:p>
        </p:txBody>
      </p:sp>
      <p:sp>
        <p:nvSpPr>
          <p:cNvPr id="251" name="TextBox 251"/>
          <p:cNvSpPr txBox="1"/>
          <p:nvPr/>
        </p:nvSpPr>
        <p:spPr>
          <a:xfrm>
            <a:off x="9858129" y="3209925"/>
            <a:ext cx="495288" cy="1428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8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289</a:t>
            </a:r>
            <a:endParaRPr lang="zh-CN" sz="680"/>
          </a:p>
        </p:txBody>
      </p:sp>
      <p:sp>
        <p:nvSpPr>
          <p:cNvPr id="252" name="TextBox 252"/>
          <p:cNvSpPr txBox="1"/>
          <p:nvPr/>
        </p:nvSpPr>
        <p:spPr>
          <a:xfrm>
            <a:off x="6362541" y="3562350"/>
            <a:ext cx="400040" cy="1619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80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W2</a:t>
            </a:r>
            <a:endParaRPr lang="zh-CN" sz="880"/>
          </a:p>
        </p:txBody>
      </p:sp>
      <p:sp>
        <p:nvSpPr>
          <p:cNvPr id="253" name="TextBox 253"/>
          <p:cNvSpPr txBox="1"/>
          <p:nvPr/>
        </p:nvSpPr>
        <p:spPr>
          <a:xfrm>
            <a:off x="9858129" y="3552825"/>
            <a:ext cx="495288" cy="1428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8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1268</a:t>
            </a:r>
            <a:endParaRPr lang="zh-CN" sz="680"/>
          </a:p>
        </p:txBody>
      </p:sp>
      <p:sp>
        <p:nvSpPr>
          <p:cNvPr id="254" name="TextBox 254"/>
          <p:cNvSpPr txBox="1"/>
          <p:nvPr/>
        </p:nvSpPr>
        <p:spPr>
          <a:xfrm>
            <a:off x="6362541" y="3905250"/>
            <a:ext cx="400040" cy="1619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80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W3</a:t>
            </a:r>
            <a:endParaRPr lang="zh-CN" sz="880"/>
          </a:p>
        </p:txBody>
      </p:sp>
      <p:sp>
        <p:nvSpPr>
          <p:cNvPr id="255" name="TextBox 255"/>
          <p:cNvSpPr txBox="1"/>
          <p:nvPr/>
        </p:nvSpPr>
        <p:spPr>
          <a:xfrm>
            <a:off x="9858129" y="3895725"/>
            <a:ext cx="495288" cy="1428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8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590</a:t>
            </a:r>
            <a:endParaRPr lang="zh-CN" sz="680"/>
          </a:p>
        </p:txBody>
      </p:sp>
      <p:sp>
        <p:nvSpPr>
          <p:cNvPr id="256" name="TextBox 256"/>
          <p:cNvSpPr txBox="1"/>
          <p:nvPr/>
        </p:nvSpPr>
        <p:spPr>
          <a:xfrm>
            <a:off x="6362541" y="4248150"/>
            <a:ext cx="400040" cy="1619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80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W4</a:t>
            </a:r>
            <a:endParaRPr lang="zh-CN" sz="880"/>
          </a:p>
        </p:txBody>
      </p:sp>
      <p:sp>
        <p:nvSpPr>
          <p:cNvPr id="257" name="TextBox 257"/>
          <p:cNvSpPr txBox="1"/>
          <p:nvPr/>
        </p:nvSpPr>
        <p:spPr>
          <a:xfrm>
            <a:off x="9858129" y="4238625"/>
            <a:ext cx="495288" cy="1428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8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283</a:t>
            </a:r>
            <a:endParaRPr lang="zh-CN" sz="680"/>
          </a:p>
        </p:txBody>
      </p:sp>
      <p:sp>
        <p:nvSpPr>
          <p:cNvPr id="258" name="TextBox 258"/>
          <p:cNvSpPr txBox="1"/>
          <p:nvPr/>
        </p:nvSpPr>
        <p:spPr>
          <a:xfrm>
            <a:off x="6362541" y="4591050"/>
            <a:ext cx="400040" cy="1619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80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W5</a:t>
            </a:r>
            <a:endParaRPr lang="zh-CN" sz="880"/>
          </a:p>
        </p:txBody>
      </p:sp>
      <p:sp>
        <p:nvSpPr>
          <p:cNvPr id="259" name="TextBox 259"/>
          <p:cNvSpPr txBox="1"/>
          <p:nvPr/>
        </p:nvSpPr>
        <p:spPr>
          <a:xfrm>
            <a:off x="9858129" y="4581525"/>
            <a:ext cx="495288" cy="1428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8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283</a:t>
            </a:r>
            <a:endParaRPr lang="zh-CN" sz="680"/>
          </a:p>
        </p:txBody>
      </p:sp>
      <p:sp>
        <p:nvSpPr>
          <p:cNvPr id="260" name="TextBox 260"/>
          <p:cNvSpPr txBox="1"/>
          <p:nvPr/>
        </p:nvSpPr>
        <p:spPr>
          <a:xfrm>
            <a:off x="6362541" y="4933950"/>
            <a:ext cx="400040" cy="1619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80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W6</a:t>
            </a:r>
            <a:endParaRPr lang="zh-CN" sz="880"/>
          </a:p>
        </p:txBody>
      </p:sp>
      <p:sp>
        <p:nvSpPr>
          <p:cNvPr id="261" name="TextBox 261"/>
          <p:cNvSpPr txBox="1"/>
          <p:nvPr/>
        </p:nvSpPr>
        <p:spPr>
          <a:xfrm>
            <a:off x="9858129" y="4924425"/>
            <a:ext cx="495288" cy="1428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8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283</a:t>
            </a:r>
            <a:endParaRPr lang="zh-CN" sz="680"/>
          </a:p>
        </p:txBody>
      </p:sp>
      <p:sp>
        <p:nvSpPr>
          <p:cNvPr id="262" name="TextBox 262"/>
          <p:cNvSpPr txBox="1"/>
          <p:nvPr/>
        </p:nvSpPr>
        <p:spPr>
          <a:xfrm>
            <a:off x="6362541" y="5276850"/>
            <a:ext cx="400040" cy="1619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80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W7</a:t>
            </a:r>
            <a:endParaRPr lang="zh-CN" sz="880"/>
          </a:p>
        </p:txBody>
      </p:sp>
      <p:sp>
        <p:nvSpPr>
          <p:cNvPr id="263" name="TextBox 263"/>
          <p:cNvSpPr txBox="1"/>
          <p:nvPr/>
        </p:nvSpPr>
        <p:spPr>
          <a:xfrm>
            <a:off x="9858129" y="5267325"/>
            <a:ext cx="495288" cy="1428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8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283</a:t>
            </a:r>
            <a:endParaRPr lang="zh-CN" sz="680"/>
          </a:p>
        </p:txBody>
      </p:sp>
      <p:sp>
        <p:nvSpPr>
          <p:cNvPr id="264" name="TextBox 264"/>
          <p:cNvSpPr txBox="1"/>
          <p:nvPr/>
        </p:nvSpPr>
        <p:spPr>
          <a:xfrm>
            <a:off x="6362541" y="5619750"/>
            <a:ext cx="400040" cy="1619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80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W8</a:t>
            </a:r>
            <a:endParaRPr lang="zh-CN" sz="880"/>
          </a:p>
        </p:txBody>
      </p:sp>
      <p:sp>
        <p:nvSpPr>
          <p:cNvPr id="265" name="TextBox 265"/>
          <p:cNvSpPr txBox="1"/>
          <p:nvPr/>
        </p:nvSpPr>
        <p:spPr>
          <a:xfrm>
            <a:off x="9858129" y="5610225"/>
            <a:ext cx="495288" cy="1428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8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283</a:t>
            </a:r>
            <a:endParaRPr lang="zh-CN" sz="680"/>
          </a:p>
        </p:txBody>
      </p:sp>
      <p:sp>
        <p:nvSpPr>
          <p:cNvPr id="266" name="TextBox 266"/>
          <p:cNvSpPr txBox="1"/>
          <p:nvPr/>
        </p:nvSpPr>
        <p:spPr>
          <a:xfrm>
            <a:off x="6362541" y="5962650"/>
            <a:ext cx="400040" cy="1619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80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W9</a:t>
            </a:r>
            <a:endParaRPr lang="zh-CN" sz="880"/>
          </a:p>
        </p:txBody>
      </p:sp>
      <p:sp>
        <p:nvSpPr>
          <p:cNvPr id="267" name="TextBox 267"/>
          <p:cNvSpPr txBox="1"/>
          <p:nvPr/>
        </p:nvSpPr>
        <p:spPr>
          <a:xfrm>
            <a:off x="9858129" y="5953125"/>
            <a:ext cx="495288" cy="1428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8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283</a:t>
            </a:r>
            <a:endParaRPr lang="zh-CN" sz="680"/>
          </a:p>
        </p:txBody>
      </p:sp>
      <p:sp>
        <p:nvSpPr>
          <p:cNvPr id="268" name="TextBox 268"/>
          <p:cNvSpPr txBox="1"/>
          <p:nvPr/>
        </p:nvSpPr>
        <p:spPr>
          <a:xfrm>
            <a:off x="6362541" y="6305550"/>
            <a:ext cx="400040" cy="1619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80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W10</a:t>
            </a:r>
            <a:endParaRPr lang="zh-CN" sz="880"/>
          </a:p>
        </p:txBody>
      </p:sp>
      <p:sp>
        <p:nvSpPr>
          <p:cNvPr id="269" name="TextBox 269"/>
          <p:cNvSpPr txBox="1"/>
          <p:nvPr/>
        </p:nvSpPr>
        <p:spPr>
          <a:xfrm>
            <a:off x="9858129" y="6296025"/>
            <a:ext cx="495288" cy="1428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8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283</a:t>
            </a:r>
            <a:endParaRPr lang="zh-CN" sz="680"/>
          </a:p>
        </p:txBody>
      </p:sp>
      <p:sp>
        <p:nvSpPr>
          <p:cNvPr id="270" name="TextBox 270"/>
          <p:cNvSpPr txBox="1"/>
          <p:nvPr/>
        </p:nvSpPr>
        <p:spPr>
          <a:xfrm>
            <a:off x="6362541" y="6648450"/>
            <a:ext cx="400040" cy="1619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80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W11</a:t>
            </a:r>
            <a:endParaRPr lang="zh-CN" sz="880"/>
          </a:p>
        </p:txBody>
      </p:sp>
      <p:sp>
        <p:nvSpPr>
          <p:cNvPr id="271" name="TextBox 271"/>
          <p:cNvSpPr txBox="1"/>
          <p:nvPr/>
        </p:nvSpPr>
        <p:spPr>
          <a:xfrm>
            <a:off x="9858129" y="6638925"/>
            <a:ext cx="495288" cy="1428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8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283</a:t>
            </a:r>
            <a:endParaRPr lang="zh-CN" sz="680"/>
          </a:p>
        </p:txBody>
      </p:sp>
      <p:sp>
        <p:nvSpPr>
          <p:cNvPr id="272" name="TextBox 272"/>
          <p:cNvSpPr txBox="1"/>
          <p:nvPr/>
        </p:nvSpPr>
        <p:spPr>
          <a:xfrm>
            <a:off x="685783" y="6448425"/>
            <a:ext cx="3428914" cy="1333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5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AGV 仓储优化课程项目 · 本地 CSV 数据 · Python 自实现算法</a:t>
            </a:r>
            <a:endParaRPr lang="zh-CN" sz="650"/>
          </a:p>
        </p:txBody>
      </p:sp>
      <p:sp>
        <p:nvSpPr>
          <p:cNvPr id="273" name="TextBox 273"/>
          <p:cNvSpPr txBox="1"/>
          <p:nvPr/>
        </p:nvSpPr>
        <p:spPr>
          <a:xfrm>
            <a:off x="11401140" y="6438900"/>
            <a:ext cx="228594" cy="1333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8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15</a:t>
            </a:r>
            <a:endParaRPr lang="zh-CN" sz="780"/>
          </a:p>
        </p:txBody>
      </p:sp>
      <p:sp>
        <p:nvSpPr>
          <p:cNvPr id="274" name="TextBox 274"/>
          <p:cNvSpPr txBox="1"/>
          <p:nvPr/>
        </p:nvSpPr>
        <p:spPr>
          <a:xfrm>
            <a:off x="9162821" y="2962275"/>
            <a:ext cx="1142971" cy="4095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720" b="1">
                <a:solidFill>
                  <a:srgbClr val="35A66A"/>
                </a:solidFill>
                <a:latin typeface="PingFang SC"/>
                <a:ea typeface="PingFang SC"/>
                <a:cs typeface="PingFang SC"/>
              </a:rPr>
              <a:t>79350</a:t>
            </a:r>
            <a:endParaRPr lang="zh-CN" sz="2720"/>
          </a:p>
        </p:txBody>
      </p:sp>
      <p:sp>
        <p:nvSpPr>
          <p:cNvPr id="275" name="TextBox 275"/>
          <p:cNvSpPr txBox="1"/>
          <p:nvPr/>
        </p:nvSpPr>
        <p:spPr>
          <a:xfrm>
            <a:off x="9172346" y="3390900"/>
            <a:ext cx="1000100" cy="1619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0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加权距离目标</a:t>
            </a:r>
            <a:endParaRPr lang="zh-CN" sz="900"/>
          </a:p>
        </p:txBody>
      </p:sp>
      <p:sp>
        <p:nvSpPr>
          <p:cNvPr id="276" name="TextBox 276"/>
          <p:cNvSpPr txBox="1"/>
          <p:nvPr/>
        </p:nvSpPr>
        <p:spPr>
          <a:xfrm>
            <a:off x="9172346" y="3638550"/>
            <a:ext cx="952476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8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货量 × 距离</a:t>
            </a:r>
            <a:endParaRPr lang="zh-CN" sz="680"/>
          </a:p>
        </p:txBody>
      </p:sp>
      <p:sp>
        <p:nvSpPr>
          <p:cNvPr id="277" name="TextBox 277"/>
          <p:cNvSpPr txBox="1"/>
          <p:nvPr/>
        </p:nvSpPr>
        <p:spPr>
          <a:xfrm>
            <a:off x="9172346" y="4143375"/>
            <a:ext cx="552436" cy="4095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720" b="1">
                <a:solidFill>
                  <a:srgbClr val="2276FF"/>
                </a:solidFill>
                <a:latin typeface="PingFang SC"/>
                <a:ea typeface="PingFang SC"/>
                <a:cs typeface="PingFang SC"/>
              </a:rPr>
              <a:t>21</a:t>
            </a:r>
            <a:endParaRPr lang="zh-CN" sz="2720"/>
          </a:p>
        </p:txBody>
      </p:sp>
      <p:sp>
        <p:nvSpPr>
          <p:cNvPr id="278" name="TextBox 278"/>
          <p:cNvSpPr txBox="1"/>
          <p:nvPr/>
        </p:nvSpPr>
        <p:spPr>
          <a:xfrm>
            <a:off x="9172346" y="4552950"/>
            <a:ext cx="857229" cy="1619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0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迭代次数</a:t>
            </a:r>
            <a:endParaRPr lang="zh-CN" sz="900"/>
          </a:p>
        </p:txBody>
      </p:sp>
      <p:sp>
        <p:nvSpPr>
          <p:cNvPr id="279" name="TextBox 279"/>
          <p:cNvSpPr txBox="1"/>
          <p:nvPr/>
        </p:nvSpPr>
        <p:spPr>
          <a:xfrm>
            <a:off x="9172346" y="4791075"/>
            <a:ext cx="838179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8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耗时 0.058s</a:t>
            </a:r>
            <a:endParaRPr lang="zh-CN" sz="680"/>
          </a:p>
        </p:txBody>
      </p:sp>
      <p:sp>
        <p:nvSpPr>
          <p:cNvPr id="280" name="TextBox 280"/>
          <p:cNvSpPr txBox="1"/>
          <p:nvPr/>
        </p:nvSpPr>
        <p:spPr>
          <a:xfrm>
            <a:off x="6362541" y="5057775"/>
            <a:ext cx="1952576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6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最小负载 283 · 最大负载 1268</a:t>
            </a:r>
            <a:endParaRPr lang="zh-CN" sz="66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685783" y="628650"/>
            <a:ext cx="66673" cy="666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685783" y="6248400"/>
            <a:ext cx="2857429" cy="9525"/>
          </a:xfrm>
          <a:prstGeom prst="rect">
            <a:avLst/>
          </a:prstGeom>
          <a:solidFill>
            <a:srgbClr val="334050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866753" y="3095625"/>
            <a:ext cx="4781430" cy="895350"/>
          </a:xfrm>
          <a:prstGeom prst="rect">
            <a:avLst/>
          </a:prstGeom>
          <a:solidFill>
            <a:srgbClr val="151B22"/>
          </a:solidFill>
          <a:ln w="12700">
            <a:solidFill>
              <a:srgbClr val="1F262F"/>
            </a:solidFill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866753" y="4295775"/>
            <a:ext cx="4781430" cy="895350"/>
          </a:xfrm>
          <a:prstGeom prst="rect">
            <a:avLst/>
          </a:prstGeom>
          <a:solidFill>
            <a:srgbClr val="151B22"/>
          </a:solidFill>
          <a:ln w="12700">
            <a:solidFill>
              <a:srgbClr val="1F262F"/>
            </a:solidFill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876278" y="3105150"/>
            <a:ext cx="47624" cy="876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876278" y="4305300"/>
            <a:ext cx="47624" cy="876300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7429314" y="2724150"/>
            <a:ext cx="3238419" cy="2400300"/>
          </a:xfrm>
          <a:prstGeom prst="rect">
            <a:avLst/>
          </a:prstGeom>
          <a:solidFill>
            <a:srgbClr val="101418"/>
          </a:solidFill>
          <a:ln w="12700">
            <a:solidFill>
              <a:srgbClr val="26313E"/>
            </a:solidFill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7438839" y="2733675"/>
            <a:ext cx="3219370" cy="2381250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7476938" y="2809875"/>
            <a:ext cx="3143171" cy="2190750"/>
          </a:xfrm>
          <a:prstGeom prst="rect">
            <a:avLst/>
          </a:prstGeom>
          <a:solidFill>
            <a:srgbClr val="18212B"/>
          </a:solidFill>
          <a:ln w="12700">
            <a:solidFill>
              <a:srgbClr val="25303A"/>
            </a:solidFill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7524562" y="2867025"/>
            <a:ext cx="3038399" cy="2085975"/>
          </a:xfrm>
          <a:prstGeom prst="rect">
            <a:avLst/>
          </a:prstGeom>
          <a:solidFill>
            <a:srgbClr val="2B3644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7610285" y="2867025"/>
            <a:ext cx="9525" cy="208597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7705532" y="2867025"/>
            <a:ext cx="9525" cy="208597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7800780" y="2867025"/>
            <a:ext cx="9525" cy="208597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7896028" y="2867025"/>
            <a:ext cx="9525" cy="208597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7991275" y="2867025"/>
            <a:ext cx="9525" cy="208597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8086523" y="2867025"/>
            <a:ext cx="9525" cy="208597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8181770" y="2867025"/>
            <a:ext cx="9525" cy="208597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8277018" y="2867025"/>
            <a:ext cx="9525" cy="208597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8372266" y="2867025"/>
            <a:ext cx="9525" cy="208597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8467513" y="2867025"/>
            <a:ext cx="9525" cy="208597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8562761" y="2867025"/>
            <a:ext cx="9525" cy="208597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8658009" y="2867025"/>
            <a:ext cx="9525" cy="208597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8753256" y="2867025"/>
            <a:ext cx="9525" cy="208597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8848504" y="2867025"/>
            <a:ext cx="9525" cy="208597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Rect 26"/>
          <p:cNvSpPr/>
          <p:nvPr/>
        </p:nvSpPr>
        <p:spPr>
          <a:xfrm>
            <a:off x="8943751" y="2867025"/>
            <a:ext cx="9525" cy="208597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Rect 27"/>
          <p:cNvSpPr/>
          <p:nvPr/>
        </p:nvSpPr>
        <p:spPr>
          <a:xfrm>
            <a:off x="9038999" y="2867025"/>
            <a:ext cx="9525" cy="208597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9134247" y="2867025"/>
            <a:ext cx="9525" cy="208597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ect 29"/>
          <p:cNvSpPr/>
          <p:nvPr/>
        </p:nvSpPr>
        <p:spPr>
          <a:xfrm>
            <a:off x="9229494" y="2867025"/>
            <a:ext cx="9525" cy="208597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ect 30"/>
          <p:cNvSpPr/>
          <p:nvPr/>
        </p:nvSpPr>
        <p:spPr>
          <a:xfrm>
            <a:off x="9324742" y="2867025"/>
            <a:ext cx="9525" cy="208597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9419989" y="2867025"/>
            <a:ext cx="9525" cy="208597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ect 32"/>
          <p:cNvSpPr/>
          <p:nvPr/>
        </p:nvSpPr>
        <p:spPr>
          <a:xfrm>
            <a:off x="9515237" y="2867025"/>
            <a:ext cx="9525" cy="208597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9610485" y="2867025"/>
            <a:ext cx="9525" cy="208597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Rect 34"/>
          <p:cNvSpPr/>
          <p:nvPr/>
        </p:nvSpPr>
        <p:spPr>
          <a:xfrm>
            <a:off x="9705732" y="2867025"/>
            <a:ext cx="9525" cy="208597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9800980" y="2867025"/>
            <a:ext cx="9525" cy="208597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ect 36"/>
          <p:cNvSpPr/>
          <p:nvPr/>
        </p:nvSpPr>
        <p:spPr>
          <a:xfrm>
            <a:off x="9896228" y="2867025"/>
            <a:ext cx="9525" cy="208597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ect 37"/>
          <p:cNvSpPr/>
          <p:nvPr/>
        </p:nvSpPr>
        <p:spPr>
          <a:xfrm>
            <a:off x="9991475" y="2867025"/>
            <a:ext cx="9525" cy="208597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Rect 38"/>
          <p:cNvSpPr/>
          <p:nvPr/>
        </p:nvSpPr>
        <p:spPr>
          <a:xfrm>
            <a:off x="10086723" y="2867025"/>
            <a:ext cx="9525" cy="208597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Rect 39"/>
          <p:cNvSpPr/>
          <p:nvPr/>
        </p:nvSpPr>
        <p:spPr>
          <a:xfrm>
            <a:off x="10181970" y="2867025"/>
            <a:ext cx="9525" cy="208597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Rect 40"/>
          <p:cNvSpPr/>
          <p:nvPr/>
        </p:nvSpPr>
        <p:spPr>
          <a:xfrm>
            <a:off x="10277218" y="2867025"/>
            <a:ext cx="9525" cy="208597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Rect 41"/>
          <p:cNvSpPr/>
          <p:nvPr/>
        </p:nvSpPr>
        <p:spPr>
          <a:xfrm>
            <a:off x="10372466" y="2867025"/>
            <a:ext cx="9525" cy="208597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Rect 42"/>
          <p:cNvSpPr/>
          <p:nvPr/>
        </p:nvSpPr>
        <p:spPr>
          <a:xfrm>
            <a:off x="10467713" y="2867025"/>
            <a:ext cx="9525" cy="208597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ect 43"/>
          <p:cNvSpPr/>
          <p:nvPr/>
        </p:nvSpPr>
        <p:spPr>
          <a:xfrm>
            <a:off x="7524562" y="2952750"/>
            <a:ext cx="3038399" cy="952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ect 44"/>
          <p:cNvSpPr/>
          <p:nvPr/>
        </p:nvSpPr>
        <p:spPr>
          <a:xfrm>
            <a:off x="7524562" y="3048000"/>
            <a:ext cx="3038399" cy="952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Rect 45"/>
          <p:cNvSpPr/>
          <p:nvPr/>
        </p:nvSpPr>
        <p:spPr>
          <a:xfrm>
            <a:off x="7524562" y="3143250"/>
            <a:ext cx="3038399" cy="952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Rect 46"/>
          <p:cNvSpPr/>
          <p:nvPr/>
        </p:nvSpPr>
        <p:spPr>
          <a:xfrm>
            <a:off x="7524562" y="3238500"/>
            <a:ext cx="3038399" cy="952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Rect 47"/>
          <p:cNvSpPr/>
          <p:nvPr/>
        </p:nvSpPr>
        <p:spPr>
          <a:xfrm>
            <a:off x="7524562" y="3333750"/>
            <a:ext cx="3038399" cy="952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Rect 48"/>
          <p:cNvSpPr/>
          <p:nvPr/>
        </p:nvSpPr>
        <p:spPr>
          <a:xfrm>
            <a:off x="7524562" y="3429000"/>
            <a:ext cx="3038399" cy="952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Rect 49"/>
          <p:cNvSpPr/>
          <p:nvPr/>
        </p:nvSpPr>
        <p:spPr>
          <a:xfrm>
            <a:off x="7524562" y="3524250"/>
            <a:ext cx="3038399" cy="952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Rect 50"/>
          <p:cNvSpPr/>
          <p:nvPr/>
        </p:nvSpPr>
        <p:spPr>
          <a:xfrm>
            <a:off x="7524562" y="3619500"/>
            <a:ext cx="3038399" cy="952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Rect 51"/>
          <p:cNvSpPr/>
          <p:nvPr/>
        </p:nvSpPr>
        <p:spPr>
          <a:xfrm>
            <a:off x="7524562" y="3714750"/>
            <a:ext cx="3038399" cy="952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Rect 52"/>
          <p:cNvSpPr/>
          <p:nvPr/>
        </p:nvSpPr>
        <p:spPr>
          <a:xfrm>
            <a:off x="7524562" y="3810000"/>
            <a:ext cx="3038399" cy="952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Rect 53"/>
          <p:cNvSpPr/>
          <p:nvPr/>
        </p:nvSpPr>
        <p:spPr>
          <a:xfrm>
            <a:off x="7524562" y="3905250"/>
            <a:ext cx="3038399" cy="952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Rect 54"/>
          <p:cNvSpPr/>
          <p:nvPr/>
        </p:nvSpPr>
        <p:spPr>
          <a:xfrm>
            <a:off x="7524562" y="4000500"/>
            <a:ext cx="3038399" cy="952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Rect 55"/>
          <p:cNvSpPr/>
          <p:nvPr/>
        </p:nvSpPr>
        <p:spPr>
          <a:xfrm>
            <a:off x="7524562" y="4095750"/>
            <a:ext cx="3038399" cy="952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Rect 56"/>
          <p:cNvSpPr/>
          <p:nvPr/>
        </p:nvSpPr>
        <p:spPr>
          <a:xfrm>
            <a:off x="7524562" y="4191000"/>
            <a:ext cx="3038399" cy="952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Rect 57"/>
          <p:cNvSpPr/>
          <p:nvPr/>
        </p:nvSpPr>
        <p:spPr>
          <a:xfrm>
            <a:off x="7524562" y="4286250"/>
            <a:ext cx="3038399" cy="952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Rect 58"/>
          <p:cNvSpPr/>
          <p:nvPr/>
        </p:nvSpPr>
        <p:spPr>
          <a:xfrm>
            <a:off x="7524562" y="4381500"/>
            <a:ext cx="3038399" cy="952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Rect 59"/>
          <p:cNvSpPr/>
          <p:nvPr/>
        </p:nvSpPr>
        <p:spPr>
          <a:xfrm>
            <a:off x="7524562" y="4476750"/>
            <a:ext cx="3038399" cy="952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Rect 60"/>
          <p:cNvSpPr/>
          <p:nvPr/>
        </p:nvSpPr>
        <p:spPr>
          <a:xfrm>
            <a:off x="7524562" y="4572000"/>
            <a:ext cx="3038399" cy="952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Rect 61"/>
          <p:cNvSpPr/>
          <p:nvPr/>
        </p:nvSpPr>
        <p:spPr>
          <a:xfrm>
            <a:off x="7524562" y="4667250"/>
            <a:ext cx="3038399" cy="952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Rect 62"/>
          <p:cNvSpPr/>
          <p:nvPr/>
        </p:nvSpPr>
        <p:spPr>
          <a:xfrm>
            <a:off x="7524562" y="4762500"/>
            <a:ext cx="3038399" cy="952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Rect 63"/>
          <p:cNvSpPr/>
          <p:nvPr/>
        </p:nvSpPr>
        <p:spPr>
          <a:xfrm>
            <a:off x="7524562" y="4857750"/>
            <a:ext cx="3038399" cy="9525"/>
          </a:xfrm>
          <a:prstGeom prst="rect">
            <a:avLst/>
          </a:prstGeom>
          <a:solidFill>
            <a:srgbClr val="18212B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Ellipse 64"/>
          <p:cNvSpPr/>
          <p:nvPr/>
        </p:nvSpPr>
        <p:spPr>
          <a:xfrm>
            <a:off x="8029374" y="3371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Ellipse 65"/>
          <p:cNvSpPr/>
          <p:nvPr/>
        </p:nvSpPr>
        <p:spPr>
          <a:xfrm>
            <a:off x="8124622" y="3371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Ellipse 66"/>
          <p:cNvSpPr/>
          <p:nvPr/>
        </p:nvSpPr>
        <p:spPr>
          <a:xfrm>
            <a:off x="8219869" y="3371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Ellipse 67"/>
          <p:cNvSpPr/>
          <p:nvPr/>
        </p:nvSpPr>
        <p:spPr>
          <a:xfrm>
            <a:off x="8315117" y="3371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Ellipse 68"/>
          <p:cNvSpPr/>
          <p:nvPr/>
        </p:nvSpPr>
        <p:spPr>
          <a:xfrm>
            <a:off x="8410365" y="3371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Ellipse 69"/>
          <p:cNvSpPr/>
          <p:nvPr/>
        </p:nvSpPr>
        <p:spPr>
          <a:xfrm>
            <a:off x="8600860" y="3371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Ellipse 70"/>
          <p:cNvSpPr/>
          <p:nvPr/>
        </p:nvSpPr>
        <p:spPr>
          <a:xfrm>
            <a:off x="8791355" y="3371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Ellipse 71"/>
          <p:cNvSpPr/>
          <p:nvPr/>
        </p:nvSpPr>
        <p:spPr>
          <a:xfrm>
            <a:off x="8886603" y="3371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Ellipse 72"/>
          <p:cNvSpPr/>
          <p:nvPr/>
        </p:nvSpPr>
        <p:spPr>
          <a:xfrm>
            <a:off x="9172346" y="3371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Ellipse 73"/>
          <p:cNvSpPr/>
          <p:nvPr/>
        </p:nvSpPr>
        <p:spPr>
          <a:xfrm>
            <a:off x="9267593" y="3371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Ellipse 74"/>
          <p:cNvSpPr/>
          <p:nvPr/>
        </p:nvSpPr>
        <p:spPr>
          <a:xfrm>
            <a:off x="9362841" y="3371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Ellipse 75"/>
          <p:cNvSpPr/>
          <p:nvPr/>
        </p:nvSpPr>
        <p:spPr>
          <a:xfrm>
            <a:off x="9458089" y="3371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76" name="Ellipse 76"/>
          <p:cNvSpPr/>
          <p:nvPr/>
        </p:nvSpPr>
        <p:spPr>
          <a:xfrm>
            <a:off x="9648584" y="3371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Ellipse 77"/>
          <p:cNvSpPr/>
          <p:nvPr/>
        </p:nvSpPr>
        <p:spPr>
          <a:xfrm>
            <a:off x="9743831" y="3371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Ellipse 78"/>
          <p:cNvSpPr/>
          <p:nvPr/>
        </p:nvSpPr>
        <p:spPr>
          <a:xfrm>
            <a:off x="9839079" y="3371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79" name="Ellipse 79"/>
          <p:cNvSpPr/>
          <p:nvPr/>
        </p:nvSpPr>
        <p:spPr>
          <a:xfrm>
            <a:off x="8124622" y="34671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80" name="Ellipse 80"/>
          <p:cNvSpPr/>
          <p:nvPr/>
        </p:nvSpPr>
        <p:spPr>
          <a:xfrm>
            <a:off x="8219869" y="34671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Ellipse 81"/>
          <p:cNvSpPr/>
          <p:nvPr/>
        </p:nvSpPr>
        <p:spPr>
          <a:xfrm>
            <a:off x="8315117" y="34671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Ellipse 82"/>
          <p:cNvSpPr/>
          <p:nvPr/>
        </p:nvSpPr>
        <p:spPr>
          <a:xfrm>
            <a:off x="8410365" y="34671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Ellipse 83"/>
          <p:cNvSpPr/>
          <p:nvPr/>
        </p:nvSpPr>
        <p:spPr>
          <a:xfrm>
            <a:off x="8600860" y="34671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84" name="Ellipse 84"/>
          <p:cNvSpPr/>
          <p:nvPr/>
        </p:nvSpPr>
        <p:spPr>
          <a:xfrm>
            <a:off x="8696108" y="34671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Ellipse 85"/>
          <p:cNvSpPr/>
          <p:nvPr/>
        </p:nvSpPr>
        <p:spPr>
          <a:xfrm>
            <a:off x="8791355" y="34671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Ellipse 86"/>
          <p:cNvSpPr/>
          <p:nvPr/>
        </p:nvSpPr>
        <p:spPr>
          <a:xfrm>
            <a:off x="8886603" y="34671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87" name="Ellipse 87"/>
          <p:cNvSpPr/>
          <p:nvPr/>
        </p:nvSpPr>
        <p:spPr>
          <a:xfrm>
            <a:off x="9172346" y="34671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88" name="Ellipse 88"/>
          <p:cNvSpPr/>
          <p:nvPr/>
        </p:nvSpPr>
        <p:spPr>
          <a:xfrm>
            <a:off x="9267593" y="34671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Ellipse 89"/>
          <p:cNvSpPr/>
          <p:nvPr/>
        </p:nvSpPr>
        <p:spPr>
          <a:xfrm>
            <a:off x="9362841" y="34671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Ellipse 90"/>
          <p:cNvSpPr/>
          <p:nvPr/>
        </p:nvSpPr>
        <p:spPr>
          <a:xfrm>
            <a:off x="9458089" y="34671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91" name="Ellipse 91"/>
          <p:cNvSpPr/>
          <p:nvPr/>
        </p:nvSpPr>
        <p:spPr>
          <a:xfrm>
            <a:off x="9553336" y="34671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Ellipse 92"/>
          <p:cNvSpPr/>
          <p:nvPr/>
        </p:nvSpPr>
        <p:spPr>
          <a:xfrm>
            <a:off x="9648584" y="34671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93" name="Ellipse 93"/>
          <p:cNvSpPr/>
          <p:nvPr/>
        </p:nvSpPr>
        <p:spPr>
          <a:xfrm>
            <a:off x="8029374" y="3657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94" name="Ellipse 94"/>
          <p:cNvSpPr/>
          <p:nvPr/>
        </p:nvSpPr>
        <p:spPr>
          <a:xfrm>
            <a:off x="8124622" y="3657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Ellipse 95"/>
          <p:cNvSpPr/>
          <p:nvPr/>
        </p:nvSpPr>
        <p:spPr>
          <a:xfrm>
            <a:off x="8219869" y="3657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96" name="Ellipse 96"/>
          <p:cNvSpPr/>
          <p:nvPr/>
        </p:nvSpPr>
        <p:spPr>
          <a:xfrm>
            <a:off x="8315117" y="3657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97" name="Ellipse 97"/>
          <p:cNvSpPr/>
          <p:nvPr/>
        </p:nvSpPr>
        <p:spPr>
          <a:xfrm>
            <a:off x="8410365" y="3657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98" name="Ellipse 98"/>
          <p:cNvSpPr/>
          <p:nvPr/>
        </p:nvSpPr>
        <p:spPr>
          <a:xfrm>
            <a:off x="8505612" y="3657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99" name="Ellipse 99"/>
          <p:cNvSpPr/>
          <p:nvPr/>
        </p:nvSpPr>
        <p:spPr>
          <a:xfrm>
            <a:off x="8600860" y="3657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" name="Ellipse 100"/>
          <p:cNvSpPr/>
          <p:nvPr/>
        </p:nvSpPr>
        <p:spPr>
          <a:xfrm>
            <a:off x="8791355" y="3657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Ellipse 101"/>
          <p:cNvSpPr/>
          <p:nvPr/>
        </p:nvSpPr>
        <p:spPr>
          <a:xfrm>
            <a:off x="8886603" y="3657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Ellipse 102"/>
          <p:cNvSpPr/>
          <p:nvPr/>
        </p:nvSpPr>
        <p:spPr>
          <a:xfrm>
            <a:off x="9172346" y="3657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Ellipse 103"/>
          <p:cNvSpPr/>
          <p:nvPr/>
        </p:nvSpPr>
        <p:spPr>
          <a:xfrm>
            <a:off x="9267593" y="3657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Ellipse 104"/>
          <p:cNvSpPr/>
          <p:nvPr/>
        </p:nvSpPr>
        <p:spPr>
          <a:xfrm>
            <a:off x="9362841" y="3657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Ellipse 105"/>
          <p:cNvSpPr/>
          <p:nvPr/>
        </p:nvSpPr>
        <p:spPr>
          <a:xfrm>
            <a:off x="9458089" y="3657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" name="Ellipse 106"/>
          <p:cNvSpPr/>
          <p:nvPr/>
        </p:nvSpPr>
        <p:spPr>
          <a:xfrm>
            <a:off x="9553336" y="3657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Ellipse 107"/>
          <p:cNvSpPr/>
          <p:nvPr/>
        </p:nvSpPr>
        <p:spPr>
          <a:xfrm>
            <a:off x="9648584" y="3657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" name="Ellipse 108"/>
          <p:cNvSpPr/>
          <p:nvPr/>
        </p:nvSpPr>
        <p:spPr>
          <a:xfrm>
            <a:off x="9743831" y="3657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" name="Ellipse 109"/>
          <p:cNvSpPr/>
          <p:nvPr/>
        </p:nvSpPr>
        <p:spPr>
          <a:xfrm>
            <a:off x="9839079" y="3657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" name="Ellipse 110"/>
          <p:cNvSpPr/>
          <p:nvPr/>
        </p:nvSpPr>
        <p:spPr>
          <a:xfrm>
            <a:off x="9934327" y="3657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" name="Ellipse 111"/>
          <p:cNvSpPr/>
          <p:nvPr/>
        </p:nvSpPr>
        <p:spPr>
          <a:xfrm>
            <a:off x="8029374" y="3752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Ellipse 112"/>
          <p:cNvSpPr/>
          <p:nvPr/>
        </p:nvSpPr>
        <p:spPr>
          <a:xfrm>
            <a:off x="8124622" y="3752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" name="Ellipse 113"/>
          <p:cNvSpPr/>
          <p:nvPr/>
        </p:nvSpPr>
        <p:spPr>
          <a:xfrm>
            <a:off x="8219869" y="3752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" name="Ellipse 114"/>
          <p:cNvSpPr/>
          <p:nvPr/>
        </p:nvSpPr>
        <p:spPr>
          <a:xfrm>
            <a:off x="8315117" y="3752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" name="Ellipse 115"/>
          <p:cNvSpPr/>
          <p:nvPr/>
        </p:nvSpPr>
        <p:spPr>
          <a:xfrm>
            <a:off x="8505612" y="3752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" name="Ellipse 116"/>
          <p:cNvSpPr/>
          <p:nvPr/>
        </p:nvSpPr>
        <p:spPr>
          <a:xfrm>
            <a:off x="8600860" y="3752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" name="Ellipse 117"/>
          <p:cNvSpPr/>
          <p:nvPr/>
        </p:nvSpPr>
        <p:spPr>
          <a:xfrm>
            <a:off x="8696108" y="3752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" name="Ellipse 118"/>
          <p:cNvSpPr/>
          <p:nvPr/>
        </p:nvSpPr>
        <p:spPr>
          <a:xfrm>
            <a:off x="8791355" y="3752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" name="Ellipse 119"/>
          <p:cNvSpPr/>
          <p:nvPr/>
        </p:nvSpPr>
        <p:spPr>
          <a:xfrm>
            <a:off x="8886603" y="3752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" name="Ellipse 120"/>
          <p:cNvSpPr/>
          <p:nvPr/>
        </p:nvSpPr>
        <p:spPr>
          <a:xfrm>
            <a:off x="9172346" y="3752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" name="Ellipse 121"/>
          <p:cNvSpPr/>
          <p:nvPr/>
        </p:nvSpPr>
        <p:spPr>
          <a:xfrm>
            <a:off x="9267593" y="3752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" name="Ellipse 122"/>
          <p:cNvSpPr/>
          <p:nvPr/>
        </p:nvSpPr>
        <p:spPr>
          <a:xfrm>
            <a:off x="9362841" y="3752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" name="Ellipse 123"/>
          <p:cNvSpPr/>
          <p:nvPr/>
        </p:nvSpPr>
        <p:spPr>
          <a:xfrm>
            <a:off x="9458089" y="3752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" name="Ellipse 124"/>
          <p:cNvSpPr/>
          <p:nvPr/>
        </p:nvSpPr>
        <p:spPr>
          <a:xfrm>
            <a:off x="9553336" y="3752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" name="Ellipse 125"/>
          <p:cNvSpPr/>
          <p:nvPr/>
        </p:nvSpPr>
        <p:spPr>
          <a:xfrm>
            <a:off x="9648584" y="3752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" name="Ellipse 126"/>
          <p:cNvSpPr/>
          <p:nvPr/>
        </p:nvSpPr>
        <p:spPr>
          <a:xfrm>
            <a:off x="9743831" y="3752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" name="Ellipse 127"/>
          <p:cNvSpPr/>
          <p:nvPr/>
        </p:nvSpPr>
        <p:spPr>
          <a:xfrm>
            <a:off x="9839079" y="3752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" name="Ellipse 128"/>
          <p:cNvSpPr/>
          <p:nvPr/>
        </p:nvSpPr>
        <p:spPr>
          <a:xfrm>
            <a:off x="9934327" y="3752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" name="Ellipse 129"/>
          <p:cNvSpPr/>
          <p:nvPr/>
        </p:nvSpPr>
        <p:spPr>
          <a:xfrm>
            <a:off x="10029574" y="3752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" name="Ellipse 130"/>
          <p:cNvSpPr/>
          <p:nvPr/>
        </p:nvSpPr>
        <p:spPr>
          <a:xfrm>
            <a:off x="8029374" y="4038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" name="Ellipse 131"/>
          <p:cNvSpPr/>
          <p:nvPr/>
        </p:nvSpPr>
        <p:spPr>
          <a:xfrm>
            <a:off x="8124622" y="4038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" name="Ellipse 132"/>
          <p:cNvSpPr/>
          <p:nvPr/>
        </p:nvSpPr>
        <p:spPr>
          <a:xfrm>
            <a:off x="8219869" y="4038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" name="Ellipse 133"/>
          <p:cNvSpPr/>
          <p:nvPr/>
        </p:nvSpPr>
        <p:spPr>
          <a:xfrm>
            <a:off x="8315117" y="4038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" name="Ellipse 134"/>
          <p:cNvSpPr/>
          <p:nvPr/>
        </p:nvSpPr>
        <p:spPr>
          <a:xfrm>
            <a:off x="8505612" y="4038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" name="Ellipse 135"/>
          <p:cNvSpPr/>
          <p:nvPr/>
        </p:nvSpPr>
        <p:spPr>
          <a:xfrm>
            <a:off x="8600860" y="4038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" name="Ellipse 136"/>
          <p:cNvSpPr/>
          <p:nvPr/>
        </p:nvSpPr>
        <p:spPr>
          <a:xfrm>
            <a:off x="8696108" y="4038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" name="Ellipse 137"/>
          <p:cNvSpPr/>
          <p:nvPr/>
        </p:nvSpPr>
        <p:spPr>
          <a:xfrm>
            <a:off x="8791355" y="4038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" name="Ellipse 138"/>
          <p:cNvSpPr/>
          <p:nvPr/>
        </p:nvSpPr>
        <p:spPr>
          <a:xfrm>
            <a:off x="8886603" y="4038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" name="Ellipse 139"/>
          <p:cNvSpPr/>
          <p:nvPr/>
        </p:nvSpPr>
        <p:spPr>
          <a:xfrm>
            <a:off x="9267593" y="4038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" name="Ellipse 140"/>
          <p:cNvSpPr/>
          <p:nvPr/>
        </p:nvSpPr>
        <p:spPr>
          <a:xfrm>
            <a:off x="9362841" y="4038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" name="Ellipse 141"/>
          <p:cNvSpPr/>
          <p:nvPr/>
        </p:nvSpPr>
        <p:spPr>
          <a:xfrm>
            <a:off x="9458089" y="4038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" name="Ellipse 142"/>
          <p:cNvSpPr/>
          <p:nvPr/>
        </p:nvSpPr>
        <p:spPr>
          <a:xfrm>
            <a:off x="9553336" y="4038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" name="Ellipse 143"/>
          <p:cNvSpPr/>
          <p:nvPr/>
        </p:nvSpPr>
        <p:spPr>
          <a:xfrm>
            <a:off x="9648584" y="4038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" name="Ellipse 144"/>
          <p:cNvSpPr/>
          <p:nvPr/>
        </p:nvSpPr>
        <p:spPr>
          <a:xfrm>
            <a:off x="9743831" y="4038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" name="Ellipse 145"/>
          <p:cNvSpPr/>
          <p:nvPr/>
        </p:nvSpPr>
        <p:spPr>
          <a:xfrm>
            <a:off x="9839079" y="4038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" name="Ellipse 146"/>
          <p:cNvSpPr/>
          <p:nvPr/>
        </p:nvSpPr>
        <p:spPr>
          <a:xfrm>
            <a:off x="9934327" y="4038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" name="Ellipse 147"/>
          <p:cNvSpPr/>
          <p:nvPr/>
        </p:nvSpPr>
        <p:spPr>
          <a:xfrm>
            <a:off x="10029574" y="4038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" name="Ellipse 148"/>
          <p:cNvSpPr/>
          <p:nvPr/>
        </p:nvSpPr>
        <p:spPr>
          <a:xfrm>
            <a:off x="8029374" y="4133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" name="Ellipse 149"/>
          <p:cNvSpPr/>
          <p:nvPr/>
        </p:nvSpPr>
        <p:spPr>
          <a:xfrm>
            <a:off x="8124622" y="4133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" name="Ellipse 150"/>
          <p:cNvSpPr/>
          <p:nvPr/>
        </p:nvSpPr>
        <p:spPr>
          <a:xfrm>
            <a:off x="8219869" y="4133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1" name="Ellipse 151"/>
          <p:cNvSpPr/>
          <p:nvPr/>
        </p:nvSpPr>
        <p:spPr>
          <a:xfrm>
            <a:off x="8315117" y="4133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" name="Ellipse 152"/>
          <p:cNvSpPr/>
          <p:nvPr/>
        </p:nvSpPr>
        <p:spPr>
          <a:xfrm>
            <a:off x="8410365" y="4133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" name="Ellipse 153"/>
          <p:cNvSpPr/>
          <p:nvPr/>
        </p:nvSpPr>
        <p:spPr>
          <a:xfrm>
            <a:off x="8505612" y="4133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" name="Ellipse 154"/>
          <p:cNvSpPr/>
          <p:nvPr/>
        </p:nvSpPr>
        <p:spPr>
          <a:xfrm>
            <a:off x="8600860" y="4133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" name="Ellipse 155"/>
          <p:cNvSpPr/>
          <p:nvPr/>
        </p:nvSpPr>
        <p:spPr>
          <a:xfrm>
            <a:off x="8696108" y="4133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" name="Ellipse 156"/>
          <p:cNvSpPr/>
          <p:nvPr/>
        </p:nvSpPr>
        <p:spPr>
          <a:xfrm>
            <a:off x="8791355" y="4133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" name="Ellipse 157"/>
          <p:cNvSpPr/>
          <p:nvPr/>
        </p:nvSpPr>
        <p:spPr>
          <a:xfrm>
            <a:off x="8886603" y="4133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" name="Ellipse 158"/>
          <p:cNvSpPr/>
          <p:nvPr/>
        </p:nvSpPr>
        <p:spPr>
          <a:xfrm>
            <a:off x="9172346" y="4133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9" name="Ellipse 159"/>
          <p:cNvSpPr/>
          <p:nvPr/>
        </p:nvSpPr>
        <p:spPr>
          <a:xfrm>
            <a:off x="9267593" y="4133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0" name="Ellipse 160"/>
          <p:cNvSpPr/>
          <p:nvPr/>
        </p:nvSpPr>
        <p:spPr>
          <a:xfrm>
            <a:off x="9458089" y="4133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1" name="Ellipse 161"/>
          <p:cNvSpPr/>
          <p:nvPr/>
        </p:nvSpPr>
        <p:spPr>
          <a:xfrm>
            <a:off x="9553336" y="4133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2" name="Ellipse 162"/>
          <p:cNvSpPr/>
          <p:nvPr/>
        </p:nvSpPr>
        <p:spPr>
          <a:xfrm>
            <a:off x="9648584" y="4133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3" name="Ellipse 163"/>
          <p:cNvSpPr/>
          <p:nvPr/>
        </p:nvSpPr>
        <p:spPr>
          <a:xfrm>
            <a:off x="9743831" y="4133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4" name="Ellipse 164"/>
          <p:cNvSpPr/>
          <p:nvPr/>
        </p:nvSpPr>
        <p:spPr>
          <a:xfrm>
            <a:off x="9934327" y="4133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5" name="Ellipse 165"/>
          <p:cNvSpPr/>
          <p:nvPr/>
        </p:nvSpPr>
        <p:spPr>
          <a:xfrm>
            <a:off x="10029574" y="41338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6" name="Ellipse 166"/>
          <p:cNvSpPr/>
          <p:nvPr/>
        </p:nvSpPr>
        <p:spPr>
          <a:xfrm>
            <a:off x="8124622" y="43243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7" name="Ellipse 167"/>
          <p:cNvSpPr/>
          <p:nvPr/>
        </p:nvSpPr>
        <p:spPr>
          <a:xfrm>
            <a:off x="8219869" y="43243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8" name="Ellipse 168"/>
          <p:cNvSpPr/>
          <p:nvPr/>
        </p:nvSpPr>
        <p:spPr>
          <a:xfrm>
            <a:off x="8315117" y="43243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9" name="Ellipse 169"/>
          <p:cNvSpPr/>
          <p:nvPr/>
        </p:nvSpPr>
        <p:spPr>
          <a:xfrm>
            <a:off x="8410365" y="43243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0" name="Ellipse 170"/>
          <p:cNvSpPr/>
          <p:nvPr/>
        </p:nvSpPr>
        <p:spPr>
          <a:xfrm>
            <a:off x="8600860" y="43243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1" name="Ellipse 171"/>
          <p:cNvSpPr/>
          <p:nvPr/>
        </p:nvSpPr>
        <p:spPr>
          <a:xfrm>
            <a:off x="8791355" y="43243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2" name="Ellipse 172"/>
          <p:cNvSpPr/>
          <p:nvPr/>
        </p:nvSpPr>
        <p:spPr>
          <a:xfrm>
            <a:off x="8886603" y="43243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3" name="Ellipse 173"/>
          <p:cNvSpPr/>
          <p:nvPr/>
        </p:nvSpPr>
        <p:spPr>
          <a:xfrm>
            <a:off x="9172346" y="43243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4" name="Ellipse 174"/>
          <p:cNvSpPr/>
          <p:nvPr/>
        </p:nvSpPr>
        <p:spPr>
          <a:xfrm>
            <a:off x="9267593" y="43243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5" name="Ellipse 175"/>
          <p:cNvSpPr/>
          <p:nvPr/>
        </p:nvSpPr>
        <p:spPr>
          <a:xfrm>
            <a:off x="9362841" y="43243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6" name="Ellipse 176"/>
          <p:cNvSpPr/>
          <p:nvPr/>
        </p:nvSpPr>
        <p:spPr>
          <a:xfrm>
            <a:off x="9458089" y="43243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7" name="Ellipse 177"/>
          <p:cNvSpPr/>
          <p:nvPr/>
        </p:nvSpPr>
        <p:spPr>
          <a:xfrm>
            <a:off x="9553336" y="43243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8" name="Ellipse 178"/>
          <p:cNvSpPr/>
          <p:nvPr/>
        </p:nvSpPr>
        <p:spPr>
          <a:xfrm>
            <a:off x="9648584" y="43243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9" name="Ellipse 179"/>
          <p:cNvSpPr/>
          <p:nvPr/>
        </p:nvSpPr>
        <p:spPr>
          <a:xfrm>
            <a:off x="9743831" y="43243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0" name="Ellipse 180"/>
          <p:cNvSpPr/>
          <p:nvPr/>
        </p:nvSpPr>
        <p:spPr>
          <a:xfrm>
            <a:off x="9839079" y="432435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1" name="Ellipse 181"/>
          <p:cNvSpPr/>
          <p:nvPr/>
        </p:nvSpPr>
        <p:spPr>
          <a:xfrm>
            <a:off x="8029374" y="4419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2" name="Ellipse 182"/>
          <p:cNvSpPr/>
          <p:nvPr/>
        </p:nvSpPr>
        <p:spPr>
          <a:xfrm>
            <a:off x="8124622" y="4419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3" name="Ellipse 183"/>
          <p:cNvSpPr/>
          <p:nvPr/>
        </p:nvSpPr>
        <p:spPr>
          <a:xfrm>
            <a:off x="8219869" y="4419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4" name="Ellipse 184"/>
          <p:cNvSpPr/>
          <p:nvPr/>
        </p:nvSpPr>
        <p:spPr>
          <a:xfrm>
            <a:off x="8315117" y="4419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5" name="Ellipse 185"/>
          <p:cNvSpPr/>
          <p:nvPr/>
        </p:nvSpPr>
        <p:spPr>
          <a:xfrm>
            <a:off x="8410365" y="4419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6" name="Ellipse 186"/>
          <p:cNvSpPr/>
          <p:nvPr/>
        </p:nvSpPr>
        <p:spPr>
          <a:xfrm>
            <a:off x="8600860" y="4419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7" name="Ellipse 187"/>
          <p:cNvSpPr/>
          <p:nvPr/>
        </p:nvSpPr>
        <p:spPr>
          <a:xfrm>
            <a:off x="8886603" y="4419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8" name="Ellipse 188"/>
          <p:cNvSpPr/>
          <p:nvPr/>
        </p:nvSpPr>
        <p:spPr>
          <a:xfrm>
            <a:off x="9172346" y="4419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9" name="Ellipse 189"/>
          <p:cNvSpPr/>
          <p:nvPr/>
        </p:nvSpPr>
        <p:spPr>
          <a:xfrm>
            <a:off x="9267593" y="4419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0" name="Ellipse 190"/>
          <p:cNvSpPr/>
          <p:nvPr/>
        </p:nvSpPr>
        <p:spPr>
          <a:xfrm>
            <a:off x="9553336" y="4419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1" name="Ellipse 191"/>
          <p:cNvSpPr/>
          <p:nvPr/>
        </p:nvSpPr>
        <p:spPr>
          <a:xfrm>
            <a:off x="9648584" y="4419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2" name="Ellipse 192"/>
          <p:cNvSpPr/>
          <p:nvPr/>
        </p:nvSpPr>
        <p:spPr>
          <a:xfrm>
            <a:off x="9743831" y="4419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3" name="Ellipse 193"/>
          <p:cNvSpPr/>
          <p:nvPr/>
        </p:nvSpPr>
        <p:spPr>
          <a:xfrm>
            <a:off x="9839079" y="4419600"/>
            <a:ext cx="38099" cy="38100"/>
          </a:xfrm>
          <a:prstGeom prst="ellipse">
            <a:avLst/>
          </a:prstGeom>
          <a:solidFill>
            <a:srgbClr val="75808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4" name="Rect 194"/>
          <p:cNvSpPr/>
          <p:nvPr/>
        </p:nvSpPr>
        <p:spPr>
          <a:xfrm>
            <a:off x="8486563" y="2876550"/>
            <a:ext cx="76198" cy="762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5" name="Rect 195"/>
          <p:cNvSpPr/>
          <p:nvPr/>
        </p:nvSpPr>
        <p:spPr>
          <a:xfrm>
            <a:off x="8581810" y="2876550"/>
            <a:ext cx="76198" cy="762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6" name="Rect 196"/>
          <p:cNvSpPr/>
          <p:nvPr/>
        </p:nvSpPr>
        <p:spPr>
          <a:xfrm>
            <a:off x="8677058" y="2876550"/>
            <a:ext cx="76198" cy="762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7" name="Rect 197"/>
          <p:cNvSpPr/>
          <p:nvPr/>
        </p:nvSpPr>
        <p:spPr>
          <a:xfrm>
            <a:off x="9724782" y="2876550"/>
            <a:ext cx="76198" cy="762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8" name="Rect 198"/>
          <p:cNvSpPr/>
          <p:nvPr/>
        </p:nvSpPr>
        <p:spPr>
          <a:xfrm>
            <a:off x="9820029" y="2876550"/>
            <a:ext cx="76198" cy="762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9" name="Rect 199"/>
          <p:cNvSpPr/>
          <p:nvPr/>
        </p:nvSpPr>
        <p:spPr>
          <a:xfrm>
            <a:off x="9915277" y="2876550"/>
            <a:ext cx="76198" cy="762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0" name="Rect 200"/>
          <p:cNvSpPr/>
          <p:nvPr/>
        </p:nvSpPr>
        <p:spPr>
          <a:xfrm>
            <a:off x="10486763" y="3352800"/>
            <a:ext cx="76198" cy="762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Rect 201"/>
          <p:cNvSpPr/>
          <p:nvPr/>
        </p:nvSpPr>
        <p:spPr>
          <a:xfrm>
            <a:off x="10486763" y="3448050"/>
            <a:ext cx="76198" cy="762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Rect 202"/>
          <p:cNvSpPr/>
          <p:nvPr/>
        </p:nvSpPr>
        <p:spPr>
          <a:xfrm>
            <a:off x="10486763" y="3543300"/>
            <a:ext cx="76198" cy="762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Rect 203"/>
          <p:cNvSpPr/>
          <p:nvPr/>
        </p:nvSpPr>
        <p:spPr>
          <a:xfrm>
            <a:off x="10486763" y="4114800"/>
            <a:ext cx="76198" cy="762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Rect 204"/>
          <p:cNvSpPr/>
          <p:nvPr/>
        </p:nvSpPr>
        <p:spPr>
          <a:xfrm>
            <a:off x="10486763" y="4210050"/>
            <a:ext cx="76198" cy="762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Rect 205"/>
          <p:cNvSpPr/>
          <p:nvPr/>
        </p:nvSpPr>
        <p:spPr>
          <a:xfrm>
            <a:off x="10486763" y="4305300"/>
            <a:ext cx="76198" cy="762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6" name="Rect 206"/>
          <p:cNvSpPr/>
          <p:nvPr/>
        </p:nvSpPr>
        <p:spPr>
          <a:xfrm>
            <a:off x="8200820" y="4876800"/>
            <a:ext cx="76198" cy="762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7" name="Rect 207"/>
          <p:cNvSpPr/>
          <p:nvPr/>
        </p:nvSpPr>
        <p:spPr>
          <a:xfrm>
            <a:off x="8296068" y="4876800"/>
            <a:ext cx="76198" cy="762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8" name="Rect 208"/>
          <p:cNvSpPr/>
          <p:nvPr/>
        </p:nvSpPr>
        <p:spPr>
          <a:xfrm>
            <a:off x="8391315" y="4876800"/>
            <a:ext cx="76198" cy="762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9" name="Rect 209"/>
          <p:cNvSpPr/>
          <p:nvPr/>
        </p:nvSpPr>
        <p:spPr>
          <a:xfrm>
            <a:off x="9534287" y="4876800"/>
            <a:ext cx="76198" cy="762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0" name="Rect 210"/>
          <p:cNvSpPr/>
          <p:nvPr/>
        </p:nvSpPr>
        <p:spPr>
          <a:xfrm>
            <a:off x="9629534" y="4876800"/>
            <a:ext cx="76198" cy="762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1" name="Rect 211"/>
          <p:cNvSpPr/>
          <p:nvPr/>
        </p:nvSpPr>
        <p:spPr>
          <a:xfrm>
            <a:off x="9724782" y="4876800"/>
            <a:ext cx="76198" cy="762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2" name="Rect 212"/>
          <p:cNvSpPr/>
          <p:nvPr/>
        </p:nvSpPr>
        <p:spPr>
          <a:xfrm>
            <a:off x="8686583" y="3362325"/>
            <a:ext cx="57149" cy="57150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3" name="Rect 213"/>
          <p:cNvSpPr/>
          <p:nvPr/>
        </p:nvSpPr>
        <p:spPr>
          <a:xfrm>
            <a:off x="9543811" y="3362325"/>
            <a:ext cx="57149" cy="57150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4" name="Rect 214"/>
          <p:cNvSpPr/>
          <p:nvPr/>
        </p:nvSpPr>
        <p:spPr>
          <a:xfrm>
            <a:off x="8019849" y="3457575"/>
            <a:ext cx="57149" cy="57150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5" name="Rect 215"/>
          <p:cNvSpPr/>
          <p:nvPr/>
        </p:nvSpPr>
        <p:spPr>
          <a:xfrm>
            <a:off x="10020049" y="3648075"/>
            <a:ext cx="57149" cy="57150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6" name="Rect 216"/>
          <p:cNvSpPr/>
          <p:nvPr/>
        </p:nvSpPr>
        <p:spPr>
          <a:xfrm>
            <a:off x="8400840" y="4029075"/>
            <a:ext cx="57149" cy="57150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7" name="Rect 217"/>
          <p:cNvSpPr/>
          <p:nvPr/>
        </p:nvSpPr>
        <p:spPr>
          <a:xfrm>
            <a:off x="9162821" y="4029075"/>
            <a:ext cx="57149" cy="57150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8" name="Rect 218"/>
          <p:cNvSpPr/>
          <p:nvPr/>
        </p:nvSpPr>
        <p:spPr>
          <a:xfrm>
            <a:off x="9829554" y="4124325"/>
            <a:ext cx="57149" cy="57150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9" name="Rect 219"/>
          <p:cNvSpPr/>
          <p:nvPr/>
        </p:nvSpPr>
        <p:spPr>
          <a:xfrm>
            <a:off x="8019849" y="4314825"/>
            <a:ext cx="57149" cy="57150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" name="Rect 220"/>
          <p:cNvSpPr/>
          <p:nvPr/>
        </p:nvSpPr>
        <p:spPr>
          <a:xfrm>
            <a:off x="8686583" y="4410075"/>
            <a:ext cx="57149" cy="57150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" name="Rect 221"/>
          <p:cNvSpPr/>
          <p:nvPr/>
        </p:nvSpPr>
        <p:spPr>
          <a:xfrm>
            <a:off x="9448564" y="4410075"/>
            <a:ext cx="57149" cy="57150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" name="TextBox 222"/>
          <p:cNvSpPr txBox="1"/>
          <p:nvPr/>
        </p:nvSpPr>
        <p:spPr>
          <a:xfrm>
            <a:off x="857229" y="609600"/>
            <a:ext cx="1714457" cy="1524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40" b="1">
                <a:solidFill>
                  <a:srgbClr val="B9C5D2"/>
                </a:solidFill>
                <a:latin typeface="PingFang SC"/>
                <a:ea typeface="PingFang SC"/>
                <a:cs typeface="PingFang SC"/>
              </a:rPr>
              <a:t>TASK 3 · MEANING</a:t>
            </a:r>
            <a:endParaRPr lang="zh-CN" sz="840"/>
          </a:p>
        </p:txBody>
      </p:sp>
      <p:sp>
        <p:nvSpPr>
          <p:cNvPr id="223" name="TextBox 223"/>
          <p:cNvSpPr txBox="1"/>
          <p:nvPr/>
        </p:nvSpPr>
        <p:spPr>
          <a:xfrm>
            <a:off x="685783" y="1038225"/>
            <a:ext cx="1142971" cy="4000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300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任务</a:t>
            </a:r>
            <a:endParaRPr lang="zh-CN" sz="3000"/>
          </a:p>
        </p:txBody>
      </p:sp>
      <p:sp>
        <p:nvSpPr>
          <p:cNvPr id="224" name="TextBox 224"/>
          <p:cNvSpPr txBox="1"/>
          <p:nvPr/>
        </p:nvSpPr>
        <p:spPr>
          <a:xfrm>
            <a:off x="685783" y="1457325"/>
            <a:ext cx="8572286" cy="457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90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3: 重点缓存货位选择解决“哪些位置值得重点使用”。</a:t>
            </a:r>
            <a:endParaRPr lang="zh-CN" sz="2900"/>
          </a:p>
        </p:txBody>
      </p:sp>
      <p:sp>
        <p:nvSpPr>
          <p:cNvPr id="225" name="TextBox 225"/>
          <p:cNvSpPr txBox="1"/>
          <p:nvPr/>
        </p:nvSpPr>
        <p:spPr>
          <a:xfrm>
            <a:off x="723882" y="2009775"/>
            <a:ext cx="8477038" cy="457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60">
                <a:solidFill>
                  <a:srgbClr val="B9C5D2"/>
                </a:solidFill>
                <a:latin typeface="PingFang SC"/>
                <a:ea typeface="PingFang SC"/>
                <a:cs typeface="PingFang SC"/>
              </a:rPr>
              <a:t>它不是决定当天某个托盘怎么搬，而是做布局层面的选址：从仓库中已有候选位置里，挑出一批重点缓存/中</a:t>
            </a:r>
            <a:endParaRPr lang="zh-CN" sz="1160"/>
          </a:p>
          <a:p>
            <a:pPr algn="left"/>
            <a:r>
              <a:rPr lang="zh-CN" sz="1160">
                <a:solidFill>
                  <a:srgbClr val="B9C5D2"/>
                </a:solidFill>
                <a:latin typeface="PingFang SC"/>
                <a:ea typeface="PingFang SC"/>
                <a:cs typeface="PingFang SC"/>
              </a:rPr>
              <a:t>转货位。</a:t>
            </a:r>
            <a:endParaRPr lang="zh-CN" sz="1160"/>
          </a:p>
        </p:txBody>
      </p:sp>
      <p:sp>
        <p:nvSpPr>
          <p:cNvPr id="226" name="TextBox 226"/>
          <p:cNvSpPr txBox="1"/>
          <p:nvPr/>
        </p:nvSpPr>
        <p:spPr>
          <a:xfrm>
            <a:off x="1047724" y="3267075"/>
            <a:ext cx="1714457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2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候选位置固定</a:t>
            </a:r>
            <a:endParaRPr lang="zh-CN" sz="1220"/>
          </a:p>
        </p:txBody>
      </p:sp>
      <p:sp>
        <p:nvSpPr>
          <p:cNvPr id="227" name="TextBox 227"/>
          <p:cNvSpPr txBox="1"/>
          <p:nvPr/>
        </p:nvSpPr>
        <p:spPr>
          <a:xfrm>
            <a:off x="1047724" y="3562350"/>
            <a:ext cx="4476638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90">
                <a:solidFill>
                  <a:srgbClr val="B9C5D2"/>
                </a:solidFill>
                <a:latin typeface="PingFang SC"/>
                <a:ea typeface="PingFang SC"/>
                <a:cs typeface="PingFang SC"/>
              </a:rPr>
              <a:t>模型不会凭空生成新坐标。仓库里已有一批可用候选货位，我们只决定哪些被选中。</a:t>
            </a:r>
            <a:endParaRPr lang="zh-CN" sz="790"/>
          </a:p>
        </p:txBody>
      </p:sp>
      <p:sp>
        <p:nvSpPr>
          <p:cNvPr id="228" name="TextBox 228"/>
          <p:cNvSpPr txBox="1"/>
          <p:nvPr/>
        </p:nvSpPr>
        <p:spPr>
          <a:xfrm>
            <a:off x="1047724" y="4476750"/>
            <a:ext cx="1714457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2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选中结果不固定</a:t>
            </a:r>
            <a:endParaRPr lang="zh-CN" sz="1220"/>
          </a:p>
        </p:txBody>
      </p:sp>
      <p:sp>
        <p:nvSpPr>
          <p:cNvPr id="229" name="TextBox 229"/>
          <p:cNvSpPr txBox="1"/>
          <p:nvPr/>
        </p:nvSpPr>
        <p:spPr>
          <a:xfrm>
            <a:off x="1047724" y="4772025"/>
            <a:ext cx="4476638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90">
                <a:solidFill>
                  <a:srgbClr val="B9C5D2"/>
                </a:solidFill>
                <a:latin typeface="PingFang SC"/>
                <a:ea typeface="PingFang SC"/>
                <a:cs typeface="PingFang SC"/>
              </a:rPr>
              <a:t>最终启用哪些重点缓存点，由货位价值、选中数量和间距约束共同决定。</a:t>
            </a:r>
            <a:endParaRPr lang="zh-CN" sz="790"/>
          </a:p>
        </p:txBody>
      </p:sp>
      <p:sp>
        <p:nvSpPr>
          <p:cNvPr id="230" name="TextBox 230"/>
          <p:cNvSpPr txBox="1"/>
          <p:nvPr/>
        </p:nvSpPr>
        <p:spPr>
          <a:xfrm>
            <a:off x="685783" y="6448425"/>
            <a:ext cx="3428914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50">
                <a:solidFill>
                  <a:srgbClr val="8190A0"/>
                </a:solidFill>
                <a:latin typeface="PingFang SC"/>
                <a:ea typeface="PingFang SC"/>
                <a:cs typeface="PingFang SC"/>
              </a:rPr>
              <a:t>AGV 仓储优化课程项目 · 本地 CSV 数据 · Python 自实现算法</a:t>
            </a:r>
            <a:endParaRPr lang="zh-CN" sz="650"/>
          </a:p>
        </p:txBody>
      </p:sp>
      <p:sp>
        <p:nvSpPr>
          <p:cNvPr id="231" name="TextBox 231"/>
          <p:cNvSpPr txBox="1"/>
          <p:nvPr/>
        </p:nvSpPr>
        <p:spPr>
          <a:xfrm>
            <a:off x="11401140" y="6429375"/>
            <a:ext cx="228594" cy="1333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80">
                <a:solidFill>
                  <a:srgbClr val="8190A0"/>
                </a:solidFill>
                <a:latin typeface="PingFang SC"/>
                <a:ea typeface="PingFang SC"/>
                <a:cs typeface="PingFang SC"/>
              </a:rPr>
              <a:t>16</a:t>
            </a:r>
            <a:endParaRPr lang="zh-CN" sz="78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676258" y="2562225"/>
            <a:ext cx="5352916" cy="344805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E"/>
            </a:solidFill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6476838" y="2762250"/>
            <a:ext cx="3914677" cy="809625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E"/>
            </a:solidFill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6476838" y="3848100"/>
            <a:ext cx="3914677" cy="809625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E"/>
            </a:solidFill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6476838" y="4933950"/>
            <a:ext cx="3914677" cy="809625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E"/>
            </a:solidFill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942951" y="2609850"/>
            <a:ext cx="4819530" cy="3352800"/>
          </a:xfrm>
          <a:prstGeom prst="rect">
            <a:avLst/>
          </a:prstGeom>
          <a:solidFill>
            <a:srgbClr val="F0F3F5"/>
          </a:solidFill>
          <a:ln w="12700">
            <a:solidFill>
              <a:srgbClr val="E4E9ED"/>
            </a:solidFill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6476838" y="2762250"/>
            <a:ext cx="47624" cy="8001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6476838" y="3848100"/>
            <a:ext cx="47624" cy="800100"/>
          </a:xfrm>
          <a:prstGeom prst="rect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6476838" y="4933950"/>
            <a:ext cx="47624" cy="800100"/>
          </a:xfrm>
          <a:prstGeom prst="rect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962001" y="2628900"/>
            <a:ext cx="4781430" cy="33147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685783" y="6248400"/>
            <a:ext cx="2857429" cy="9525"/>
          </a:xfrm>
          <a:prstGeom prst="rect">
            <a:avLst/>
          </a:prstGeom>
          <a:solidFill>
            <a:srgbClr val="D9E0E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990575" y="2667000"/>
            <a:ext cx="4714757" cy="323850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990575" y="2667000"/>
            <a:ext cx="10001" cy="32385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1138209" y="2667000"/>
            <a:ext cx="10001" cy="32385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1285843" y="2667000"/>
            <a:ext cx="10001" cy="32385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1433477" y="2667000"/>
            <a:ext cx="10001" cy="32385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1581110" y="2667000"/>
            <a:ext cx="10001" cy="32385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1728744" y="2667000"/>
            <a:ext cx="10001" cy="32385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1876378" y="2667000"/>
            <a:ext cx="10001" cy="32385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2024012" y="2667000"/>
            <a:ext cx="10001" cy="32385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2171646" y="2667000"/>
            <a:ext cx="10001" cy="32385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2319280" y="2667000"/>
            <a:ext cx="10001" cy="32385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2466913" y="2667000"/>
            <a:ext cx="10001" cy="32385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2614547" y="2667000"/>
            <a:ext cx="10001" cy="32385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2762181" y="2667000"/>
            <a:ext cx="10001" cy="32385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Rect 26"/>
          <p:cNvSpPr/>
          <p:nvPr/>
        </p:nvSpPr>
        <p:spPr>
          <a:xfrm>
            <a:off x="2909815" y="2667000"/>
            <a:ext cx="10001" cy="32385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Rect 27"/>
          <p:cNvSpPr/>
          <p:nvPr/>
        </p:nvSpPr>
        <p:spPr>
          <a:xfrm>
            <a:off x="3057449" y="2667000"/>
            <a:ext cx="10001" cy="32385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3205082" y="2667000"/>
            <a:ext cx="10001" cy="32385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ect 29"/>
          <p:cNvSpPr/>
          <p:nvPr/>
        </p:nvSpPr>
        <p:spPr>
          <a:xfrm>
            <a:off x="3352716" y="2667000"/>
            <a:ext cx="10001" cy="32385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ect 30"/>
          <p:cNvSpPr/>
          <p:nvPr/>
        </p:nvSpPr>
        <p:spPr>
          <a:xfrm>
            <a:off x="3500350" y="2667000"/>
            <a:ext cx="10001" cy="32385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3647984" y="2667000"/>
            <a:ext cx="10001" cy="32385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ect 32"/>
          <p:cNvSpPr/>
          <p:nvPr/>
        </p:nvSpPr>
        <p:spPr>
          <a:xfrm>
            <a:off x="3795618" y="2667000"/>
            <a:ext cx="10001" cy="32385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3943251" y="2667000"/>
            <a:ext cx="10001" cy="32385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Rect 34"/>
          <p:cNvSpPr/>
          <p:nvPr/>
        </p:nvSpPr>
        <p:spPr>
          <a:xfrm>
            <a:off x="4090885" y="2667000"/>
            <a:ext cx="10001" cy="32385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4238519" y="2667000"/>
            <a:ext cx="10001" cy="32385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ect 36"/>
          <p:cNvSpPr/>
          <p:nvPr/>
        </p:nvSpPr>
        <p:spPr>
          <a:xfrm>
            <a:off x="4386153" y="2667000"/>
            <a:ext cx="10001" cy="32385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ect 37"/>
          <p:cNvSpPr/>
          <p:nvPr/>
        </p:nvSpPr>
        <p:spPr>
          <a:xfrm>
            <a:off x="4533787" y="2667000"/>
            <a:ext cx="10001" cy="32385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Rect 38"/>
          <p:cNvSpPr/>
          <p:nvPr/>
        </p:nvSpPr>
        <p:spPr>
          <a:xfrm>
            <a:off x="4681420" y="2667000"/>
            <a:ext cx="10001" cy="32385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Rect 39"/>
          <p:cNvSpPr/>
          <p:nvPr/>
        </p:nvSpPr>
        <p:spPr>
          <a:xfrm>
            <a:off x="4829054" y="2667000"/>
            <a:ext cx="10001" cy="32385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Rect 40"/>
          <p:cNvSpPr/>
          <p:nvPr/>
        </p:nvSpPr>
        <p:spPr>
          <a:xfrm>
            <a:off x="4976688" y="2667000"/>
            <a:ext cx="10001" cy="32385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Rect 41"/>
          <p:cNvSpPr/>
          <p:nvPr/>
        </p:nvSpPr>
        <p:spPr>
          <a:xfrm>
            <a:off x="5124322" y="2667000"/>
            <a:ext cx="10001" cy="32385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Rect 42"/>
          <p:cNvSpPr/>
          <p:nvPr/>
        </p:nvSpPr>
        <p:spPr>
          <a:xfrm>
            <a:off x="5271956" y="2667000"/>
            <a:ext cx="10001" cy="32385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ect 43"/>
          <p:cNvSpPr/>
          <p:nvPr/>
        </p:nvSpPr>
        <p:spPr>
          <a:xfrm>
            <a:off x="5419590" y="2667000"/>
            <a:ext cx="10001" cy="32385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ect 44"/>
          <p:cNvSpPr/>
          <p:nvPr/>
        </p:nvSpPr>
        <p:spPr>
          <a:xfrm>
            <a:off x="5567223" y="2667000"/>
            <a:ext cx="10001" cy="32385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Rect 45"/>
          <p:cNvSpPr/>
          <p:nvPr/>
        </p:nvSpPr>
        <p:spPr>
          <a:xfrm>
            <a:off x="5714857" y="2667000"/>
            <a:ext cx="10001" cy="3238500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Rect 46"/>
          <p:cNvSpPr/>
          <p:nvPr/>
        </p:nvSpPr>
        <p:spPr>
          <a:xfrm>
            <a:off x="990575" y="2667000"/>
            <a:ext cx="4714757" cy="10001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Rect 47"/>
          <p:cNvSpPr/>
          <p:nvPr/>
        </p:nvSpPr>
        <p:spPr>
          <a:xfrm>
            <a:off x="990575" y="2814638"/>
            <a:ext cx="4714757" cy="10001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Rect 48"/>
          <p:cNvSpPr/>
          <p:nvPr/>
        </p:nvSpPr>
        <p:spPr>
          <a:xfrm>
            <a:off x="990575" y="2962275"/>
            <a:ext cx="4714757" cy="10001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Rect 49"/>
          <p:cNvSpPr/>
          <p:nvPr/>
        </p:nvSpPr>
        <p:spPr>
          <a:xfrm>
            <a:off x="990575" y="3109912"/>
            <a:ext cx="4714757" cy="10001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Rect 50"/>
          <p:cNvSpPr/>
          <p:nvPr/>
        </p:nvSpPr>
        <p:spPr>
          <a:xfrm>
            <a:off x="990575" y="3257550"/>
            <a:ext cx="4714757" cy="10001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Rect 51"/>
          <p:cNvSpPr/>
          <p:nvPr/>
        </p:nvSpPr>
        <p:spPr>
          <a:xfrm>
            <a:off x="990575" y="3405188"/>
            <a:ext cx="4714757" cy="10001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Rect 52"/>
          <p:cNvSpPr/>
          <p:nvPr/>
        </p:nvSpPr>
        <p:spPr>
          <a:xfrm>
            <a:off x="990575" y="3552825"/>
            <a:ext cx="4714757" cy="10001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Rect 53"/>
          <p:cNvSpPr/>
          <p:nvPr/>
        </p:nvSpPr>
        <p:spPr>
          <a:xfrm>
            <a:off x="990575" y="3700462"/>
            <a:ext cx="4714757" cy="10001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Rect 54"/>
          <p:cNvSpPr/>
          <p:nvPr/>
        </p:nvSpPr>
        <p:spPr>
          <a:xfrm>
            <a:off x="990575" y="3848100"/>
            <a:ext cx="4714757" cy="10001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Rect 55"/>
          <p:cNvSpPr/>
          <p:nvPr/>
        </p:nvSpPr>
        <p:spPr>
          <a:xfrm>
            <a:off x="990575" y="3995738"/>
            <a:ext cx="4714757" cy="10001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Rect 56"/>
          <p:cNvSpPr/>
          <p:nvPr/>
        </p:nvSpPr>
        <p:spPr>
          <a:xfrm>
            <a:off x="990575" y="4143375"/>
            <a:ext cx="4714757" cy="10001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Rect 57"/>
          <p:cNvSpPr/>
          <p:nvPr/>
        </p:nvSpPr>
        <p:spPr>
          <a:xfrm>
            <a:off x="990575" y="4291012"/>
            <a:ext cx="4714757" cy="10001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Rect 58"/>
          <p:cNvSpPr/>
          <p:nvPr/>
        </p:nvSpPr>
        <p:spPr>
          <a:xfrm>
            <a:off x="990575" y="4438650"/>
            <a:ext cx="4714757" cy="10001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Rect 59"/>
          <p:cNvSpPr/>
          <p:nvPr/>
        </p:nvSpPr>
        <p:spPr>
          <a:xfrm>
            <a:off x="990575" y="4586288"/>
            <a:ext cx="4714757" cy="10001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Rect 60"/>
          <p:cNvSpPr/>
          <p:nvPr/>
        </p:nvSpPr>
        <p:spPr>
          <a:xfrm>
            <a:off x="990575" y="4733925"/>
            <a:ext cx="4714757" cy="10001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Rect 61"/>
          <p:cNvSpPr/>
          <p:nvPr/>
        </p:nvSpPr>
        <p:spPr>
          <a:xfrm>
            <a:off x="990575" y="4881562"/>
            <a:ext cx="4714757" cy="10001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Rect 62"/>
          <p:cNvSpPr/>
          <p:nvPr/>
        </p:nvSpPr>
        <p:spPr>
          <a:xfrm>
            <a:off x="990575" y="5029200"/>
            <a:ext cx="4714757" cy="10001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Rect 63"/>
          <p:cNvSpPr/>
          <p:nvPr/>
        </p:nvSpPr>
        <p:spPr>
          <a:xfrm>
            <a:off x="990575" y="5176838"/>
            <a:ext cx="4714757" cy="10001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Rect 64"/>
          <p:cNvSpPr/>
          <p:nvPr/>
        </p:nvSpPr>
        <p:spPr>
          <a:xfrm>
            <a:off x="990575" y="5324475"/>
            <a:ext cx="4714757" cy="10001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Rect 65"/>
          <p:cNvSpPr/>
          <p:nvPr/>
        </p:nvSpPr>
        <p:spPr>
          <a:xfrm>
            <a:off x="990575" y="5472112"/>
            <a:ext cx="4714757" cy="10001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Rect 66"/>
          <p:cNvSpPr/>
          <p:nvPr/>
        </p:nvSpPr>
        <p:spPr>
          <a:xfrm>
            <a:off x="990575" y="5619750"/>
            <a:ext cx="4714757" cy="10001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Rect 67"/>
          <p:cNvSpPr/>
          <p:nvPr/>
        </p:nvSpPr>
        <p:spPr>
          <a:xfrm>
            <a:off x="990575" y="5767388"/>
            <a:ext cx="4714757" cy="10001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Rect 68"/>
          <p:cNvSpPr/>
          <p:nvPr/>
        </p:nvSpPr>
        <p:spPr>
          <a:xfrm>
            <a:off x="990575" y="5915025"/>
            <a:ext cx="4714757" cy="10001"/>
          </a:xfrm>
          <a:prstGeom prst="rect">
            <a:avLst/>
          </a:prstGeom>
          <a:solidFill>
            <a:srgbClr val="F9FAF8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Rect 69"/>
          <p:cNvSpPr/>
          <p:nvPr/>
        </p:nvSpPr>
        <p:spPr>
          <a:xfrm>
            <a:off x="2485963" y="26860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Rect 70"/>
          <p:cNvSpPr/>
          <p:nvPr/>
        </p:nvSpPr>
        <p:spPr>
          <a:xfrm>
            <a:off x="2628834" y="2686050"/>
            <a:ext cx="123822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Rect 71"/>
          <p:cNvSpPr/>
          <p:nvPr/>
        </p:nvSpPr>
        <p:spPr>
          <a:xfrm>
            <a:off x="2781230" y="26860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Rect 72"/>
          <p:cNvSpPr/>
          <p:nvPr/>
        </p:nvSpPr>
        <p:spPr>
          <a:xfrm>
            <a:off x="4400440" y="26860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Rect 73"/>
          <p:cNvSpPr/>
          <p:nvPr/>
        </p:nvSpPr>
        <p:spPr>
          <a:xfrm>
            <a:off x="4543311" y="2686050"/>
            <a:ext cx="123822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Rect 74"/>
          <p:cNvSpPr/>
          <p:nvPr/>
        </p:nvSpPr>
        <p:spPr>
          <a:xfrm>
            <a:off x="4695708" y="26860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Rect 75"/>
          <p:cNvSpPr/>
          <p:nvPr/>
        </p:nvSpPr>
        <p:spPr>
          <a:xfrm>
            <a:off x="5571986" y="3419475"/>
            <a:ext cx="123822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6" name="Rect 76"/>
          <p:cNvSpPr/>
          <p:nvPr/>
        </p:nvSpPr>
        <p:spPr>
          <a:xfrm>
            <a:off x="5571986" y="3562350"/>
            <a:ext cx="123822" cy="12382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Rect 77"/>
          <p:cNvSpPr/>
          <p:nvPr/>
        </p:nvSpPr>
        <p:spPr>
          <a:xfrm>
            <a:off x="5571986" y="3714750"/>
            <a:ext cx="123822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Rect 78"/>
          <p:cNvSpPr/>
          <p:nvPr/>
        </p:nvSpPr>
        <p:spPr>
          <a:xfrm>
            <a:off x="5571986" y="4591050"/>
            <a:ext cx="123822" cy="12382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9" name="Rect 79"/>
          <p:cNvSpPr/>
          <p:nvPr/>
        </p:nvSpPr>
        <p:spPr>
          <a:xfrm>
            <a:off x="5571986" y="4743450"/>
            <a:ext cx="123822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0" name="Rect 80"/>
          <p:cNvSpPr/>
          <p:nvPr/>
        </p:nvSpPr>
        <p:spPr>
          <a:xfrm>
            <a:off x="5571986" y="4886325"/>
            <a:ext cx="123822" cy="12382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Rect 81"/>
          <p:cNvSpPr/>
          <p:nvPr/>
        </p:nvSpPr>
        <p:spPr>
          <a:xfrm>
            <a:off x="2038299" y="5772150"/>
            <a:ext cx="123822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Rect 82"/>
          <p:cNvSpPr/>
          <p:nvPr/>
        </p:nvSpPr>
        <p:spPr>
          <a:xfrm>
            <a:off x="2190695" y="57721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Rect 83"/>
          <p:cNvSpPr/>
          <p:nvPr/>
        </p:nvSpPr>
        <p:spPr>
          <a:xfrm>
            <a:off x="2333567" y="5772150"/>
            <a:ext cx="123822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4" name="Rect 84"/>
          <p:cNvSpPr/>
          <p:nvPr/>
        </p:nvSpPr>
        <p:spPr>
          <a:xfrm>
            <a:off x="4105172" y="57721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Rect 85"/>
          <p:cNvSpPr/>
          <p:nvPr/>
        </p:nvSpPr>
        <p:spPr>
          <a:xfrm>
            <a:off x="4248044" y="5772150"/>
            <a:ext cx="123822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Rect 86"/>
          <p:cNvSpPr/>
          <p:nvPr/>
        </p:nvSpPr>
        <p:spPr>
          <a:xfrm>
            <a:off x="4400440" y="57721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7" name="Ellipse 87"/>
          <p:cNvSpPr/>
          <p:nvPr/>
        </p:nvSpPr>
        <p:spPr>
          <a:xfrm>
            <a:off x="1781130" y="34480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8" name="Ellipse 88"/>
          <p:cNvSpPr/>
          <p:nvPr/>
        </p:nvSpPr>
        <p:spPr>
          <a:xfrm>
            <a:off x="1924002" y="34480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Ellipse 89"/>
          <p:cNvSpPr/>
          <p:nvPr/>
        </p:nvSpPr>
        <p:spPr>
          <a:xfrm>
            <a:off x="2076398" y="34480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Ellipse 90"/>
          <p:cNvSpPr/>
          <p:nvPr/>
        </p:nvSpPr>
        <p:spPr>
          <a:xfrm>
            <a:off x="2219270" y="34480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1" name="Ellipse 91"/>
          <p:cNvSpPr/>
          <p:nvPr/>
        </p:nvSpPr>
        <p:spPr>
          <a:xfrm>
            <a:off x="2371666" y="3448050"/>
            <a:ext cx="47624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Ellipse 92"/>
          <p:cNvSpPr/>
          <p:nvPr/>
        </p:nvSpPr>
        <p:spPr>
          <a:xfrm>
            <a:off x="2666933" y="3448050"/>
            <a:ext cx="47624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3" name="Ellipse 93"/>
          <p:cNvSpPr/>
          <p:nvPr/>
        </p:nvSpPr>
        <p:spPr>
          <a:xfrm>
            <a:off x="2809805" y="34480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4" name="Ellipse 94"/>
          <p:cNvSpPr/>
          <p:nvPr/>
        </p:nvSpPr>
        <p:spPr>
          <a:xfrm>
            <a:off x="2952676" y="34480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Ellipse 95"/>
          <p:cNvSpPr/>
          <p:nvPr/>
        </p:nvSpPr>
        <p:spPr>
          <a:xfrm>
            <a:off x="3105072" y="34480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6" name="Ellipse 96"/>
          <p:cNvSpPr/>
          <p:nvPr/>
        </p:nvSpPr>
        <p:spPr>
          <a:xfrm>
            <a:off x="3543211" y="34480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7" name="Ellipse 97"/>
          <p:cNvSpPr/>
          <p:nvPr/>
        </p:nvSpPr>
        <p:spPr>
          <a:xfrm>
            <a:off x="3695608" y="34480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8" name="Ellipse 98"/>
          <p:cNvSpPr/>
          <p:nvPr/>
        </p:nvSpPr>
        <p:spPr>
          <a:xfrm>
            <a:off x="3838479" y="34480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9" name="Ellipse 99"/>
          <p:cNvSpPr/>
          <p:nvPr/>
        </p:nvSpPr>
        <p:spPr>
          <a:xfrm>
            <a:off x="3990875" y="3448050"/>
            <a:ext cx="47624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" name="Ellipse 100"/>
          <p:cNvSpPr/>
          <p:nvPr/>
        </p:nvSpPr>
        <p:spPr>
          <a:xfrm>
            <a:off x="4133747" y="34480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Ellipse 101"/>
          <p:cNvSpPr/>
          <p:nvPr/>
        </p:nvSpPr>
        <p:spPr>
          <a:xfrm>
            <a:off x="4286143" y="3448050"/>
            <a:ext cx="47624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Ellipse 102"/>
          <p:cNvSpPr/>
          <p:nvPr/>
        </p:nvSpPr>
        <p:spPr>
          <a:xfrm>
            <a:off x="4429014" y="34480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Ellipse 103"/>
          <p:cNvSpPr/>
          <p:nvPr/>
        </p:nvSpPr>
        <p:spPr>
          <a:xfrm>
            <a:off x="4571886" y="34480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Ellipse 104"/>
          <p:cNvSpPr/>
          <p:nvPr/>
        </p:nvSpPr>
        <p:spPr>
          <a:xfrm>
            <a:off x="1781130" y="3590925"/>
            <a:ext cx="57149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Ellipse 105"/>
          <p:cNvSpPr/>
          <p:nvPr/>
        </p:nvSpPr>
        <p:spPr>
          <a:xfrm>
            <a:off x="1924002" y="35909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" name="Ellipse 106"/>
          <p:cNvSpPr/>
          <p:nvPr/>
        </p:nvSpPr>
        <p:spPr>
          <a:xfrm>
            <a:off x="2076398" y="3590925"/>
            <a:ext cx="57149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Ellipse 107"/>
          <p:cNvSpPr/>
          <p:nvPr/>
        </p:nvSpPr>
        <p:spPr>
          <a:xfrm>
            <a:off x="2219270" y="35909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" name="Ellipse 108"/>
          <p:cNvSpPr/>
          <p:nvPr/>
        </p:nvSpPr>
        <p:spPr>
          <a:xfrm>
            <a:off x="2362141" y="35909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" name="Ellipse 109"/>
          <p:cNvSpPr/>
          <p:nvPr/>
        </p:nvSpPr>
        <p:spPr>
          <a:xfrm>
            <a:off x="2657409" y="35909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" name="Ellipse 110"/>
          <p:cNvSpPr/>
          <p:nvPr/>
        </p:nvSpPr>
        <p:spPr>
          <a:xfrm>
            <a:off x="2809805" y="35909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" name="Ellipse 111"/>
          <p:cNvSpPr/>
          <p:nvPr/>
        </p:nvSpPr>
        <p:spPr>
          <a:xfrm>
            <a:off x="2952676" y="3590925"/>
            <a:ext cx="57149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Ellipse 112"/>
          <p:cNvSpPr/>
          <p:nvPr/>
        </p:nvSpPr>
        <p:spPr>
          <a:xfrm>
            <a:off x="3105072" y="35909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" name="Ellipse 113"/>
          <p:cNvSpPr/>
          <p:nvPr/>
        </p:nvSpPr>
        <p:spPr>
          <a:xfrm>
            <a:off x="3543211" y="35909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" name="Ellipse 114"/>
          <p:cNvSpPr/>
          <p:nvPr/>
        </p:nvSpPr>
        <p:spPr>
          <a:xfrm>
            <a:off x="3695608" y="3590925"/>
            <a:ext cx="57149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" name="Ellipse 115"/>
          <p:cNvSpPr/>
          <p:nvPr/>
        </p:nvSpPr>
        <p:spPr>
          <a:xfrm>
            <a:off x="3838479" y="35909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" name="Ellipse 116"/>
          <p:cNvSpPr/>
          <p:nvPr/>
        </p:nvSpPr>
        <p:spPr>
          <a:xfrm>
            <a:off x="3981350" y="35909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" name="Ellipse 117"/>
          <p:cNvSpPr/>
          <p:nvPr/>
        </p:nvSpPr>
        <p:spPr>
          <a:xfrm>
            <a:off x="4276618" y="359092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" name="Ellipse 118"/>
          <p:cNvSpPr/>
          <p:nvPr/>
        </p:nvSpPr>
        <p:spPr>
          <a:xfrm>
            <a:off x="4133747" y="3600450"/>
            <a:ext cx="57149" cy="4762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" name="Ellipse 119"/>
          <p:cNvSpPr/>
          <p:nvPr/>
        </p:nvSpPr>
        <p:spPr>
          <a:xfrm>
            <a:off x="1781130" y="3886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" name="Ellipse 120"/>
          <p:cNvSpPr/>
          <p:nvPr/>
        </p:nvSpPr>
        <p:spPr>
          <a:xfrm>
            <a:off x="1924002" y="3886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" name="Ellipse 121"/>
          <p:cNvSpPr/>
          <p:nvPr/>
        </p:nvSpPr>
        <p:spPr>
          <a:xfrm>
            <a:off x="2076398" y="3886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" name="Ellipse 122"/>
          <p:cNvSpPr/>
          <p:nvPr/>
        </p:nvSpPr>
        <p:spPr>
          <a:xfrm>
            <a:off x="2219270" y="3886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" name="Ellipse 123"/>
          <p:cNvSpPr/>
          <p:nvPr/>
        </p:nvSpPr>
        <p:spPr>
          <a:xfrm>
            <a:off x="2362141" y="3886200"/>
            <a:ext cx="66673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" name="Ellipse 124"/>
          <p:cNvSpPr/>
          <p:nvPr/>
        </p:nvSpPr>
        <p:spPr>
          <a:xfrm>
            <a:off x="2514537" y="3886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" name="Ellipse 125"/>
          <p:cNvSpPr/>
          <p:nvPr/>
        </p:nvSpPr>
        <p:spPr>
          <a:xfrm>
            <a:off x="2657409" y="3886200"/>
            <a:ext cx="66673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" name="Ellipse 126"/>
          <p:cNvSpPr/>
          <p:nvPr/>
        </p:nvSpPr>
        <p:spPr>
          <a:xfrm>
            <a:off x="2952676" y="3886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" name="Ellipse 127"/>
          <p:cNvSpPr/>
          <p:nvPr/>
        </p:nvSpPr>
        <p:spPr>
          <a:xfrm>
            <a:off x="3105072" y="3886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" name="Ellipse 128"/>
          <p:cNvSpPr/>
          <p:nvPr/>
        </p:nvSpPr>
        <p:spPr>
          <a:xfrm>
            <a:off x="3543211" y="3886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" name="Ellipse 129"/>
          <p:cNvSpPr/>
          <p:nvPr/>
        </p:nvSpPr>
        <p:spPr>
          <a:xfrm>
            <a:off x="3695608" y="3886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" name="Ellipse 130"/>
          <p:cNvSpPr/>
          <p:nvPr/>
        </p:nvSpPr>
        <p:spPr>
          <a:xfrm>
            <a:off x="3838479" y="3886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" name="Ellipse 131"/>
          <p:cNvSpPr/>
          <p:nvPr/>
        </p:nvSpPr>
        <p:spPr>
          <a:xfrm>
            <a:off x="3981350" y="3886200"/>
            <a:ext cx="66673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" name="Ellipse 132"/>
          <p:cNvSpPr/>
          <p:nvPr/>
        </p:nvSpPr>
        <p:spPr>
          <a:xfrm>
            <a:off x="4133747" y="3886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" name="Ellipse 133"/>
          <p:cNvSpPr/>
          <p:nvPr/>
        </p:nvSpPr>
        <p:spPr>
          <a:xfrm>
            <a:off x="4276618" y="3886200"/>
            <a:ext cx="66673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" name="Ellipse 134"/>
          <p:cNvSpPr/>
          <p:nvPr/>
        </p:nvSpPr>
        <p:spPr>
          <a:xfrm>
            <a:off x="4429014" y="3886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" name="Ellipse 135"/>
          <p:cNvSpPr/>
          <p:nvPr/>
        </p:nvSpPr>
        <p:spPr>
          <a:xfrm>
            <a:off x="4571886" y="3886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" name="Ellipse 136"/>
          <p:cNvSpPr/>
          <p:nvPr/>
        </p:nvSpPr>
        <p:spPr>
          <a:xfrm>
            <a:off x="4724282" y="3886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" name="Ellipse 137"/>
          <p:cNvSpPr/>
          <p:nvPr/>
        </p:nvSpPr>
        <p:spPr>
          <a:xfrm>
            <a:off x="4867153" y="3886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" name="Ellipse 138"/>
          <p:cNvSpPr/>
          <p:nvPr/>
        </p:nvSpPr>
        <p:spPr>
          <a:xfrm>
            <a:off x="1781130" y="40386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" name="Ellipse 139"/>
          <p:cNvSpPr/>
          <p:nvPr/>
        </p:nvSpPr>
        <p:spPr>
          <a:xfrm>
            <a:off x="1924002" y="40386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" name="Ellipse 140"/>
          <p:cNvSpPr/>
          <p:nvPr/>
        </p:nvSpPr>
        <p:spPr>
          <a:xfrm>
            <a:off x="2076398" y="40386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" name="Ellipse 141"/>
          <p:cNvSpPr/>
          <p:nvPr/>
        </p:nvSpPr>
        <p:spPr>
          <a:xfrm>
            <a:off x="2219270" y="40386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" name="Ellipse 142"/>
          <p:cNvSpPr/>
          <p:nvPr/>
        </p:nvSpPr>
        <p:spPr>
          <a:xfrm>
            <a:off x="2514537" y="40386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" name="Ellipse 143"/>
          <p:cNvSpPr/>
          <p:nvPr/>
        </p:nvSpPr>
        <p:spPr>
          <a:xfrm>
            <a:off x="2657409" y="40386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" name="Ellipse 144"/>
          <p:cNvSpPr/>
          <p:nvPr/>
        </p:nvSpPr>
        <p:spPr>
          <a:xfrm>
            <a:off x="2809805" y="40386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" name="Ellipse 145"/>
          <p:cNvSpPr/>
          <p:nvPr/>
        </p:nvSpPr>
        <p:spPr>
          <a:xfrm>
            <a:off x="2952676" y="40386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" name="Ellipse 146"/>
          <p:cNvSpPr/>
          <p:nvPr/>
        </p:nvSpPr>
        <p:spPr>
          <a:xfrm>
            <a:off x="3105072" y="40386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" name="Ellipse 147"/>
          <p:cNvSpPr/>
          <p:nvPr/>
        </p:nvSpPr>
        <p:spPr>
          <a:xfrm>
            <a:off x="3543211" y="40386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" name="Ellipse 148"/>
          <p:cNvSpPr/>
          <p:nvPr/>
        </p:nvSpPr>
        <p:spPr>
          <a:xfrm>
            <a:off x="3695608" y="40386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" name="Ellipse 149"/>
          <p:cNvSpPr/>
          <p:nvPr/>
        </p:nvSpPr>
        <p:spPr>
          <a:xfrm>
            <a:off x="3838479" y="40386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" name="Ellipse 150"/>
          <p:cNvSpPr/>
          <p:nvPr/>
        </p:nvSpPr>
        <p:spPr>
          <a:xfrm>
            <a:off x="3990875" y="40386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1" name="Ellipse 151"/>
          <p:cNvSpPr/>
          <p:nvPr/>
        </p:nvSpPr>
        <p:spPr>
          <a:xfrm>
            <a:off x="4133747" y="40386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" name="Ellipse 152"/>
          <p:cNvSpPr/>
          <p:nvPr/>
        </p:nvSpPr>
        <p:spPr>
          <a:xfrm>
            <a:off x="4276618" y="40386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" name="Ellipse 153"/>
          <p:cNvSpPr/>
          <p:nvPr/>
        </p:nvSpPr>
        <p:spPr>
          <a:xfrm>
            <a:off x="4429014" y="40386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" name="Ellipse 154"/>
          <p:cNvSpPr/>
          <p:nvPr/>
        </p:nvSpPr>
        <p:spPr>
          <a:xfrm>
            <a:off x="4571886" y="40386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" name="Ellipse 155"/>
          <p:cNvSpPr/>
          <p:nvPr/>
        </p:nvSpPr>
        <p:spPr>
          <a:xfrm>
            <a:off x="4724282" y="40386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" name="Ellipse 156"/>
          <p:cNvSpPr/>
          <p:nvPr/>
        </p:nvSpPr>
        <p:spPr>
          <a:xfrm>
            <a:off x="4867153" y="40386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" name="Ellipse 157"/>
          <p:cNvSpPr/>
          <p:nvPr/>
        </p:nvSpPr>
        <p:spPr>
          <a:xfrm>
            <a:off x="1781130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" name="Ellipse 158"/>
          <p:cNvSpPr/>
          <p:nvPr/>
        </p:nvSpPr>
        <p:spPr>
          <a:xfrm>
            <a:off x="1924002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9" name="Ellipse 159"/>
          <p:cNvSpPr/>
          <p:nvPr/>
        </p:nvSpPr>
        <p:spPr>
          <a:xfrm>
            <a:off x="2076398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0" name="Ellipse 160"/>
          <p:cNvSpPr/>
          <p:nvPr/>
        </p:nvSpPr>
        <p:spPr>
          <a:xfrm>
            <a:off x="2219270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1" name="Ellipse 161"/>
          <p:cNvSpPr/>
          <p:nvPr/>
        </p:nvSpPr>
        <p:spPr>
          <a:xfrm>
            <a:off x="2371666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2" name="Ellipse 162"/>
          <p:cNvSpPr/>
          <p:nvPr/>
        </p:nvSpPr>
        <p:spPr>
          <a:xfrm>
            <a:off x="2514537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3" name="Ellipse 163"/>
          <p:cNvSpPr/>
          <p:nvPr/>
        </p:nvSpPr>
        <p:spPr>
          <a:xfrm>
            <a:off x="2657409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4" name="Ellipse 164"/>
          <p:cNvSpPr/>
          <p:nvPr/>
        </p:nvSpPr>
        <p:spPr>
          <a:xfrm>
            <a:off x="2809805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5" name="Ellipse 165"/>
          <p:cNvSpPr/>
          <p:nvPr/>
        </p:nvSpPr>
        <p:spPr>
          <a:xfrm>
            <a:off x="2952676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6" name="Ellipse 166"/>
          <p:cNvSpPr/>
          <p:nvPr/>
        </p:nvSpPr>
        <p:spPr>
          <a:xfrm>
            <a:off x="3105072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7" name="Ellipse 167"/>
          <p:cNvSpPr/>
          <p:nvPr/>
        </p:nvSpPr>
        <p:spPr>
          <a:xfrm>
            <a:off x="3543211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8" name="Ellipse 168"/>
          <p:cNvSpPr/>
          <p:nvPr/>
        </p:nvSpPr>
        <p:spPr>
          <a:xfrm>
            <a:off x="3695608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9" name="Ellipse 169"/>
          <p:cNvSpPr/>
          <p:nvPr/>
        </p:nvSpPr>
        <p:spPr>
          <a:xfrm>
            <a:off x="3838479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0" name="Ellipse 170"/>
          <p:cNvSpPr/>
          <p:nvPr/>
        </p:nvSpPr>
        <p:spPr>
          <a:xfrm>
            <a:off x="3990875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1" name="Ellipse 171"/>
          <p:cNvSpPr/>
          <p:nvPr/>
        </p:nvSpPr>
        <p:spPr>
          <a:xfrm>
            <a:off x="4133747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2" name="Ellipse 172"/>
          <p:cNvSpPr/>
          <p:nvPr/>
        </p:nvSpPr>
        <p:spPr>
          <a:xfrm>
            <a:off x="4276618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3" name="Ellipse 173"/>
          <p:cNvSpPr/>
          <p:nvPr/>
        </p:nvSpPr>
        <p:spPr>
          <a:xfrm>
            <a:off x="4429014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4" name="Ellipse 174"/>
          <p:cNvSpPr/>
          <p:nvPr/>
        </p:nvSpPr>
        <p:spPr>
          <a:xfrm>
            <a:off x="4571886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5" name="Ellipse 175"/>
          <p:cNvSpPr/>
          <p:nvPr/>
        </p:nvSpPr>
        <p:spPr>
          <a:xfrm>
            <a:off x="4724282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6" name="Ellipse 176"/>
          <p:cNvSpPr/>
          <p:nvPr/>
        </p:nvSpPr>
        <p:spPr>
          <a:xfrm>
            <a:off x="4867153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7" name="Ellipse 177"/>
          <p:cNvSpPr/>
          <p:nvPr/>
        </p:nvSpPr>
        <p:spPr>
          <a:xfrm>
            <a:off x="1781130" y="4629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8" name="Ellipse 178"/>
          <p:cNvSpPr/>
          <p:nvPr/>
        </p:nvSpPr>
        <p:spPr>
          <a:xfrm>
            <a:off x="1924002" y="4629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9" name="Ellipse 179"/>
          <p:cNvSpPr/>
          <p:nvPr/>
        </p:nvSpPr>
        <p:spPr>
          <a:xfrm>
            <a:off x="2076398" y="4629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0" name="Ellipse 180"/>
          <p:cNvSpPr/>
          <p:nvPr/>
        </p:nvSpPr>
        <p:spPr>
          <a:xfrm>
            <a:off x="2219270" y="4629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1" name="Ellipse 181"/>
          <p:cNvSpPr/>
          <p:nvPr/>
        </p:nvSpPr>
        <p:spPr>
          <a:xfrm>
            <a:off x="2362141" y="4629150"/>
            <a:ext cx="66673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2" name="Ellipse 182"/>
          <p:cNvSpPr/>
          <p:nvPr/>
        </p:nvSpPr>
        <p:spPr>
          <a:xfrm>
            <a:off x="2514537" y="4629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3" name="Ellipse 183"/>
          <p:cNvSpPr/>
          <p:nvPr/>
        </p:nvSpPr>
        <p:spPr>
          <a:xfrm>
            <a:off x="2657409" y="4629150"/>
            <a:ext cx="66673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4" name="Ellipse 184"/>
          <p:cNvSpPr/>
          <p:nvPr/>
        </p:nvSpPr>
        <p:spPr>
          <a:xfrm>
            <a:off x="2809805" y="4629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5" name="Ellipse 185"/>
          <p:cNvSpPr/>
          <p:nvPr/>
        </p:nvSpPr>
        <p:spPr>
          <a:xfrm>
            <a:off x="2952676" y="4629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6" name="Ellipse 186"/>
          <p:cNvSpPr/>
          <p:nvPr/>
        </p:nvSpPr>
        <p:spPr>
          <a:xfrm>
            <a:off x="3105072" y="4629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7" name="Ellipse 187"/>
          <p:cNvSpPr/>
          <p:nvPr/>
        </p:nvSpPr>
        <p:spPr>
          <a:xfrm>
            <a:off x="3543211" y="4629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8" name="Ellipse 188"/>
          <p:cNvSpPr/>
          <p:nvPr/>
        </p:nvSpPr>
        <p:spPr>
          <a:xfrm>
            <a:off x="3695608" y="4629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9" name="Ellipse 189"/>
          <p:cNvSpPr/>
          <p:nvPr/>
        </p:nvSpPr>
        <p:spPr>
          <a:xfrm>
            <a:off x="3981350" y="4629150"/>
            <a:ext cx="66673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0" name="Ellipse 190"/>
          <p:cNvSpPr/>
          <p:nvPr/>
        </p:nvSpPr>
        <p:spPr>
          <a:xfrm>
            <a:off x="4133747" y="4629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1" name="Ellipse 191"/>
          <p:cNvSpPr/>
          <p:nvPr/>
        </p:nvSpPr>
        <p:spPr>
          <a:xfrm>
            <a:off x="4276618" y="4629150"/>
            <a:ext cx="66673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2" name="Ellipse 192"/>
          <p:cNvSpPr/>
          <p:nvPr/>
        </p:nvSpPr>
        <p:spPr>
          <a:xfrm>
            <a:off x="4429014" y="4629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3" name="Ellipse 193"/>
          <p:cNvSpPr/>
          <p:nvPr/>
        </p:nvSpPr>
        <p:spPr>
          <a:xfrm>
            <a:off x="4571886" y="4629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4" name="Ellipse 194"/>
          <p:cNvSpPr/>
          <p:nvPr/>
        </p:nvSpPr>
        <p:spPr>
          <a:xfrm>
            <a:off x="4724282" y="4629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5" name="Ellipse 195"/>
          <p:cNvSpPr/>
          <p:nvPr/>
        </p:nvSpPr>
        <p:spPr>
          <a:xfrm>
            <a:off x="4867153" y="4629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6" name="Ellipse 196"/>
          <p:cNvSpPr/>
          <p:nvPr/>
        </p:nvSpPr>
        <p:spPr>
          <a:xfrm>
            <a:off x="1781130" y="4914900"/>
            <a:ext cx="57149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7" name="Ellipse 197"/>
          <p:cNvSpPr/>
          <p:nvPr/>
        </p:nvSpPr>
        <p:spPr>
          <a:xfrm>
            <a:off x="2076398" y="4914900"/>
            <a:ext cx="57149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8" name="Ellipse 198"/>
          <p:cNvSpPr/>
          <p:nvPr/>
        </p:nvSpPr>
        <p:spPr>
          <a:xfrm>
            <a:off x="2362141" y="491490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9" name="Ellipse 199"/>
          <p:cNvSpPr/>
          <p:nvPr/>
        </p:nvSpPr>
        <p:spPr>
          <a:xfrm>
            <a:off x="2657409" y="491490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0" name="Ellipse 200"/>
          <p:cNvSpPr/>
          <p:nvPr/>
        </p:nvSpPr>
        <p:spPr>
          <a:xfrm>
            <a:off x="2952676" y="4914900"/>
            <a:ext cx="57149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Ellipse 201"/>
          <p:cNvSpPr/>
          <p:nvPr/>
        </p:nvSpPr>
        <p:spPr>
          <a:xfrm>
            <a:off x="3695608" y="4914900"/>
            <a:ext cx="57149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Ellipse 202"/>
          <p:cNvSpPr/>
          <p:nvPr/>
        </p:nvSpPr>
        <p:spPr>
          <a:xfrm>
            <a:off x="3981350" y="491490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Ellipse 203"/>
          <p:cNvSpPr/>
          <p:nvPr/>
        </p:nvSpPr>
        <p:spPr>
          <a:xfrm>
            <a:off x="4276618" y="491490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Ellipse 204"/>
          <p:cNvSpPr/>
          <p:nvPr/>
        </p:nvSpPr>
        <p:spPr>
          <a:xfrm>
            <a:off x="4571886" y="4914900"/>
            <a:ext cx="57149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Ellipse 205"/>
          <p:cNvSpPr/>
          <p:nvPr/>
        </p:nvSpPr>
        <p:spPr>
          <a:xfrm>
            <a:off x="1924002" y="49244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6" name="Ellipse 206"/>
          <p:cNvSpPr/>
          <p:nvPr/>
        </p:nvSpPr>
        <p:spPr>
          <a:xfrm>
            <a:off x="2219270" y="49244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7" name="Ellipse 207"/>
          <p:cNvSpPr/>
          <p:nvPr/>
        </p:nvSpPr>
        <p:spPr>
          <a:xfrm>
            <a:off x="3105072" y="49244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8" name="Ellipse 208"/>
          <p:cNvSpPr/>
          <p:nvPr/>
        </p:nvSpPr>
        <p:spPr>
          <a:xfrm>
            <a:off x="3543211" y="49244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9" name="Ellipse 209"/>
          <p:cNvSpPr/>
          <p:nvPr/>
        </p:nvSpPr>
        <p:spPr>
          <a:xfrm>
            <a:off x="3838479" y="49244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0" name="Ellipse 210"/>
          <p:cNvSpPr/>
          <p:nvPr/>
        </p:nvSpPr>
        <p:spPr>
          <a:xfrm>
            <a:off x="4133747" y="4924425"/>
            <a:ext cx="57149" cy="4762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1" name="Ellipse 211"/>
          <p:cNvSpPr/>
          <p:nvPr/>
        </p:nvSpPr>
        <p:spPr>
          <a:xfrm>
            <a:off x="4429014" y="49244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2" name="Ellipse 212"/>
          <p:cNvSpPr/>
          <p:nvPr/>
        </p:nvSpPr>
        <p:spPr>
          <a:xfrm>
            <a:off x="1781130" y="50673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3" name="Ellipse 213"/>
          <p:cNvSpPr/>
          <p:nvPr/>
        </p:nvSpPr>
        <p:spPr>
          <a:xfrm>
            <a:off x="1924002" y="50673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4" name="Ellipse 214"/>
          <p:cNvSpPr/>
          <p:nvPr/>
        </p:nvSpPr>
        <p:spPr>
          <a:xfrm>
            <a:off x="2076398" y="50673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5" name="Ellipse 215"/>
          <p:cNvSpPr/>
          <p:nvPr/>
        </p:nvSpPr>
        <p:spPr>
          <a:xfrm>
            <a:off x="2219270" y="50673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6" name="Ellipse 216"/>
          <p:cNvSpPr/>
          <p:nvPr/>
        </p:nvSpPr>
        <p:spPr>
          <a:xfrm>
            <a:off x="2371666" y="5067300"/>
            <a:ext cx="47624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7" name="Ellipse 217"/>
          <p:cNvSpPr/>
          <p:nvPr/>
        </p:nvSpPr>
        <p:spPr>
          <a:xfrm>
            <a:off x="2666933" y="5067300"/>
            <a:ext cx="47624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8" name="Ellipse 218"/>
          <p:cNvSpPr/>
          <p:nvPr/>
        </p:nvSpPr>
        <p:spPr>
          <a:xfrm>
            <a:off x="2809805" y="50673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9" name="Ellipse 219"/>
          <p:cNvSpPr/>
          <p:nvPr/>
        </p:nvSpPr>
        <p:spPr>
          <a:xfrm>
            <a:off x="3105072" y="50673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" name="Ellipse 220"/>
          <p:cNvSpPr/>
          <p:nvPr/>
        </p:nvSpPr>
        <p:spPr>
          <a:xfrm>
            <a:off x="3543211" y="50673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" name="Ellipse 221"/>
          <p:cNvSpPr/>
          <p:nvPr/>
        </p:nvSpPr>
        <p:spPr>
          <a:xfrm>
            <a:off x="3695608" y="50673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" name="Ellipse 222"/>
          <p:cNvSpPr/>
          <p:nvPr/>
        </p:nvSpPr>
        <p:spPr>
          <a:xfrm>
            <a:off x="3990875" y="5067300"/>
            <a:ext cx="47624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" name="Ellipse 223"/>
          <p:cNvSpPr/>
          <p:nvPr/>
        </p:nvSpPr>
        <p:spPr>
          <a:xfrm>
            <a:off x="4133747" y="50673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24" name="Ellipse 224"/>
          <p:cNvSpPr/>
          <p:nvPr/>
        </p:nvSpPr>
        <p:spPr>
          <a:xfrm>
            <a:off x="4286143" y="5067300"/>
            <a:ext cx="47624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25" name="Ellipse 225"/>
          <p:cNvSpPr/>
          <p:nvPr/>
        </p:nvSpPr>
        <p:spPr>
          <a:xfrm>
            <a:off x="4429014" y="50673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26" name="Ellipse 226"/>
          <p:cNvSpPr/>
          <p:nvPr/>
        </p:nvSpPr>
        <p:spPr>
          <a:xfrm>
            <a:off x="4571886" y="50673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27" name="Rect 227"/>
          <p:cNvSpPr/>
          <p:nvPr/>
        </p:nvSpPr>
        <p:spPr>
          <a:xfrm>
            <a:off x="685783" y="571500"/>
            <a:ext cx="66673" cy="66675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txBody>
          <a:bodyPr/>
          <a:lstStyle/>
          <a:p/>
        </p:txBody>
      </p:sp>
      <p:sp>
        <p:nvSpPr>
          <p:cNvPr id="228" name="TextBox 228"/>
          <p:cNvSpPr txBox="1"/>
          <p:nvPr/>
        </p:nvSpPr>
        <p:spPr>
          <a:xfrm>
            <a:off x="857229" y="542925"/>
            <a:ext cx="1809705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60">
                <a:solidFill>
                  <a:srgbClr val="56616D"/>
                </a:solidFill>
                <a:latin typeface="PingFang SC"/>
                <a:ea typeface="PingFang SC"/>
                <a:cs typeface="PingFang SC"/>
              </a:rPr>
              <a:t>TASK 3 · CANDIDATES</a:t>
            </a:r>
            <a:endParaRPr lang="zh-CN" sz="860"/>
          </a:p>
        </p:txBody>
      </p:sp>
      <p:sp>
        <p:nvSpPr>
          <p:cNvPr id="229" name="TextBox 229"/>
          <p:cNvSpPr txBox="1"/>
          <p:nvPr/>
        </p:nvSpPr>
        <p:spPr>
          <a:xfrm>
            <a:off x="685783" y="885825"/>
            <a:ext cx="8191295" cy="4953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300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候选货位：可以被选为重点缓存点的备选位置。</a:t>
            </a:r>
            <a:endParaRPr lang="zh-CN" sz="3000"/>
          </a:p>
        </p:txBody>
      </p:sp>
      <p:sp>
        <p:nvSpPr>
          <p:cNvPr id="230" name="TextBox 230"/>
          <p:cNvSpPr txBox="1"/>
          <p:nvPr/>
        </p:nvSpPr>
        <p:spPr>
          <a:xfrm>
            <a:off x="704832" y="1914525"/>
            <a:ext cx="7429314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00">
                <a:solidFill>
                  <a:srgbClr val="6A7180"/>
                </a:solidFill>
                <a:latin typeface="PingFang SC"/>
                <a:ea typeface="PingFang SC"/>
                <a:cs typeface="PingFang SC"/>
              </a:rPr>
              <a:t>当前实验用托盘位置作为候选货位。它们代表仓库中已经存在、可以放置或周转托盘的位置。</a:t>
            </a:r>
            <a:endParaRPr lang="zh-CN" sz="1200"/>
          </a:p>
        </p:txBody>
      </p:sp>
      <p:sp>
        <p:nvSpPr>
          <p:cNvPr id="231" name="TextBox 231"/>
          <p:cNvSpPr txBox="1"/>
          <p:nvPr/>
        </p:nvSpPr>
        <p:spPr>
          <a:xfrm>
            <a:off x="6657809" y="2924175"/>
            <a:ext cx="2857429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8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它们是已知数据</a:t>
            </a:r>
            <a:endParaRPr lang="zh-CN" sz="1280"/>
          </a:p>
        </p:txBody>
      </p:sp>
      <p:sp>
        <p:nvSpPr>
          <p:cNvPr id="232" name="TextBox 232"/>
          <p:cNvSpPr txBox="1"/>
          <p:nvPr/>
        </p:nvSpPr>
        <p:spPr>
          <a:xfrm>
            <a:off x="6657809" y="3209925"/>
            <a:ext cx="3667033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4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候选货位的坐标来自 CSV，不是模型临时编造的位置。</a:t>
            </a:r>
            <a:endParaRPr lang="zh-CN" sz="840"/>
          </a:p>
        </p:txBody>
      </p:sp>
      <p:sp>
        <p:nvSpPr>
          <p:cNvPr id="233" name="TextBox 233"/>
          <p:cNvSpPr txBox="1"/>
          <p:nvPr/>
        </p:nvSpPr>
        <p:spPr>
          <a:xfrm>
            <a:off x="6657809" y="4010025"/>
            <a:ext cx="2857429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8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它们还不是最终决策</a:t>
            </a:r>
            <a:endParaRPr lang="zh-CN" sz="1280"/>
          </a:p>
        </p:txBody>
      </p:sp>
      <p:sp>
        <p:nvSpPr>
          <p:cNvPr id="234" name="TextBox 234"/>
          <p:cNvSpPr txBox="1"/>
          <p:nvPr/>
        </p:nvSpPr>
        <p:spPr>
          <a:xfrm>
            <a:off x="6657809" y="4295775"/>
            <a:ext cx="3714657" cy="3619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4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灰色点只是“可以选”。模型最后会从这些点中挑出固定数量的重点货</a:t>
            </a:r>
            <a:endParaRPr lang="zh-CN" sz="840"/>
          </a:p>
          <a:p>
            <a:pPr algn="left"/>
            <a:r>
              <a:rPr lang="zh-CN" sz="84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位。</a:t>
            </a:r>
            <a:endParaRPr lang="zh-CN" sz="840"/>
          </a:p>
        </p:txBody>
      </p:sp>
      <p:sp>
        <p:nvSpPr>
          <p:cNvPr id="235" name="TextBox 235"/>
          <p:cNvSpPr txBox="1"/>
          <p:nvPr/>
        </p:nvSpPr>
        <p:spPr>
          <a:xfrm>
            <a:off x="6657809" y="5095875"/>
            <a:ext cx="2857429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8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现实含义</a:t>
            </a:r>
            <a:endParaRPr lang="zh-CN" sz="1280"/>
          </a:p>
        </p:txBody>
      </p:sp>
      <p:sp>
        <p:nvSpPr>
          <p:cNvPr id="236" name="TextBox 236"/>
          <p:cNvSpPr txBox="1"/>
          <p:nvPr/>
        </p:nvSpPr>
        <p:spPr>
          <a:xfrm>
            <a:off x="6657809" y="5381625"/>
            <a:ext cx="3714657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4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候选点可以理解为可放货、可缓存、可中转或适合提前补货的位置。</a:t>
            </a:r>
            <a:endParaRPr lang="zh-CN" sz="840"/>
          </a:p>
        </p:txBody>
      </p:sp>
      <p:sp>
        <p:nvSpPr>
          <p:cNvPr id="237" name="TextBox 237"/>
          <p:cNvSpPr txBox="1"/>
          <p:nvPr/>
        </p:nvSpPr>
        <p:spPr>
          <a:xfrm>
            <a:off x="685783" y="6438900"/>
            <a:ext cx="4095648" cy="1333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60">
                <a:solidFill>
                  <a:srgbClr val="6A7180"/>
                </a:solidFill>
                <a:latin typeface="PingFang SC"/>
                <a:ea typeface="PingFang SC"/>
                <a:cs typeface="PingFang SC"/>
              </a:rPr>
              <a:t>AGV 仓储优化课程项目 · 本地 CSV 数据 · Python 自实现算法</a:t>
            </a:r>
            <a:endParaRPr lang="zh-CN" sz="660"/>
          </a:p>
        </p:txBody>
      </p:sp>
      <p:sp>
        <p:nvSpPr>
          <p:cNvPr id="238" name="TextBox 238"/>
          <p:cNvSpPr txBox="1"/>
          <p:nvPr/>
        </p:nvSpPr>
        <p:spPr>
          <a:xfrm>
            <a:off x="11410665" y="6438900"/>
            <a:ext cx="266693" cy="1333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20">
                <a:solidFill>
                  <a:srgbClr val="6A7180"/>
                </a:solidFill>
                <a:latin typeface="PingFang SC"/>
                <a:ea typeface="PingFang SC"/>
                <a:cs typeface="PingFang SC"/>
              </a:rPr>
              <a:t>17</a:t>
            </a:r>
            <a:endParaRPr lang="zh-CN" sz="72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695308" y="2571750"/>
            <a:ext cx="5286243" cy="3438525"/>
          </a:xfrm>
          <a:prstGeom prst="rect">
            <a:avLst/>
          </a:prstGeom>
          <a:solidFill>
            <a:srgbClr val="FFFFFF"/>
          </a:solidFill>
          <a:ln w="8890">
            <a:solidFill>
              <a:srgbClr val="DDE5EB"/>
            </a:solidFill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933427" y="2628900"/>
            <a:ext cx="4819530" cy="3324225"/>
          </a:xfrm>
          <a:prstGeom prst="rect">
            <a:avLst/>
          </a:prstGeom>
          <a:solidFill>
            <a:srgbClr val="F7FAFC"/>
          </a:solidFill>
          <a:ln w="8890">
            <a:solidFill>
              <a:srgbClr val="DDE5EB"/>
            </a:solidFill>
          </a:ln>
        </p:spPr>
        <p:txBody>
          <a:bodyPr/>
          <a:lstStyle/>
          <a:p/>
        </p:txBody>
      </p:sp>
      <p:sp>
        <p:nvSpPr>
          <p:cNvPr id="4" name="Line 4"/>
          <p:cNvSpPr/>
          <p:nvPr/>
        </p:nvSpPr>
        <p:spPr>
          <a:xfrm>
            <a:off x="685783" y="6248400"/>
            <a:ext cx="2857429" cy="0"/>
          </a:xfrm>
          <a:prstGeom prst="line">
            <a:avLst/>
          </a:prstGeom>
          <a:noFill/>
          <a:ln w="8890">
            <a:solidFill>
              <a:srgbClr val="D9E0E6"/>
            </a:solidFill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990575" y="26670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1142971" y="26670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1285843" y="26670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1438239" y="26670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1581110" y="26670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1723982" y="26670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1876378" y="26670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2019250" y="26670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2171646" y="26670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2314517" y="26670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2905052" y="26670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3057449" y="26670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3200320" y="26670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3343191" y="26670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3495588" y="26670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3638459" y="26670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3790855" y="26670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3933727" y="26670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4086123" y="26670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4228994" y="26670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4819530" y="26670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Rect 26"/>
          <p:cNvSpPr/>
          <p:nvPr/>
        </p:nvSpPr>
        <p:spPr>
          <a:xfrm>
            <a:off x="4962401" y="26670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Rect 27"/>
          <p:cNvSpPr/>
          <p:nvPr/>
        </p:nvSpPr>
        <p:spPr>
          <a:xfrm>
            <a:off x="5114797" y="26670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5257669" y="26670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ect 29"/>
          <p:cNvSpPr/>
          <p:nvPr/>
        </p:nvSpPr>
        <p:spPr>
          <a:xfrm>
            <a:off x="5410065" y="26670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ect 30"/>
          <p:cNvSpPr/>
          <p:nvPr/>
        </p:nvSpPr>
        <p:spPr>
          <a:xfrm>
            <a:off x="5552936" y="26670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990575" y="28194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ect 32"/>
          <p:cNvSpPr/>
          <p:nvPr/>
        </p:nvSpPr>
        <p:spPr>
          <a:xfrm>
            <a:off x="1142971" y="28194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1285843" y="28194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Rect 34"/>
          <p:cNvSpPr/>
          <p:nvPr/>
        </p:nvSpPr>
        <p:spPr>
          <a:xfrm>
            <a:off x="1438239" y="28194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1581110" y="28194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ect 36"/>
          <p:cNvSpPr/>
          <p:nvPr/>
        </p:nvSpPr>
        <p:spPr>
          <a:xfrm>
            <a:off x="1723982" y="28194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ect 37"/>
          <p:cNvSpPr/>
          <p:nvPr/>
        </p:nvSpPr>
        <p:spPr>
          <a:xfrm>
            <a:off x="1876378" y="28194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Rect 38"/>
          <p:cNvSpPr/>
          <p:nvPr/>
        </p:nvSpPr>
        <p:spPr>
          <a:xfrm>
            <a:off x="2019250" y="28194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Rect 39"/>
          <p:cNvSpPr/>
          <p:nvPr/>
        </p:nvSpPr>
        <p:spPr>
          <a:xfrm>
            <a:off x="2171646" y="28194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Rect 40"/>
          <p:cNvSpPr/>
          <p:nvPr/>
        </p:nvSpPr>
        <p:spPr>
          <a:xfrm>
            <a:off x="2314517" y="28194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Rect 41"/>
          <p:cNvSpPr/>
          <p:nvPr/>
        </p:nvSpPr>
        <p:spPr>
          <a:xfrm>
            <a:off x="2466913" y="28194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Rect 42"/>
          <p:cNvSpPr/>
          <p:nvPr/>
        </p:nvSpPr>
        <p:spPr>
          <a:xfrm>
            <a:off x="2609785" y="28194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ect 43"/>
          <p:cNvSpPr/>
          <p:nvPr/>
        </p:nvSpPr>
        <p:spPr>
          <a:xfrm>
            <a:off x="2762181" y="28194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ect 44"/>
          <p:cNvSpPr/>
          <p:nvPr/>
        </p:nvSpPr>
        <p:spPr>
          <a:xfrm>
            <a:off x="2905052" y="28194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Rect 45"/>
          <p:cNvSpPr/>
          <p:nvPr/>
        </p:nvSpPr>
        <p:spPr>
          <a:xfrm>
            <a:off x="3057449" y="28194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Rect 46"/>
          <p:cNvSpPr/>
          <p:nvPr/>
        </p:nvSpPr>
        <p:spPr>
          <a:xfrm>
            <a:off x="3200320" y="28194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Rect 47"/>
          <p:cNvSpPr/>
          <p:nvPr/>
        </p:nvSpPr>
        <p:spPr>
          <a:xfrm>
            <a:off x="3343191" y="28194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Rect 48"/>
          <p:cNvSpPr/>
          <p:nvPr/>
        </p:nvSpPr>
        <p:spPr>
          <a:xfrm>
            <a:off x="3495588" y="28194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Rect 49"/>
          <p:cNvSpPr/>
          <p:nvPr/>
        </p:nvSpPr>
        <p:spPr>
          <a:xfrm>
            <a:off x="3638459" y="28194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Rect 50"/>
          <p:cNvSpPr/>
          <p:nvPr/>
        </p:nvSpPr>
        <p:spPr>
          <a:xfrm>
            <a:off x="3790855" y="28194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Rect 51"/>
          <p:cNvSpPr/>
          <p:nvPr/>
        </p:nvSpPr>
        <p:spPr>
          <a:xfrm>
            <a:off x="3933727" y="28194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Rect 52"/>
          <p:cNvSpPr/>
          <p:nvPr/>
        </p:nvSpPr>
        <p:spPr>
          <a:xfrm>
            <a:off x="4086123" y="28194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Rect 53"/>
          <p:cNvSpPr/>
          <p:nvPr/>
        </p:nvSpPr>
        <p:spPr>
          <a:xfrm>
            <a:off x="4228994" y="28194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Rect 54"/>
          <p:cNvSpPr/>
          <p:nvPr/>
        </p:nvSpPr>
        <p:spPr>
          <a:xfrm>
            <a:off x="4381390" y="28194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Rect 55"/>
          <p:cNvSpPr/>
          <p:nvPr/>
        </p:nvSpPr>
        <p:spPr>
          <a:xfrm>
            <a:off x="4524262" y="28194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Rect 56"/>
          <p:cNvSpPr/>
          <p:nvPr/>
        </p:nvSpPr>
        <p:spPr>
          <a:xfrm>
            <a:off x="4676658" y="28194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Rect 57"/>
          <p:cNvSpPr/>
          <p:nvPr/>
        </p:nvSpPr>
        <p:spPr>
          <a:xfrm>
            <a:off x="4819530" y="28194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Rect 58"/>
          <p:cNvSpPr/>
          <p:nvPr/>
        </p:nvSpPr>
        <p:spPr>
          <a:xfrm>
            <a:off x="4962401" y="28194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Rect 59"/>
          <p:cNvSpPr/>
          <p:nvPr/>
        </p:nvSpPr>
        <p:spPr>
          <a:xfrm>
            <a:off x="5114797" y="28194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Rect 60"/>
          <p:cNvSpPr/>
          <p:nvPr/>
        </p:nvSpPr>
        <p:spPr>
          <a:xfrm>
            <a:off x="5257669" y="28194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Rect 61"/>
          <p:cNvSpPr/>
          <p:nvPr/>
        </p:nvSpPr>
        <p:spPr>
          <a:xfrm>
            <a:off x="5410065" y="28194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Rect 62"/>
          <p:cNvSpPr/>
          <p:nvPr/>
        </p:nvSpPr>
        <p:spPr>
          <a:xfrm>
            <a:off x="5552936" y="28194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Rect 63"/>
          <p:cNvSpPr/>
          <p:nvPr/>
        </p:nvSpPr>
        <p:spPr>
          <a:xfrm>
            <a:off x="990575" y="29622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Rect 64"/>
          <p:cNvSpPr/>
          <p:nvPr/>
        </p:nvSpPr>
        <p:spPr>
          <a:xfrm>
            <a:off x="1142971" y="29622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Rect 65"/>
          <p:cNvSpPr/>
          <p:nvPr/>
        </p:nvSpPr>
        <p:spPr>
          <a:xfrm>
            <a:off x="1285843" y="29622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Rect 66"/>
          <p:cNvSpPr/>
          <p:nvPr/>
        </p:nvSpPr>
        <p:spPr>
          <a:xfrm>
            <a:off x="1438239" y="29622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Rect 67"/>
          <p:cNvSpPr/>
          <p:nvPr/>
        </p:nvSpPr>
        <p:spPr>
          <a:xfrm>
            <a:off x="1581110" y="29622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Rect 68"/>
          <p:cNvSpPr/>
          <p:nvPr/>
        </p:nvSpPr>
        <p:spPr>
          <a:xfrm>
            <a:off x="1723982" y="29622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Rect 69"/>
          <p:cNvSpPr/>
          <p:nvPr/>
        </p:nvSpPr>
        <p:spPr>
          <a:xfrm>
            <a:off x="1876378" y="29622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Rect 70"/>
          <p:cNvSpPr/>
          <p:nvPr/>
        </p:nvSpPr>
        <p:spPr>
          <a:xfrm>
            <a:off x="2019250" y="29622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Rect 71"/>
          <p:cNvSpPr/>
          <p:nvPr/>
        </p:nvSpPr>
        <p:spPr>
          <a:xfrm>
            <a:off x="2171646" y="29622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Rect 72"/>
          <p:cNvSpPr/>
          <p:nvPr/>
        </p:nvSpPr>
        <p:spPr>
          <a:xfrm>
            <a:off x="2314517" y="29622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Rect 73"/>
          <p:cNvSpPr/>
          <p:nvPr/>
        </p:nvSpPr>
        <p:spPr>
          <a:xfrm>
            <a:off x="2466913" y="29622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Rect 74"/>
          <p:cNvSpPr/>
          <p:nvPr/>
        </p:nvSpPr>
        <p:spPr>
          <a:xfrm>
            <a:off x="2609785" y="29622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Rect 75"/>
          <p:cNvSpPr/>
          <p:nvPr/>
        </p:nvSpPr>
        <p:spPr>
          <a:xfrm>
            <a:off x="2762181" y="29622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76" name="Rect 76"/>
          <p:cNvSpPr/>
          <p:nvPr/>
        </p:nvSpPr>
        <p:spPr>
          <a:xfrm>
            <a:off x="2905052" y="29622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Rect 77"/>
          <p:cNvSpPr/>
          <p:nvPr/>
        </p:nvSpPr>
        <p:spPr>
          <a:xfrm>
            <a:off x="3057449" y="29622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Rect 78"/>
          <p:cNvSpPr/>
          <p:nvPr/>
        </p:nvSpPr>
        <p:spPr>
          <a:xfrm>
            <a:off x="3200320" y="29622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79" name="Rect 79"/>
          <p:cNvSpPr/>
          <p:nvPr/>
        </p:nvSpPr>
        <p:spPr>
          <a:xfrm>
            <a:off x="3343191" y="29622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80" name="Rect 80"/>
          <p:cNvSpPr/>
          <p:nvPr/>
        </p:nvSpPr>
        <p:spPr>
          <a:xfrm>
            <a:off x="3495588" y="29622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Rect 81"/>
          <p:cNvSpPr/>
          <p:nvPr/>
        </p:nvSpPr>
        <p:spPr>
          <a:xfrm>
            <a:off x="3638459" y="29622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Rect 82"/>
          <p:cNvSpPr/>
          <p:nvPr/>
        </p:nvSpPr>
        <p:spPr>
          <a:xfrm>
            <a:off x="3790855" y="29622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Rect 83"/>
          <p:cNvSpPr/>
          <p:nvPr/>
        </p:nvSpPr>
        <p:spPr>
          <a:xfrm>
            <a:off x="3933727" y="29622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84" name="Rect 84"/>
          <p:cNvSpPr/>
          <p:nvPr/>
        </p:nvSpPr>
        <p:spPr>
          <a:xfrm>
            <a:off x="4086123" y="29622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Rect 85"/>
          <p:cNvSpPr/>
          <p:nvPr/>
        </p:nvSpPr>
        <p:spPr>
          <a:xfrm>
            <a:off x="4228994" y="29622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Rect 86"/>
          <p:cNvSpPr/>
          <p:nvPr/>
        </p:nvSpPr>
        <p:spPr>
          <a:xfrm>
            <a:off x="4381390" y="29622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87" name="Rect 87"/>
          <p:cNvSpPr/>
          <p:nvPr/>
        </p:nvSpPr>
        <p:spPr>
          <a:xfrm>
            <a:off x="4524262" y="29622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88" name="Rect 88"/>
          <p:cNvSpPr/>
          <p:nvPr/>
        </p:nvSpPr>
        <p:spPr>
          <a:xfrm>
            <a:off x="4676658" y="29622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Rect 89"/>
          <p:cNvSpPr/>
          <p:nvPr/>
        </p:nvSpPr>
        <p:spPr>
          <a:xfrm>
            <a:off x="4819530" y="29622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Rect 90"/>
          <p:cNvSpPr/>
          <p:nvPr/>
        </p:nvSpPr>
        <p:spPr>
          <a:xfrm>
            <a:off x="4962401" y="29622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91" name="Rect 91"/>
          <p:cNvSpPr/>
          <p:nvPr/>
        </p:nvSpPr>
        <p:spPr>
          <a:xfrm>
            <a:off x="5114797" y="29622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Rect 92"/>
          <p:cNvSpPr/>
          <p:nvPr/>
        </p:nvSpPr>
        <p:spPr>
          <a:xfrm>
            <a:off x="5257669" y="29622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93" name="Rect 93"/>
          <p:cNvSpPr/>
          <p:nvPr/>
        </p:nvSpPr>
        <p:spPr>
          <a:xfrm>
            <a:off x="5410065" y="29622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94" name="Rect 94"/>
          <p:cNvSpPr/>
          <p:nvPr/>
        </p:nvSpPr>
        <p:spPr>
          <a:xfrm>
            <a:off x="5552936" y="29622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Rect 95"/>
          <p:cNvSpPr/>
          <p:nvPr/>
        </p:nvSpPr>
        <p:spPr>
          <a:xfrm>
            <a:off x="990575" y="311467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96" name="Rect 96"/>
          <p:cNvSpPr/>
          <p:nvPr/>
        </p:nvSpPr>
        <p:spPr>
          <a:xfrm>
            <a:off x="1142971" y="311467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97" name="Rect 97"/>
          <p:cNvSpPr/>
          <p:nvPr/>
        </p:nvSpPr>
        <p:spPr>
          <a:xfrm>
            <a:off x="1285843" y="311467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98" name="Rect 98"/>
          <p:cNvSpPr/>
          <p:nvPr/>
        </p:nvSpPr>
        <p:spPr>
          <a:xfrm>
            <a:off x="1438239" y="311467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99" name="Rect 99"/>
          <p:cNvSpPr/>
          <p:nvPr/>
        </p:nvSpPr>
        <p:spPr>
          <a:xfrm>
            <a:off x="1581110" y="311467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" name="Rect 100"/>
          <p:cNvSpPr/>
          <p:nvPr/>
        </p:nvSpPr>
        <p:spPr>
          <a:xfrm>
            <a:off x="1723982" y="311467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Rect 101"/>
          <p:cNvSpPr/>
          <p:nvPr/>
        </p:nvSpPr>
        <p:spPr>
          <a:xfrm>
            <a:off x="1876378" y="311467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Rect 102"/>
          <p:cNvSpPr/>
          <p:nvPr/>
        </p:nvSpPr>
        <p:spPr>
          <a:xfrm>
            <a:off x="2019250" y="311467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Rect 103"/>
          <p:cNvSpPr/>
          <p:nvPr/>
        </p:nvSpPr>
        <p:spPr>
          <a:xfrm>
            <a:off x="2171646" y="311467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Rect 104"/>
          <p:cNvSpPr/>
          <p:nvPr/>
        </p:nvSpPr>
        <p:spPr>
          <a:xfrm>
            <a:off x="2314517" y="311467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Rect 105"/>
          <p:cNvSpPr/>
          <p:nvPr/>
        </p:nvSpPr>
        <p:spPr>
          <a:xfrm>
            <a:off x="2466913" y="311467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" name="Rect 106"/>
          <p:cNvSpPr/>
          <p:nvPr/>
        </p:nvSpPr>
        <p:spPr>
          <a:xfrm>
            <a:off x="2609785" y="311467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Rect 107"/>
          <p:cNvSpPr/>
          <p:nvPr/>
        </p:nvSpPr>
        <p:spPr>
          <a:xfrm>
            <a:off x="2762181" y="311467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" name="Rect 108"/>
          <p:cNvSpPr/>
          <p:nvPr/>
        </p:nvSpPr>
        <p:spPr>
          <a:xfrm>
            <a:off x="2905052" y="311467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" name="Rect 109"/>
          <p:cNvSpPr/>
          <p:nvPr/>
        </p:nvSpPr>
        <p:spPr>
          <a:xfrm>
            <a:off x="3057449" y="311467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" name="Rect 110"/>
          <p:cNvSpPr/>
          <p:nvPr/>
        </p:nvSpPr>
        <p:spPr>
          <a:xfrm>
            <a:off x="3200320" y="311467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" name="Rect 111"/>
          <p:cNvSpPr/>
          <p:nvPr/>
        </p:nvSpPr>
        <p:spPr>
          <a:xfrm>
            <a:off x="3343191" y="311467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Rect 112"/>
          <p:cNvSpPr/>
          <p:nvPr/>
        </p:nvSpPr>
        <p:spPr>
          <a:xfrm>
            <a:off x="3495588" y="311467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" name="Rect 113"/>
          <p:cNvSpPr/>
          <p:nvPr/>
        </p:nvSpPr>
        <p:spPr>
          <a:xfrm>
            <a:off x="3638459" y="311467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" name="Rect 114"/>
          <p:cNvSpPr/>
          <p:nvPr/>
        </p:nvSpPr>
        <p:spPr>
          <a:xfrm>
            <a:off x="3790855" y="311467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" name="Rect 115"/>
          <p:cNvSpPr/>
          <p:nvPr/>
        </p:nvSpPr>
        <p:spPr>
          <a:xfrm>
            <a:off x="3933727" y="311467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" name="Rect 116"/>
          <p:cNvSpPr/>
          <p:nvPr/>
        </p:nvSpPr>
        <p:spPr>
          <a:xfrm>
            <a:off x="4086123" y="311467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" name="Rect 117"/>
          <p:cNvSpPr/>
          <p:nvPr/>
        </p:nvSpPr>
        <p:spPr>
          <a:xfrm>
            <a:off x="4228994" y="311467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" name="Rect 118"/>
          <p:cNvSpPr/>
          <p:nvPr/>
        </p:nvSpPr>
        <p:spPr>
          <a:xfrm>
            <a:off x="4381390" y="311467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" name="Rect 119"/>
          <p:cNvSpPr/>
          <p:nvPr/>
        </p:nvSpPr>
        <p:spPr>
          <a:xfrm>
            <a:off x="4524262" y="311467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" name="Rect 120"/>
          <p:cNvSpPr/>
          <p:nvPr/>
        </p:nvSpPr>
        <p:spPr>
          <a:xfrm>
            <a:off x="4676658" y="311467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" name="Rect 121"/>
          <p:cNvSpPr/>
          <p:nvPr/>
        </p:nvSpPr>
        <p:spPr>
          <a:xfrm>
            <a:off x="4819530" y="311467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" name="Rect 122"/>
          <p:cNvSpPr/>
          <p:nvPr/>
        </p:nvSpPr>
        <p:spPr>
          <a:xfrm>
            <a:off x="4962401" y="311467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" name="Rect 123"/>
          <p:cNvSpPr/>
          <p:nvPr/>
        </p:nvSpPr>
        <p:spPr>
          <a:xfrm>
            <a:off x="5114797" y="311467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" name="Rect 124"/>
          <p:cNvSpPr/>
          <p:nvPr/>
        </p:nvSpPr>
        <p:spPr>
          <a:xfrm>
            <a:off x="5257669" y="311467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" name="Rect 125"/>
          <p:cNvSpPr/>
          <p:nvPr/>
        </p:nvSpPr>
        <p:spPr>
          <a:xfrm>
            <a:off x="5410065" y="311467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" name="Rect 126"/>
          <p:cNvSpPr/>
          <p:nvPr/>
        </p:nvSpPr>
        <p:spPr>
          <a:xfrm>
            <a:off x="5552936" y="311467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" name="Rect 127"/>
          <p:cNvSpPr/>
          <p:nvPr/>
        </p:nvSpPr>
        <p:spPr>
          <a:xfrm>
            <a:off x="990575" y="32575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" name="Rect 128"/>
          <p:cNvSpPr/>
          <p:nvPr/>
        </p:nvSpPr>
        <p:spPr>
          <a:xfrm>
            <a:off x="1142971" y="32575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" name="Rect 129"/>
          <p:cNvSpPr/>
          <p:nvPr/>
        </p:nvSpPr>
        <p:spPr>
          <a:xfrm>
            <a:off x="1285843" y="32575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" name="Rect 130"/>
          <p:cNvSpPr/>
          <p:nvPr/>
        </p:nvSpPr>
        <p:spPr>
          <a:xfrm>
            <a:off x="1438239" y="32575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" name="Rect 131"/>
          <p:cNvSpPr/>
          <p:nvPr/>
        </p:nvSpPr>
        <p:spPr>
          <a:xfrm>
            <a:off x="1581110" y="32575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" name="Rect 132"/>
          <p:cNvSpPr/>
          <p:nvPr/>
        </p:nvSpPr>
        <p:spPr>
          <a:xfrm>
            <a:off x="1723982" y="32575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" name="Rect 133"/>
          <p:cNvSpPr/>
          <p:nvPr/>
        </p:nvSpPr>
        <p:spPr>
          <a:xfrm>
            <a:off x="1876378" y="32575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" name="Rect 134"/>
          <p:cNvSpPr/>
          <p:nvPr/>
        </p:nvSpPr>
        <p:spPr>
          <a:xfrm>
            <a:off x="2019250" y="32575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" name="Rect 135"/>
          <p:cNvSpPr/>
          <p:nvPr/>
        </p:nvSpPr>
        <p:spPr>
          <a:xfrm>
            <a:off x="2171646" y="32575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" name="Rect 136"/>
          <p:cNvSpPr/>
          <p:nvPr/>
        </p:nvSpPr>
        <p:spPr>
          <a:xfrm>
            <a:off x="2314517" y="32575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" name="Rect 137"/>
          <p:cNvSpPr/>
          <p:nvPr/>
        </p:nvSpPr>
        <p:spPr>
          <a:xfrm>
            <a:off x="2466913" y="32575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" name="Rect 138"/>
          <p:cNvSpPr/>
          <p:nvPr/>
        </p:nvSpPr>
        <p:spPr>
          <a:xfrm>
            <a:off x="2609785" y="32575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" name="Rect 139"/>
          <p:cNvSpPr/>
          <p:nvPr/>
        </p:nvSpPr>
        <p:spPr>
          <a:xfrm>
            <a:off x="2762181" y="32575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" name="Rect 140"/>
          <p:cNvSpPr/>
          <p:nvPr/>
        </p:nvSpPr>
        <p:spPr>
          <a:xfrm>
            <a:off x="2905052" y="32575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" name="Rect 141"/>
          <p:cNvSpPr/>
          <p:nvPr/>
        </p:nvSpPr>
        <p:spPr>
          <a:xfrm>
            <a:off x="3057449" y="32575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" name="Rect 142"/>
          <p:cNvSpPr/>
          <p:nvPr/>
        </p:nvSpPr>
        <p:spPr>
          <a:xfrm>
            <a:off x="3200320" y="32575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" name="Rect 143"/>
          <p:cNvSpPr/>
          <p:nvPr/>
        </p:nvSpPr>
        <p:spPr>
          <a:xfrm>
            <a:off x="3343191" y="32575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" name="Rect 144"/>
          <p:cNvSpPr/>
          <p:nvPr/>
        </p:nvSpPr>
        <p:spPr>
          <a:xfrm>
            <a:off x="3495588" y="32575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" name="Rect 145"/>
          <p:cNvSpPr/>
          <p:nvPr/>
        </p:nvSpPr>
        <p:spPr>
          <a:xfrm>
            <a:off x="3638459" y="32575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" name="Rect 146"/>
          <p:cNvSpPr/>
          <p:nvPr/>
        </p:nvSpPr>
        <p:spPr>
          <a:xfrm>
            <a:off x="3790855" y="32575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" name="Rect 147"/>
          <p:cNvSpPr/>
          <p:nvPr/>
        </p:nvSpPr>
        <p:spPr>
          <a:xfrm>
            <a:off x="3933727" y="32575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" name="Rect 148"/>
          <p:cNvSpPr/>
          <p:nvPr/>
        </p:nvSpPr>
        <p:spPr>
          <a:xfrm>
            <a:off x="4086123" y="32575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" name="Rect 149"/>
          <p:cNvSpPr/>
          <p:nvPr/>
        </p:nvSpPr>
        <p:spPr>
          <a:xfrm>
            <a:off x="4228994" y="32575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" name="Rect 150"/>
          <p:cNvSpPr/>
          <p:nvPr/>
        </p:nvSpPr>
        <p:spPr>
          <a:xfrm>
            <a:off x="4381390" y="32575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1" name="Rect 151"/>
          <p:cNvSpPr/>
          <p:nvPr/>
        </p:nvSpPr>
        <p:spPr>
          <a:xfrm>
            <a:off x="4524262" y="32575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" name="Rect 152"/>
          <p:cNvSpPr/>
          <p:nvPr/>
        </p:nvSpPr>
        <p:spPr>
          <a:xfrm>
            <a:off x="4676658" y="32575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" name="Rect 153"/>
          <p:cNvSpPr/>
          <p:nvPr/>
        </p:nvSpPr>
        <p:spPr>
          <a:xfrm>
            <a:off x="4819530" y="32575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" name="Rect 154"/>
          <p:cNvSpPr/>
          <p:nvPr/>
        </p:nvSpPr>
        <p:spPr>
          <a:xfrm>
            <a:off x="4962401" y="32575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" name="Rect 155"/>
          <p:cNvSpPr/>
          <p:nvPr/>
        </p:nvSpPr>
        <p:spPr>
          <a:xfrm>
            <a:off x="5114797" y="32575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" name="Rect 156"/>
          <p:cNvSpPr/>
          <p:nvPr/>
        </p:nvSpPr>
        <p:spPr>
          <a:xfrm>
            <a:off x="5257669" y="32575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" name="Rect 157"/>
          <p:cNvSpPr/>
          <p:nvPr/>
        </p:nvSpPr>
        <p:spPr>
          <a:xfrm>
            <a:off x="5410065" y="32575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" name="Rect 158"/>
          <p:cNvSpPr/>
          <p:nvPr/>
        </p:nvSpPr>
        <p:spPr>
          <a:xfrm>
            <a:off x="5552936" y="32575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9" name="Rect 159"/>
          <p:cNvSpPr/>
          <p:nvPr/>
        </p:nvSpPr>
        <p:spPr>
          <a:xfrm>
            <a:off x="990575" y="34099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0" name="Rect 160"/>
          <p:cNvSpPr/>
          <p:nvPr/>
        </p:nvSpPr>
        <p:spPr>
          <a:xfrm>
            <a:off x="1142971" y="34099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1" name="Rect 161"/>
          <p:cNvSpPr/>
          <p:nvPr/>
        </p:nvSpPr>
        <p:spPr>
          <a:xfrm>
            <a:off x="1285843" y="34099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2" name="Rect 162"/>
          <p:cNvSpPr/>
          <p:nvPr/>
        </p:nvSpPr>
        <p:spPr>
          <a:xfrm>
            <a:off x="1438239" y="34099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3" name="Rect 163"/>
          <p:cNvSpPr/>
          <p:nvPr/>
        </p:nvSpPr>
        <p:spPr>
          <a:xfrm>
            <a:off x="1581110" y="34099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4" name="Rect 164"/>
          <p:cNvSpPr/>
          <p:nvPr/>
        </p:nvSpPr>
        <p:spPr>
          <a:xfrm>
            <a:off x="1723982" y="34099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5" name="Rect 165"/>
          <p:cNvSpPr/>
          <p:nvPr/>
        </p:nvSpPr>
        <p:spPr>
          <a:xfrm>
            <a:off x="1876378" y="34099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6" name="Rect 166"/>
          <p:cNvSpPr/>
          <p:nvPr/>
        </p:nvSpPr>
        <p:spPr>
          <a:xfrm>
            <a:off x="2019250" y="34099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7" name="Rect 167"/>
          <p:cNvSpPr/>
          <p:nvPr/>
        </p:nvSpPr>
        <p:spPr>
          <a:xfrm>
            <a:off x="2171646" y="34099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8" name="Rect 168"/>
          <p:cNvSpPr/>
          <p:nvPr/>
        </p:nvSpPr>
        <p:spPr>
          <a:xfrm>
            <a:off x="2314517" y="34099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9" name="Rect 169"/>
          <p:cNvSpPr/>
          <p:nvPr/>
        </p:nvSpPr>
        <p:spPr>
          <a:xfrm>
            <a:off x="2466913" y="34099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0" name="Rect 170"/>
          <p:cNvSpPr/>
          <p:nvPr/>
        </p:nvSpPr>
        <p:spPr>
          <a:xfrm>
            <a:off x="2609785" y="34099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1" name="Rect 171"/>
          <p:cNvSpPr/>
          <p:nvPr/>
        </p:nvSpPr>
        <p:spPr>
          <a:xfrm>
            <a:off x="2905052" y="34099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2" name="Rect 172"/>
          <p:cNvSpPr/>
          <p:nvPr/>
        </p:nvSpPr>
        <p:spPr>
          <a:xfrm>
            <a:off x="3057449" y="34099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3" name="Rect 173"/>
          <p:cNvSpPr/>
          <p:nvPr/>
        </p:nvSpPr>
        <p:spPr>
          <a:xfrm>
            <a:off x="3200320" y="34099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4" name="Rect 174"/>
          <p:cNvSpPr/>
          <p:nvPr/>
        </p:nvSpPr>
        <p:spPr>
          <a:xfrm>
            <a:off x="3343191" y="34099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5" name="Rect 175"/>
          <p:cNvSpPr/>
          <p:nvPr/>
        </p:nvSpPr>
        <p:spPr>
          <a:xfrm>
            <a:off x="3495588" y="34099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6" name="Rect 176"/>
          <p:cNvSpPr/>
          <p:nvPr/>
        </p:nvSpPr>
        <p:spPr>
          <a:xfrm>
            <a:off x="3638459" y="34099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7" name="Rect 177"/>
          <p:cNvSpPr/>
          <p:nvPr/>
        </p:nvSpPr>
        <p:spPr>
          <a:xfrm>
            <a:off x="3790855" y="34099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8" name="Rect 178"/>
          <p:cNvSpPr/>
          <p:nvPr/>
        </p:nvSpPr>
        <p:spPr>
          <a:xfrm>
            <a:off x="3933727" y="34099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9" name="Rect 179"/>
          <p:cNvSpPr/>
          <p:nvPr/>
        </p:nvSpPr>
        <p:spPr>
          <a:xfrm>
            <a:off x="4228994" y="34099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0" name="Rect 180"/>
          <p:cNvSpPr/>
          <p:nvPr/>
        </p:nvSpPr>
        <p:spPr>
          <a:xfrm>
            <a:off x="4381390" y="34099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1" name="Rect 181"/>
          <p:cNvSpPr/>
          <p:nvPr/>
        </p:nvSpPr>
        <p:spPr>
          <a:xfrm>
            <a:off x="4524262" y="34099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2" name="Rect 182"/>
          <p:cNvSpPr/>
          <p:nvPr/>
        </p:nvSpPr>
        <p:spPr>
          <a:xfrm>
            <a:off x="4676658" y="34099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3" name="Rect 183"/>
          <p:cNvSpPr/>
          <p:nvPr/>
        </p:nvSpPr>
        <p:spPr>
          <a:xfrm>
            <a:off x="4819530" y="34099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4" name="Rect 184"/>
          <p:cNvSpPr/>
          <p:nvPr/>
        </p:nvSpPr>
        <p:spPr>
          <a:xfrm>
            <a:off x="4962401" y="34099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5" name="Rect 185"/>
          <p:cNvSpPr/>
          <p:nvPr/>
        </p:nvSpPr>
        <p:spPr>
          <a:xfrm>
            <a:off x="5114797" y="34099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6" name="Rect 186"/>
          <p:cNvSpPr/>
          <p:nvPr/>
        </p:nvSpPr>
        <p:spPr>
          <a:xfrm>
            <a:off x="5257669" y="34099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7" name="Rect 187"/>
          <p:cNvSpPr/>
          <p:nvPr/>
        </p:nvSpPr>
        <p:spPr>
          <a:xfrm>
            <a:off x="5410065" y="34099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8" name="Rect 188"/>
          <p:cNvSpPr/>
          <p:nvPr/>
        </p:nvSpPr>
        <p:spPr>
          <a:xfrm>
            <a:off x="990575" y="35528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9" name="Rect 189"/>
          <p:cNvSpPr/>
          <p:nvPr/>
        </p:nvSpPr>
        <p:spPr>
          <a:xfrm>
            <a:off x="1142971" y="35528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90" name="Rect 190"/>
          <p:cNvSpPr/>
          <p:nvPr/>
        </p:nvSpPr>
        <p:spPr>
          <a:xfrm>
            <a:off x="1285843" y="35528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91" name="Rect 191"/>
          <p:cNvSpPr/>
          <p:nvPr/>
        </p:nvSpPr>
        <p:spPr>
          <a:xfrm>
            <a:off x="1438239" y="35528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92" name="Rect 192"/>
          <p:cNvSpPr/>
          <p:nvPr/>
        </p:nvSpPr>
        <p:spPr>
          <a:xfrm>
            <a:off x="1581110" y="35528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93" name="Rect 193"/>
          <p:cNvSpPr/>
          <p:nvPr/>
        </p:nvSpPr>
        <p:spPr>
          <a:xfrm>
            <a:off x="1876378" y="35528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94" name="Rect 194"/>
          <p:cNvSpPr/>
          <p:nvPr/>
        </p:nvSpPr>
        <p:spPr>
          <a:xfrm>
            <a:off x="2019250" y="35528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95" name="Rect 195"/>
          <p:cNvSpPr/>
          <p:nvPr/>
        </p:nvSpPr>
        <p:spPr>
          <a:xfrm>
            <a:off x="2171646" y="35528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96" name="Rect 196"/>
          <p:cNvSpPr/>
          <p:nvPr/>
        </p:nvSpPr>
        <p:spPr>
          <a:xfrm>
            <a:off x="2314517" y="35528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97" name="Rect 197"/>
          <p:cNvSpPr/>
          <p:nvPr/>
        </p:nvSpPr>
        <p:spPr>
          <a:xfrm>
            <a:off x="2466913" y="35528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98" name="Rect 198"/>
          <p:cNvSpPr/>
          <p:nvPr/>
        </p:nvSpPr>
        <p:spPr>
          <a:xfrm>
            <a:off x="2609785" y="35528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199" name="Rect 199"/>
          <p:cNvSpPr/>
          <p:nvPr/>
        </p:nvSpPr>
        <p:spPr>
          <a:xfrm>
            <a:off x="2762181" y="35528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0" name="Rect 200"/>
          <p:cNvSpPr/>
          <p:nvPr/>
        </p:nvSpPr>
        <p:spPr>
          <a:xfrm>
            <a:off x="2905052" y="35528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Rect 201"/>
          <p:cNvSpPr/>
          <p:nvPr/>
        </p:nvSpPr>
        <p:spPr>
          <a:xfrm>
            <a:off x="3057449" y="35528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Rect 202"/>
          <p:cNvSpPr/>
          <p:nvPr/>
        </p:nvSpPr>
        <p:spPr>
          <a:xfrm>
            <a:off x="3200320" y="35528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Rect 203"/>
          <p:cNvSpPr/>
          <p:nvPr/>
        </p:nvSpPr>
        <p:spPr>
          <a:xfrm>
            <a:off x="3343191" y="35528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Rect 204"/>
          <p:cNvSpPr/>
          <p:nvPr/>
        </p:nvSpPr>
        <p:spPr>
          <a:xfrm>
            <a:off x="3495588" y="35528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Rect 205"/>
          <p:cNvSpPr/>
          <p:nvPr/>
        </p:nvSpPr>
        <p:spPr>
          <a:xfrm>
            <a:off x="3638459" y="35528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6" name="Rect 206"/>
          <p:cNvSpPr/>
          <p:nvPr/>
        </p:nvSpPr>
        <p:spPr>
          <a:xfrm>
            <a:off x="3790855" y="35528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7" name="Rect 207"/>
          <p:cNvSpPr/>
          <p:nvPr/>
        </p:nvSpPr>
        <p:spPr>
          <a:xfrm>
            <a:off x="3933727" y="35528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8" name="Rect 208"/>
          <p:cNvSpPr/>
          <p:nvPr/>
        </p:nvSpPr>
        <p:spPr>
          <a:xfrm>
            <a:off x="4086123" y="35528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9" name="Rect 209"/>
          <p:cNvSpPr/>
          <p:nvPr/>
        </p:nvSpPr>
        <p:spPr>
          <a:xfrm>
            <a:off x="4228994" y="35528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10" name="Rect 210"/>
          <p:cNvSpPr/>
          <p:nvPr/>
        </p:nvSpPr>
        <p:spPr>
          <a:xfrm>
            <a:off x="4381390" y="35528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11" name="Rect 211"/>
          <p:cNvSpPr/>
          <p:nvPr/>
        </p:nvSpPr>
        <p:spPr>
          <a:xfrm>
            <a:off x="4524262" y="35528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12" name="Rect 212"/>
          <p:cNvSpPr/>
          <p:nvPr/>
        </p:nvSpPr>
        <p:spPr>
          <a:xfrm>
            <a:off x="4676658" y="35528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13" name="Rect 213"/>
          <p:cNvSpPr/>
          <p:nvPr/>
        </p:nvSpPr>
        <p:spPr>
          <a:xfrm>
            <a:off x="4819530" y="35528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14" name="Rect 214"/>
          <p:cNvSpPr/>
          <p:nvPr/>
        </p:nvSpPr>
        <p:spPr>
          <a:xfrm>
            <a:off x="4962401" y="35528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15" name="Rect 215"/>
          <p:cNvSpPr/>
          <p:nvPr/>
        </p:nvSpPr>
        <p:spPr>
          <a:xfrm>
            <a:off x="5114797" y="35528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16" name="Rect 216"/>
          <p:cNvSpPr/>
          <p:nvPr/>
        </p:nvSpPr>
        <p:spPr>
          <a:xfrm>
            <a:off x="5257669" y="35528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17" name="Rect 217"/>
          <p:cNvSpPr/>
          <p:nvPr/>
        </p:nvSpPr>
        <p:spPr>
          <a:xfrm>
            <a:off x="5410065" y="35528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18" name="Rect 218"/>
          <p:cNvSpPr/>
          <p:nvPr/>
        </p:nvSpPr>
        <p:spPr>
          <a:xfrm>
            <a:off x="990575" y="370522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19" name="Rect 219"/>
          <p:cNvSpPr/>
          <p:nvPr/>
        </p:nvSpPr>
        <p:spPr>
          <a:xfrm>
            <a:off x="1142971" y="370522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" name="Rect 220"/>
          <p:cNvSpPr/>
          <p:nvPr/>
        </p:nvSpPr>
        <p:spPr>
          <a:xfrm>
            <a:off x="1285843" y="370522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" name="Rect 221"/>
          <p:cNvSpPr/>
          <p:nvPr/>
        </p:nvSpPr>
        <p:spPr>
          <a:xfrm>
            <a:off x="1438239" y="370522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" name="Rect 222"/>
          <p:cNvSpPr/>
          <p:nvPr/>
        </p:nvSpPr>
        <p:spPr>
          <a:xfrm>
            <a:off x="1581110" y="370522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" name="Rect 223"/>
          <p:cNvSpPr/>
          <p:nvPr/>
        </p:nvSpPr>
        <p:spPr>
          <a:xfrm>
            <a:off x="1723982" y="370522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24" name="Rect 224"/>
          <p:cNvSpPr/>
          <p:nvPr/>
        </p:nvSpPr>
        <p:spPr>
          <a:xfrm>
            <a:off x="1876378" y="370522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25" name="Rect 225"/>
          <p:cNvSpPr/>
          <p:nvPr/>
        </p:nvSpPr>
        <p:spPr>
          <a:xfrm>
            <a:off x="2019250" y="370522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26" name="Rect 226"/>
          <p:cNvSpPr/>
          <p:nvPr/>
        </p:nvSpPr>
        <p:spPr>
          <a:xfrm>
            <a:off x="2171646" y="370522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27" name="Rect 227"/>
          <p:cNvSpPr/>
          <p:nvPr/>
        </p:nvSpPr>
        <p:spPr>
          <a:xfrm>
            <a:off x="2314517" y="370522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28" name="Rect 228"/>
          <p:cNvSpPr/>
          <p:nvPr/>
        </p:nvSpPr>
        <p:spPr>
          <a:xfrm>
            <a:off x="2466913" y="370522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29" name="Rect 229"/>
          <p:cNvSpPr/>
          <p:nvPr/>
        </p:nvSpPr>
        <p:spPr>
          <a:xfrm>
            <a:off x="2609785" y="370522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30" name="Rect 230"/>
          <p:cNvSpPr/>
          <p:nvPr/>
        </p:nvSpPr>
        <p:spPr>
          <a:xfrm>
            <a:off x="2762181" y="370522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31" name="Rect 231"/>
          <p:cNvSpPr/>
          <p:nvPr/>
        </p:nvSpPr>
        <p:spPr>
          <a:xfrm>
            <a:off x="2905052" y="370522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32" name="Rect 232"/>
          <p:cNvSpPr/>
          <p:nvPr/>
        </p:nvSpPr>
        <p:spPr>
          <a:xfrm>
            <a:off x="3057449" y="370522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33" name="Rect 233"/>
          <p:cNvSpPr/>
          <p:nvPr/>
        </p:nvSpPr>
        <p:spPr>
          <a:xfrm>
            <a:off x="3200320" y="370522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34" name="Rect 234"/>
          <p:cNvSpPr/>
          <p:nvPr/>
        </p:nvSpPr>
        <p:spPr>
          <a:xfrm>
            <a:off x="3343191" y="370522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35" name="Rect 235"/>
          <p:cNvSpPr/>
          <p:nvPr/>
        </p:nvSpPr>
        <p:spPr>
          <a:xfrm>
            <a:off x="3495588" y="370522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36" name="Rect 236"/>
          <p:cNvSpPr/>
          <p:nvPr/>
        </p:nvSpPr>
        <p:spPr>
          <a:xfrm>
            <a:off x="3638459" y="370522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37" name="Rect 237"/>
          <p:cNvSpPr/>
          <p:nvPr/>
        </p:nvSpPr>
        <p:spPr>
          <a:xfrm>
            <a:off x="3790855" y="370522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38" name="Rect 238"/>
          <p:cNvSpPr/>
          <p:nvPr/>
        </p:nvSpPr>
        <p:spPr>
          <a:xfrm>
            <a:off x="3933727" y="370522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39" name="Rect 239"/>
          <p:cNvSpPr/>
          <p:nvPr/>
        </p:nvSpPr>
        <p:spPr>
          <a:xfrm>
            <a:off x="4086123" y="370522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0" name="Rect 240"/>
          <p:cNvSpPr/>
          <p:nvPr/>
        </p:nvSpPr>
        <p:spPr>
          <a:xfrm>
            <a:off x="4228994" y="370522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1" name="Rect 241"/>
          <p:cNvSpPr/>
          <p:nvPr/>
        </p:nvSpPr>
        <p:spPr>
          <a:xfrm>
            <a:off x="4381390" y="370522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2" name="Rect 242"/>
          <p:cNvSpPr/>
          <p:nvPr/>
        </p:nvSpPr>
        <p:spPr>
          <a:xfrm>
            <a:off x="4524262" y="370522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3" name="Rect 243"/>
          <p:cNvSpPr/>
          <p:nvPr/>
        </p:nvSpPr>
        <p:spPr>
          <a:xfrm>
            <a:off x="4676658" y="370522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4" name="Rect 244"/>
          <p:cNvSpPr/>
          <p:nvPr/>
        </p:nvSpPr>
        <p:spPr>
          <a:xfrm>
            <a:off x="4819530" y="370522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5" name="Rect 245"/>
          <p:cNvSpPr/>
          <p:nvPr/>
        </p:nvSpPr>
        <p:spPr>
          <a:xfrm>
            <a:off x="4962401" y="370522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6" name="Rect 246"/>
          <p:cNvSpPr/>
          <p:nvPr/>
        </p:nvSpPr>
        <p:spPr>
          <a:xfrm>
            <a:off x="5114797" y="370522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7" name="Rect 247"/>
          <p:cNvSpPr/>
          <p:nvPr/>
        </p:nvSpPr>
        <p:spPr>
          <a:xfrm>
            <a:off x="5257669" y="370522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8" name="Rect 248"/>
          <p:cNvSpPr/>
          <p:nvPr/>
        </p:nvSpPr>
        <p:spPr>
          <a:xfrm>
            <a:off x="5410065" y="370522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9" name="Rect 249"/>
          <p:cNvSpPr/>
          <p:nvPr/>
        </p:nvSpPr>
        <p:spPr>
          <a:xfrm>
            <a:off x="990575" y="38481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50" name="Rect 250"/>
          <p:cNvSpPr/>
          <p:nvPr/>
        </p:nvSpPr>
        <p:spPr>
          <a:xfrm>
            <a:off x="1142971" y="38481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51" name="Rect 251"/>
          <p:cNvSpPr/>
          <p:nvPr/>
        </p:nvSpPr>
        <p:spPr>
          <a:xfrm>
            <a:off x="1285843" y="38481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52" name="Rect 252"/>
          <p:cNvSpPr/>
          <p:nvPr/>
        </p:nvSpPr>
        <p:spPr>
          <a:xfrm>
            <a:off x="1438239" y="38481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53" name="Rect 253"/>
          <p:cNvSpPr/>
          <p:nvPr/>
        </p:nvSpPr>
        <p:spPr>
          <a:xfrm>
            <a:off x="1581110" y="38481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54" name="Rect 254"/>
          <p:cNvSpPr/>
          <p:nvPr/>
        </p:nvSpPr>
        <p:spPr>
          <a:xfrm>
            <a:off x="1723982" y="38481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55" name="Rect 255"/>
          <p:cNvSpPr/>
          <p:nvPr/>
        </p:nvSpPr>
        <p:spPr>
          <a:xfrm>
            <a:off x="1876378" y="38481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56" name="Rect 256"/>
          <p:cNvSpPr/>
          <p:nvPr/>
        </p:nvSpPr>
        <p:spPr>
          <a:xfrm>
            <a:off x="2019250" y="38481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57" name="Rect 257"/>
          <p:cNvSpPr/>
          <p:nvPr/>
        </p:nvSpPr>
        <p:spPr>
          <a:xfrm>
            <a:off x="2171646" y="38481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58" name="Rect 258"/>
          <p:cNvSpPr/>
          <p:nvPr/>
        </p:nvSpPr>
        <p:spPr>
          <a:xfrm>
            <a:off x="2314517" y="38481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59" name="Rect 259"/>
          <p:cNvSpPr/>
          <p:nvPr/>
        </p:nvSpPr>
        <p:spPr>
          <a:xfrm>
            <a:off x="2466913" y="38481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60" name="Rect 260"/>
          <p:cNvSpPr/>
          <p:nvPr/>
        </p:nvSpPr>
        <p:spPr>
          <a:xfrm>
            <a:off x="2609785" y="38481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61" name="Rect 261"/>
          <p:cNvSpPr/>
          <p:nvPr/>
        </p:nvSpPr>
        <p:spPr>
          <a:xfrm>
            <a:off x="2762181" y="38481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62" name="Rect 262"/>
          <p:cNvSpPr/>
          <p:nvPr/>
        </p:nvSpPr>
        <p:spPr>
          <a:xfrm>
            <a:off x="2905052" y="38481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63" name="Rect 263"/>
          <p:cNvSpPr/>
          <p:nvPr/>
        </p:nvSpPr>
        <p:spPr>
          <a:xfrm>
            <a:off x="3057449" y="38481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64" name="Rect 264"/>
          <p:cNvSpPr/>
          <p:nvPr/>
        </p:nvSpPr>
        <p:spPr>
          <a:xfrm>
            <a:off x="3200320" y="38481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65" name="Rect 265"/>
          <p:cNvSpPr/>
          <p:nvPr/>
        </p:nvSpPr>
        <p:spPr>
          <a:xfrm>
            <a:off x="3343191" y="38481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66" name="Rect 266"/>
          <p:cNvSpPr/>
          <p:nvPr/>
        </p:nvSpPr>
        <p:spPr>
          <a:xfrm>
            <a:off x="3495588" y="38481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67" name="Rect 267"/>
          <p:cNvSpPr/>
          <p:nvPr/>
        </p:nvSpPr>
        <p:spPr>
          <a:xfrm>
            <a:off x="3638459" y="38481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68" name="Rect 268"/>
          <p:cNvSpPr/>
          <p:nvPr/>
        </p:nvSpPr>
        <p:spPr>
          <a:xfrm>
            <a:off x="3790855" y="38481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69" name="Rect 269"/>
          <p:cNvSpPr/>
          <p:nvPr/>
        </p:nvSpPr>
        <p:spPr>
          <a:xfrm>
            <a:off x="3933727" y="38481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70" name="Rect 270"/>
          <p:cNvSpPr/>
          <p:nvPr/>
        </p:nvSpPr>
        <p:spPr>
          <a:xfrm>
            <a:off x="4086123" y="38481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71" name="Rect 271"/>
          <p:cNvSpPr/>
          <p:nvPr/>
        </p:nvSpPr>
        <p:spPr>
          <a:xfrm>
            <a:off x="4228994" y="38481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72" name="Rect 272"/>
          <p:cNvSpPr/>
          <p:nvPr/>
        </p:nvSpPr>
        <p:spPr>
          <a:xfrm>
            <a:off x="4381390" y="38481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73" name="Rect 273"/>
          <p:cNvSpPr/>
          <p:nvPr/>
        </p:nvSpPr>
        <p:spPr>
          <a:xfrm>
            <a:off x="4524262" y="38481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74" name="Rect 274"/>
          <p:cNvSpPr/>
          <p:nvPr/>
        </p:nvSpPr>
        <p:spPr>
          <a:xfrm>
            <a:off x="4676658" y="38481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75" name="Rect 275"/>
          <p:cNvSpPr/>
          <p:nvPr/>
        </p:nvSpPr>
        <p:spPr>
          <a:xfrm>
            <a:off x="4962401" y="38481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76" name="Rect 276"/>
          <p:cNvSpPr/>
          <p:nvPr/>
        </p:nvSpPr>
        <p:spPr>
          <a:xfrm>
            <a:off x="5114797" y="38481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77" name="Rect 277"/>
          <p:cNvSpPr/>
          <p:nvPr/>
        </p:nvSpPr>
        <p:spPr>
          <a:xfrm>
            <a:off x="5257669" y="38481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78" name="Rect 278"/>
          <p:cNvSpPr/>
          <p:nvPr/>
        </p:nvSpPr>
        <p:spPr>
          <a:xfrm>
            <a:off x="5410065" y="38481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79" name="Rect 279"/>
          <p:cNvSpPr/>
          <p:nvPr/>
        </p:nvSpPr>
        <p:spPr>
          <a:xfrm>
            <a:off x="5552936" y="38481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80" name="Rect 280"/>
          <p:cNvSpPr/>
          <p:nvPr/>
        </p:nvSpPr>
        <p:spPr>
          <a:xfrm>
            <a:off x="990575" y="40005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81" name="Rect 281"/>
          <p:cNvSpPr/>
          <p:nvPr/>
        </p:nvSpPr>
        <p:spPr>
          <a:xfrm>
            <a:off x="1142971" y="40005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82" name="Rect 282"/>
          <p:cNvSpPr/>
          <p:nvPr/>
        </p:nvSpPr>
        <p:spPr>
          <a:xfrm>
            <a:off x="1285843" y="40005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83" name="Rect 283"/>
          <p:cNvSpPr/>
          <p:nvPr/>
        </p:nvSpPr>
        <p:spPr>
          <a:xfrm>
            <a:off x="1438239" y="40005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84" name="Rect 284"/>
          <p:cNvSpPr/>
          <p:nvPr/>
        </p:nvSpPr>
        <p:spPr>
          <a:xfrm>
            <a:off x="1581110" y="40005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85" name="Rect 285"/>
          <p:cNvSpPr/>
          <p:nvPr/>
        </p:nvSpPr>
        <p:spPr>
          <a:xfrm>
            <a:off x="1723982" y="40005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86" name="Rect 286"/>
          <p:cNvSpPr/>
          <p:nvPr/>
        </p:nvSpPr>
        <p:spPr>
          <a:xfrm>
            <a:off x="1876378" y="40005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87" name="Rect 287"/>
          <p:cNvSpPr/>
          <p:nvPr/>
        </p:nvSpPr>
        <p:spPr>
          <a:xfrm>
            <a:off x="2019250" y="40005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88" name="Rect 288"/>
          <p:cNvSpPr/>
          <p:nvPr/>
        </p:nvSpPr>
        <p:spPr>
          <a:xfrm>
            <a:off x="2171646" y="40005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89" name="Rect 289"/>
          <p:cNvSpPr/>
          <p:nvPr/>
        </p:nvSpPr>
        <p:spPr>
          <a:xfrm>
            <a:off x="2314517" y="40005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90" name="Rect 290"/>
          <p:cNvSpPr/>
          <p:nvPr/>
        </p:nvSpPr>
        <p:spPr>
          <a:xfrm>
            <a:off x="2466913" y="40005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91" name="Rect 291"/>
          <p:cNvSpPr/>
          <p:nvPr/>
        </p:nvSpPr>
        <p:spPr>
          <a:xfrm>
            <a:off x="2609785" y="40005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92" name="Rect 292"/>
          <p:cNvSpPr/>
          <p:nvPr/>
        </p:nvSpPr>
        <p:spPr>
          <a:xfrm>
            <a:off x="2762181" y="40005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93" name="Rect 293"/>
          <p:cNvSpPr/>
          <p:nvPr/>
        </p:nvSpPr>
        <p:spPr>
          <a:xfrm>
            <a:off x="2905052" y="40005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94" name="Rect 294"/>
          <p:cNvSpPr/>
          <p:nvPr/>
        </p:nvSpPr>
        <p:spPr>
          <a:xfrm>
            <a:off x="3057449" y="40005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95" name="Rect 295"/>
          <p:cNvSpPr/>
          <p:nvPr/>
        </p:nvSpPr>
        <p:spPr>
          <a:xfrm>
            <a:off x="3200320" y="40005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96" name="Rect 296"/>
          <p:cNvSpPr/>
          <p:nvPr/>
        </p:nvSpPr>
        <p:spPr>
          <a:xfrm>
            <a:off x="3343191" y="40005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97" name="Rect 297"/>
          <p:cNvSpPr/>
          <p:nvPr/>
        </p:nvSpPr>
        <p:spPr>
          <a:xfrm>
            <a:off x="3495588" y="40005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98" name="Rect 298"/>
          <p:cNvSpPr/>
          <p:nvPr/>
        </p:nvSpPr>
        <p:spPr>
          <a:xfrm>
            <a:off x="3638459" y="40005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299" name="Rect 299"/>
          <p:cNvSpPr/>
          <p:nvPr/>
        </p:nvSpPr>
        <p:spPr>
          <a:xfrm>
            <a:off x="3790855" y="40005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0" name="Rect 300"/>
          <p:cNvSpPr/>
          <p:nvPr/>
        </p:nvSpPr>
        <p:spPr>
          <a:xfrm>
            <a:off x="3933727" y="40005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1" name="Rect 301"/>
          <p:cNvSpPr/>
          <p:nvPr/>
        </p:nvSpPr>
        <p:spPr>
          <a:xfrm>
            <a:off x="4086123" y="40005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2" name="Rect 302"/>
          <p:cNvSpPr/>
          <p:nvPr/>
        </p:nvSpPr>
        <p:spPr>
          <a:xfrm>
            <a:off x="4228994" y="40005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3" name="Rect 303"/>
          <p:cNvSpPr/>
          <p:nvPr/>
        </p:nvSpPr>
        <p:spPr>
          <a:xfrm>
            <a:off x="4381390" y="40005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4" name="Rect 304"/>
          <p:cNvSpPr/>
          <p:nvPr/>
        </p:nvSpPr>
        <p:spPr>
          <a:xfrm>
            <a:off x="4524262" y="40005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5" name="Rect 305"/>
          <p:cNvSpPr/>
          <p:nvPr/>
        </p:nvSpPr>
        <p:spPr>
          <a:xfrm>
            <a:off x="4676658" y="40005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6" name="Rect 306"/>
          <p:cNvSpPr/>
          <p:nvPr/>
        </p:nvSpPr>
        <p:spPr>
          <a:xfrm>
            <a:off x="4819530" y="40005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7" name="Rect 307"/>
          <p:cNvSpPr/>
          <p:nvPr/>
        </p:nvSpPr>
        <p:spPr>
          <a:xfrm>
            <a:off x="4962401" y="40005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8" name="Rect 308"/>
          <p:cNvSpPr/>
          <p:nvPr/>
        </p:nvSpPr>
        <p:spPr>
          <a:xfrm>
            <a:off x="5114797" y="40005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9" name="Rect 309"/>
          <p:cNvSpPr/>
          <p:nvPr/>
        </p:nvSpPr>
        <p:spPr>
          <a:xfrm>
            <a:off x="5257669" y="40005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10" name="Rect 310"/>
          <p:cNvSpPr/>
          <p:nvPr/>
        </p:nvSpPr>
        <p:spPr>
          <a:xfrm>
            <a:off x="5410065" y="40005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11" name="Rect 311"/>
          <p:cNvSpPr/>
          <p:nvPr/>
        </p:nvSpPr>
        <p:spPr>
          <a:xfrm>
            <a:off x="5552936" y="40005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12" name="Rect 312"/>
          <p:cNvSpPr/>
          <p:nvPr/>
        </p:nvSpPr>
        <p:spPr>
          <a:xfrm>
            <a:off x="990575" y="41433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13" name="Rect 313"/>
          <p:cNvSpPr/>
          <p:nvPr/>
        </p:nvSpPr>
        <p:spPr>
          <a:xfrm>
            <a:off x="1142971" y="41433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14" name="Rect 314"/>
          <p:cNvSpPr/>
          <p:nvPr/>
        </p:nvSpPr>
        <p:spPr>
          <a:xfrm>
            <a:off x="1285843" y="41433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15" name="Rect 315"/>
          <p:cNvSpPr/>
          <p:nvPr/>
        </p:nvSpPr>
        <p:spPr>
          <a:xfrm>
            <a:off x="1438239" y="41433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16" name="Rect 316"/>
          <p:cNvSpPr/>
          <p:nvPr/>
        </p:nvSpPr>
        <p:spPr>
          <a:xfrm>
            <a:off x="1581110" y="41433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17" name="Rect 317"/>
          <p:cNvSpPr/>
          <p:nvPr/>
        </p:nvSpPr>
        <p:spPr>
          <a:xfrm>
            <a:off x="1723982" y="41433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18" name="Rect 318"/>
          <p:cNvSpPr/>
          <p:nvPr/>
        </p:nvSpPr>
        <p:spPr>
          <a:xfrm>
            <a:off x="1876378" y="41433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19" name="Rect 319"/>
          <p:cNvSpPr/>
          <p:nvPr/>
        </p:nvSpPr>
        <p:spPr>
          <a:xfrm>
            <a:off x="2019250" y="41433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20" name="Rect 320"/>
          <p:cNvSpPr/>
          <p:nvPr/>
        </p:nvSpPr>
        <p:spPr>
          <a:xfrm>
            <a:off x="2171646" y="41433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21" name="Rect 321"/>
          <p:cNvSpPr/>
          <p:nvPr/>
        </p:nvSpPr>
        <p:spPr>
          <a:xfrm>
            <a:off x="2314517" y="41433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22" name="Rect 322"/>
          <p:cNvSpPr/>
          <p:nvPr/>
        </p:nvSpPr>
        <p:spPr>
          <a:xfrm>
            <a:off x="2466913" y="41433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23" name="Rect 323"/>
          <p:cNvSpPr/>
          <p:nvPr/>
        </p:nvSpPr>
        <p:spPr>
          <a:xfrm>
            <a:off x="2609785" y="41433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24" name="Rect 324"/>
          <p:cNvSpPr/>
          <p:nvPr/>
        </p:nvSpPr>
        <p:spPr>
          <a:xfrm>
            <a:off x="2762181" y="41433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25" name="Rect 325"/>
          <p:cNvSpPr/>
          <p:nvPr/>
        </p:nvSpPr>
        <p:spPr>
          <a:xfrm>
            <a:off x="2905052" y="41433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26" name="Rect 326"/>
          <p:cNvSpPr/>
          <p:nvPr/>
        </p:nvSpPr>
        <p:spPr>
          <a:xfrm>
            <a:off x="3057449" y="41433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27" name="Rect 327"/>
          <p:cNvSpPr/>
          <p:nvPr/>
        </p:nvSpPr>
        <p:spPr>
          <a:xfrm>
            <a:off x="3200320" y="41433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28" name="Rect 328"/>
          <p:cNvSpPr/>
          <p:nvPr/>
        </p:nvSpPr>
        <p:spPr>
          <a:xfrm>
            <a:off x="3343191" y="41433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29" name="Rect 329"/>
          <p:cNvSpPr/>
          <p:nvPr/>
        </p:nvSpPr>
        <p:spPr>
          <a:xfrm>
            <a:off x="3495588" y="41433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30" name="Rect 330"/>
          <p:cNvSpPr/>
          <p:nvPr/>
        </p:nvSpPr>
        <p:spPr>
          <a:xfrm>
            <a:off x="3638459" y="41433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31" name="Rect 331"/>
          <p:cNvSpPr/>
          <p:nvPr/>
        </p:nvSpPr>
        <p:spPr>
          <a:xfrm>
            <a:off x="3790855" y="41433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32" name="Rect 332"/>
          <p:cNvSpPr/>
          <p:nvPr/>
        </p:nvSpPr>
        <p:spPr>
          <a:xfrm>
            <a:off x="3933727" y="41433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33" name="Rect 333"/>
          <p:cNvSpPr/>
          <p:nvPr/>
        </p:nvSpPr>
        <p:spPr>
          <a:xfrm>
            <a:off x="4086123" y="41433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34" name="Rect 334"/>
          <p:cNvSpPr/>
          <p:nvPr/>
        </p:nvSpPr>
        <p:spPr>
          <a:xfrm>
            <a:off x="4228994" y="41433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35" name="Rect 335"/>
          <p:cNvSpPr/>
          <p:nvPr/>
        </p:nvSpPr>
        <p:spPr>
          <a:xfrm>
            <a:off x="4381390" y="41433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36" name="Rect 336"/>
          <p:cNvSpPr/>
          <p:nvPr/>
        </p:nvSpPr>
        <p:spPr>
          <a:xfrm>
            <a:off x="4524262" y="41433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37" name="Rect 337"/>
          <p:cNvSpPr/>
          <p:nvPr/>
        </p:nvSpPr>
        <p:spPr>
          <a:xfrm>
            <a:off x="4676658" y="41433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38" name="Rect 338"/>
          <p:cNvSpPr/>
          <p:nvPr/>
        </p:nvSpPr>
        <p:spPr>
          <a:xfrm>
            <a:off x="4819530" y="41433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39" name="Rect 339"/>
          <p:cNvSpPr/>
          <p:nvPr/>
        </p:nvSpPr>
        <p:spPr>
          <a:xfrm>
            <a:off x="4962401" y="41433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40" name="Rect 340"/>
          <p:cNvSpPr/>
          <p:nvPr/>
        </p:nvSpPr>
        <p:spPr>
          <a:xfrm>
            <a:off x="5114797" y="41433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41" name="Rect 341"/>
          <p:cNvSpPr/>
          <p:nvPr/>
        </p:nvSpPr>
        <p:spPr>
          <a:xfrm>
            <a:off x="5257669" y="41433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42" name="Rect 342"/>
          <p:cNvSpPr/>
          <p:nvPr/>
        </p:nvSpPr>
        <p:spPr>
          <a:xfrm>
            <a:off x="5410065" y="41433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43" name="Rect 343"/>
          <p:cNvSpPr/>
          <p:nvPr/>
        </p:nvSpPr>
        <p:spPr>
          <a:xfrm>
            <a:off x="5552936" y="41433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44" name="Rect 344"/>
          <p:cNvSpPr/>
          <p:nvPr/>
        </p:nvSpPr>
        <p:spPr>
          <a:xfrm>
            <a:off x="990575" y="42862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45" name="Rect 345"/>
          <p:cNvSpPr/>
          <p:nvPr/>
        </p:nvSpPr>
        <p:spPr>
          <a:xfrm>
            <a:off x="1142971" y="42862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46" name="Rect 346"/>
          <p:cNvSpPr/>
          <p:nvPr/>
        </p:nvSpPr>
        <p:spPr>
          <a:xfrm>
            <a:off x="1285843" y="42862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47" name="Rect 347"/>
          <p:cNvSpPr/>
          <p:nvPr/>
        </p:nvSpPr>
        <p:spPr>
          <a:xfrm>
            <a:off x="1438239" y="42862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48" name="Rect 348"/>
          <p:cNvSpPr/>
          <p:nvPr/>
        </p:nvSpPr>
        <p:spPr>
          <a:xfrm>
            <a:off x="1581110" y="42862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49" name="Rect 349"/>
          <p:cNvSpPr/>
          <p:nvPr/>
        </p:nvSpPr>
        <p:spPr>
          <a:xfrm>
            <a:off x="1723982" y="42862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50" name="Rect 350"/>
          <p:cNvSpPr/>
          <p:nvPr/>
        </p:nvSpPr>
        <p:spPr>
          <a:xfrm>
            <a:off x="1876378" y="42862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51" name="Rect 351"/>
          <p:cNvSpPr/>
          <p:nvPr/>
        </p:nvSpPr>
        <p:spPr>
          <a:xfrm>
            <a:off x="2019250" y="42862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52" name="Rect 352"/>
          <p:cNvSpPr/>
          <p:nvPr/>
        </p:nvSpPr>
        <p:spPr>
          <a:xfrm>
            <a:off x="2171646" y="42862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53" name="Rect 353"/>
          <p:cNvSpPr/>
          <p:nvPr/>
        </p:nvSpPr>
        <p:spPr>
          <a:xfrm>
            <a:off x="2314517" y="42862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54" name="Rect 354"/>
          <p:cNvSpPr/>
          <p:nvPr/>
        </p:nvSpPr>
        <p:spPr>
          <a:xfrm>
            <a:off x="2466913" y="42862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55" name="Rect 355"/>
          <p:cNvSpPr/>
          <p:nvPr/>
        </p:nvSpPr>
        <p:spPr>
          <a:xfrm>
            <a:off x="2609785" y="42862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56" name="Rect 356"/>
          <p:cNvSpPr/>
          <p:nvPr/>
        </p:nvSpPr>
        <p:spPr>
          <a:xfrm>
            <a:off x="2762181" y="42862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57" name="Rect 357"/>
          <p:cNvSpPr/>
          <p:nvPr/>
        </p:nvSpPr>
        <p:spPr>
          <a:xfrm>
            <a:off x="2905052" y="42862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58" name="Rect 358"/>
          <p:cNvSpPr/>
          <p:nvPr/>
        </p:nvSpPr>
        <p:spPr>
          <a:xfrm>
            <a:off x="3057449" y="42862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59" name="Rect 359"/>
          <p:cNvSpPr/>
          <p:nvPr/>
        </p:nvSpPr>
        <p:spPr>
          <a:xfrm>
            <a:off x="3200320" y="42862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60" name="Rect 360"/>
          <p:cNvSpPr/>
          <p:nvPr/>
        </p:nvSpPr>
        <p:spPr>
          <a:xfrm>
            <a:off x="3343191" y="42862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61" name="Rect 361"/>
          <p:cNvSpPr/>
          <p:nvPr/>
        </p:nvSpPr>
        <p:spPr>
          <a:xfrm>
            <a:off x="3495588" y="42862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62" name="Rect 362"/>
          <p:cNvSpPr/>
          <p:nvPr/>
        </p:nvSpPr>
        <p:spPr>
          <a:xfrm>
            <a:off x="3638459" y="42862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63" name="Rect 363"/>
          <p:cNvSpPr/>
          <p:nvPr/>
        </p:nvSpPr>
        <p:spPr>
          <a:xfrm>
            <a:off x="3790855" y="42862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64" name="Rect 364"/>
          <p:cNvSpPr/>
          <p:nvPr/>
        </p:nvSpPr>
        <p:spPr>
          <a:xfrm>
            <a:off x="3933727" y="42862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65" name="Rect 365"/>
          <p:cNvSpPr/>
          <p:nvPr/>
        </p:nvSpPr>
        <p:spPr>
          <a:xfrm>
            <a:off x="4086123" y="42862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66" name="Rect 366"/>
          <p:cNvSpPr/>
          <p:nvPr/>
        </p:nvSpPr>
        <p:spPr>
          <a:xfrm>
            <a:off x="4228994" y="42862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67" name="Rect 367"/>
          <p:cNvSpPr/>
          <p:nvPr/>
        </p:nvSpPr>
        <p:spPr>
          <a:xfrm>
            <a:off x="4381390" y="42862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68" name="Rect 368"/>
          <p:cNvSpPr/>
          <p:nvPr/>
        </p:nvSpPr>
        <p:spPr>
          <a:xfrm>
            <a:off x="4524262" y="42862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69" name="Rect 369"/>
          <p:cNvSpPr/>
          <p:nvPr/>
        </p:nvSpPr>
        <p:spPr>
          <a:xfrm>
            <a:off x="4676658" y="42862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70" name="Rect 370"/>
          <p:cNvSpPr/>
          <p:nvPr/>
        </p:nvSpPr>
        <p:spPr>
          <a:xfrm>
            <a:off x="4819530" y="42862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71" name="Rect 371"/>
          <p:cNvSpPr/>
          <p:nvPr/>
        </p:nvSpPr>
        <p:spPr>
          <a:xfrm>
            <a:off x="4962401" y="42862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72" name="Rect 372"/>
          <p:cNvSpPr/>
          <p:nvPr/>
        </p:nvSpPr>
        <p:spPr>
          <a:xfrm>
            <a:off x="5114797" y="42862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73" name="Rect 373"/>
          <p:cNvSpPr/>
          <p:nvPr/>
        </p:nvSpPr>
        <p:spPr>
          <a:xfrm>
            <a:off x="5257669" y="42862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74" name="Rect 374"/>
          <p:cNvSpPr/>
          <p:nvPr/>
        </p:nvSpPr>
        <p:spPr>
          <a:xfrm>
            <a:off x="5410065" y="42862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75" name="Rect 375"/>
          <p:cNvSpPr/>
          <p:nvPr/>
        </p:nvSpPr>
        <p:spPr>
          <a:xfrm>
            <a:off x="5552936" y="42862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76" name="Rect 376"/>
          <p:cNvSpPr/>
          <p:nvPr/>
        </p:nvSpPr>
        <p:spPr>
          <a:xfrm>
            <a:off x="990575" y="44386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77" name="Rect 377"/>
          <p:cNvSpPr/>
          <p:nvPr/>
        </p:nvSpPr>
        <p:spPr>
          <a:xfrm>
            <a:off x="1142971" y="44386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78" name="Rect 378"/>
          <p:cNvSpPr/>
          <p:nvPr/>
        </p:nvSpPr>
        <p:spPr>
          <a:xfrm>
            <a:off x="1285843" y="44386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79" name="Rect 379"/>
          <p:cNvSpPr/>
          <p:nvPr/>
        </p:nvSpPr>
        <p:spPr>
          <a:xfrm>
            <a:off x="1438239" y="44386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80" name="Rect 380"/>
          <p:cNvSpPr/>
          <p:nvPr/>
        </p:nvSpPr>
        <p:spPr>
          <a:xfrm>
            <a:off x="1581110" y="44386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81" name="Rect 381"/>
          <p:cNvSpPr/>
          <p:nvPr/>
        </p:nvSpPr>
        <p:spPr>
          <a:xfrm>
            <a:off x="1723982" y="44386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82" name="Rect 382"/>
          <p:cNvSpPr/>
          <p:nvPr/>
        </p:nvSpPr>
        <p:spPr>
          <a:xfrm>
            <a:off x="1876378" y="44386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83" name="Rect 383"/>
          <p:cNvSpPr/>
          <p:nvPr/>
        </p:nvSpPr>
        <p:spPr>
          <a:xfrm>
            <a:off x="2019250" y="44386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84" name="Rect 384"/>
          <p:cNvSpPr/>
          <p:nvPr/>
        </p:nvSpPr>
        <p:spPr>
          <a:xfrm>
            <a:off x="2171646" y="44386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85" name="Rect 385"/>
          <p:cNvSpPr/>
          <p:nvPr/>
        </p:nvSpPr>
        <p:spPr>
          <a:xfrm>
            <a:off x="2466913" y="44386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86" name="Rect 386"/>
          <p:cNvSpPr/>
          <p:nvPr/>
        </p:nvSpPr>
        <p:spPr>
          <a:xfrm>
            <a:off x="2609785" y="44386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87" name="Rect 387"/>
          <p:cNvSpPr/>
          <p:nvPr/>
        </p:nvSpPr>
        <p:spPr>
          <a:xfrm>
            <a:off x="2762181" y="44386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88" name="Rect 388"/>
          <p:cNvSpPr/>
          <p:nvPr/>
        </p:nvSpPr>
        <p:spPr>
          <a:xfrm>
            <a:off x="2905052" y="44386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89" name="Rect 389"/>
          <p:cNvSpPr/>
          <p:nvPr/>
        </p:nvSpPr>
        <p:spPr>
          <a:xfrm>
            <a:off x="3057449" y="44386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90" name="Rect 390"/>
          <p:cNvSpPr/>
          <p:nvPr/>
        </p:nvSpPr>
        <p:spPr>
          <a:xfrm>
            <a:off x="3200320" y="44386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91" name="Rect 391"/>
          <p:cNvSpPr/>
          <p:nvPr/>
        </p:nvSpPr>
        <p:spPr>
          <a:xfrm>
            <a:off x="3343191" y="44386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92" name="Rect 392"/>
          <p:cNvSpPr/>
          <p:nvPr/>
        </p:nvSpPr>
        <p:spPr>
          <a:xfrm>
            <a:off x="3638459" y="44386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93" name="Rect 393"/>
          <p:cNvSpPr/>
          <p:nvPr/>
        </p:nvSpPr>
        <p:spPr>
          <a:xfrm>
            <a:off x="3790855" y="44386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94" name="Rect 394"/>
          <p:cNvSpPr/>
          <p:nvPr/>
        </p:nvSpPr>
        <p:spPr>
          <a:xfrm>
            <a:off x="3933727" y="44386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95" name="Rect 395"/>
          <p:cNvSpPr/>
          <p:nvPr/>
        </p:nvSpPr>
        <p:spPr>
          <a:xfrm>
            <a:off x="4086123" y="44386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96" name="Rect 396"/>
          <p:cNvSpPr/>
          <p:nvPr/>
        </p:nvSpPr>
        <p:spPr>
          <a:xfrm>
            <a:off x="4228994" y="44386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97" name="Rect 397"/>
          <p:cNvSpPr/>
          <p:nvPr/>
        </p:nvSpPr>
        <p:spPr>
          <a:xfrm>
            <a:off x="4381390" y="44386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98" name="Rect 398"/>
          <p:cNvSpPr/>
          <p:nvPr/>
        </p:nvSpPr>
        <p:spPr>
          <a:xfrm>
            <a:off x="4524262" y="44386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399" name="Rect 399"/>
          <p:cNvSpPr/>
          <p:nvPr/>
        </p:nvSpPr>
        <p:spPr>
          <a:xfrm>
            <a:off x="4676658" y="44386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00" name="Rect 400"/>
          <p:cNvSpPr/>
          <p:nvPr/>
        </p:nvSpPr>
        <p:spPr>
          <a:xfrm>
            <a:off x="4819530" y="44386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01" name="Rect 401"/>
          <p:cNvSpPr/>
          <p:nvPr/>
        </p:nvSpPr>
        <p:spPr>
          <a:xfrm>
            <a:off x="4962401" y="44386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02" name="Rect 402"/>
          <p:cNvSpPr/>
          <p:nvPr/>
        </p:nvSpPr>
        <p:spPr>
          <a:xfrm>
            <a:off x="5114797" y="44386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03" name="Rect 403"/>
          <p:cNvSpPr/>
          <p:nvPr/>
        </p:nvSpPr>
        <p:spPr>
          <a:xfrm>
            <a:off x="5257669" y="44386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04" name="Rect 404"/>
          <p:cNvSpPr/>
          <p:nvPr/>
        </p:nvSpPr>
        <p:spPr>
          <a:xfrm>
            <a:off x="5410065" y="44386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05" name="Rect 405"/>
          <p:cNvSpPr/>
          <p:nvPr/>
        </p:nvSpPr>
        <p:spPr>
          <a:xfrm>
            <a:off x="5552936" y="44386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06" name="Rect 406"/>
          <p:cNvSpPr/>
          <p:nvPr/>
        </p:nvSpPr>
        <p:spPr>
          <a:xfrm>
            <a:off x="990575" y="45815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07" name="Rect 407"/>
          <p:cNvSpPr/>
          <p:nvPr/>
        </p:nvSpPr>
        <p:spPr>
          <a:xfrm>
            <a:off x="1142971" y="45815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08" name="Rect 408"/>
          <p:cNvSpPr/>
          <p:nvPr/>
        </p:nvSpPr>
        <p:spPr>
          <a:xfrm>
            <a:off x="1285843" y="45815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09" name="Rect 409"/>
          <p:cNvSpPr/>
          <p:nvPr/>
        </p:nvSpPr>
        <p:spPr>
          <a:xfrm>
            <a:off x="1438239" y="45815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10" name="Rect 410"/>
          <p:cNvSpPr/>
          <p:nvPr/>
        </p:nvSpPr>
        <p:spPr>
          <a:xfrm>
            <a:off x="1581110" y="45815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11" name="Rect 411"/>
          <p:cNvSpPr/>
          <p:nvPr/>
        </p:nvSpPr>
        <p:spPr>
          <a:xfrm>
            <a:off x="1723982" y="45815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12" name="Rect 412"/>
          <p:cNvSpPr/>
          <p:nvPr/>
        </p:nvSpPr>
        <p:spPr>
          <a:xfrm>
            <a:off x="1876378" y="45815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13" name="Rect 413"/>
          <p:cNvSpPr/>
          <p:nvPr/>
        </p:nvSpPr>
        <p:spPr>
          <a:xfrm>
            <a:off x="2019250" y="45815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14" name="Rect 414"/>
          <p:cNvSpPr/>
          <p:nvPr/>
        </p:nvSpPr>
        <p:spPr>
          <a:xfrm>
            <a:off x="2171646" y="45815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15" name="Rect 415"/>
          <p:cNvSpPr/>
          <p:nvPr/>
        </p:nvSpPr>
        <p:spPr>
          <a:xfrm>
            <a:off x="2314517" y="45815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16" name="Rect 416"/>
          <p:cNvSpPr/>
          <p:nvPr/>
        </p:nvSpPr>
        <p:spPr>
          <a:xfrm>
            <a:off x="2466913" y="45815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17" name="Rect 417"/>
          <p:cNvSpPr/>
          <p:nvPr/>
        </p:nvSpPr>
        <p:spPr>
          <a:xfrm>
            <a:off x="2609785" y="45815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18" name="Rect 418"/>
          <p:cNvSpPr/>
          <p:nvPr/>
        </p:nvSpPr>
        <p:spPr>
          <a:xfrm>
            <a:off x="2762181" y="45815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19" name="Rect 419"/>
          <p:cNvSpPr/>
          <p:nvPr/>
        </p:nvSpPr>
        <p:spPr>
          <a:xfrm>
            <a:off x="2905052" y="45815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20" name="Rect 420"/>
          <p:cNvSpPr/>
          <p:nvPr/>
        </p:nvSpPr>
        <p:spPr>
          <a:xfrm>
            <a:off x="3057449" y="45815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21" name="Rect 421"/>
          <p:cNvSpPr/>
          <p:nvPr/>
        </p:nvSpPr>
        <p:spPr>
          <a:xfrm>
            <a:off x="3200320" y="45815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22" name="Rect 422"/>
          <p:cNvSpPr/>
          <p:nvPr/>
        </p:nvSpPr>
        <p:spPr>
          <a:xfrm>
            <a:off x="3343191" y="45815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23" name="Rect 423"/>
          <p:cNvSpPr/>
          <p:nvPr/>
        </p:nvSpPr>
        <p:spPr>
          <a:xfrm>
            <a:off x="3495588" y="45815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24" name="Rect 424"/>
          <p:cNvSpPr/>
          <p:nvPr/>
        </p:nvSpPr>
        <p:spPr>
          <a:xfrm>
            <a:off x="3638459" y="45815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25" name="Rect 425"/>
          <p:cNvSpPr/>
          <p:nvPr/>
        </p:nvSpPr>
        <p:spPr>
          <a:xfrm>
            <a:off x="3790855" y="45815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26" name="Rect 426"/>
          <p:cNvSpPr/>
          <p:nvPr/>
        </p:nvSpPr>
        <p:spPr>
          <a:xfrm>
            <a:off x="3933727" y="45815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27" name="Rect 427"/>
          <p:cNvSpPr/>
          <p:nvPr/>
        </p:nvSpPr>
        <p:spPr>
          <a:xfrm>
            <a:off x="4086123" y="45815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28" name="Rect 428"/>
          <p:cNvSpPr/>
          <p:nvPr/>
        </p:nvSpPr>
        <p:spPr>
          <a:xfrm>
            <a:off x="4228994" y="45815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29" name="Rect 429"/>
          <p:cNvSpPr/>
          <p:nvPr/>
        </p:nvSpPr>
        <p:spPr>
          <a:xfrm>
            <a:off x="4381390" y="45815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30" name="Rect 430"/>
          <p:cNvSpPr/>
          <p:nvPr/>
        </p:nvSpPr>
        <p:spPr>
          <a:xfrm>
            <a:off x="4676658" y="45815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31" name="Rect 431"/>
          <p:cNvSpPr/>
          <p:nvPr/>
        </p:nvSpPr>
        <p:spPr>
          <a:xfrm>
            <a:off x="4819530" y="45815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32" name="Rect 432"/>
          <p:cNvSpPr/>
          <p:nvPr/>
        </p:nvSpPr>
        <p:spPr>
          <a:xfrm>
            <a:off x="4962401" y="45815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33" name="Rect 433"/>
          <p:cNvSpPr/>
          <p:nvPr/>
        </p:nvSpPr>
        <p:spPr>
          <a:xfrm>
            <a:off x="5114797" y="45815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34" name="Rect 434"/>
          <p:cNvSpPr/>
          <p:nvPr/>
        </p:nvSpPr>
        <p:spPr>
          <a:xfrm>
            <a:off x="5257669" y="45815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35" name="Rect 435"/>
          <p:cNvSpPr/>
          <p:nvPr/>
        </p:nvSpPr>
        <p:spPr>
          <a:xfrm>
            <a:off x="5410065" y="45815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36" name="Rect 436"/>
          <p:cNvSpPr/>
          <p:nvPr/>
        </p:nvSpPr>
        <p:spPr>
          <a:xfrm>
            <a:off x="990575" y="473392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37" name="Rect 437"/>
          <p:cNvSpPr/>
          <p:nvPr/>
        </p:nvSpPr>
        <p:spPr>
          <a:xfrm>
            <a:off x="1142971" y="473392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38" name="Rect 438"/>
          <p:cNvSpPr/>
          <p:nvPr/>
        </p:nvSpPr>
        <p:spPr>
          <a:xfrm>
            <a:off x="1285843" y="473392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39" name="Rect 439"/>
          <p:cNvSpPr/>
          <p:nvPr/>
        </p:nvSpPr>
        <p:spPr>
          <a:xfrm>
            <a:off x="1438239" y="473392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40" name="Rect 440"/>
          <p:cNvSpPr/>
          <p:nvPr/>
        </p:nvSpPr>
        <p:spPr>
          <a:xfrm>
            <a:off x="1581110" y="473392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41" name="Rect 441"/>
          <p:cNvSpPr/>
          <p:nvPr/>
        </p:nvSpPr>
        <p:spPr>
          <a:xfrm>
            <a:off x="1723982" y="473392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42" name="Rect 442"/>
          <p:cNvSpPr/>
          <p:nvPr/>
        </p:nvSpPr>
        <p:spPr>
          <a:xfrm>
            <a:off x="1876378" y="473392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43" name="Rect 443"/>
          <p:cNvSpPr/>
          <p:nvPr/>
        </p:nvSpPr>
        <p:spPr>
          <a:xfrm>
            <a:off x="2019250" y="473392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44" name="Rect 444"/>
          <p:cNvSpPr/>
          <p:nvPr/>
        </p:nvSpPr>
        <p:spPr>
          <a:xfrm>
            <a:off x="2171646" y="473392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45" name="Rect 445"/>
          <p:cNvSpPr/>
          <p:nvPr/>
        </p:nvSpPr>
        <p:spPr>
          <a:xfrm>
            <a:off x="2314517" y="473392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46" name="Rect 446"/>
          <p:cNvSpPr/>
          <p:nvPr/>
        </p:nvSpPr>
        <p:spPr>
          <a:xfrm>
            <a:off x="2466913" y="473392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47" name="Rect 447"/>
          <p:cNvSpPr/>
          <p:nvPr/>
        </p:nvSpPr>
        <p:spPr>
          <a:xfrm>
            <a:off x="2609785" y="473392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48" name="Rect 448"/>
          <p:cNvSpPr/>
          <p:nvPr/>
        </p:nvSpPr>
        <p:spPr>
          <a:xfrm>
            <a:off x="2762181" y="473392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49" name="Rect 449"/>
          <p:cNvSpPr/>
          <p:nvPr/>
        </p:nvSpPr>
        <p:spPr>
          <a:xfrm>
            <a:off x="2905052" y="473392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50" name="Rect 450"/>
          <p:cNvSpPr/>
          <p:nvPr/>
        </p:nvSpPr>
        <p:spPr>
          <a:xfrm>
            <a:off x="3057449" y="473392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51" name="Rect 451"/>
          <p:cNvSpPr/>
          <p:nvPr/>
        </p:nvSpPr>
        <p:spPr>
          <a:xfrm>
            <a:off x="3200320" y="473392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52" name="Rect 452"/>
          <p:cNvSpPr/>
          <p:nvPr/>
        </p:nvSpPr>
        <p:spPr>
          <a:xfrm>
            <a:off x="3343191" y="473392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53" name="Rect 453"/>
          <p:cNvSpPr/>
          <p:nvPr/>
        </p:nvSpPr>
        <p:spPr>
          <a:xfrm>
            <a:off x="3495588" y="473392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54" name="Rect 454"/>
          <p:cNvSpPr/>
          <p:nvPr/>
        </p:nvSpPr>
        <p:spPr>
          <a:xfrm>
            <a:off x="3638459" y="473392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55" name="Rect 455"/>
          <p:cNvSpPr/>
          <p:nvPr/>
        </p:nvSpPr>
        <p:spPr>
          <a:xfrm>
            <a:off x="3790855" y="473392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56" name="Rect 456"/>
          <p:cNvSpPr/>
          <p:nvPr/>
        </p:nvSpPr>
        <p:spPr>
          <a:xfrm>
            <a:off x="3933727" y="473392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57" name="Rect 457"/>
          <p:cNvSpPr/>
          <p:nvPr/>
        </p:nvSpPr>
        <p:spPr>
          <a:xfrm>
            <a:off x="4086123" y="473392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58" name="Rect 458"/>
          <p:cNvSpPr/>
          <p:nvPr/>
        </p:nvSpPr>
        <p:spPr>
          <a:xfrm>
            <a:off x="4228994" y="473392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59" name="Rect 459"/>
          <p:cNvSpPr/>
          <p:nvPr/>
        </p:nvSpPr>
        <p:spPr>
          <a:xfrm>
            <a:off x="4381390" y="473392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60" name="Rect 460"/>
          <p:cNvSpPr/>
          <p:nvPr/>
        </p:nvSpPr>
        <p:spPr>
          <a:xfrm>
            <a:off x="4524262" y="473392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61" name="Rect 461"/>
          <p:cNvSpPr/>
          <p:nvPr/>
        </p:nvSpPr>
        <p:spPr>
          <a:xfrm>
            <a:off x="4676658" y="473392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62" name="Rect 462"/>
          <p:cNvSpPr/>
          <p:nvPr/>
        </p:nvSpPr>
        <p:spPr>
          <a:xfrm>
            <a:off x="4819530" y="473392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63" name="Rect 463"/>
          <p:cNvSpPr/>
          <p:nvPr/>
        </p:nvSpPr>
        <p:spPr>
          <a:xfrm>
            <a:off x="4962401" y="473392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64" name="Rect 464"/>
          <p:cNvSpPr/>
          <p:nvPr/>
        </p:nvSpPr>
        <p:spPr>
          <a:xfrm>
            <a:off x="5114797" y="473392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65" name="Rect 465"/>
          <p:cNvSpPr/>
          <p:nvPr/>
        </p:nvSpPr>
        <p:spPr>
          <a:xfrm>
            <a:off x="5257669" y="473392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66" name="Rect 466"/>
          <p:cNvSpPr/>
          <p:nvPr/>
        </p:nvSpPr>
        <p:spPr>
          <a:xfrm>
            <a:off x="5410065" y="473392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67" name="Rect 467"/>
          <p:cNvSpPr/>
          <p:nvPr/>
        </p:nvSpPr>
        <p:spPr>
          <a:xfrm>
            <a:off x="990575" y="48768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68" name="Rect 468"/>
          <p:cNvSpPr/>
          <p:nvPr/>
        </p:nvSpPr>
        <p:spPr>
          <a:xfrm>
            <a:off x="1142971" y="48768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69" name="Rect 469"/>
          <p:cNvSpPr/>
          <p:nvPr/>
        </p:nvSpPr>
        <p:spPr>
          <a:xfrm>
            <a:off x="1285843" y="48768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70" name="Rect 470"/>
          <p:cNvSpPr/>
          <p:nvPr/>
        </p:nvSpPr>
        <p:spPr>
          <a:xfrm>
            <a:off x="1438239" y="48768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71" name="Rect 471"/>
          <p:cNvSpPr/>
          <p:nvPr/>
        </p:nvSpPr>
        <p:spPr>
          <a:xfrm>
            <a:off x="1581110" y="48768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72" name="Rect 472"/>
          <p:cNvSpPr/>
          <p:nvPr/>
        </p:nvSpPr>
        <p:spPr>
          <a:xfrm>
            <a:off x="1876378" y="48768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73" name="Rect 473"/>
          <p:cNvSpPr/>
          <p:nvPr/>
        </p:nvSpPr>
        <p:spPr>
          <a:xfrm>
            <a:off x="2019250" y="48768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74" name="Rect 474"/>
          <p:cNvSpPr/>
          <p:nvPr/>
        </p:nvSpPr>
        <p:spPr>
          <a:xfrm>
            <a:off x="2171646" y="48768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75" name="Rect 475"/>
          <p:cNvSpPr/>
          <p:nvPr/>
        </p:nvSpPr>
        <p:spPr>
          <a:xfrm>
            <a:off x="2314517" y="48768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76" name="Rect 476"/>
          <p:cNvSpPr/>
          <p:nvPr/>
        </p:nvSpPr>
        <p:spPr>
          <a:xfrm>
            <a:off x="2466913" y="48768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77" name="Rect 477"/>
          <p:cNvSpPr/>
          <p:nvPr/>
        </p:nvSpPr>
        <p:spPr>
          <a:xfrm>
            <a:off x="2609785" y="48768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78" name="Rect 478"/>
          <p:cNvSpPr/>
          <p:nvPr/>
        </p:nvSpPr>
        <p:spPr>
          <a:xfrm>
            <a:off x="2762181" y="48768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79" name="Rect 479"/>
          <p:cNvSpPr/>
          <p:nvPr/>
        </p:nvSpPr>
        <p:spPr>
          <a:xfrm>
            <a:off x="2905052" y="48768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80" name="Rect 480"/>
          <p:cNvSpPr/>
          <p:nvPr/>
        </p:nvSpPr>
        <p:spPr>
          <a:xfrm>
            <a:off x="3057449" y="48768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81" name="Rect 481"/>
          <p:cNvSpPr/>
          <p:nvPr/>
        </p:nvSpPr>
        <p:spPr>
          <a:xfrm>
            <a:off x="3200320" y="48768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82" name="Rect 482"/>
          <p:cNvSpPr/>
          <p:nvPr/>
        </p:nvSpPr>
        <p:spPr>
          <a:xfrm>
            <a:off x="3343191" y="48768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83" name="Rect 483"/>
          <p:cNvSpPr/>
          <p:nvPr/>
        </p:nvSpPr>
        <p:spPr>
          <a:xfrm>
            <a:off x="3495588" y="48768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84" name="Rect 484"/>
          <p:cNvSpPr/>
          <p:nvPr/>
        </p:nvSpPr>
        <p:spPr>
          <a:xfrm>
            <a:off x="3638459" y="48768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85" name="Rect 485"/>
          <p:cNvSpPr/>
          <p:nvPr/>
        </p:nvSpPr>
        <p:spPr>
          <a:xfrm>
            <a:off x="3790855" y="48768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86" name="Rect 486"/>
          <p:cNvSpPr/>
          <p:nvPr/>
        </p:nvSpPr>
        <p:spPr>
          <a:xfrm>
            <a:off x="3933727" y="48768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87" name="Rect 487"/>
          <p:cNvSpPr/>
          <p:nvPr/>
        </p:nvSpPr>
        <p:spPr>
          <a:xfrm>
            <a:off x="4086123" y="48768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88" name="Rect 488"/>
          <p:cNvSpPr/>
          <p:nvPr/>
        </p:nvSpPr>
        <p:spPr>
          <a:xfrm>
            <a:off x="4228994" y="48768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89" name="Rect 489"/>
          <p:cNvSpPr/>
          <p:nvPr/>
        </p:nvSpPr>
        <p:spPr>
          <a:xfrm>
            <a:off x="4381390" y="48768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90" name="Rect 490"/>
          <p:cNvSpPr/>
          <p:nvPr/>
        </p:nvSpPr>
        <p:spPr>
          <a:xfrm>
            <a:off x="4524262" y="48768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91" name="Rect 491"/>
          <p:cNvSpPr/>
          <p:nvPr/>
        </p:nvSpPr>
        <p:spPr>
          <a:xfrm>
            <a:off x="4676658" y="48768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92" name="Rect 492"/>
          <p:cNvSpPr/>
          <p:nvPr/>
        </p:nvSpPr>
        <p:spPr>
          <a:xfrm>
            <a:off x="4819530" y="48768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93" name="Rect 493"/>
          <p:cNvSpPr/>
          <p:nvPr/>
        </p:nvSpPr>
        <p:spPr>
          <a:xfrm>
            <a:off x="4962401" y="48768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94" name="Rect 494"/>
          <p:cNvSpPr/>
          <p:nvPr/>
        </p:nvSpPr>
        <p:spPr>
          <a:xfrm>
            <a:off x="5114797" y="48768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95" name="Rect 495"/>
          <p:cNvSpPr/>
          <p:nvPr/>
        </p:nvSpPr>
        <p:spPr>
          <a:xfrm>
            <a:off x="5257669" y="487680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96" name="Rect 496"/>
          <p:cNvSpPr/>
          <p:nvPr/>
        </p:nvSpPr>
        <p:spPr>
          <a:xfrm>
            <a:off x="5410065" y="487680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97" name="Rect 497"/>
          <p:cNvSpPr/>
          <p:nvPr/>
        </p:nvSpPr>
        <p:spPr>
          <a:xfrm>
            <a:off x="990575" y="50292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98" name="Rect 498"/>
          <p:cNvSpPr/>
          <p:nvPr/>
        </p:nvSpPr>
        <p:spPr>
          <a:xfrm>
            <a:off x="1142971" y="50292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499" name="Rect 499"/>
          <p:cNvSpPr/>
          <p:nvPr/>
        </p:nvSpPr>
        <p:spPr>
          <a:xfrm>
            <a:off x="1285843" y="50292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00" name="Rect 500"/>
          <p:cNvSpPr/>
          <p:nvPr/>
        </p:nvSpPr>
        <p:spPr>
          <a:xfrm>
            <a:off x="1438239" y="50292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01" name="Rect 501"/>
          <p:cNvSpPr/>
          <p:nvPr/>
        </p:nvSpPr>
        <p:spPr>
          <a:xfrm>
            <a:off x="1581110" y="50292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02" name="Rect 502"/>
          <p:cNvSpPr/>
          <p:nvPr/>
        </p:nvSpPr>
        <p:spPr>
          <a:xfrm>
            <a:off x="1723982" y="50292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03" name="Rect 503"/>
          <p:cNvSpPr/>
          <p:nvPr/>
        </p:nvSpPr>
        <p:spPr>
          <a:xfrm>
            <a:off x="1876378" y="50292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04" name="Rect 504"/>
          <p:cNvSpPr/>
          <p:nvPr/>
        </p:nvSpPr>
        <p:spPr>
          <a:xfrm>
            <a:off x="2019250" y="50292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05" name="Rect 505"/>
          <p:cNvSpPr/>
          <p:nvPr/>
        </p:nvSpPr>
        <p:spPr>
          <a:xfrm>
            <a:off x="2171646" y="50292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06" name="Rect 506"/>
          <p:cNvSpPr/>
          <p:nvPr/>
        </p:nvSpPr>
        <p:spPr>
          <a:xfrm>
            <a:off x="2314517" y="50292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07" name="Rect 507"/>
          <p:cNvSpPr/>
          <p:nvPr/>
        </p:nvSpPr>
        <p:spPr>
          <a:xfrm>
            <a:off x="2466913" y="50292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08" name="Rect 508"/>
          <p:cNvSpPr/>
          <p:nvPr/>
        </p:nvSpPr>
        <p:spPr>
          <a:xfrm>
            <a:off x="2609785" y="50292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09" name="Rect 509"/>
          <p:cNvSpPr/>
          <p:nvPr/>
        </p:nvSpPr>
        <p:spPr>
          <a:xfrm>
            <a:off x="2905052" y="50292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10" name="Rect 510"/>
          <p:cNvSpPr/>
          <p:nvPr/>
        </p:nvSpPr>
        <p:spPr>
          <a:xfrm>
            <a:off x="3057449" y="50292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11" name="Rect 511"/>
          <p:cNvSpPr/>
          <p:nvPr/>
        </p:nvSpPr>
        <p:spPr>
          <a:xfrm>
            <a:off x="3200320" y="50292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12" name="Rect 512"/>
          <p:cNvSpPr/>
          <p:nvPr/>
        </p:nvSpPr>
        <p:spPr>
          <a:xfrm>
            <a:off x="3343191" y="50292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13" name="Rect 513"/>
          <p:cNvSpPr/>
          <p:nvPr/>
        </p:nvSpPr>
        <p:spPr>
          <a:xfrm>
            <a:off x="3495588" y="50292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14" name="Rect 514"/>
          <p:cNvSpPr/>
          <p:nvPr/>
        </p:nvSpPr>
        <p:spPr>
          <a:xfrm>
            <a:off x="3638459" y="50292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15" name="Rect 515"/>
          <p:cNvSpPr/>
          <p:nvPr/>
        </p:nvSpPr>
        <p:spPr>
          <a:xfrm>
            <a:off x="3790855" y="50292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16" name="Rect 516"/>
          <p:cNvSpPr/>
          <p:nvPr/>
        </p:nvSpPr>
        <p:spPr>
          <a:xfrm>
            <a:off x="4086123" y="50292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17" name="Rect 517"/>
          <p:cNvSpPr/>
          <p:nvPr/>
        </p:nvSpPr>
        <p:spPr>
          <a:xfrm>
            <a:off x="4228994" y="50292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18" name="Rect 518"/>
          <p:cNvSpPr/>
          <p:nvPr/>
        </p:nvSpPr>
        <p:spPr>
          <a:xfrm>
            <a:off x="4381390" y="50292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19" name="Rect 519"/>
          <p:cNvSpPr/>
          <p:nvPr/>
        </p:nvSpPr>
        <p:spPr>
          <a:xfrm>
            <a:off x="4524262" y="50292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20" name="Rect 520"/>
          <p:cNvSpPr/>
          <p:nvPr/>
        </p:nvSpPr>
        <p:spPr>
          <a:xfrm>
            <a:off x="4676658" y="50292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21" name="Rect 521"/>
          <p:cNvSpPr/>
          <p:nvPr/>
        </p:nvSpPr>
        <p:spPr>
          <a:xfrm>
            <a:off x="4819530" y="50292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22" name="Rect 522"/>
          <p:cNvSpPr/>
          <p:nvPr/>
        </p:nvSpPr>
        <p:spPr>
          <a:xfrm>
            <a:off x="4962401" y="50292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23" name="Rect 523"/>
          <p:cNvSpPr/>
          <p:nvPr/>
        </p:nvSpPr>
        <p:spPr>
          <a:xfrm>
            <a:off x="5114797" y="50292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24" name="Rect 524"/>
          <p:cNvSpPr/>
          <p:nvPr/>
        </p:nvSpPr>
        <p:spPr>
          <a:xfrm>
            <a:off x="5257669" y="50292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25" name="Rect 525"/>
          <p:cNvSpPr/>
          <p:nvPr/>
        </p:nvSpPr>
        <p:spPr>
          <a:xfrm>
            <a:off x="5410065" y="502920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26" name="Rect 526"/>
          <p:cNvSpPr/>
          <p:nvPr/>
        </p:nvSpPr>
        <p:spPr>
          <a:xfrm>
            <a:off x="5552936" y="502920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27" name="Rect 527"/>
          <p:cNvSpPr/>
          <p:nvPr/>
        </p:nvSpPr>
        <p:spPr>
          <a:xfrm>
            <a:off x="990575" y="51720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28" name="Rect 528"/>
          <p:cNvSpPr/>
          <p:nvPr/>
        </p:nvSpPr>
        <p:spPr>
          <a:xfrm>
            <a:off x="1142971" y="51720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29" name="Rect 529"/>
          <p:cNvSpPr/>
          <p:nvPr/>
        </p:nvSpPr>
        <p:spPr>
          <a:xfrm>
            <a:off x="1285843" y="51720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30" name="Rect 530"/>
          <p:cNvSpPr/>
          <p:nvPr/>
        </p:nvSpPr>
        <p:spPr>
          <a:xfrm>
            <a:off x="1438239" y="51720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31" name="Rect 531"/>
          <p:cNvSpPr/>
          <p:nvPr/>
        </p:nvSpPr>
        <p:spPr>
          <a:xfrm>
            <a:off x="1581110" y="51720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32" name="Rect 532"/>
          <p:cNvSpPr/>
          <p:nvPr/>
        </p:nvSpPr>
        <p:spPr>
          <a:xfrm>
            <a:off x="1723982" y="51720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33" name="Rect 533"/>
          <p:cNvSpPr/>
          <p:nvPr/>
        </p:nvSpPr>
        <p:spPr>
          <a:xfrm>
            <a:off x="1876378" y="51720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34" name="Rect 534"/>
          <p:cNvSpPr/>
          <p:nvPr/>
        </p:nvSpPr>
        <p:spPr>
          <a:xfrm>
            <a:off x="2019250" y="51720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35" name="Rect 535"/>
          <p:cNvSpPr/>
          <p:nvPr/>
        </p:nvSpPr>
        <p:spPr>
          <a:xfrm>
            <a:off x="2171646" y="51720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36" name="Rect 536"/>
          <p:cNvSpPr/>
          <p:nvPr/>
        </p:nvSpPr>
        <p:spPr>
          <a:xfrm>
            <a:off x="2314517" y="51720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37" name="Rect 537"/>
          <p:cNvSpPr/>
          <p:nvPr/>
        </p:nvSpPr>
        <p:spPr>
          <a:xfrm>
            <a:off x="2466913" y="51720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38" name="Rect 538"/>
          <p:cNvSpPr/>
          <p:nvPr/>
        </p:nvSpPr>
        <p:spPr>
          <a:xfrm>
            <a:off x="2609785" y="51720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39" name="Rect 539"/>
          <p:cNvSpPr/>
          <p:nvPr/>
        </p:nvSpPr>
        <p:spPr>
          <a:xfrm>
            <a:off x="2762181" y="51720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40" name="Rect 540"/>
          <p:cNvSpPr/>
          <p:nvPr/>
        </p:nvSpPr>
        <p:spPr>
          <a:xfrm>
            <a:off x="2905052" y="51720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41" name="Rect 541"/>
          <p:cNvSpPr/>
          <p:nvPr/>
        </p:nvSpPr>
        <p:spPr>
          <a:xfrm>
            <a:off x="3057449" y="51720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42" name="Rect 542"/>
          <p:cNvSpPr/>
          <p:nvPr/>
        </p:nvSpPr>
        <p:spPr>
          <a:xfrm>
            <a:off x="3200320" y="51720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43" name="Rect 543"/>
          <p:cNvSpPr/>
          <p:nvPr/>
        </p:nvSpPr>
        <p:spPr>
          <a:xfrm>
            <a:off x="3343191" y="51720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44" name="Rect 544"/>
          <p:cNvSpPr/>
          <p:nvPr/>
        </p:nvSpPr>
        <p:spPr>
          <a:xfrm>
            <a:off x="3495588" y="51720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45" name="Rect 545"/>
          <p:cNvSpPr/>
          <p:nvPr/>
        </p:nvSpPr>
        <p:spPr>
          <a:xfrm>
            <a:off x="3638459" y="51720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46" name="Rect 546"/>
          <p:cNvSpPr/>
          <p:nvPr/>
        </p:nvSpPr>
        <p:spPr>
          <a:xfrm>
            <a:off x="3790855" y="51720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47" name="Rect 547"/>
          <p:cNvSpPr/>
          <p:nvPr/>
        </p:nvSpPr>
        <p:spPr>
          <a:xfrm>
            <a:off x="3933727" y="51720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48" name="Rect 548"/>
          <p:cNvSpPr/>
          <p:nvPr/>
        </p:nvSpPr>
        <p:spPr>
          <a:xfrm>
            <a:off x="4086123" y="51720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49" name="Rect 549"/>
          <p:cNvSpPr/>
          <p:nvPr/>
        </p:nvSpPr>
        <p:spPr>
          <a:xfrm>
            <a:off x="4228994" y="51720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50" name="Rect 550"/>
          <p:cNvSpPr/>
          <p:nvPr/>
        </p:nvSpPr>
        <p:spPr>
          <a:xfrm>
            <a:off x="4381390" y="51720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51" name="Rect 551"/>
          <p:cNvSpPr/>
          <p:nvPr/>
        </p:nvSpPr>
        <p:spPr>
          <a:xfrm>
            <a:off x="4524262" y="51720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52" name="Rect 552"/>
          <p:cNvSpPr/>
          <p:nvPr/>
        </p:nvSpPr>
        <p:spPr>
          <a:xfrm>
            <a:off x="4676658" y="51720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53" name="Rect 553"/>
          <p:cNvSpPr/>
          <p:nvPr/>
        </p:nvSpPr>
        <p:spPr>
          <a:xfrm>
            <a:off x="4819530" y="51720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54" name="Rect 554"/>
          <p:cNvSpPr/>
          <p:nvPr/>
        </p:nvSpPr>
        <p:spPr>
          <a:xfrm>
            <a:off x="4962401" y="51720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55" name="Rect 555"/>
          <p:cNvSpPr/>
          <p:nvPr/>
        </p:nvSpPr>
        <p:spPr>
          <a:xfrm>
            <a:off x="5114797" y="51720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56" name="Rect 556"/>
          <p:cNvSpPr/>
          <p:nvPr/>
        </p:nvSpPr>
        <p:spPr>
          <a:xfrm>
            <a:off x="5257669" y="51720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57" name="Rect 557"/>
          <p:cNvSpPr/>
          <p:nvPr/>
        </p:nvSpPr>
        <p:spPr>
          <a:xfrm>
            <a:off x="5410065" y="517207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58" name="Rect 558"/>
          <p:cNvSpPr/>
          <p:nvPr/>
        </p:nvSpPr>
        <p:spPr>
          <a:xfrm>
            <a:off x="5552936" y="517207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59" name="Rect 559"/>
          <p:cNvSpPr/>
          <p:nvPr/>
        </p:nvSpPr>
        <p:spPr>
          <a:xfrm>
            <a:off x="990575" y="532447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60" name="Rect 560"/>
          <p:cNvSpPr/>
          <p:nvPr/>
        </p:nvSpPr>
        <p:spPr>
          <a:xfrm>
            <a:off x="1142971" y="532447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61" name="Rect 561"/>
          <p:cNvSpPr/>
          <p:nvPr/>
        </p:nvSpPr>
        <p:spPr>
          <a:xfrm>
            <a:off x="1285843" y="532447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62" name="Rect 562"/>
          <p:cNvSpPr/>
          <p:nvPr/>
        </p:nvSpPr>
        <p:spPr>
          <a:xfrm>
            <a:off x="1438239" y="532447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63" name="Rect 563"/>
          <p:cNvSpPr/>
          <p:nvPr/>
        </p:nvSpPr>
        <p:spPr>
          <a:xfrm>
            <a:off x="1581110" y="532447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64" name="Rect 564"/>
          <p:cNvSpPr/>
          <p:nvPr/>
        </p:nvSpPr>
        <p:spPr>
          <a:xfrm>
            <a:off x="1723982" y="532447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65" name="Rect 565"/>
          <p:cNvSpPr/>
          <p:nvPr/>
        </p:nvSpPr>
        <p:spPr>
          <a:xfrm>
            <a:off x="1876378" y="532447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66" name="Rect 566"/>
          <p:cNvSpPr/>
          <p:nvPr/>
        </p:nvSpPr>
        <p:spPr>
          <a:xfrm>
            <a:off x="2019250" y="532447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67" name="Rect 567"/>
          <p:cNvSpPr/>
          <p:nvPr/>
        </p:nvSpPr>
        <p:spPr>
          <a:xfrm>
            <a:off x="2171646" y="532447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68" name="Rect 568"/>
          <p:cNvSpPr/>
          <p:nvPr/>
        </p:nvSpPr>
        <p:spPr>
          <a:xfrm>
            <a:off x="2314517" y="532447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69" name="Rect 569"/>
          <p:cNvSpPr/>
          <p:nvPr/>
        </p:nvSpPr>
        <p:spPr>
          <a:xfrm>
            <a:off x="2466913" y="532447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70" name="Rect 570"/>
          <p:cNvSpPr/>
          <p:nvPr/>
        </p:nvSpPr>
        <p:spPr>
          <a:xfrm>
            <a:off x="2609785" y="532447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71" name="Rect 571"/>
          <p:cNvSpPr/>
          <p:nvPr/>
        </p:nvSpPr>
        <p:spPr>
          <a:xfrm>
            <a:off x="2762181" y="532447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72" name="Rect 572"/>
          <p:cNvSpPr/>
          <p:nvPr/>
        </p:nvSpPr>
        <p:spPr>
          <a:xfrm>
            <a:off x="2905052" y="532447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73" name="Rect 573"/>
          <p:cNvSpPr/>
          <p:nvPr/>
        </p:nvSpPr>
        <p:spPr>
          <a:xfrm>
            <a:off x="3057449" y="532447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74" name="Rect 574"/>
          <p:cNvSpPr/>
          <p:nvPr/>
        </p:nvSpPr>
        <p:spPr>
          <a:xfrm>
            <a:off x="3200320" y="532447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75" name="Rect 575"/>
          <p:cNvSpPr/>
          <p:nvPr/>
        </p:nvSpPr>
        <p:spPr>
          <a:xfrm>
            <a:off x="3343191" y="532447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76" name="Rect 576"/>
          <p:cNvSpPr/>
          <p:nvPr/>
        </p:nvSpPr>
        <p:spPr>
          <a:xfrm>
            <a:off x="3495588" y="532447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77" name="Rect 577"/>
          <p:cNvSpPr/>
          <p:nvPr/>
        </p:nvSpPr>
        <p:spPr>
          <a:xfrm>
            <a:off x="3638459" y="532447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78" name="Rect 578"/>
          <p:cNvSpPr/>
          <p:nvPr/>
        </p:nvSpPr>
        <p:spPr>
          <a:xfrm>
            <a:off x="3790855" y="532447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79" name="Rect 579"/>
          <p:cNvSpPr/>
          <p:nvPr/>
        </p:nvSpPr>
        <p:spPr>
          <a:xfrm>
            <a:off x="3933727" y="532447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80" name="Rect 580"/>
          <p:cNvSpPr/>
          <p:nvPr/>
        </p:nvSpPr>
        <p:spPr>
          <a:xfrm>
            <a:off x="4086123" y="532447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81" name="Rect 581"/>
          <p:cNvSpPr/>
          <p:nvPr/>
        </p:nvSpPr>
        <p:spPr>
          <a:xfrm>
            <a:off x="4228994" y="532447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82" name="Rect 582"/>
          <p:cNvSpPr/>
          <p:nvPr/>
        </p:nvSpPr>
        <p:spPr>
          <a:xfrm>
            <a:off x="4381390" y="532447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83" name="Rect 583"/>
          <p:cNvSpPr/>
          <p:nvPr/>
        </p:nvSpPr>
        <p:spPr>
          <a:xfrm>
            <a:off x="4524262" y="532447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84" name="Rect 584"/>
          <p:cNvSpPr/>
          <p:nvPr/>
        </p:nvSpPr>
        <p:spPr>
          <a:xfrm>
            <a:off x="4676658" y="532447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85" name="Rect 585"/>
          <p:cNvSpPr/>
          <p:nvPr/>
        </p:nvSpPr>
        <p:spPr>
          <a:xfrm>
            <a:off x="4819530" y="532447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86" name="Rect 586"/>
          <p:cNvSpPr/>
          <p:nvPr/>
        </p:nvSpPr>
        <p:spPr>
          <a:xfrm>
            <a:off x="4962401" y="532447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87" name="Rect 587"/>
          <p:cNvSpPr/>
          <p:nvPr/>
        </p:nvSpPr>
        <p:spPr>
          <a:xfrm>
            <a:off x="5114797" y="532447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88" name="Rect 588"/>
          <p:cNvSpPr/>
          <p:nvPr/>
        </p:nvSpPr>
        <p:spPr>
          <a:xfrm>
            <a:off x="5257669" y="532447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89" name="Rect 589"/>
          <p:cNvSpPr/>
          <p:nvPr/>
        </p:nvSpPr>
        <p:spPr>
          <a:xfrm>
            <a:off x="5410065" y="5324475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90" name="Rect 590"/>
          <p:cNvSpPr/>
          <p:nvPr/>
        </p:nvSpPr>
        <p:spPr>
          <a:xfrm>
            <a:off x="5552936" y="5324475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91" name="Rect 591"/>
          <p:cNvSpPr/>
          <p:nvPr/>
        </p:nvSpPr>
        <p:spPr>
          <a:xfrm>
            <a:off x="990575" y="54673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92" name="Rect 592"/>
          <p:cNvSpPr/>
          <p:nvPr/>
        </p:nvSpPr>
        <p:spPr>
          <a:xfrm>
            <a:off x="1142971" y="54673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93" name="Rect 593"/>
          <p:cNvSpPr/>
          <p:nvPr/>
        </p:nvSpPr>
        <p:spPr>
          <a:xfrm>
            <a:off x="1285843" y="54673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94" name="Rect 594"/>
          <p:cNvSpPr/>
          <p:nvPr/>
        </p:nvSpPr>
        <p:spPr>
          <a:xfrm>
            <a:off x="1438239" y="54673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95" name="Rect 595"/>
          <p:cNvSpPr/>
          <p:nvPr/>
        </p:nvSpPr>
        <p:spPr>
          <a:xfrm>
            <a:off x="1581110" y="54673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96" name="Rect 596"/>
          <p:cNvSpPr/>
          <p:nvPr/>
        </p:nvSpPr>
        <p:spPr>
          <a:xfrm>
            <a:off x="1723982" y="54673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97" name="Rect 597"/>
          <p:cNvSpPr/>
          <p:nvPr/>
        </p:nvSpPr>
        <p:spPr>
          <a:xfrm>
            <a:off x="1876378" y="54673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98" name="Rect 598"/>
          <p:cNvSpPr/>
          <p:nvPr/>
        </p:nvSpPr>
        <p:spPr>
          <a:xfrm>
            <a:off x="2019250" y="54673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599" name="Rect 599"/>
          <p:cNvSpPr/>
          <p:nvPr/>
        </p:nvSpPr>
        <p:spPr>
          <a:xfrm>
            <a:off x="2171646" y="54673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00" name="Rect 600"/>
          <p:cNvSpPr/>
          <p:nvPr/>
        </p:nvSpPr>
        <p:spPr>
          <a:xfrm>
            <a:off x="2314517" y="54673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01" name="Rect 601"/>
          <p:cNvSpPr/>
          <p:nvPr/>
        </p:nvSpPr>
        <p:spPr>
          <a:xfrm>
            <a:off x="2466913" y="54673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02" name="Rect 602"/>
          <p:cNvSpPr/>
          <p:nvPr/>
        </p:nvSpPr>
        <p:spPr>
          <a:xfrm>
            <a:off x="2609785" y="54673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03" name="Rect 603"/>
          <p:cNvSpPr/>
          <p:nvPr/>
        </p:nvSpPr>
        <p:spPr>
          <a:xfrm>
            <a:off x="2762181" y="54673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04" name="Rect 604"/>
          <p:cNvSpPr/>
          <p:nvPr/>
        </p:nvSpPr>
        <p:spPr>
          <a:xfrm>
            <a:off x="2905052" y="54673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05" name="Rect 605"/>
          <p:cNvSpPr/>
          <p:nvPr/>
        </p:nvSpPr>
        <p:spPr>
          <a:xfrm>
            <a:off x="3057449" y="54673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06" name="Rect 606"/>
          <p:cNvSpPr/>
          <p:nvPr/>
        </p:nvSpPr>
        <p:spPr>
          <a:xfrm>
            <a:off x="3200320" y="54673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07" name="Rect 607"/>
          <p:cNvSpPr/>
          <p:nvPr/>
        </p:nvSpPr>
        <p:spPr>
          <a:xfrm>
            <a:off x="3343191" y="54673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08" name="Rect 608"/>
          <p:cNvSpPr/>
          <p:nvPr/>
        </p:nvSpPr>
        <p:spPr>
          <a:xfrm>
            <a:off x="3495588" y="54673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09" name="Rect 609"/>
          <p:cNvSpPr/>
          <p:nvPr/>
        </p:nvSpPr>
        <p:spPr>
          <a:xfrm>
            <a:off x="3638459" y="54673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10" name="Rect 610"/>
          <p:cNvSpPr/>
          <p:nvPr/>
        </p:nvSpPr>
        <p:spPr>
          <a:xfrm>
            <a:off x="3790855" y="54673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11" name="Rect 611"/>
          <p:cNvSpPr/>
          <p:nvPr/>
        </p:nvSpPr>
        <p:spPr>
          <a:xfrm>
            <a:off x="3933727" y="54673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12" name="Rect 612"/>
          <p:cNvSpPr/>
          <p:nvPr/>
        </p:nvSpPr>
        <p:spPr>
          <a:xfrm>
            <a:off x="4086123" y="54673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13" name="Rect 613"/>
          <p:cNvSpPr/>
          <p:nvPr/>
        </p:nvSpPr>
        <p:spPr>
          <a:xfrm>
            <a:off x="4228994" y="54673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14" name="Rect 614"/>
          <p:cNvSpPr/>
          <p:nvPr/>
        </p:nvSpPr>
        <p:spPr>
          <a:xfrm>
            <a:off x="4381390" y="54673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15" name="Rect 615"/>
          <p:cNvSpPr/>
          <p:nvPr/>
        </p:nvSpPr>
        <p:spPr>
          <a:xfrm>
            <a:off x="4524262" y="54673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16" name="Rect 616"/>
          <p:cNvSpPr/>
          <p:nvPr/>
        </p:nvSpPr>
        <p:spPr>
          <a:xfrm>
            <a:off x="4676658" y="54673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17" name="Rect 617"/>
          <p:cNvSpPr/>
          <p:nvPr/>
        </p:nvSpPr>
        <p:spPr>
          <a:xfrm>
            <a:off x="4819530" y="54673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18" name="Rect 618"/>
          <p:cNvSpPr/>
          <p:nvPr/>
        </p:nvSpPr>
        <p:spPr>
          <a:xfrm>
            <a:off x="4962401" y="54673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19" name="Rect 619"/>
          <p:cNvSpPr/>
          <p:nvPr/>
        </p:nvSpPr>
        <p:spPr>
          <a:xfrm>
            <a:off x="5114797" y="54673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20" name="Rect 620"/>
          <p:cNvSpPr/>
          <p:nvPr/>
        </p:nvSpPr>
        <p:spPr>
          <a:xfrm>
            <a:off x="5257669" y="54673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21" name="Rect 621"/>
          <p:cNvSpPr/>
          <p:nvPr/>
        </p:nvSpPr>
        <p:spPr>
          <a:xfrm>
            <a:off x="5410065" y="5467350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22" name="Rect 622"/>
          <p:cNvSpPr/>
          <p:nvPr/>
        </p:nvSpPr>
        <p:spPr>
          <a:xfrm>
            <a:off x="5552936" y="5467350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23" name="Rect 623"/>
          <p:cNvSpPr/>
          <p:nvPr/>
        </p:nvSpPr>
        <p:spPr>
          <a:xfrm>
            <a:off x="990575" y="56197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24" name="Rect 624"/>
          <p:cNvSpPr/>
          <p:nvPr/>
        </p:nvSpPr>
        <p:spPr>
          <a:xfrm>
            <a:off x="1142971" y="56197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25" name="Rect 625"/>
          <p:cNvSpPr/>
          <p:nvPr/>
        </p:nvSpPr>
        <p:spPr>
          <a:xfrm>
            <a:off x="1285843" y="56197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26" name="Rect 626"/>
          <p:cNvSpPr/>
          <p:nvPr/>
        </p:nvSpPr>
        <p:spPr>
          <a:xfrm>
            <a:off x="1438239" y="56197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27" name="Rect 627"/>
          <p:cNvSpPr/>
          <p:nvPr/>
        </p:nvSpPr>
        <p:spPr>
          <a:xfrm>
            <a:off x="1581110" y="56197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28" name="Rect 628"/>
          <p:cNvSpPr/>
          <p:nvPr/>
        </p:nvSpPr>
        <p:spPr>
          <a:xfrm>
            <a:off x="1723982" y="56197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29" name="Rect 629"/>
          <p:cNvSpPr/>
          <p:nvPr/>
        </p:nvSpPr>
        <p:spPr>
          <a:xfrm>
            <a:off x="1876378" y="56197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30" name="Rect 630"/>
          <p:cNvSpPr/>
          <p:nvPr/>
        </p:nvSpPr>
        <p:spPr>
          <a:xfrm>
            <a:off x="2019250" y="56197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31" name="Rect 631"/>
          <p:cNvSpPr/>
          <p:nvPr/>
        </p:nvSpPr>
        <p:spPr>
          <a:xfrm>
            <a:off x="2171646" y="56197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32" name="Rect 632"/>
          <p:cNvSpPr/>
          <p:nvPr/>
        </p:nvSpPr>
        <p:spPr>
          <a:xfrm>
            <a:off x="2314517" y="56197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33" name="Rect 633"/>
          <p:cNvSpPr/>
          <p:nvPr/>
        </p:nvSpPr>
        <p:spPr>
          <a:xfrm>
            <a:off x="2466913" y="56197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34" name="Rect 634"/>
          <p:cNvSpPr/>
          <p:nvPr/>
        </p:nvSpPr>
        <p:spPr>
          <a:xfrm>
            <a:off x="2609785" y="56197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35" name="Rect 635"/>
          <p:cNvSpPr/>
          <p:nvPr/>
        </p:nvSpPr>
        <p:spPr>
          <a:xfrm>
            <a:off x="2762181" y="56197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36" name="Rect 636"/>
          <p:cNvSpPr/>
          <p:nvPr/>
        </p:nvSpPr>
        <p:spPr>
          <a:xfrm>
            <a:off x="2905052" y="56197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37" name="Rect 637"/>
          <p:cNvSpPr/>
          <p:nvPr/>
        </p:nvSpPr>
        <p:spPr>
          <a:xfrm>
            <a:off x="3057449" y="56197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38" name="Rect 638"/>
          <p:cNvSpPr/>
          <p:nvPr/>
        </p:nvSpPr>
        <p:spPr>
          <a:xfrm>
            <a:off x="3200320" y="56197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39" name="Rect 639"/>
          <p:cNvSpPr/>
          <p:nvPr/>
        </p:nvSpPr>
        <p:spPr>
          <a:xfrm>
            <a:off x="3343191" y="56197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40" name="Rect 640"/>
          <p:cNvSpPr/>
          <p:nvPr/>
        </p:nvSpPr>
        <p:spPr>
          <a:xfrm>
            <a:off x="3495588" y="56197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41" name="Rect 641"/>
          <p:cNvSpPr/>
          <p:nvPr/>
        </p:nvSpPr>
        <p:spPr>
          <a:xfrm>
            <a:off x="3638459" y="56197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42" name="Rect 642"/>
          <p:cNvSpPr/>
          <p:nvPr/>
        </p:nvSpPr>
        <p:spPr>
          <a:xfrm>
            <a:off x="3790855" y="56197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43" name="Rect 643"/>
          <p:cNvSpPr/>
          <p:nvPr/>
        </p:nvSpPr>
        <p:spPr>
          <a:xfrm>
            <a:off x="3933727" y="56197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44" name="Rect 644"/>
          <p:cNvSpPr/>
          <p:nvPr/>
        </p:nvSpPr>
        <p:spPr>
          <a:xfrm>
            <a:off x="4086123" y="56197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45" name="Rect 645"/>
          <p:cNvSpPr/>
          <p:nvPr/>
        </p:nvSpPr>
        <p:spPr>
          <a:xfrm>
            <a:off x="4228994" y="56197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46" name="Rect 646"/>
          <p:cNvSpPr/>
          <p:nvPr/>
        </p:nvSpPr>
        <p:spPr>
          <a:xfrm>
            <a:off x="4381390" y="56197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47" name="Rect 647"/>
          <p:cNvSpPr/>
          <p:nvPr/>
        </p:nvSpPr>
        <p:spPr>
          <a:xfrm>
            <a:off x="4524262" y="56197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48" name="Rect 648"/>
          <p:cNvSpPr/>
          <p:nvPr/>
        </p:nvSpPr>
        <p:spPr>
          <a:xfrm>
            <a:off x="4676658" y="56197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49" name="Rect 649"/>
          <p:cNvSpPr/>
          <p:nvPr/>
        </p:nvSpPr>
        <p:spPr>
          <a:xfrm>
            <a:off x="4819530" y="56197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50" name="Rect 650"/>
          <p:cNvSpPr/>
          <p:nvPr/>
        </p:nvSpPr>
        <p:spPr>
          <a:xfrm>
            <a:off x="4962401" y="56197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51" name="Rect 651"/>
          <p:cNvSpPr/>
          <p:nvPr/>
        </p:nvSpPr>
        <p:spPr>
          <a:xfrm>
            <a:off x="5114797" y="56197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52" name="Rect 652"/>
          <p:cNvSpPr/>
          <p:nvPr/>
        </p:nvSpPr>
        <p:spPr>
          <a:xfrm>
            <a:off x="5257669" y="56197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53" name="Rect 653"/>
          <p:cNvSpPr/>
          <p:nvPr/>
        </p:nvSpPr>
        <p:spPr>
          <a:xfrm>
            <a:off x="5410065" y="5619750"/>
            <a:ext cx="123822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54" name="Rect 654"/>
          <p:cNvSpPr/>
          <p:nvPr/>
        </p:nvSpPr>
        <p:spPr>
          <a:xfrm>
            <a:off x="5552936" y="5619750"/>
            <a:ext cx="133347" cy="12382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55" name="Rect 655"/>
          <p:cNvSpPr/>
          <p:nvPr/>
        </p:nvSpPr>
        <p:spPr>
          <a:xfrm>
            <a:off x="990575" y="57626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56" name="Rect 656"/>
          <p:cNvSpPr/>
          <p:nvPr/>
        </p:nvSpPr>
        <p:spPr>
          <a:xfrm>
            <a:off x="1142971" y="57626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57" name="Rect 657"/>
          <p:cNvSpPr/>
          <p:nvPr/>
        </p:nvSpPr>
        <p:spPr>
          <a:xfrm>
            <a:off x="1285843" y="57626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58" name="Rect 658"/>
          <p:cNvSpPr/>
          <p:nvPr/>
        </p:nvSpPr>
        <p:spPr>
          <a:xfrm>
            <a:off x="1438239" y="57626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59" name="Rect 659"/>
          <p:cNvSpPr/>
          <p:nvPr/>
        </p:nvSpPr>
        <p:spPr>
          <a:xfrm>
            <a:off x="1581110" y="57626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60" name="Rect 660"/>
          <p:cNvSpPr/>
          <p:nvPr/>
        </p:nvSpPr>
        <p:spPr>
          <a:xfrm>
            <a:off x="1723982" y="57626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61" name="Rect 661"/>
          <p:cNvSpPr/>
          <p:nvPr/>
        </p:nvSpPr>
        <p:spPr>
          <a:xfrm>
            <a:off x="1876378" y="57626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62" name="Rect 662"/>
          <p:cNvSpPr/>
          <p:nvPr/>
        </p:nvSpPr>
        <p:spPr>
          <a:xfrm>
            <a:off x="2466913" y="57626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63" name="Rect 663"/>
          <p:cNvSpPr/>
          <p:nvPr/>
        </p:nvSpPr>
        <p:spPr>
          <a:xfrm>
            <a:off x="2609785" y="57626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64" name="Rect 664"/>
          <p:cNvSpPr/>
          <p:nvPr/>
        </p:nvSpPr>
        <p:spPr>
          <a:xfrm>
            <a:off x="2762181" y="57626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65" name="Rect 665"/>
          <p:cNvSpPr/>
          <p:nvPr/>
        </p:nvSpPr>
        <p:spPr>
          <a:xfrm>
            <a:off x="2905052" y="57626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66" name="Rect 666"/>
          <p:cNvSpPr/>
          <p:nvPr/>
        </p:nvSpPr>
        <p:spPr>
          <a:xfrm>
            <a:off x="3057449" y="57626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67" name="Rect 667"/>
          <p:cNvSpPr/>
          <p:nvPr/>
        </p:nvSpPr>
        <p:spPr>
          <a:xfrm>
            <a:off x="3200320" y="57626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68" name="Rect 668"/>
          <p:cNvSpPr/>
          <p:nvPr/>
        </p:nvSpPr>
        <p:spPr>
          <a:xfrm>
            <a:off x="3343191" y="57626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69" name="Rect 669"/>
          <p:cNvSpPr/>
          <p:nvPr/>
        </p:nvSpPr>
        <p:spPr>
          <a:xfrm>
            <a:off x="3495588" y="57626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70" name="Rect 670"/>
          <p:cNvSpPr/>
          <p:nvPr/>
        </p:nvSpPr>
        <p:spPr>
          <a:xfrm>
            <a:off x="3638459" y="57626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71" name="Rect 671"/>
          <p:cNvSpPr/>
          <p:nvPr/>
        </p:nvSpPr>
        <p:spPr>
          <a:xfrm>
            <a:off x="3790855" y="57626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72" name="Rect 672"/>
          <p:cNvSpPr/>
          <p:nvPr/>
        </p:nvSpPr>
        <p:spPr>
          <a:xfrm>
            <a:off x="3933727" y="57626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73" name="Rect 673"/>
          <p:cNvSpPr/>
          <p:nvPr/>
        </p:nvSpPr>
        <p:spPr>
          <a:xfrm>
            <a:off x="4524262" y="57626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74" name="Rect 674"/>
          <p:cNvSpPr/>
          <p:nvPr/>
        </p:nvSpPr>
        <p:spPr>
          <a:xfrm>
            <a:off x="4676658" y="57626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75" name="Rect 675"/>
          <p:cNvSpPr/>
          <p:nvPr/>
        </p:nvSpPr>
        <p:spPr>
          <a:xfrm>
            <a:off x="4819530" y="57626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76" name="Rect 676"/>
          <p:cNvSpPr/>
          <p:nvPr/>
        </p:nvSpPr>
        <p:spPr>
          <a:xfrm>
            <a:off x="4962401" y="57626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77" name="Rect 677"/>
          <p:cNvSpPr/>
          <p:nvPr/>
        </p:nvSpPr>
        <p:spPr>
          <a:xfrm>
            <a:off x="5114797" y="57626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78" name="Rect 678"/>
          <p:cNvSpPr/>
          <p:nvPr/>
        </p:nvSpPr>
        <p:spPr>
          <a:xfrm>
            <a:off x="5257669" y="57626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79" name="Rect 679"/>
          <p:cNvSpPr/>
          <p:nvPr/>
        </p:nvSpPr>
        <p:spPr>
          <a:xfrm>
            <a:off x="5410065" y="5762625"/>
            <a:ext cx="123822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80" name="Rect 680"/>
          <p:cNvSpPr/>
          <p:nvPr/>
        </p:nvSpPr>
        <p:spPr>
          <a:xfrm>
            <a:off x="5552936" y="5762625"/>
            <a:ext cx="133347" cy="133350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681" name="Rect 681"/>
          <p:cNvSpPr/>
          <p:nvPr/>
        </p:nvSpPr>
        <p:spPr>
          <a:xfrm>
            <a:off x="6457789" y="2724150"/>
            <a:ext cx="1924002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5EB"/>
            </a:solidFill>
          </a:ln>
        </p:spPr>
        <p:txBody>
          <a:bodyPr/>
          <a:lstStyle/>
          <a:p/>
        </p:txBody>
      </p:sp>
      <p:sp>
        <p:nvSpPr>
          <p:cNvPr id="682" name="Rect 682"/>
          <p:cNvSpPr/>
          <p:nvPr/>
        </p:nvSpPr>
        <p:spPr>
          <a:xfrm>
            <a:off x="8648484" y="2724150"/>
            <a:ext cx="1924002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5EB"/>
            </a:solidFill>
          </a:ln>
        </p:spPr>
        <p:txBody>
          <a:bodyPr/>
          <a:lstStyle/>
          <a:p/>
        </p:txBody>
      </p:sp>
      <p:sp>
        <p:nvSpPr>
          <p:cNvPr id="683" name="Rect 683"/>
          <p:cNvSpPr/>
          <p:nvPr/>
        </p:nvSpPr>
        <p:spPr>
          <a:xfrm>
            <a:off x="6457789" y="3981450"/>
            <a:ext cx="1924002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5EB"/>
            </a:solidFill>
          </a:ln>
        </p:spPr>
        <p:txBody>
          <a:bodyPr/>
          <a:lstStyle/>
          <a:p/>
        </p:txBody>
      </p:sp>
      <p:sp>
        <p:nvSpPr>
          <p:cNvPr id="684" name="Rect 684"/>
          <p:cNvSpPr/>
          <p:nvPr/>
        </p:nvSpPr>
        <p:spPr>
          <a:xfrm>
            <a:off x="8648484" y="3981450"/>
            <a:ext cx="1924002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5EB"/>
            </a:solidFill>
          </a:ln>
        </p:spPr>
        <p:txBody>
          <a:bodyPr/>
          <a:lstStyle/>
          <a:p/>
        </p:txBody>
      </p:sp>
      <p:sp>
        <p:nvSpPr>
          <p:cNvPr id="685" name="Rect 685"/>
          <p:cNvSpPr/>
          <p:nvPr/>
        </p:nvSpPr>
        <p:spPr>
          <a:xfrm>
            <a:off x="6457789" y="2724150"/>
            <a:ext cx="47624" cy="9144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86" name="Rect 686"/>
          <p:cNvSpPr/>
          <p:nvPr/>
        </p:nvSpPr>
        <p:spPr>
          <a:xfrm>
            <a:off x="8648484" y="2724150"/>
            <a:ext cx="47624" cy="914400"/>
          </a:xfrm>
          <a:prstGeom prst="rect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687" name="Rect 687"/>
          <p:cNvSpPr/>
          <p:nvPr/>
        </p:nvSpPr>
        <p:spPr>
          <a:xfrm>
            <a:off x="6457789" y="3981450"/>
            <a:ext cx="47624" cy="914400"/>
          </a:xfrm>
          <a:prstGeom prst="rect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688" name="Rect 688"/>
          <p:cNvSpPr/>
          <p:nvPr/>
        </p:nvSpPr>
        <p:spPr>
          <a:xfrm>
            <a:off x="8648484" y="3981450"/>
            <a:ext cx="47624" cy="914400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689" name="Rect 689"/>
          <p:cNvSpPr/>
          <p:nvPr/>
        </p:nvSpPr>
        <p:spPr>
          <a:xfrm>
            <a:off x="2476438" y="26860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90" name="Rect 690"/>
          <p:cNvSpPr/>
          <p:nvPr/>
        </p:nvSpPr>
        <p:spPr>
          <a:xfrm>
            <a:off x="2619310" y="26860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91" name="Rect 691"/>
          <p:cNvSpPr/>
          <p:nvPr/>
        </p:nvSpPr>
        <p:spPr>
          <a:xfrm>
            <a:off x="2771706" y="26860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92" name="Rect 692"/>
          <p:cNvSpPr/>
          <p:nvPr/>
        </p:nvSpPr>
        <p:spPr>
          <a:xfrm>
            <a:off x="4390915" y="26860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93" name="Rect 693"/>
          <p:cNvSpPr/>
          <p:nvPr/>
        </p:nvSpPr>
        <p:spPr>
          <a:xfrm>
            <a:off x="4533787" y="26860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94" name="Rect 694"/>
          <p:cNvSpPr/>
          <p:nvPr/>
        </p:nvSpPr>
        <p:spPr>
          <a:xfrm>
            <a:off x="4686183" y="26860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95" name="Rect 695"/>
          <p:cNvSpPr/>
          <p:nvPr/>
        </p:nvSpPr>
        <p:spPr>
          <a:xfrm>
            <a:off x="5571986" y="3419475"/>
            <a:ext cx="104772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96" name="Rect 696"/>
          <p:cNvSpPr/>
          <p:nvPr/>
        </p:nvSpPr>
        <p:spPr>
          <a:xfrm>
            <a:off x="5571986" y="3562350"/>
            <a:ext cx="104772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97" name="Rect 697"/>
          <p:cNvSpPr/>
          <p:nvPr/>
        </p:nvSpPr>
        <p:spPr>
          <a:xfrm>
            <a:off x="5571986" y="3714750"/>
            <a:ext cx="104772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98" name="Rect 698"/>
          <p:cNvSpPr/>
          <p:nvPr/>
        </p:nvSpPr>
        <p:spPr>
          <a:xfrm>
            <a:off x="5571986" y="4600575"/>
            <a:ext cx="104772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99" name="Rect 699"/>
          <p:cNvSpPr/>
          <p:nvPr/>
        </p:nvSpPr>
        <p:spPr>
          <a:xfrm>
            <a:off x="5571986" y="4743450"/>
            <a:ext cx="104772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00" name="Rect 700"/>
          <p:cNvSpPr/>
          <p:nvPr/>
        </p:nvSpPr>
        <p:spPr>
          <a:xfrm>
            <a:off x="5571986" y="4895850"/>
            <a:ext cx="104772" cy="10477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01" name="Rect 701"/>
          <p:cNvSpPr/>
          <p:nvPr/>
        </p:nvSpPr>
        <p:spPr>
          <a:xfrm>
            <a:off x="2038299" y="57721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02" name="Rect 702"/>
          <p:cNvSpPr/>
          <p:nvPr/>
        </p:nvSpPr>
        <p:spPr>
          <a:xfrm>
            <a:off x="2181170" y="57721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03" name="Rect 703"/>
          <p:cNvSpPr/>
          <p:nvPr/>
        </p:nvSpPr>
        <p:spPr>
          <a:xfrm>
            <a:off x="2333567" y="5772150"/>
            <a:ext cx="104772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04" name="Rect 704"/>
          <p:cNvSpPr/>
          <p:nvPr/>
        </p:nvSpPr>
        <p:spPr>
          <a:xfrm>
            <a:off x="4095648" y="57721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05" name="Rect 705"/>
          <p:cNvSpPr/>
          <p:nvPr/>
        </p:nvSpPr>
        <p:spPr>
          <a:xfrm>
            <a:off x="4238519" y="57721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06" name="Rect 706"/>
          <p:cNvSpPr/>
          <p:nvPr/>
        </p:nvSpPr>
        <p:spPr>
          <a:xfrm>
            <a:off x="4390915" y="57721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07" name="Ellipse 707"/>
          <p:cNvSpPr/>
          <p:nvPr/>
        </p:nvSpPr>
        <p:spPr>
          <a:xfrm>
            <a:off x="1762081" y="344328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08" name="Ellipse 708"/>
          <p:cNvSpPr/>
          <p:nvPr/>
        </p:nvSpPr>
        <p:spPr>
          <a:xfrm>
            <a:off x="1909715" y="344328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09" name="Ellipse 709"/>
          <p:cNvSpPr/>
          <p:nvPr/>
        </p:nvSpPr>
        <p:spPr>
          <a:xfrm>
            <a:off x="2057349" y="344328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10" name="Ellipse 710"/>
          <p:cNvSpPr/>
          <p:nvPr/>
        </p:nvSpPr>
        <p:spPr>
          <a:xfrm>
            <a:off x="2204982" y="344328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11" name="Ellipse 711"/>
          <p:cNvSpPr/>
          <p:nvPr/>
        </p:nvSpPr>
        <p:spPr>
          <a:xfrm>
            <a:off x="2352616" y="344328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12" name="Ellipse 712"/>
          <p:cNvSpPr/>
          <p:nvPr/>
        </p:nvSpPr>
        <p:spPr>
          <a:xfrm>
            <a:off x="2647884" y="344328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13" name="Ellipse 713"/>
          <p:cNvSpPr/>
          <p:nvPr/>
        </p:nvSpPr>
        <p:spPr>
          <a:xfrm>
            <a:off x="2943151" y="344328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14" name="Ellipse 714"/>
          <p:cNvSpPr/>
          <p:nvPr/>
        </p:nvSpPr>
        <p:spPr>
          <a:xfrm>
            <a:off x="3090785" y="344328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15" name="Ellipse 715"/>
          <p:cNvSpPr/>
          <p:nvPr/>
        </p:nvSpPr>
        <p:spPr>
          <a:xfrm>
            <a:off x="3528924" y="344328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16" name="Ellipse 716"/>
          <p:cNvSpPr/>
          <p:nvPr/>
        </p:nvSpPr>
        <p:spPr>
          <a:xfrm>
            <a:off x="3676558" y="344328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17" name="Ellipse 717"/>
          <p:cNvSpPr/>
          <p:nvPr/>
        </p:nvSpPr>
        <p:spPr>
          <a:xfrm>
            <a:off x="3824192" y="344328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18" name="Ellipse 718"/>
          <p:cNvSpPr/>
          <p:nvPr/>
        </p:nvSpPr>
        <p:spPr>
          <a:xfrm>
            <a:off x="3971826" y="344328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19" name="Ellipse 719"/>
          <p:cNvSpPr/>
          <p:nvPr/>
        </p:nvSpPr>
        <p:spPr>
          <a:xfrm>
            <a:off x="4267093" y="344328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20" name="Ellipse 720"/>
          <p:cNvSpPr/>
          <p:nvPr/>
        </p:nvSpPr>
        <p:spPr>
          <a:xfrm>
            <a:off x="4414727" y="344328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21" name="Ellipse 721"/>
          <p:cNvSpPr/>
          <p:nvPr/>
        </p:nvSpPr>
        <p:spPr>
          <a:xfrm>
            <a:off x="4562361" y="344328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22" name="Ellipse 722"/>
          <p:cNvSpPr/>
          <p:nvPr/>
        </p:nvSpPr>
        <p:spPr>
          <a:xfrm>
            <a:off x="1909715" y="35909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23" name="Ellipse 723"/>
          <p:cNvSpPr/>
          <p:nvPr/>
        </p:nvSpPr>
        <p:spPr>
          <a:xfrm>
            <a:off x="2057349" y="35909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24" name="Ellipse 724"/>
          <p:cNvSpPr/>
          <p:nvPr/>
        </p:nvSpPr>
        <p:spPr>
          <a:xfrm>
            <a:off x="2204982" y="35909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25" name="Ellipse 725"/>
          <p:cNvSpPr/>
          <p:nvPr/>
        </p:nvSpPr>
        <p:spPr>
          <a:xfrm>
            <a:off x="2352616" y="35909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26" name="Ellipse 726"/>
          <p:cNvSpPr/>
          <p:nvPr/>
        </p:nvSpPr>
        <p:spPr>
          <a:xfrm>
            <a:off x="2647884" y="35909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27" name="Ellipse 727"/>
          <p:cNvSpPr/>
          <p:nvPr/>
        </p:nvSpPr>
        <p:spPr>
          <a:xfrm>
            <a:off x="2795518" y="35909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28" name="Ellipse 728"/>
          <p:cNvSpPr/>
          <p:nvPr/>
        </p:nvSpPr>
        <p:spPr>
          <a:xfrm>
            <a:off x="2938389" y="35909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29" name="Ellipse 729"/>
          <p:cNvSpPr/>
          <p:nvPr/>
        </p:nvSpPr>
        <p:spPr>
          <a:xfrm>
            <a:off x="3090785" y="35909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30" name="Ellipse 730"/>
          <p:cNvSpPr/>
          <p:nvPr/>
        </p:nvSpPr>
        <p:spPr>
          <a:xfrm>
            <a:off x="3528924" y="35909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31" name="Ellipse 731"/>
          <p:cNvSpPr/>
          <p:nvPr/>
        </p:nvSpPr>
        <p:spPr>
          <a:xfrm>
            <a:off x="3676558" y="35909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32" name="Ellipse 732"/>
          <p:cNvSpPr/>
          <p:nvPr/>
        </p:nvSpPr>
        <p:spPr>
          <a:xfrm>
            <a:off x="3824192" y="35909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33" name="Ellipse 733"/>
          <p:cNvSpPr/>
          <p:nvPr/>
        </p:nvSpPr>
        <p:spPr>
          <a:xfrm>
            <a:off x="3971826" y="35909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34" name="Ellipse 734"/>
          <p:cNvSpPr/>
          <p:nvPr/>
        </p:nvSpPr>
        <p:spPr>
          <a:xfrm>
            <a:off x="4119460" y="35909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35" name="Ellipse 735"/>
          <p:cNvSpPr/>
          <p:nvPr/>
        </p:nvSpPr>
        <p:spPr>
          <a:xfrm>
            <a:off x="4267093" y="35909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36" name="Ellipse 736"/>
          <p:cNvSpPr/>
          <p:nvPr/>
        </p:nvSpPr>
        <p:spPr>
          <a:xfrm>
            <a:off x="2352616" y="388143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37" name="Ellipse 737"/>
          <p:cNvSpPr/>
          <p:nvPr/>
        </p:nvSpPr>
        <p:spPr>
          <a:xfrm>
            <a:off x="2647884" y="388143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38" name="Ellipse 738"/>
          <p:cNvSpPr/>
          <p:nvPr/>
        </p:nvSpPr>
        <p:spPr>
          <a:xfrm>
            <a:off x="3971826" y="388143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39" name="Ellipse 739"/>
          <p:cNvSpPr/>
          <p:nvPr/>
        </p:nvSpPr>
        <p:spPr>
          <a:xfrm>
            <a:off x="4267093" y="388143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40" name="Ellipse 740"/>
          <p:cNvSpPr/>
          <p:nvPr/>
        </p:nvSpPr>
        <p:spPr>
          <a:xfrm>
            <a:off x="1766843" y="3886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41" name="Ellipse 741"/>
          <p:cNvSpPr/>
          <p:nvPr/>
        </p:nvSpPr>
        <p:spPr>
          <a:xfrm>
            <a:off x="1909715" y="3886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42" name="Ellipse 742"/>
          <p:cNvSpPr/>
          <p:nvPr/>
        </p:nvSpPr>
        <p:spPr>
          <a:xfrm>
            <a:off x="2057349" y="3886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43" name="Ellipse 743"/>
          <p:cNvSpPr/>
          <p:nvPr/>
        </p:nvSpPr>
        <p:spPr>
          <a:xfrm>
            <a:off x="2204982" y="3886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44" name="Ellipse 744"/>
          <p:cNvSpPr/>
          <p:nvPr/>
        </p:nvSpPr>
        <p:spPr>
          <a:xfrm>
            <a:off x="2500250" y="3886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45" name="Ellipse 745"/>
          <p:cNvSpPr/>
          <p:nvPr/>
        </p:nvSpPr>
        <p:spPr>
          <a:xfrm>
            <a:off x="2943151" y="3886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46" name="Ellipse 746"/>
          <p:cNvSpPr/>
          <p:nvPr/>
        </p:nvSpPr>
        <p:spPr>
          <a:xfrm>
            <a:off x="3090785" y="3886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47" name="Ellipse 747"/>
          <p:cNvSpPr/>
          <p:nvPr/>
        </p:nvSpPr>
        <p:spPr>
          <a:xfrm>
            <a:off x="3528924" y="3886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48" name="Ellipse 748"/>
          <p:cNvSpPr/>
          <p:nvPr/>
        </p:nvSpPr>
        <p:spPr>
          <a:xfrm>
            <a:off x="3676558" y="3886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49" name="Ellipse 749"/>
          <p:cNvSpPr/>
          <p:nvPr/>
        </p:nvSpPr>
        <p:spPr>
          <a:xfrm>
            <a:off x="3824192" y="3886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50" name="Ellipse 750"/>
          <p:cNvSpPr/>
          <p:nvPr/>
        </p:nvSpPr>
        <p:spPr>
          <a:xfrm>
            <a:off x="4119460" y="3886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51" name="Ellipse 751"/>
          <p:cNvSpPr/>
          <p:nvPr/>
        </p:nvSpPr>
        <p:spPr>
          <a:xfrm>
            <a:off x="4414727" y="3886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52" name="Ellipse 752"/>
          <p:cNvSpPr/>
          <p:nvPr/>
        </p:nvSpPr>
        <p:spPr>
          <a:xfrm>
            <a:off x="4562361" y="3886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53" name="Ellipse 753"/>
          <p:cNvSpPr/>
          <p:nvPr/>
        </p:nvSpPr>
        <p:spPr>
          <a:xfrm>
            <a:off x="4709995" y="3886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54" name="Ellipse 754"/>
          <p:cNvSpPr/>
          <p:nvPr/>
        </p:nvSpPr>
        <p:spPr>
          <a:xfrm>
            <a:off x="1762081" y="403383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55" name="Ellipse 755"/>
          <p:cNvSpPr/>
          <p:nvPr/>
        </p:nvSpPr>
        <p:spPr>
          <a:xfrm>
            <a:off x="1909715" y="403383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56" name="Ellipse 756"/>
          <p:cNvSpPr/>
          <p:nvPr/>
        </p:nvSpPr>
        <p:spPr>
          <a:xfrm>
            <a:off x="2057349" y="403383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57" name="Ellipse 757"/>
          <p:cNvSpPr/>
          <p:nvPr/>
        </p:nvSpPr>
        <p:spPr>
          <a:xfrm>
            <a:off x="2204982" y="403383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58" name="Ellipse 758"/>
          <p:cNvSpPr/>
          <p:nvPr/>
        </p:nvSpPr>
        <p:spPr>
          <a:xfrm>
            <a:off x="2500250" y="403383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59" name="Ellipse 759"/>
          <p:cNvSpPr/>
          <p:nvPr/>
        </p:nvSpPr>
        <p:spPr>
          <a:xfrm>
            <a:off x="2647884" y="403383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60" name="Ellipse 760"/>
          <p:cNvSpPr/>
          <p:nvPr/>
        </p:nvSpPr>
        <p:spPr>
          <a:xfrm>
            <a:off x="2795518" y="403383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61" name="Ellipse 761"/>
          <p:cNvSpPr/>
          <p:nvPr/>
        </p:nvSpPr>
        <p:spPr>
          <a:xfrm>
            <a:off x="2943151" y="403383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62" name="Ellipse 762"/>
          <p:cNvSpPr/>
          <p:nvPr/>
        </p:nvSpPr>
        <p:spPr>
          <a:xfrm>
            <a:off x="3090785" y="403383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63" name="Ellipse 763"/>
          <p:cNvSpPr/>
          <p:nvPr/>
        </p:nvSpPr>
        <p:spPr>
          <a:xfrm>
            <a:off x="3528924" y="403383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64" name="Ellipse 764"/>
          <p:cNvSpPr/>
          <p:nvPr/>
        </p:nvSpPr>
        <p:spPr>
          <a:xfrm>
            <a:off x="3676558" y="403383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65" name="Ellipse 765"/>
          <p:cNvSpPr/>
          <p:nvPr/>
        </p:nvSpPr>
        <p:spPr>
          <a:xfrm>
            <a:off x="3824192" y="403383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66" name="Ellipse 766"/>
          <p:cNvSpPr/>
          <p:nvPr/>
        </p:nvSpPr>
        <p:spPr>
          <a:xfrm>
            <a:off x="3971826" y="403383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67" name="Ellipse 767"/>
          <p:cNvSpPr/>
          <p:nvPr/>
        </p:nvSpPr>
        <p:spPr>
          <a:xfrm>
            <a:off x="4119460" y="403383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68" name="Ellipse 768"/>
          <p:cNvSpPr/>
          <p:nvPr/>
        </p:nvSpPr>
        <p:spPr>
          <a:xfrm>
            <a:off x="4267093" y="403383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69" name="Ellipse 769"/>
          <p:cNvSpPr/>
          <p:nvPr/>
        </p:nvSpPr>
        <p:spPr>
          <a:xfrm>
            <a:off x="4414727" y="403383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70" name="Ellipse 770"/>
          <p:cNvSpPr/>
          <p:nvPr/>
        </p:nvSpPr>
        <p:spPr>
          <a:xfrm>
            <a:off x="4562361" y="403383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71" name="Ellipse 771"/>
          <p:cNvSpPr/>
          <p:nvPr/>
        </p:nvSpPr>
        <p:spPr>
          <a:xfrm>
            <a:off x="4709995" y="403383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72" name="Ellipse 772"/>
          <p:cNvSpPr/>
          <p:nvPr/>
        </p:nvSpPr>
        <p:spPr>
          <a:xfrm>
            <a:off x="4852866" y="403383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73" name="Ellipse 773"/>
          <p:cNvSpPr/>
          <p:nvPr/>
        </p:nvSpPr>
        <p:spPr>
          <a:xfrm>
            <a:off x="1762081" y="447198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74" name="Ellipse 774"/>
          <p:cNvSpPr/>
          <p:nvPr/>
        </p:nvSpPr>
        <p:spPr>
          <a:xfrm>
            <a:off x="1909715" y="447198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75" name="Ellipse 775"/>
          <p:cNvSpPr/>
          <p:nvPr/>
        </p:nvSpPr>
        <p:spPr>
          <a:xfrm>
            <a:off x="2057349" y="447198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76" name="Ellipse 776"/>
          <p:cNvSpPr/>
          <p:nvPr/>
        </p:nvSpPr>
        <p:spPr>
          <a:xfrm>
            <a:off x="2204982" y="447198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77" name="Ellipse 777"/>
          <p:cNvSpPr/>
          <p:nvPr/>
        </p:nvSpPr>
        <p:spPr>
          <a:xfrm>
            <a:off x="2500250" y="447198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78" name="Ellipse 778"/>
          <p:cNvSpPr/>
          <p:nvPr/>
        </p:nvSpPr>
        <p:spPr>
          <a:xfrm>
            <a:off x="2647884" y="447198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79" name="Ellipse 779"/>
          <p:cNvSpPr/>
          <p:nvPr/>
        </p:nvSpPr>
        <p:spPr>
          <a:xfrm>
            <a:off x="2795518" y="447198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80" name="Ellipse 780"/>
          <p:cNvSpPr/>
          <p:nvPr/>
        </p:nvSpPr>
        <p:spPr>
          <a:xfrm>
            <a:off x="2943151" y="447198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81" name="Ellipse 781"/>
          <p:cNvSpPr/>
          <p:nvPr/>
        </p:nvSpPr>
        <p:spPr>
          <a:xfrm>
            <a:off x="3090785" y="447198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82" name="Ellipse 782"/>
          <p:cNvSpPr/>
          <p:nvPr/>
        </p:nvSpPr>
        <p:spPr>
          <a:xfrm>
            <a:off x="3676558" y="447198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83" name="Ellipse 783"/>
          <p:cNvSpPr/>
          <p:nvPr/>
        </p:nvSpPr>
        <p:spPr>
          <a:xfrm>
            <a:off x="3824192" y="447198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84" name="Ellipse 784"/>
          <p:cNvSpPr/>
          <p:nvPr/>
        </p:nvSpPr>
        <p:spPr>
          <a:xfrm>
            <a:off x="3971826" y="447198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85" name="Ellipse 785"/>
          <p:cNvSpPr/>
          <p:nvPr/>
        </p:nvSpPr>
        <p:spPr>
          <a:xfrm>
            <a:off x="4119460" y="447198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86" name="Ellipse 786"/>
          <p:cNvSpPr/>
          <p:nvPr/>
        </p:nvSpPr>
        <p:spPr>
          <a:xfrm>
            <a:off x="4267093" y="447198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87" name="Ellipse 787"/>
          <p:cNvSpPr/>
          <p:nvPr/>
        </p:nvSpPr>
        <p:spPr>
          <a:xfrm>
            <a:off x="4414727" y="447198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88" name="Ellipse 788"/>
          <p:cNvSpPr/>
          <p:nvPr/>
        </p:nvSpPr>
        <p:spPr>
          <a:xfrm>
            <a:off x="4562361" y="447198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89" name="Ellipse 789"/>
          <p:cNvSpPr/>
          <p:nvPr/>
        </p:nvSpPr>
        <p:spPr>
          <a:xfrm>
            <a:off x="4709995" y="447198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90" name="Ellipse 790"/>
          <p:cNvSpPr/>
          <p:nvPr/>
        </p:nvSpPr>
        <p:spPr>
          <a:xfrm>
            <a:off x="4857629" y="447198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91" name="Ellipse 791"/>
          <p:cNvSpPr/>
          <p:nvPr/>
        </p:nvSpPr>
        <p:spPr>
          <a:xfrm>
            <a:off x="1766843" y="46196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92" name="Ellipse 792"/>
          <p:cNvSpPr/>
          <p:nvPr/>
        </p:nvSpPr>
        <p:spPr>
          <a:xfrm>
            <a:off x="1909715" y="46196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93" name="Ellipse 793"/>
          <p:cNvSpPr/>
          <p:nvPr/>
        </p:nvSpPr>
        <p:spPr>
          <a:xfrm>
            <a:off x="2057349" y="46196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94" name="Ellipse 794"/>
          <p:cNvSpPr/>
          <p:nvPr/>
        </p:nvSpPr>
        <p:spPr>
          <a:xfrm>
            <a:off x="2204982" y="46196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95" name="Ellipse 795"/>
          <p:cNvSpPr/>
          <p:nvPr/>
        </p:nvSpPr>
        <p:spPr>
          <a:xfrm>
            <a:off x="2352616" y="46196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96" name="Ellipse 796"/>
          <p:cNvSpPr/>
          <p:nvPr/>
        </p:nvSpPr>
        <p:spPr>
          <a:xfrm>
            <a:off x="2500250" y="46196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97" name="Ellipse 797"/>
          <p:cNvSpPr/>
          <p:nvPr/>
        </p:nvSpPr>
        <p:spPr>
          <a:xfrm>
            <a:off x="2647884" y="46196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98" name="Ellipse 798"/>
          <p:cNvSpPr/>
          <p:nvPr/>
        </p:nvSpPr>
        <p:spPr>
          <a:xfrm>
            <a:off x="2795518" y="46196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799" name="Ellipse 799"/>
          <p:cNvSpPr/>
          <p:nvPr/>
        </p:nvSpPr>
        <p:spPr>
          <a:xfrm>
            <a:off x="2943151" y="46196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00" name="Ellipse 800"/>
          <p:cNvSpPr/>
          <p:nvPr/>
        </p:nvSpPr>
        <p:spPr>
          <a:xfrm>
            <a:off x="3090785" y="46196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01" name="Ellipse 801"/>
          <p:cNvSpPr/>
          <p:nvPr/>
        </p:nvSpPr>
        <p:spPr>
          <a:xfrm>
            <a:off x="3528924" y="46196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02" name="Ellipse 802"/>
          <p:cNvSpPr/>
          <p:nvPr/>
        </p:nvSpPr>
        <p:spPr>
          <a:xfrm>
            <a:off x="3676558" y="46196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03" name="Ellipse 803"/>
          <p:cNvSpPr/>
          <p:nvPr/>
        </p:nvSpPr>
        <p:spPr>
          <a:xfrm>
            <a:off x="3971826" y="46196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04" name="Ellipse 804"/>
          <p:cNvSpPr/>
          <p:nvPr/>
        </p:nvSpPr>
        <p:spPr>
          <a:xfrm>
            <a:off x="4119460" y="46196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05" name="Ellipse 805"/>
          <p:cNvSpPr/>
          <p:nvPr/>
        </p:nvSpPr>
        <p:spPr>
          <a:xfrm>
            <a:off x="4267093" y="46196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06" name="Ellipse 806"/>
          <p:cNvSpPr/>
          <p:nvPr/>
        </p:nvSpPr>
        <p:spPr>
          <a:xfrm>
            <a:off x="4414727" y="46196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07" name="Ellipse 807"/>
          <p:cNvSpPr/>
          <p:nvPr/>
        </p:nvSpPr>
        <p:spPr>
          <a:xfrm>
            <a:off x="4709995" y="46196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08" name="Ellipse 808"/>
          <p:cNvSpPr/>
          <p:nvPr/>
        </p:nvSpPr>
        <p:spPr>
          <a:xfrm>
            <a:off x="4852866" y="46196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09" name="Ellipse 809"/>
          <p:cNvSpPr/>
          <p:nvPr/>
        </p:nvSpPr>
        <p:spPr>
          <a:xfrm>
            <a:off x="1909715" y="49149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10" name="Ellipse 810"/>
          <p:cNvSpPr/>
          <p:nvPr/>
        </p:nvSpPr>
        <p:spPr>
          <a:xfrm>
            <a:off x="2057349" y="49149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11" name="Ellipse 811"/>
          <p:cNvSpPr/>
          <p:nvPr/>
        </p:nvSpPr>
        <p:spPr>
          <a:xfrm>
            <a:off x="2204982" y="49149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12" name="Ellipse 812"/>
          <p:cNvSpPr/>
          <p:nvPr/>
        </p:nvSpPr>
        <p:spPr>
          <a:xfrm>
            <a:off x="2352616" y="49149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13" name="Ellipse 813"/>
          <p:cNvSpPr/>
          <p:nvPr/>
        </p:nvSpPr>
        <p:spPr>
          <a:xfrm>
            <a:off x="2647884" y="49149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14" name="Ellipse 814"/>
          <p:cNvSpPr/>
          <p:nvPr/>
        </p:nvSpPr>
        <p:spPr>
          <a:xfrm>
            <a:off x="2938389" y="49149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15" name="Ellipse 815"/>
          <p:cNvSpPr/>
          <p:nvPr/>
        </p:nvSpPr>
        <p:spPr>
          <a:xfrm>
            <a:off x="3090785" y="49149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16" name="Ellipse 816"/>
          <p:cNvSpPr/>
          <p:nvPr/>
        </p:nvSpPr>
        <p:spPr>
          <a:xfrm>
            <a:off x="3528924" y="49149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17" name="Ellipse 817"/>
          <p:cNvSpPr/>
          <p:nvPr/>
        </p:nvSpPr>
        <p:spPr>
          <a:xfrm>
            <a:off x="3676558" y="49149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18" name="Ellipse 818"/>
          <p:cNvSpPr/>
          <p:nvPr/>
        </p:nvSpPr>
        <p:spPr>
          <a:xfrm>
            <a:off x="3824192" y="49149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19" name="Ellipse 819"/>
          <p:cNvSpPr/>
          <p:nvPr/>
        </p:nvSpPr>
        <p:spPr>
          <a:xfrm>
            <a:off x="3971826" y="49149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20" name="Ellipse 820"/>
          <p:cNvSpPr/>
          <p:nvPr/>
        </p:nvSpPr>
        <p:spPr>
          <a:xfrm>
            <a:off x="4119460" y="49149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21" name="Ellipse 821"/>
          <p:cNvSpPr/>
          <p:nvPr/>
        </p:nvSpPr>
        <p:spPr>
          <a:xfrm>
            <a:off x="4267093" y="49149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22" name="Ellipse 822"/>
          <p:cNvSpPr/>
          <p:nvPr/>
        </p:nvSpPr>
        <p:spPr>
          <a:xfrm>
            <a:off x="4414727" y="49149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23" name="Ellipse 823"/>
          <p:cNvSpPr/>
          <p:nvPr/>
        </p:nvSpPr>
        <p:spPr>
          <a:xfrm>
            <a:off x="4557599" y="49149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24" name="Ellipse 824"/>
          <p:cNvSpPr/>
          <p:nvPr/>
        </p:nvSpPr>
        <p:spPr>
          <a:xfrm>
            <a:off x="1762081" y="506253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25" name="Ellipse 825"/>
          <p:cNvSpPr/>
          <p:nvPr/>
        </p:nvSpPr>
        <p:spPr>
          <a:xfrm>
            <a:off x="1909715" y="506253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26" name="Ellipse 826"/>
          <p:cNvSpPr/>
          <p:nvPr/>
        </p:nvSpPr>
        <p:spPr>
          <a:xfrm>
            <a:off x="2057349" y="506253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27" name="Ellipse 827"/>
          <p:cNvSpPr/>
          <p:nvPr/>
        </p:nvSpPr>
        <p:spPr>
          <a:xfrm>
            <a:off x="2204982" y="506253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28" name="Ellipse 828"/>
          <p:cNvSpPr/>
          <p:nvPr/>
        </p:nvSpPr>
        <p:spPr>
          <a:xfrm>
            <a:off x="2352616" y="506253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29" name="Ellipse 829"/>
          <p:cNvSpPr/>
          <p:nvPr/>
        </p:nvSpPr>
        <p:spPr>
          <a:xfrm>
            <a:off x="2647884" y="506253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30" name="Ellipse 830"/>
          <p:cNvSpPr/>
          <p:nvPr/>
        </p:nvSpPr>
        <p:spPr>
          <a:xfrm>
            <a:off x="3090785" y="506253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31" name="Ellipse 831"/>
          <p:cNvSpPr/>
          <p:nvPr/>
        </p:nvSpPr>
        <p:spPr>
          <a:xfrm>
            <a:off x="3528924" y="506253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32" name="Ellipse 832"/>
          <p:cNvSpPr/>
          <p:nvPr/>
        </p:nvSpPr>
        <p:spPr>
          <a:xfrm>
            <a:off x="3676558" y="506253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33" name="Ellipse 833"/>
          <p:cNvSpPr/>
          <p:nvPr/>
        </p:nvSpPr>
        <p:spPr>
          <a:xfrm>
            <a:off x="4119460" y="506253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34" name="Ellipse 834"/>
          <p:cNvSpPr/>
          <p:nvPr/>
        </p:nvSpPr>
        <p:spPr>
          <a:xfrm>
            <a:off x="4267093" y="506253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35" name="Ellipse 835"/>
          <p:cNvSpPr/>
          <p:nvPr/>
        </p:nvSpPr>
        <p:spPr>
          <a:xfrm>
            <a:off x="4414727" y="506253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36" name="Ellipse 836"/>
          <p:cNvSpPr/>
          <p:nvPr/>
        </p:nvSpPr>
        <p:spPr>
          <a:xfrm>
            <a:off x="4562361" y="5062538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37" name="Rect 837"/>
          <p:cNvSpPr/>
          <p:nvPr/>
        </p:nvSpPr>
        <p:spPr>
          <a:xfrm>
            <a:off x="2771706" y="3419475"/>
            <a:ext cx="104772" cy="114300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38" name="Rect 838"/>
          <p:cNvSpPr/>
          <p:nvPr/>
        </p:nvSpPr>
        <p:spPr>
          <a:xfrm>
            <a:off x="4105172" y="3419475"/>
            <a:ext cx="95248" cy="114300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39" name="Rect 839"/>
          <p:cNvSpPr/>
          <p:nvPr/>
        </p:nvSpPr>
        <p:spPr>
          <a:xfrm>
            <a:off x="1743031" y="3571875"/>
            <a:ext cx="104772" cy="104775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40" name="Rect 840"/>
          <p:cNvSpPr/>
          <p:nvPr/>
        </p:nvSpPr>
        <p:spPr>
          <a:xfrm>
            <a:off x="4838579" y="3867150"/>
            <a:ext cx="104772" cy="104775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41" name="Rect 841"/>
          <p:cNvSpPr/>
          <p:nvPr/>
        </p:nvSpPr>
        <p:spPr>
          <a:xfrm>
            <a:off x="2333567" y="4457700"/>
            <a:ext cx="104772" cy="104775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42" name="Rect 842"/>
          <p:cNvSpPr/>
          <p:nvPr/>
        </p:nvSpPr>
        <p:spPr>
          <a:xfrm>
            <a:off x="3514637" y="4457700"/>
            <a:ext cx="104772" cy="104775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43" name="Rect 843"/>
          <p:cNvSpPr/>
          <p:nvPr/>
        </p:nvSpPr>
        <p:spPr>
          <a:xfrm>
            <a:off x="4543311" y="4600575"/>
            <a:ext cx="104772" cy="104775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44" name="Rect 844"/>
          <p:cNvSpPr/>
          <p:nvPr/>
        </p:nvSpPr>
        <p:spPr>
          <a:xfrm>
            <a:off x="1743031" y="4895850"/>
            <a:ext cx="104772" cy="104775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45" name="Rect 845"/>
          <p:cNvSpPr/>
          <p:nvPr/>
        </p:nvSpPr>
        <p:spPr>
          <a:xfrm>
            <a:off x="2771706" y="5038725"/>
            <a:ext cx="104772" cy="114300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46" name="Rect 846"/>
          <p:cNvSpPr/>
          <p:nvPr/>
        </p:nvSpPr>
        <p:spPr>
          <a:xfrm>
            <a:off x="3952776" y="5038725"/>
            <a:ext cx="104772" cy="114300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47" name="Rect 847"/>
          <p:cNvSpPr/>
          <p:nvPr/>
        </p:nvSpPr>
        <p:spPr>
          <a:xfrm>
            <a:off x="685783" y="571500"/>
            <a:ext cx="66673" cy="66675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txBody>
          <a:bodyPr/>
          <a:lstStyle/>
          <a:p/>
        </p:txBody>
      </p:sp>
      <p:sp>
        <p:nvSpPr>
          <p:cNvPr id="848" name="TextBox 848"/>
          <p:cNvSpPr txBox="1"/>
          <p:nvPr/>
        </p:nvSpPr>
        <p:spPr>
          <a:xfrm>
            <a:off x="857229" y="542925"/>
            <a:ext cx="2000200" cy="1524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40" b="1">
                <a:solidFill>
                  <a:srgbClr val="4E5B67"/>
                </a:solidFill>
                <a:latin typeface="PingFang SC"/>
                <a:ea typeface="PingFang SC"/>
                <a:cs typeface="PingFang SC"/>
              </a:rPr>
              <a:t>TASK 3 · SELECTED POINTS</a:t>
            </a:r>
            <a:endParaRPr lang="zh-CN" sz="840"/>
          </a:p>
        </p:txBody>
      </p:sp>
      <p:sp>
        <p:nvSpPr>
          <p:cNvPr id="849" name="TextBox 849"/>
          <p:cNvSpPr txBox="1"/>
          <p:nvPr/>
        </p:nvSpPr>
        <p:spPr>
          <a:xfrm>
            <a:off x="685783" y="876300"/>
            <a:ext cx="8191295" cy="5334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72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重点缓存/中转货位：最终被选中的高价值位置。</a:t>
            </a:r>
            <a:endParaRPr lang="zh-CN" sz="2720"/>
          </a:p>
        </p:txBody>
      </p:sp>
      <p:sp>
        <p:nvSpPr>
          <p:cNvPr id="850" name="TextBox 850"/>
          <p:cNvSpPr txBox="1"/>
          <p:nvPr/>
        </p:nvSpPr>
        <p:spPr>
          <a:xfrm>
            <a:off x="704832" y="1914525"/>
            <a:ext cx="8762781" cy="2476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4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这些点不是普通存货点，而是更适合承担高频托盘、工位前补货、临时缓存或出库前暂存的空间节点。</a:t>
            </a:r>
            <a:endParaRPr lang="zh-CN" sz="1140"/>
          </a:p>
        </p:txBody>
      </p:sp>
      <p:sp>
        <p:nvSpPr>
          <p:cNvPr id="851" name="TextBox 851"/>
          <p:cNvSpPr txBox="1"/>
          <p:nvPr/>
        </p:nvSpPr>
        <p:spPr>
          <a:xfrm>
            <a:off x="6629234" y="2886075"/>
            <a:ext cx="1428714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6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高频货物前置</a:t>
            </a:r>
            <a:endParaRPr lang="zh-CN" sz="1160"/>
          </a:p>
        </p:txBody>
      </p:sp>
      <p:sp>
        <p:nvSpPr>
          <p:cNvPr id="852" name="TextBox 852"/>
          <p:cNvSpPr txBox="1"/>
          <p:nvPr/>
        </p:nvSpPr>
        <p:spPr>
          <a:xfrm>
            <a:off x="6629234" y="3171825"/>
            <a:ext cx="1581110" cy="2476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6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让常用托盘更靠近作业流线</a:t>
            </a:r>
            <a:endParaRPr lang="zh-CN" sz="860"/>
          </a:p>
        </p:txBody>
      </p:sp>
      <p:sp>
        <p:nvSpPr>
          <p:cNvPr id="853" name="TextBox 853"/>
          <p:cNvSpPr txBox="1"/>
          <p:nvPr/>
        </p:nvSpPr>
        <p:spPr>
          <a:xfrm>
            <a:off x="8819929" y="2886075"/>
            <a:ext cx="1428714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6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工位前补货</a:t>
            </a:r>
            <a:endParaRPr lang="zh-CN" sz="1160"/>
          </a:p>
        </p:txBody>
      </p:sp>
      <p:sp>
        <p:nvSpPr>
          <p:cNvPr id="854" name="TextBox 854"/>
          <p:cNvSpPr txBox="1"/>
          <p:nvPr/>
        </p:nvSpPr>
        <p:spPr>
          <a:xfrm>
            <a:off x="8819929" y="3171825"/>
            <a:ext cx="1581110" cy="3619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6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减少工位等待，提升供货稳定</a:t>
            </a:r>
            <a:endParaRPr lang="zh-CN" sz="860"/>
          </a:p>
          <a:p>
            <a:pPr algn="left"/>
            <a:r>
              <a:rPr lang="zh-CN" sz="86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性</a:t>
            </a:r>
            <a:endParaRPr lang="zh-CN" sz="860"/>
          </a:p>
        </p:txBody>
      </p:sp>
      <p:sp>
        <p:nvSpPr>
          <p:cNvPr id="855" name="TextBox 855"/>
          <p:cNvSpPr txBox="1"/>
          <p:nvPr/>
        </p:nvSpPr>
        <p:spPr>
          <a:xfrm>
            <a:off x="6629234" y="4143375"/>
            <a:ext cx="1428714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6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临时缓存</a:t>
            </a:r>
            <a:endParaRPr lang="zh-CN" sz="1160"/>
          </a:p>
        </p:txBody>
      </p:sp>
      <p:sp>
        <p:nvSpPr>
          <p:cNvPr id="856" name="TextBox 856"/>
          <p:cNvSpPr txBox="1"/>
          <p:nvPr/>
        </p:nvSpPr>
        <p:spPr>
          <a:xfrm>
            <a:off x="6629234" y="4429125"/>
            <a:ext cx="1581110" cy="2476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6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AGV 可先把托盘放到中转点</a:t>
            </a:r>
            <a:endParaRPr lang="zh-CN" sz="860"/>
          </a:p>
        </p:txBody>
      </p:sp>
      <p:sp>
        <p:nvSpPr>
          <p:cNvPr id="857" name="TextBox 857"/>
          <p:cNvSpPr txBox="1"/>
          <p:nvPr/>
        </p:nvSpPr>
        <p:spPr>
          <a:xfrm>
            <a:off x="8819929" y="4143375"/>
            <a:ext cx="1428714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6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出库前暂存</a:t>
            </a:r>
            <a:endParaRPr lang="zh-CN" sz="1160"/>
          </a:p>
        </p:txBody>
      </p:sp>
      <p:sp>
        <p:nvSpPr>
          <p:cNvPr id="858" name="TextBox 858"/>
          <p:cNvSpPr txBox="1"/>
          <p:nvPr/>
        </p:nvSpPr>
        <p:spPr>
          <a:xfrm>
            <a:off x="8819929" y="4429125"/>
            <a:ext cx="1581110" cy="2476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6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将待发运托盘集中到合适位置</a:t>
            </a:r>
            <a:endParaRPr lang="zh-CN" sz="860"/>
          </a:p>
        </p:txBody>
      </p:sp>
      <p:sp>
        <p:nvSpPr>
          <p:cNvPr id="859" name="TextBox 859"/>
          <p:cNvSpPr txBox="1"/>
          <p:nvPr/>
        </p:nvSpPr>
        <p:spPr>
          <a:xfrm>
            <a:off x="685783" y="6438900"/>
            <a:ext cx="4095648" cy="1333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5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AGV 仓储优化课程项目 · 本地 CSV 数据 · Python 自实现算法</a:t>
            </a:r>
            <a:endParaRPr lang="zh-CN" sz="650"/>
          </a:p>
        </p:txBody>
      </p:sp>
      <p:sp>
        <p:nvSpPr>
          <p:cNvPr id="860" name="TextBox 860"/>
          <p:cNvSpPr txBox="1"/>
          <p:nvPr/>
        </p:nvSpPr>
        <p:spPr>
          <a:xfrm>
            <a:off x="11410665" y="6438900"/>
            <a:ext cx="247644" cy="1333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2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18</a:t>
            </a:r>
            <a:endParaRPr lang="zh-CN" sz="72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685783" y="571500"/>
            <a:ext cx="66673" cy="66675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ine 3"/>
          <p:cNvSpPr/>
          <p:nvPr/>
        </p:nvSpPr>
        <p:spPr>
          <a:xfrm>
            <a:off x="685783" y="6248400"/>
            <a:ext cx="2857429" cy="0"/>
          </a:xfrm>
          <a:prstGeom prst="line">
            <a:avLst/>
          </a:prstGeom>
          <a:noFill/>
          <a:ln w="8890">
            <a:solidFill>
              <a:srgbClr val="D7E0E5"/>
            </a:solidFill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695308" y="2609850"/>
            <a:ext cx="5229094" cy="338137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6476838" y="2724150"/>
            <a:ext cx="3905152" cy="115252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6476838" y="4238625"/>
            <a:ext cx="3905152" cy="116205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A"/>
            </a:solidFill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942951" y="2657475"/>
            <a:ext cx="4724282" cy="3267075"/>
          </a:xfrm>
          <a:prstGeom prst="rect">
            <a:avLst/>
          </a:prstGeom>
          <a:solidFill>
            <a:srgbClr val="F8FAF9"/>
          </a:solidFill>
          <a:ln w="12700">
            <a:solidFill>
              <a:srgbClr val="E3E8EC"/>
            </a:solidFill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981050" y="2695575"/>
            <a:ext cx="4638559" cy="3190875"/>
          </a:xfrm>
          <a:prstGeom prst="rect">
            <a:avLst/>
          </a:prstGeom>
          <a:solidFill>
            <a:srgbClr val="E2E7E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6476838" y="2724150"/>
            <a:ext cx="38099" cy="115252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6476838" y="4238625"/>
            <a:ext cx="38099" cy="1162050"/>
          </a:xfrm>
          <a:prstGeom prst="rect">
            <a:avLst/>
          </a:prstGeom>
          <a:solidFill>
            <a:srgbClr val="FF62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Line 11"/>
          <p:cNvSpPr/>
          <p:nvPr/>
        </p:nvSpPr>
        <p:spPr>
          <a:xfrm>
            <a:off x="981050" y="2695575"/>
            <a:ext cx="0" cy="3190875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12" name="Line 12"/>
          <p:cNvSpPr/>
          <p:nvPr/>
        </p:nvSpPr>
        <p:spPr>
          <a:xfrm>
            <a:off x="1123922" y="2695575"/>
            <a:ext cx="0" cy="3190875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13" name="Line 13"/>
          <p:cNvSpPr/>
          <p:nvPr/>
        </p:nvSpPr>
        <p:spPr>
          <a:xfrm>
            <a:off x="1266793" y="2695575"/>
            <a:ext cx="0" cy="3190875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14" name="Line 14"/>
          <p:cNvSpPr/>
          <p:nvPr/>
        </p:nvSpPr>
        <p:spPr>
          <a:xfrm>
            <a:off x="1409665" y="2695575"/>
            <a:ext cx="0" cy="3190875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15" name="Line 15"/>
          <p:cNvSpPr/>
          <p:nvPr/>
        </p:nvSpPr>
        <p:spPr>
          <a:xfrm>
            <a:off x="1552536" y="2695575"/>
            <a:ext cx="0" cy="3190875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16" name="Line 16"/>
          <p:cNvSpPr/>
          <p:nvPr/>
        </p:nvSpPr>
        <p:spPr>
          <a:xfrm>
            <a:off x="1695408" y="2695575"/>
            <a:ext cx="0" cy="3190875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17" name="Line 17"/>
          <p:cNvSpPr/>
          <p:nvPr/>
        </p:nvSpPr>
        <p:spPr>
          <a:xfrm>
            <a:off x="1838279" y="2695575"/>
            <a:ext cx="0" cy="3190875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18" name="Line 18"/>
          <p:cNvSpPr/>
          <p:nvPr/>
        </p:nvSpPr>
        <p:spPr>
          <a:xfrm>
            <a:off x="1981150" y="2695575"/>
            <a:ext cx="0" cy="3190875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>
            <a:off x="2124022" y="2695575"/>
            <a:ext cx="0" cy="3190875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20" name="Line 20"/>
          <p:cNvSpPr/>
          <p:nvPr/>
        </p:nvSpPr>
        <p:spPr>
          <a:xfrm>
            <a:off x="2266893" y="2695575"/>
            <a:ext cx="0" cy="3190875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>
            <a:off x="2409765" y="2695575"/>
            <a:ext cx="0" cy="3190875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22" name="Line 22"/>
          <p:cNvSpPr/>
          <p:nvPr/>
        </p:nvSpPr>
        <p:spPr>
          <a:xfrm>
            <a:off x="2552636" y="2695575"/>
            <a:ext cx="0" cy="3190875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23" name="Line 23"/>
          <p:cNvSpPr/>
          <p:nvPr/>
        </p:nvSpPr>
        <p:spPr>
          <a:xfrm>
            <a:off x="2695508" y="2695575"/>
            <a:ext cx="0" cy="3190875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24" name="Line 24"/>
          <p:cNvSpPr/>
          <p:nvPr/>
        </p:nvSpPr>
        <p:spPr>
          <a:xfrm>
            <a:off x="2838379" y="2695575"/>
            <a:ext cx="0" cy="3190875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2981250" y="2695575"/>
            <a:ext cx="0" cy="3190875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3124122" y="2695575"/>
            <a:ext cx="0" cy="3190875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>
            <a:off x="3266993" y="2695575"/>
            <a:ext cx="0" cy="3190875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>
            <a:off x="3409865" y="2695575"/>
            <a:ext cx="0" cy="3190875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>
            <a:off x="3552736" y="2695575"/>
            <a:ext cx="0" cy="3190875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>
            <a:off x="3695608" y="2695575"/>
            <a:ext cx="0" cy="3190875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3838479" y="2695575"/>
            <a:ext cx="0" cy="3190875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3981350" y="2695575"/>
            <a:ext cx="0" cy="3190875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>
            <a:off x="4124222" y="2695575"/>
            <a:ext cx="0" cy="3190875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4267093" y="2695575"/>
            <a:ext cx="0" cy="3190875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>
            <a:off x="4409965" y="2695575"/>
            <a:ext cx="0" cy="3190875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>
            <a:off x="4552836" y="2695575"/>
            <a:ext cx="0" cy="3190875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4695708" y="2695575"/>
            <a:ext cx="0" cy="3190875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4838579" y="2695575"/>
            <a:ext cx="0" cy="3190875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4981450" y="2695575"/>
            <a:ext cx="0" cy="3190875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5124322" y="2695575"/>
            <a:ext cx="0" cy="3190875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>
            <a:off x="5267193" y="2695575"/>
            <a:ext cx="0" cy="3190875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>
            <a:off x="5410065" y="2695575"/>
            <a:ext cx="0" cy="3190875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>
            <a:off x="5552936" y="2695575"/>
            <a:ext cx="0" cy="3190875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44" name="Line 44"/>
          <p:cNvSpPr/>
          <p:nvPr/>
        </p:nvSpPr>
        <p:spPr>
          <a:xfrm>
            <a:off x="5619610" y="2695575"/>
            <a:ext cx="0" cy="3190875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>
            <a:off x="981050" y="2695575"/>
            <a:ext cx="4638559" cy="0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>
            <a:off x="981050" y="2838450"/>
            <a:ext cx="4638559" cy="0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>
            <a:off x="981050" y="2981325"/>
            <a:ext cx="4638559" cy="0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>
            <a:off x="981050" y="3124200"/>
            <a:ext cx="4638559" cy="0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>
            <a:off x="981050" y="3267075"/>
            <a:ext cx="4638559" cy="0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>
            <a:off x="981050" y="3409950"/>
            <a:ext cx="4638559" cy="0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>
            <a:off x="981050" y="3552825"/>
            <a:ext cx="4638559" cy="0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52" name="Line 52"/>
          <p:cNvSpPr/>
          <p:nvPr/>
        </p:nvSpPr>
        <p:spPr>
          <a:xfrm>
            <a:off x="981050" y="3695700"/>
            <a:ext cx="4638559" cy="0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>
            <a:off x="981050" y="3838575"/>
            <a:ext cx="4638559" cy="0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54" name="Line 54"/>
          <p:cNvSpPr/>
          <p:nvPr/>
        </p:nvSpPr>
        <p:spPr>
          <a:xfrm>
            <a:off x="981050" y="3981450"/>
            <a:ext cx="4638559" cy="0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55" name="Line 55"/>
          <p:cNvSpPr/>
          <p:nvPr/>
        </p:nvSpPr>
        <p:spPr>
          <a:xfrm>
            <a:off x="981050" y="4124325"/>
            <a:ext cx="4638559" cy="0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56" name="Line 56"/>
          <p:cNvSpPr/>
          <p:nvPr/>
        </p:nvSpPr>
        <p:spPr>
          <a:xfrm>
            <a:off x="981050" y="4267200"/>
            <a:ext cx="4638559" cy="0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57" name="Line 57"/>
          <p:cNvSpPr/>
          <p:nvPr/>
        </p:nvSpPr>
        <p:spPr>
          <a:xfrm>
            <a:off x="981050" y="4410075"/>
            <a:ext cx="4638559" cy="0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58" name="Line 58"/>
          <p:cNvSpPr/>
          <p:nvPr/>
        </p:nvSpPr>
        <p:spPr>
          <a:xfrm>
            <a:off x="981050" y="4552950"/>
            <a:ext cx="4638559" cy="0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59" name="Line 59"/>
          <p:cNvSpPr/>
          <p:nvPr/>
        </p:nvSpPr>
        <p:spPr>
          <a:xfrm>
            <a:off x="981050" y="4695825"/>
            <a:ext cx="4638559" cy="0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60" name="Line 60"/>
          <p:cNvSpPr/>
          <p:nvPr/>
        </p:nvSpPr>
        <p:spPr>
          <a:xfrm>
            <a:off x="981050" y="4838700"/>
            <a:ext cx="4638559" cy="0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61" name="Line 61"/>
          <p:cNvSpPr/>
          <p:nvPr/>
        </p:nvSpPr>
        <p:spPr>
          <a:xfrm>
            <a:off x="981050" y="4981575"/>
            <a:ext cx="4638559" cy="0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62" name="Line 62"/>
          <p:cNvSpPr/>
          <p:nvPr/>
        </p:nvSpPr>
        <p:spPr>
          <a:xfrm>
            <a:off x="981050" y="5124450"/>
            <a:ext cx="4638559" cy="0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63" name="Line 63"/>
          <p:cNvSpPr/>
          <p:nvPr/>
        </p:nvSpPr>
        <p:spPr>
          <a:xfrm>
            <a:off x="981050" y="5267325"/>
            <a:ext cx="4638559" cy="0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64" name="Line 64"/>
          <p:cNvSpPr/>
          <p:nvPr/>
        </p:nvSpPr>
        <p:spPr>
          <a:xfrm>
            <a:off x="981050" y="5410200"/>
            <a:ext cx="4638559" cy="0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65" name="Line 65"/>
          <p:cNvSpPr/>
          <p:nvPr/>
        </p:nvSpPr>
        <p:spPr>
          <a:xfrm>
            <a:off x="981050" y="5553075"/>
            <a:ext cx="4638559" cy="0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66" name="Line 66"/>
          <p:cNvSpPr/>
          <p:nvPr/>
        </p:nvSpPr>
        <p:spPr>
          <a:xfrm>
            <a:off x="981050" y="5695950"/>
            <a:ext cx="4638559" cy="0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67" name="Line 67"/>
          <p:cNvSpPr/>
          <p:nvPr/>
        </p:nvSpPr>
        <p:spPr>
          <a:xfrm>
            <a:off x="981050" y="5838825"/>
            <a:ext cx="4638559" cy="0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68" name="Line 68"/>
          <p:cNvSpPr/>
          <p:nvPr/>
        </p:nvSpPr>
        <p:spPr>
          <a:xfrm>
            <a:off x="981050" y="5886450"/>
            <a:ext cx="4638559" cy="0"/>
          </a:xfrm>
          <a:prstGeom prst="line">
            <a:avLst/>
          </a:prstGeom>
          <a:noFill/>
          <a:ln w="5715">
            <a:solidFill>
              <a:srgbClr val="F5F7F6"/>
            </a:solidFill>
          </a:ln>
        </p:spPr>
        <p:txBody>
          <a:bodyPr/>
          <a:lstStyle/>
          <a:p/>
        </p:txBody>
      </p:sp>
      <p:sp>
        <p:nvSpPr>
          <p:cNvPr id="69" name="Rect 69"/>
          <p:cNvSpPr/>
          <p:nvPr/>
        </p:nvSpPr>
        <p:spPr>
          <a:xfrm>
            <a:off x="2457389" y="2724150"/>
            <a:ext cx="123822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Rect 70"/>
          <p:cNvSpPr/>
          <p:nvPr/>
        </p:nvSpPr>
        <p:spPr>
          <a:xfrm>
            <a:off x="2609785" y="27241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Rect 71"/>
          <p:cNvSpPr/>
          <p:nvPr/>
        </p:nvSpPr>
        <p:spPr>
          <a:xfrm>
            <a:off x="2752656" y="27241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Rect 72"/>
          <p:cNvSpPr/>
          <p:nvPr/>
        </p:nvSpPr>
        <p:spPr>
          <a:xfrm>
            <a:off x="4343291" y="27241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Rect 73"/>
          <p:cNvSpPr/>
          <p:nvPr/>
        </p:nvSpPr>
        <p:spPr>
          <a:xfrm>
            <a:off x="4486163" y="27241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Rect 74"/>
          <p:cNvSpPr/>
          <p:nvPr/>
        </p:nvSpPr>
        <p:spPr>
          <a:xfrm>
            <a:off x="4629034" y="27241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Rect 75"/>
          <p:cNvSpPr/>
          <p:nvPr/>
        </p:nvSpPr>
        <p:spPr>
          <a:xfrm>
            <a:off x="5495788" y="3438525"/>
            <a:ext cx="114297" cy="12382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6" name="Rect 76"/>
          <p:cNvSpPr/>
          <p:nvPr/>
        </p:nvSpPr>
        <p:spPr>
          <a:xfrm>
            <a:off x="5495788" y="3590925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Rect 77"/>
          <p:cNvSpPr/>
          <p:nvPr/>
        </p:nvSpPr>
        <p:spPr>
          <a:xfrm>
            <a:off x="5495788" y="373380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Rect 78"/>
          <p:cNvSpPr/>
          <p:nvPr/>
        </p:nvSpPr>
        <p:spPr>
          <a:xfrm>
            <a:off x="5495788" y="4600575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9" name="Rect 79"/>
          <p:cNvSpPr/>
          <p:nvPr/>
        </p:nvSpPr>
        <p:spPr>
          <a:xfrm>
            <a:off x="5495788" y="474345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0" name="Rect 80"/>
          <p:cNvSpPr/>
          <p:nvPr/>
        </p:nvSpPr>
        <p:spPr>
          <a:xfrm>
            <a:off x="5495788" y="4886325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Rect 81"/>
          <p:cNvSpPr/>
          <p:nvPr/>
        </p:nvSpPr>
        <p:spPr>
          <a:xfrm>
            <a:off x="2028774" y="575310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Rect 82"/>
          <p:cNvSpPr/>
          <p:nvPr/>
        </p:nvSpPr>
        <p:spPr>
          <a:xfrm>
            <a:off x="2171646" y="575310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Rect 83"/>
          <p:cNvSpPr/>
          <p:nvPr/>
        </p:nvSpPr>
        <p:spPr>
          <a:xfrm>
            <a:off x="2314517" y="575310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4" name="Rect 84"/>
          <p:cNvSpPr/>
          <p:nvPr/>
        </p:nvSpPr>
        <p:spPr>
          <a:xfrm>
            <a:off x="4048024" y="5753100"/>
            <a:ext cx="123822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Rect 85"/>
          <p:cNvSpPr/>
          <p:nvPr/>
        </p:nvSpPr>
        <p:spPr>
          <a:xfrm>
            <a:off x="4200420" y="575310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Rect 86"/>
          <p:cNvSpPr/>
          <p:nvPr/>
        </p:nvSpPr>
        <p:spPr>
          <a:xfrm>
            <a:off x="4343291" y="575310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7" name="Ellipse 87"/>
          <p:cNvSpPr/>
          <p:nvPr/>
        </p:nvSpPr>
        <p:spPr>
          <a:xfrm>
            <a:off x="1762081" y="34671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8" name="Ellipse 88"/>
          <p:cNvSpPr/>
          <p:nvPr/>
        </p:nvSpPr>
        <p:spPr>
          <a:xfrm>
            <a:off x="1904952" y="34671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Ellipse 89"/>
          <p:cNvSpPr/>
          <p:nvPr/>
        </p:nvSpPr>
        <p:spPr>
          <a:xfrm>
            <a:off x="2047824" y="34671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Ellipse 90"/>
          <p:cNvSpPr/>
          <p:nvPr/>
        </p:nvSpPr>
        <p:spPr>
          <a:xfrm>
            <a:off x="2200220" y="34671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1" name="Ellipse 91"/>
          <p:cNvSpPr/>
          <p:nvPr/>
        </p:nvSpPr>
        <p:spPr>
          <a:xfrm>
            <a:off x="2343091" y="34671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Ellipse 92"/>
          <p:cNvSpPr/>
          <p:nvPr/>
        </p:nvSpPr>
        <p:spPr>
          <a:xfrm>
            <a:off x="2628834" y="34671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3" name="Ellipse 93"/>
          <p:cNvSpPr/>
          <p:nvPr/>
        </p:nvSpPr>
        <p:spPr>
          <a:xfrm>
            <a:off x="2771706" y="34671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4" name="Ellipse 94"/>
          <p:cNvSpPr/>
          <p:nvPr/>
        </p:nvSpPr>
        <p:spPr>
          <a:xfrm>
            <a:off x="2924102" y="34671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Ellipse 95"/>
          <p:cNvSpPr/>
          <p:nvPr/>
        </p:nvSpPr>
        <p:spPr>
          <a:xfrm>
            <a:off x="3057449" y="34671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6" name="Ellipse 96"/>
          <p:cNvSpPr/>
          <p:nvPr/>
        </p:nvSpPr>
        <p:spPr>
          <a:xfrm>
            <a:off x="3495588" y="34671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7" name="Ellipse 97"/>
          <p:cNvSpPr/>
          <p:nvPr/>
        </p:nvSpPr>
        <p:spPr>
          <a:xfrm>
            <a:off x="3638459" y="34671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8" name="Ellipse 98"/>
          <p:cNvSpPr/>
          <p:nvPr/>
        </p:nvSpPr>
        <p:spPr>
          <a:xfrm>
            <a:off x="3790855" y="34671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9" name="Ellipse 99"/>
          <p:cNvSpPr/>
          <p:nvPr/>
        </p:nvSpPr>
        <p:spPr>
          <a:xfrm>
            <a:off x="3933727" y="34671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" name="Ellipse 100"/>
          <p:cNvSpPr/>
          <p:nvPr/>
        </p:nvSpPr>
        <p:spPr>
          <a:xfrm>
            <a:off x="4076598" y="34671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Ellipse 101"/>
          <p:cNvSpPr/>
          <p:nvPr/>
        </p:nvSpPr>
        <p:spPr>
          <a:xfrm>
            <a:off x="4219470" y="34671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Ellipse 102"/>
          <p:cNvSpPr/>
          <p:nvPr/>
        </p:nvSpPr>
        <p:spPr>
          <a:xfrm>
            <a:off x="4362341" y="34671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Ellipse 103"/>
          <p:cNvSpPr/>
          <p:nvPr/>
        </p:nvSpPr>
        <p:spPr>
          <a:xfrm>
            <a:off x="4514737" y="34671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Ellipse 104"/>
          <p:cNvSpPr/>
          <p:nvPr/>
        </p:nvSpPr>
        <p:spPr>
          <a:xfrm>
            <a:off x="1762081" y="36099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Ellipse 105"/>
          <p:cNvSpPr/>
          <p:nvPr/>
        </p:nvSpPr>
        <p:spPr>
          <a:xfrm>
            <a:off x="1904952" y="36099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" name="Ellipse 106"/>
          <p:cNvSpPr/>
          <p:nvPr/>
        </p:nvSpPr>
        <p:spPr>
          <a:xfrm>
            <a:off x="2047824" y="36099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Ellipse 107"/>
          <p:cNvSpPr/>
          <p:nvPr/>
        </p:nvSpPr>
        <p:spPr>
          <a:xfrm>
            <a:off x="2200220" y="36099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" name="Ellipse 108"/>
          <p:cNvSpPr/>
          <p:nvPr/>
        </p:nvSpPr>
        <p:spPr>
          <a:xfrm>
            <a:off x="2343091" y="36099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" name="Ellipse 109"/>
          <p:cNvSpPr/>
          <p:nvPr/>
        </p:nvSpPr>
        <p:spPr>
          <a:xfrm>
            <a:off x="2628834" y="36099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" name="Ellipse 110"/>
          <p:cNvSpPr/>
          <p:nvPr/>
        </p:nvSpPr>
        <p:spPr>
          <a:xfrm>
            <a:off x="2771706" y="36099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" name="Ellipse 111"/>
          <p:cNvSpPr/>
          <p:nvPr/>
        </p:nvSpPr>
        <p:spPr>
          <a:xfrm>
            <a:off x="2924102" y="36099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Ellipse 112"/>
          <p:cNvSpPr/>
          <p:nvPr/>
        </p:nvSpPr>
        <p:spPr>
          <a:xfrm>
            <a:off x="3066973" y="36099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" name="Ellipse 113"/>
          <p:cNvSpPr/>
          <p:nvPr/>
        </p:nvSpPr>
        <p:spPr>
          <a:xfrm>
            <a:off x="3495588" y="36099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" name="Ellipse 114"/>
          <p:cNvSpPr/>
          <p:nvPr/>
        </p:nvSpPr>
        <p:spPr>
          <a:xfrm>
            <a:off x="3638459" y="36099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" name="Ellipse 115"/>
          <p:cNvSpPr/>
          <p:nvPr/>
        </p:nvSpPr>
        <p:spPr>
          <a:xfrm>
            <a:off x="3790855" y="36099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" name="Ellipse 116"/>
          <p:cNvSpPr/>
          <p:nvPr/>
        </p:nvSpPr>
        <p:spPr>
          <a:xfrm>
            <a:off x="3933727" y="36099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" name="Ellipse 117"/>
          <p:cNvSpPr/>
          <p:nvPr/>
        </p:nvSpPr>
        <p:spPr>
          <a:xfrm>
            <a:off x="4076598" y="36099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" name="Ellipse 118"/>
          <p:cNvSpPr/>
          <p:nvPr/>
        </p:nvSpPr>
        <p:spPr>
          <a:xfrm>
            <a:off x="4219470" y="36099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" name="Ellipse 119"/>
          <p:cNvSpPr/>
          <p:nvPr/>
        </p:nvSpPr>
        <p:spPr>
          <a:xfrm>
            <a:off x="1762081" y="39052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" name="Ellipse 120"/>
          <p:cNvSpPr/>
          <p:nvPr/>
        </p:nvSpPr>
        <p:spPr>
          <a:xfrm>
            <a:off x="1904952" y="39052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" name="Ellipse 121"/>
          <p:cNvSpPr/>
          <p:nvPr/>
        </p:nvSpPr>
        <p:spPr>
          <a:xfrm>
            <a:off x="2047824" y="39052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" name="Ellipse 122"/>
          <p:cNvSpPr/>
          <p:nvPr/>
        </p:nvSpPr>
        <p:spPr>
          <a:xfrm>
            <a:off x="2200220" y="39052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" name="Ellipse 123"/>
          <p:cNvSpPr/>
          <p:nvPr/>
        </p:nvSpPr>
        <p:spPr>
          <a:xfrm>
            <a:off x="2343091" y="39052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" name="Ellipse 124"/>
          <p:cNvSpPr/>
          <p:nvPr/>
        </p:nvSpPr>
        <p:spPr>
          <a:xfrm>
            <a:off x="2485963" y="39052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" name="Ellipse 125"/>
          <p:cNvSpPr/>
          <p:nvPr/>
        </p:nvSpPr>
        <p:spPr>
          <a:xfrm>
            <a:off x="2628834" y="39052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" name="Ellipse 126"/>
          <p:cNvSpPr/>
          <p:nvPr/>
        </p:nvSpPr>
        <p:spPr>
          <a:xfrm>
            <a:off x="2771706" y="39052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" name="Ellipse 127"/>
          <p:cNvSpPr/>
          <p:nvPr/>
        </p:nvSpPr>
        <p:spPr>
          <a:xfrm>
            <a:off x="2924102" y="39052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" name="Ellipse 128"/>
          <p:cNvSpPr/>
          <p:nvPr/>
        </p:nvSpPr>
        <p:spPr>
          <a:xfrm>
            <a:off x="3066973" y="39052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" name="Ellipse 129"/>
          <p:cNvSpPr/>
          <p:nvPr/>
        </p:nvSpPr>
        <p:spPr>
          <a:xfrm>
            <a:off x="3495588" y="39052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" name="Ellipse 130"/>
          <p:cNvSpPr/>
          <p:nvPr/>
        </p:nvSpPr>
        <p:spPr>
          <a:xfrm>
            <a:off x="3638459" y="39052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" name="Ellipse 131"/>
          <p:cNvSpPr/>
          <p:nvPr/>
        </p:nvSpPr>
        <p:spPr>
          <a:xfrm>
            <a:off x="3790855" y="39052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" name="Ellipse 132"/>
          <p:cNvSpPr/>
          <p:nvPr/>
        </p:nvSpPr>
        <p:spPr>
          <a:xfrm>
            <a:off x="3933727" y="39052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" name="Ellipse 133"/>
          <p:cNvSpPr/>
          <p:nvPr/>
        </p:nvSpPr>
        <p:spPr>
          <a:xfrm>
            <a:off x="4076598" y="39052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" name="Ellipse 134"/>
          <p:cNvSpPr/>
          <p:nvPr/>
        </p:nvSpPr>
        <p:spPr>
          <a:xfrm>
            <a:off x="4219470" y="39052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" name="Ellipse 135"/>
          <p:cNvSpPr/>
          <p:nvPr/>
        </p:nvSpPr>
        <p:spPr>
          <a:xfrm>
            <a:off x="4362341" y="39052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" name="Ellipse 136"/>
          <p:cNvSpPr/>
          <p:nvPr/>
        </p:nvSpPr>
        <p:spPr>
          <a:xfrm>
            <a:off x="4514737" y="39052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" name="Ellipse 137"/>
          <p:cNvSpPr/>
          <p:nvPr/>
        </p:nvSpPr>
        <p:spPr>
          <a:xfrm>
            <a:off x="4657609" y="39052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" name="Ellipse 138"/>
          <p:cNvSpPr/>
          <p:nvPr/>
        </p:nvSpPr>
        <p:spPr>
          <a:xfrm>
            <a:off x="4800480" y="39052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" name="Ellipse 139"/>
          <p:cNvSpPr/>
          <p:nvPr/>
        </p:nvSpPr>
        <p:spPr>
          <a:xfrm>
            <a:off x="1762081" y="40481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" name="Ellipse 140"/>
          <p:cNvSpPr/>
          <p:nvPr/>
        </p:nvSpPr>
        <p:spPr>
          <a:xfrm>
            <a:off x="1904952" y="40481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" name="Ellipse 141"/>
          <p:cNvSpPr/>
          <p:nvPr/>
        </p:nvSpPr>
        <p:spPr>
          <a:xfrm>
            <a:off x="2047824" y="40481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" name="Ellipse 142"/>
          <p:cNvSpPr/>
          <p:nvPr/>
        </p:nvSpPr>
        <p:spPr>
          <a:xfrm>
            <a:off x="2200220" y="40481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" name="Ellipse 143"/>
          <p:cNvSpPr/>
          <p:nvPr/>
        </p:nvSpPr>
        <p:spPr>
          <a:xfrm>
            <a:off x="2485963" y="40481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" name="Ellipse 144"/>
          <p:cNvSpPr/>
          <p:nvPr/>
        </p:nvSpPr>
        <p:spPr>
          <a:xfrm>
            <a:off x="2628834" y="40481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" name="Ellipse 145"/>
          <p:cNvSpPr/>
          <p:nvPr/>
        </p:nvSpPr>
        <p:spPr>
          <a:xfrm>
            <a:off x="2771706" y="40481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" name="Ellipse 146"/>
          <p:cNvSpPr/>
          <p:nvPr/>
        </p:nvSpPr>
        <p:spPr>
          <a:xfrm>
            <a:off x="2924102" y="40481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" name="Ellipse 147"/>
          <p:cNvSpPr/>
          <p:nvPr/>
        </p:nvSpPr>
        <p:spPr>
          <a:xfrm>
            <a:off x="3066973" y="40481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" name="Ellipse 148"/>
          <p:cNvSpPr/>
          <p:nvPr/>
        </p:nvSpPr>
        <p:spPr>
          <a:xfrm>
            <a:off x="3495588" y="40481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" name="Ellipse 149"/>
          <p:cNvSpPr/>
          <p:nvPr/>
        </p:nvSpPr>
        <p:spPr>
          <a:xfrm>
            <a:off x="3638459" y="40481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" name="Ellipse 150"/>
          <p:cNvSpPr/>
          <p:nvPr/>
        </p:nvSpPr>
        <p:spPr>
          <a:xfrm>
            <a:off x="3790855" y="40481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1" name="Ellipse 151"/>
          <p:cNvSpPr/>
          <p:nvPr/>
        </p:nvSpPr>
        <p:spPr>
          <a:xfrm>
            <a:off x="3933727" y="40481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" name="Ellipse 152"/>
          <p:cNvSpPr/>
          <p:nvPr/>
        </p:nvSpPr>
        <p:spPr>
          <a:xfrm>
            <a:off x="4076598" y="40481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" name="Ellipse 153"/>
          <p:cNvSpPr/>
          <p:nvPr/>
        </p:nvSpPr>
        <p:spPr>
          <a:xfrm>
            <a:off x="4219470" y="40481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" name="Ellipse 154"/>
          <p:cNvSpPr/>
          <p:nvPr/>
        </p:nvSpPr>
        <p:spPr>
          <a:xfrm>
            <a:off x="4362341" y="40481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" name="Ellipse 155"/>
          <p:cNvSpPr/>
          <p:nvPr/>
        </p:nvSpPr>
        <p:spPr>
          <a:xfrm>
            <a:off x="4514737" y="40481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" name="Ellipse 156"/>
          <p:cNvSpPr/>
          <p:nvPr/>
        </p:nvSpPr>
        <p:spPr>
          <a:xfrm>
            <a:off x="4657609" y="40481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" name="Ellipse 157"/>
          <p:cNvSpPr/>
          <p:nvPr/>
        </p:nvSpPr>
        <p:spPr>
          <a:xfrm>
            <a:off x="4800480" y="404812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" name="Ellipse 158"/>
          <p:cNvSpPr/>
          <p:nvPr/>
        </p:nvSpPr>
        <p:spPr>
          <a:xfrm>
            <a:off x="1762081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9" name="Ellipse 159"/>
          <p:cNvSpPr/>
          <p:nvPr/>
        </p:nvSpPr>
        <p:spPr>
          <a:xfrm>
            <a:off x="1904952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0" name="Ellipse 160"/>
          <p:cNvSpPr/>
          <p:nvPr/>
        </p:nvSpPr>
        <p:spPr>
          <a:xfrm>
            <a:off x="2047824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1" name="Ellipse 161"/>
          <p:cNvSpPr/>
          <p:nvPr/>
        </p:nvSpPr>
        <p:spPr>
          <a:xfrm>
            <a:off x="2200220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2" name="Ellipse 162"/>
          <p:cNvSpPr/>
          <p:nvPr/>
        </p:nvSpPr>
        <p:spPr>
          <a:xfrm>
            <a:off x="2343091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3" name="Ellipse 163"/>
          <p:cNvSpPr/>
          <p:nvPr/>
        </p:nvSpPr>
        <p:spPr>
          <a:xfrm>
            <a:off x="2485963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4" name="Ellipse 164"/>
          <p:cNvSpPr/>
          <p:nvPr/>
        </p:nvSpPr>
        <p:spPr>
          <a:xfrm>
            <a:off x="2628834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5" name="Ellipse 165"/>
          <p:cNvSpPr/>
          <p:nvPr/>
        </p:nvSpPr>
        <p:spPr>
          <a:xfrm>
            <a:off x="2771706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6" name="Ellipse 166"/>
          <p:cNvSpPr/>
          <p:nvPr/>
        </p:nvSpPr>
        <p:spPr>
          <a:xfrm>
            <a:off x="2924102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7" name="Ellipse 167"/>
          <p:cNvSpPr/>
          <p:nvPr/>
        </p:nvSpPr>
        <p:spPr>
          <a:xfrm>
            <a:off x="3057449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8" name="Ellipse 168"/>
          <p:cNvSpPr/>
          <p:nvPr/>
        </p:nvSpPr>
        <p:spPr>
          <a:xfrm>
            <a:off x="3495588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9" name="Ellipse 169"/>
          <p:cNvSpPr/>
          <p:nvPr/>
        </p:nvSpPr>
        <p:spPr>
          <a:xfrm>
            <a:off x="3638459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0" name="Ellipse 170"/>
          <p:cNvSpPr/>
          <p:nvPr/>
        </p:nvSpPr>
        <p:spPr>
          <a:xfrm>
            <a:off x="3790855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1" name="Ellipse 171"/>
          <p:cNvSpPr/>
          <p:nvPr/>
        </p:nvSpPr>
        <p:spPr>
          <a:xfrm>
            <a:off x="3933727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2" name="Ellipse 172"/>
          <p:cNvSpPr/>
          <p:nvPr/>
        </p:nvSpPr>
        <p:spPr>
          <a:xfrm>
            <a:off x="4076598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3" name="Ellipse 173"/>
          <p:cNvSpPr/>
          <p:nvPr/>
        </p:nvSpPr>
        <p:spPr>
          <a:xfrm>
            <a:off x="4219470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4" name="Ellipse 174"/>
          <p:cNvSpPr/>
          <p:nvPr/>
        </p:nvSpPr>
        <p:spPr>
          <a:xfrm>
            <a:off x="4362341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5" name="Ellipse 175"/>
          <p:cNvSpPr/>
          <p:nvPr/>
        </p:nvSpPr>
        <p:spPr>
          <a:xfrm>
            <a:off x="4514737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6" name="Ellipse 176"/>
          <p:cNvSpPr/>
          <p:nvPr/>
        </p:nvSpPr>
        <p:spPr>
          <a:xfrm>
            <a:off x="4657609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7" name="Ellipse 177"/>
          <p:cNvSpPr/>
          <p:nvPr/>
        </p:nvSpPr>
        <p:spPr>
          <a:xfrm>
            <a:off x="4800480" y="44767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8" name="Ellipse 178"/>
          <p:cNvSpPr/>
          <p:nvPr/>
        </p:nvSpPr>
        <p:spPr>
          <a:xfrm>
            <a:off x="1762081" y="4629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9" name="Ellipse 179"/>
          <p:cNvSpPr/>
          <p:nvPr/>
        </p:nvSpPr>
        <p:spPr>
          <a:xfrm>
            <a:off x="1904952" y="4629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0" name="Ellipse 180"/>
          <p:cNvSpPr/>
          <p:nvPr/>
        </p:nvSpPr>
        <p:spPr>
          <a:xfrm>
            <a:off x="2047824" y="4629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1" name="Ellipse 181"/>
          <p:cNvSpPr/>
          <p:nvPr/>
        </p:nvSpPr>
        <p:spPr>
          <a:xfrm>
            <a:off x="2200220" y="4629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2" name="Ellipse 182"/>
          <p:cNvSpPr/>
          <p:nvPr/>
        </p:nvSpPr>
        <p:spPr>
          <a:xfrm>
            <a:off x="2343091" y="4629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3" name="Ellipse 183"/>
          <p:cNvSpPr/>
          <p:nvPr/>
        </p:nvSpPr>
        <p:spPr>
          <a:xfrm>
            <a:off x="2485963" y="4629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4" name="Ellipse 184"/>
          <p:cNvSpPr/>
          <p:nvPr/>
        </p:nvSpPr>
        <p:spPr>
          <a:xfrm>
            <a:off x="2628834" y="4629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5" name="Ellipse 185"/>
          <p:cNvSpPr/>
          <p:nvPr/>
        </p:nvSpPr>
        <p:spPr>
          <a:xfrm>
            <a:off x="2771706" y="4629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6" name="Ellipse 186"/>
          <p:cNvSpPr/>
          <p:nvPr/>
        </p:nvSpPr>
        <p:spPr>
          <a:xfrm>
            <a:off x="2924102" y="4629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7" name="Ellipse 187"/>
          <p:cNvSpPr/>
          <p:nvPr/>
        </p:nvSpPr>
        <p:spPr>
          <a:xfrm>
            <a:off x="3066973" y="4629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8" name="Ellipse 188"/>
          <p:cNvSpPr/>
          <p:nvPr/>
        </p:nvSpPr>
        <p:spPr>
          <a:xfrm>
            <a:off x="3495588" y="4629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9" name="Ellipse 189"/>
          <p:cNvSpPr/>
          <p:nvPr/>
        </p:nvSpPr>
        <p:spPr>
          <a:xfrm>
            <a:off x="3638459" y="4629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0" name="Ellipse 190"/>
          <p:cNvSpPr/>
          <p:nvPr/>
        </p:nvSpPr>
        <p:spPr>
          <a:xfrm>
            <a:off x="3790855" y="4629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1" name="Ellipse 191"/>
          <p:cNvSpPr/>
          <p:nvPr/>
        </p:nvSpPr>
        <p:spPr>
          <a:xfrm>
            <a:off x="3933727" y="4629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2" name="Ellipse 192"/>
          <p:cNvSpPr/>
          <p:nvPr/>
        </p:nvSpPr>
        <p:spPr>
          <a:xfrm>
            <a:off x="4076598" y="4629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3" name="Ellipse 193"/>
          <p:cNvSpPr/>
          <p:nvPr/>
        </p:nvSpPr>
        <p:spPr>
          <a:xfrm>
            <a:off x="4219470" y="4629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4" name="Ellipse 194"/>
          <p:cNvSpPr/>
          <p:nvPr/>
        </p:nvSpPr>
        <p:spPr>
          <a:xfrm>
            <a:off x="4362341" y="4629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5" name="Ellipse 195"/>
          <p:cNvSpPr/>
          <p:nvPr/>
        </p:nvSpPr>
        <p:spPr>
          <a:xfrm>
            <a:off x="4514737" y="4629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6" name="Ellipse 196"/>
          <p:cNvSpPr/>
          <p:nvPr/>
        </p:nvSpPr>
        <p:spPr>
          <a:xfrm>
            <a:off x="4657609" y="4629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7" name="Ellipse 197"/>
          <p:cNvSpPr/>
          <p:nvPr/>
        </p:nvSpPr>
        <p:spPr>
          <a:xfrm>
            <a:off x="4800480" y="46291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8" name="Ellipse 198"/>
          <p:cNvSpPr/>
          <p:nvPr/>
        </p:nvSpPr>
        <p:spPr>
          <a:xfrm>
            <a:off x="1762081" y="49149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9" name="Ellipse 199"/>
          <p:cNvSpPr/>
          <p:nvPr/>
        </p:nvSpPr>
        <p:spPr>
          <a:xfrm>
            <a:off x="1904952" y="49149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0" name="Ellipse 200"/>
          <p:cNvSpPr/>
          <p:nvPr/>
        </p:nvSpPr>
        <p:spPr>
          <a:xfrm>
            <a:off x="2047824" y="49149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Ellipse 201"/>
          <p:cNvSpPr/>
          <p:nvPr/>
        </p:nvSpPr>
        <p:spPr>
          <a:xfrm>
            <a:off x="2200220" y="49149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Ellipse 202"/>
          <p:cNvSpPr/>
          <p:nvPr/>
        </p:nvSpPr>
        <p:spPr>
          <a:xfrm>
            <a:off x="2343091" y="49149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Ellipse 203"/>
          <p:cNvSpPr/>
          <p:nvPr/>
        </p:nvSpPr>
        <p:spPr>
          <a:xfrm>
            <a:off x="2628834" y="49149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Ellipse 204"/>
          <p:cNvSpPr/>
          <p:nvPr/>
        </p:nvSpPr>
        <p:spPr>
          <a:xfrm>
            <a:off x="2924102" y="49149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Ellipse 205"/>
          <p:cNvSpPr/>
          <p:nvPr/>
        </p:nvSpPr>
        <p:spPr>
          <a:xfrm>
            <a:off x="3066973" y="49149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6" name="Ellipse 206"/>
          <p:cNvSpPr/>
          <p:nvPr/>
        </p:nvSpPr>
        <p:spPr>
          <a:xfrm>
            <a:off x="3495588" y="49149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7" name="Ellipse 207"/>
          <p:cNvSpPr/>
          <p:nvPr/>
        </p:nvSpPr>
        <p:spPr>
          <a:xfrm>
            <a:off x="3638459" y="49149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8" name="Ellipse 208"/>
          <p:cNvSpPr/>
          <p:nvPr/>
        </p:nvSpPr>
        <p:spPr>
          <a:xfrm>
            <a:off x="3790855" y="49149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9" name="Ellipse 209"/>
          <p:cNvSpPr/>
          <p:nvPr/>
        </p:nvSpPr>
        <p:spPr>
          <a:xfrm>
            <a:off x="3933727" y="49149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0" name="Ellipse 210"/>
          <p:cNvSpPr/>
          <p:nvPr/>
        </p:nvSpPr>
        <p:spPr>
          <a:xfrm>
            <a:off x="4076598" y="49149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1" name="Ellipse 211"/>
          <p:cNvSpPr/>
          <p:nvPr/>
        </p:nvSpPr>
        <p:spPr>
          <a:xfrm>
            <a:off x="4219470" y="49149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2" name="Ellipse 212"/>
          <p:cNvSpPr/>
          <p:nvPr/>
        </p:nvSpPr>
        <p:spPr>
          <a:xfrm>
            <a:off x="4362341" y="49149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3" name="Ellipse 213"/>
          <p:cNvSpPr/>
          <p:nvPr/>
        </p:nvSpPr>
        <p:spPr>
          <a:xfrm>
            <a:off x="4514737" y="49149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4" name="Ellipse 214"/>
          <p:cNvSpPr/>
          <p:nvPr/>
        </p:nvSpPr>
        <p:spPr>
          <a:xfrm>
            <a:off x="1762081" y="50577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5" name="Ellipse 215"/>
          <p:cNvSpPr/>
          <p:nvPr/>
        </p:nvSpPr>
        <p:spPr>
          <a:xfrm>
            <a:off x="1904952" y="50577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6" name="Ellipse 216"/>
          <p:cNvSpPr/>
          <p:nvPr/>
        </p:nvSpPr>
        <p:spPr>
          <a:xfrm>
            <a:off x="2047824" y="50577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7" name="Ellipse 217"/>
          <p:cNvSpPr/>
          <p:nvPr/>
        </p:nvSpPr>
        <p:spPr>
          <a:xfrm>
            <a:off x="2200220" y="50577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8" name="Ellipse 218"/>
          <p:cNvSpPr/>
          <p:nvPr/>
        </p:nvSpPr>
        <p:spPr>
          <a:xfrm>
            <a:off x="2343091" y="50577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9" name="Ellipse 219"/>
          <p:cNvSpPr/>
          <p:nvPr/>
        </p:nvSpPr>
        <p:spPr>
          <a:xfrm>
            <a:off x="2628834" y="50577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" name="Ellipse 220"/>
          <p:cNvSpPr/>
          <p:nvPr/>
        </p:nvSpPr>
        <p:spPr>
          <a:xfrm>
            <a:off x="2771706" y="50577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" name="Ellipse 221"/>
          <p:cNvSpPr/>
          <p:nvPr/>
        </p:nvSpPr>
        <p:spPr>
          <a:xfrm>
            <a:off x="3066973" y="50577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" name="Ellipse 222"/>
          <p:cNvSpPr/>
          <p:nvPr/>
        </p:nvSpPr>
        <p:spPr>
          <a:xfrm>
            <a:off x="3495588" y="50577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" name="Ellipse 223"/>
          <p:cNvSpPr/>
          <p:nvPr/>
        </p:nvSpPr>
        <p:spPr>
          <a:xfrm>
            <a:off x="3638459" y="50577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24" name="Ellipse 224"/>
          <p:cNvSpPr/>
          <p:nvPr/>
        </p:nvSpPr>
        <p:spPr>
          <a:xfrm>
            <a:off x="3933727" y="50577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25" name="Ellipse 225"/>
          <p:cNvSpPr/>
          <p:nvPr/>
        </p:nvSpPr>
        <p:spPr>
          <a:xfrm>
            <a:off x="4076598" y="50577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26" name="Ellipse 226"/>
          <p:cNvSpPr/>
          <p:nvPr/>
        </p:nvSpPr>
        <p:spPr>
          <a:xfrm>
            <a:off x="4219470" y="50577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27" name="Ellipse 227"/>
          <p:cNvSpPr/>
          <p:nvPr/>
        </p:nvSpPr>
        <p:spPr>
          <a:xfrm>
            <a:off x="4362341" y="50577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28" name="Ellipse 228"/>
          <p:cNvSpPr/>
          <p:nvPr/>
        </p:nvSpPr>
        <p:spPr>
          <a:xfrm>
            <a:off x="4514737" y="50577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29" name="Line 229"/>
          <p:cNvSpPr/>
          <p:nvPr/>
        </p:nvSpPr>
        <p:spPr>
          <a:xfrm>
            <a:off x="3086023" y="3495675"/>
            <a:ext cx="1162021" cy="0"/>
          </a:xfrm>
          <a:prstGeom prst="line">
            <a:avLst/>
          </a:prstGeom>
          <a:noFill/>
          <a:ln w="20320">
            <a:solidFill>
              <a:srgbClr val="F25E4B"/>
            </a:solidFill>
          </a:ln>
        </p:spPr>
        <p:txBody>
          <a:bodyPr/>
          <a:lstStyle/>
          <a:p/>
        </p:txBody>
      </p:sp>
      <p:sp>
        <p:nvSpPr>
          <p:cNvPr id="230" name="Line 230"/>
          <p:cNvSpPr/>
          <p:nvPr/>
        </p:nvSpPr>
        <p:spPr>
          <a:xfrm>
            <a:off x="3524162" y="3933825"/>
            <a:ext cx="295268" cy="0"/>
          </a:xfrm>
          <a:prstGeom prst="line">
            <a:avLst/>
          </a:prstGeom>
          <a:noFill/>
          <a:ln w="20320">
            <a:solidFill>
              <a:srgbClr val="F25E4B"/>
            </a:solidFill>
          </a:ln>
        </p:spPr>
        <p:txBody>
          <a:bodyPr/>
          <a:lstStyle/>
          <a:p/>
        </p:txBody>
      </p:sp>
      <p:sp>
        <p:nvSpPr>
          <p:cNvPr id="231" name="Line 231"/>
          <p:cNvSpPr/>
          <p:nvPr/>
        </p:nvSpPr>
        <p:spPr>
          <a:xfrm>
            <a:off x="3524162" y="4076700"/>
            <a:ext cx="438139" cy="0"/>
          </a:xfrm>
          <a:prstGeom prst="line">
            <a:avLst/>
          </a:prstGeom>
          <a:noFill/>
          <a:ln w="20320">
            <a:solidFill>
              <a:srgbClr val="F25E4B"/>
            </a:solidFill>
          </a:ln>
        </p:spPr>
        <p:txBody>
          <a:bodyPr/>
          <a:lstStyle/>
          <a:p/>
        </p:txBody>
      </p:sp>
      <p:sp>
        <p:nvSpPr>
          <p:cNvPr id="232" name="Line 232"/>
          <p:cNvSpPr/>
          <p:nvPr/>
        </p:nvSpPr>
        <p:spPr>
          <a:xfrm>
            <a:off x="2952676" y="4505325"/>
            <a:ext cx="1438239" cy="0"/>
          </a:xfrm>
          <a:prstGeom prst="line">
            <a:avLst/>
          </a:prstGeom>
          <a:noFill/>
          <a:ln w="20320">
            <a:solidFill>
              <a:srgbClr val="F25E4B"/>
            </a:solidFill>
          </a:ln>
        </p:spPr>
        <p:txBody>
          <a:bodyPr/>
          <a:lstStyle/>
          <a:p/>
        </p:txBody>
      </p:sp>
      <p:sp>
        <p:nvSpPr>
          <p:cNvPr id="233" name="Line 233"/>
          <p:cNvSpPr/>
          <p:nvPr/>
        </p:nvSpPr>
        <p:spPr>
          <a:xfrm>
            <a:off x="2800280" y="4657725"/>
            <a:ext cx="1743031" cy="0"/>
          </a:xfrm>
          <a:prstGeom prst="line">
            <a:avLst/>
          </a:prstGeom>
          <a:noFill/>
          <a:ln w="20320">
            <a:solidFill>
              <a:srgbClr val="F25E4B"/>
            </a:solidFill>
          </a:ln>
        </p:spPr>
        <p:txBody>
          <a:bodyPr/>
          <a:lstStyle/>
          <a:p/>
        </p:txBody>
      </p:sp>
      <p:sp>
        <p:nvSpPr>
          <p:cNvPr id="234" name="TextBox 234"/>
          <p:cNvSpPr txBox="1"/>
          <p:nvPr/>
        </p:nvSpPr>
        <p:spPr>
          <a:xfrm>
            <a:off x="857229" y="552450"/>
            <a:ext cx="1714457" cy="1619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40" b="1">
                <a:solidFill>
                  <a:srgbClr val="4E5B67"/>
                </a:solidFill>
                <a:latin typeface="PingFang SC"/>
                <a:ea typeface="PingFang SC"/>
                <a:cs typeface="PingFang SC"/>
              </a:rPr>
              <a:t>TASK 3 · DISTANCE</a:t>
            </a:r>
            <a:endParaRPr lang="zh-CN" sz="840"/>
          </a:p>
        </p:txBody>
      </p:sp>
      <p:sp>
        <p:nvSpPr>
          <p:cNvPr id="235" name="TextBox 235"/>
          <p:cNvSpPr txBox="1"/>
          <p:nvPr/>
        </p:nvSpPr>
        <p:spPr>
          <a:xfrm>
            <a:off x="685783" y="895350"/>
            <a:ext cx="7238819" cy="4762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72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通道距离和间距约束让布局不挤在一起。</a:t>
            </a:r>
            <a:endParaRPr lang="zh-CN" sz="2720"/>
          </a:p>
        </p:txBody>
      </p:sp>
      <p:sp>
        <p:nvSpPr>
          <p:cNvPr id="236" name="TextBox 236"/>
          <p:cNvSpPr txBox="1"/>
          <p:nvPr/>
        </p:nvSpPr>
        <p:spPr>
          <a:xfrm>
            <a:off x="704832" y="1924050"/>
            <a:ext cx="8477038" cy="2381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4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AGV 通常沿仓库通道和网格移动，因此这里用曼哈顿距离近似行驶距离；两个重点货位太近时不能同时选中。</a:t>
            </a:r>
            <a:endParaRPr lang="zh-CN" sz="1140"/>
          </a:p>
        </p:txBody>
      </p:sp>
      <p:sp>
        <p:nvSpPr>
          <p:cNvPr id="237" name="TextBox 237"/>
          <p:cNvSpPr txBox="1"/>
          <p:nvPr/>
        </p:nvSpPr>
        <p:spPr>
          <a:xfrm>
            <a:off x="6667333" y="2914650"/>
            <a:ext cx="1428714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1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曼哈顿距离</a:t>
            </a:r>
            <a:endParaRPr lang="zh-CN" sz="1210"/>
          </a:p>
        </p:txBody>
      </p:sp>
      <p:sp>
        <p:nvSpPr>
          <p:cNvPr id="238" name="TextBox 238"/>
          <p:cNvSpPr txBox="1"/>
          <p:nvPr/>
        </p:nvSpPr>
        <p:spPr>
          <a:xfrm>
            <a:off x="6667333" y="3238500"/>
            <a:ext cx="2905052" cy="2190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60">
                <a:solidFill>
                  <a:srgbClr val="27303A"/>
                </a:solidFill>
                <a:latin typeface="PingFang SC"/>
                <a:ea typeface="PingFang SC"/>
                <a:cs typeface="PingFang SC"/>
              </a:rPr>
              <a:t>dist(a,b)=|x_a−x_b|+|y_a−y_b|</a:t>
            </a:r>
            <a:endParaRPr lang="zh-CN" sz="1060"/>
          </a:p>
        </p:txBody>
      </p:sp>
      <p:sp>
        <p:nvSpPr>
          <p:cNvPr id="239" name="TextBox 239"/>
          <p:cNvSpPr txBox="1"/>
          <p:nvPr/>
        </p:nvSpPr>
        <p:spPr>
          <a:xfrm>
            <a:off x="6667333" y="3571875"/>
            <a:ext cx="3333667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19">
                <a:solidFill>
                  <a:srgbClr val="5F6D7A"/>
                </a:solidFill>
                <a:latin typeface="PingFang SC"/>
                <a:ea typeface="PingFang SC"/>
                <a:cs typeface="PingFang SC"/>
              </a:rPr>
              <a:t>适合近似网格通道中的 AGV 行驶距离</a:t>
            </a:r>
            <a:endParaRPr lang="zh-CN" sz="1019"/>
          </a:p>
        </p:txBody>
      </p:sp>
      <p:sp>
        <p:nvSpPr>
          <p:cNvPr id="240" name="TextBox 240"/>
          <p:cNvSpPr txBox="1"/>
          <p:nvPr/>
        </p:nvSpPr>
        <p:spPr>
          <a:xfrm>
            <a:off x="6667333" y="4438650"/>
            <a:ext cx="1428714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1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间距约束</a:t>
            </a:r>
            <a:endParaRPr lang="zh-CN" sz="1210"/>
          </a:p>
        </p:txBody>
      </p:sp>
      <p:sp>
        <p:nvSpPr>
          <p:cNvPr id="241" name="TextBox 241"/>
          <p:cNvSpPr txBox="1"/>
          <p:nvPr/>
        </p:nvSpPr>
        <p:spPr>
          <a:xfrm>
            <a:off x="6667333" y="4772025"/>
            <a:ext cx="3428914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19">
                <a:solidFill>
                  <a:srgbClr val="27303A"/>
                </a:solidFill>
                <a:latin typeface="PingFang SC"/>
                <a:ea typeface="PingFang SC"/>
                <a:cs typeface="PingFang SC"/>
              </a:rPr>
              <a:t>如果 dist(i,j) ≤ 6，则 i 和 j 不能同时选</a:t>
            </a:r>
            <a:endParaRPr lang="zh-CN" sz="1019"/>
          </a:p>
        </p:txBody>
      </p:sp>
      <p:sp>
        <p:nvSpPr>
          <p:cNvPr id="242" name="TextBox 242"/>
          <p:cNvSpPr txBox="1"/>
          <p:nvPr/>
        </p:nvSpPr>
        <p:spPr>
          <a:xfrm>
            <a:off x="6667333" y="5105400"/>
            <a:ext cx="3476538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19">
                <a:solidFill>
                  <a:srgbClr val="5F6D7A"/>
                </a:solidFill>
                <a:latin typeface="PingFang SC"/>
                <a:ea typeface="PingFang SC"/>
                <a:cs typeface="PingFang SC"/>
              </a:rPr>
              <a:t>红色连线表示部分“距离过近”的冲突关系</a:t>
            </a:r>
            <a:endParaRPr lang="zh-CN" sz="1019"/>
          </a:p>
        </p:txBody>
      </p:sp>
      <p:sp>
        <p:nvSpPr>
          <p:cNvPr id="243" name="TextBox 243"/>
          <p:cNvSpPr txBox="1"/>
          <p:nvPr/>
        </p:nvSpPr>
        <p:spPr>
          <a:xfrm>
            <a:off x="676258" y="6438900"/>
            <a:ext cx="3428914" cy="1143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570">
                <a:solidFill>
                  <a:srgbClr val="6F7E8C"/>
                </a:solidFill>
                <a:latin typeface="PingFang SC"/>
                <a:ea typeface="PingFang SC"/>
                <a:cs typeface="PingFang SC"/>
              </a:rPr>
              <a:t>AGV 仓储优化课程项目 · 本地 CSV 数据 · Python 自实现算法</a:t>
            </a:r>
            <a:endParaRPr lang="zh-CN" sz="570"/>
          </a:p>
        </p:txBody>
      </p:sp>
      <p:sp>
        <p:nvSpPr>
          <p:cNvPr id="244" name="TextBox 244"/>
          <p:cNvSpPr txBox="1"/>
          <p:nvPr/>
        </p:nvSpPr>
        <p:spPr>
          <a:xfrm>
            <a:off x="11401140" y="6429375"/>
            <a:ext cx="285743" cy="1333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80">
                <a:solidFill>
                  <a:srgbClr val="6F7E8C"/>
                </a:solidFill>
                <a:latin typeface="PingFang SC"/>
                <a:ea typeface="PingFang SC"/>
                <a:cs typeface="PingFang SC"/>
              </a:rPr>
              <a:t>19</a:t>
            </a:r>
            <a:endParaRPr lang="zh-CN" sz="78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685783" y="571500"/>
            <a:ext cx="66673" cy="66675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761981" y="2714625"/>
            <a:ext cx="4952876" cy="238125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AEC"/>
            </a:solidFill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6286343" y="2714625"/>
            <a:ext cx="4571886" cy="238125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AEC"/>
            </a:solidFill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1790655" y="5305425"/>
            <a:ext cx="8096048" cy="704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AEC"/>
            </a:solidFill>
          </a:ln>
        </p:spPr>
        <p:txBody>
          <a:bodyPr/>
          <a:lstStyle/>
          <a:p/>
        </p:txBody>
      </p:sp>
      <p:sp>
        <p:nvSpPr>
          <p:cNvPr id="6" name="Line 6"/>
          <p:cNvSpPr/>
          <p:nvPr/>
        </p:nvSpPr>
        <p:spPr>
          <a:xfrm>
            <a:off x="685783" y="6248400"/>
            <a:ext cx="2847904" cy="0"/>
          </a:xfrm>
          <a:prstGeom prst="line">
            <a:avLst/>
          </a:prstGeom>
          <a:noFill/>
          <a:ln w="12700">
            <a:solidFill>
              <a:srgbClr val="D6DDE3"/>
            </a:solidFill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761981" y="2724150"/>
            <a:ext cx="47624" cy="2371725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6286343" y="2724150"/>
            <a:ext cx="47624" cy="237172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1790655" y="5314950"/>
            <a:ext cx="47624" cy="685800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857229" y="552450"/>
            <a:ext cx="1285843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00" b="1">
                <a:solidFill>
                  <a:srgbClr val="4D5965"/>
                </a:solidFill>
                <a:latin typeface="PingFang SC"/>
                <a:ea typeface="PingFang SC"/>
                <a:cs typeface="PingFang SC"/>
              </a:rPr>
              <a:t>TASK 3 · MODEL</a:t>
            </a:r>
            <a:endParaRPr lang="zh-CN" sz="800"/>
          </a:p>
        </p:txBody>
      </p:sp>
      <p:sp>
        <p:nvSpPr>
          <p:cNvPr id="11" name="TextBox 11"/>
          <p:cNvSpPr txBox="1"/>
          <p:nvPr/>
        </p:nvSpPr>
        <p:spPr>
          <a:xfrm>
            <a:off x="685783" y="866775"/>
            <a:ext cx="10096248" cy="552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任务 3 的模型： 从候选货位中选一组分布合理的重点点位。</a:t>
            </a:r>
            <a:endParaRPr lang="zh-CN" sz="2900"/>
          </a:p>
        </p:txBody>
      </p:sp>
      <p:sp>
        <p:nvSpPr>
          <p:cNvPr id="12" name="TextBox 12"/>
          <p:cNvSpPr txBox="1"/>
          <p:nvPr/>
        </p:nvSpPr>
        <p:spPr>
          <a:xfrm>
            <a:off x="695308" y="1914525"/>
            <a:ext cx="8477038" cy="2381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80">
                <a:solidFill>
                  <a:srgbClr val="6D7A88"/>
                </a:solidFill>
                <a:latin typeface="PingFang SC"/>
                <a:ea typeface="PingFang SC"/>
                <a:cs typeface="PingFang SC"/>
              </a:rPr>
              <a:t>核心决策变量是 0–1 变量： 某个候选货位选或不选。目标不是工位负载均衡，而是布局层面的点位选择。</a:t>
            </a:r>
            <a:endParaRPr lang="zh-CN" sz="1080"/>
          </a:p>
        </p:txBody>
      </p:sp>
      <p:sp>
        <p:nvSpPr>
          <p:cNvPr id="13" name="TextBox 13"/>
          <p:cNvSpPr txBox="1"/>
          <p:nvPr/>
        </p:nvSpPr>
        <p:spPr>
          <a:xfrm>
            <a:off x="952476" y="2905125"/>
            <a:ext cx="2190695" cy="2381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决策变量与目标</a:t>
            </a:r>
            <a:endParaRPr lang="zh-CN" sz="1300"/>
          </a:p>
        </p:txBody>
      </p:sp>
      <p:sp>
        <p:nvSpPr>
          <p:cNvPr id="14" name="TextBox 14"/>
          <p:cNvSpPr txBox="1"/>
          <p:nvPr/>
        </p:nvSpPr>
        <p:spPr>
          <a:xfrm>
            <a:off x="952476" y="3228975"/>
            <a:ext cx="3857529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00">
                <a:solidFill>
                  <a:srgbClr val="28333E"/>
                </a:solidFill>
                <a:latin typeface="PingFang SC"/>
                <a:ea typeface="PingFang SC"/>
                <a:cs typeface="PingFang SC"/>
              </a:rPr>
              <a:t>x_i ∈ {0,1}: 候选货位 i 是否被选中</a:t>
            </a:r>
            <a:endParaRPr lang="zh-CN" sz="1000"/>
          </a:p>
        </p:txBody>
      </p:sp>
      <p:sp>
        <p:nvSpPr>
          <p:cNvPr id="15" name="TextBox 15"/>
          <p:cNvSpPr txBox="1"/>
          <p:nvPr/>
        </p:nvSpPr>
        <p:spPr>
          <a:xfrm>
            <a:off x="952476" y="3562350"/>
            <a:ext cx="4143271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00">
                <a:solidFill>
                  <a:srgbClr val="28333E"/>
                </a:solidFill>
                <a:latin typeface="PingFang SC"/>
                <a:ea typeface="PingFang SC"/>
                <a:cs typeface="PingFang SC"/>
              </a:rPr>
              <a:t>∑_i x_i = 10: 选出固定数量的重点点位</a:t>
            </a:r>
            <a:endParaRPr lang="zh-CN" sz="1000"/>
          </a:p>
        </p:txBody>
      </p:sp>
      <p:sp>
        <p:nvSpPr>
          <p:cNvPr id="16" name="TextBox 16"/>
          <p:cNvSpPr txBox="1"/>
          <p:nvPr/>
        </p:nvSpPr>
        <p:spPr>
          <a:xfrm>
            <a:off x="952476" y="3905250"/>
            <a:ext cx="4286143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00">
                <a:solidFill>
                  <a:srgbClr val="28333E"/>
                </a:solidFill>
                <a:latin typeface="PingFang SC"/>
                <a:ea typeface="PingFang SC"/>
                <a:cs typeface="PingFang SC"/>
              </a:rPr>
              <a:t>优先选择价值更高的位置： max ∑ score_i x_i</a:t>
            </a:r>
            <a:endParaRPr lang="zh-CN" sz="1000"/>
          </a:p>
        </p:txBody>
      </p:sp>
      <p:sp>
        <p:nvSpPr>
          <p:cNvPr id="17" name="TextBox 17"/>
          <p:cNvSpPr txBox="1"/>
          <p:nvPr/>
        </p:nvSpPr>
        <p:spPr>
          <a:xfrm>
            <a:off x="952476" y="4238625"/>
            <a:ext cx="3857529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00">
                <a:solidFill>
                  <a:srgbClr val="28333E"/>
                </a:solidFill>
                <a:latin typeface="PingFang SC"/>
                <a:ea typeface="PingFang SC"/>
                <a:cs typeface="PingFang SC"/>
              </a:rPr>
              <a:t>score_i 在实验中由托盘货量等信息近似</a:t>
            </a:r>
            <a:endParaRPr lang="zh-CN" sz="1000"/>
          </a:p>
        </p:txBody>
      </p:sp>
      <p:sp>
        <p:nvSpPr>
          <p:cNvPr id="18" name="TextBox 18"/>
          <p:cNvSpPr txBox="1"/>
          <p:nvPr/>
        </p:nvSpPr>
        <p:spPr>
          <a:xfrm>
            <a:off x="6476838" y="2905125"/>
            <a:ext cx="1619210" cy="2381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空间约束</a:t>
            </a:r>
            <a:endParaRPr lang="zh-CN" sz="1300"/>
          </a:p>
        </p:txBody>
      </p:sp>
      <p:sp>
        <p:nvSpPr>
          <p:cNvPr id="19" name="TextBox 19"/>
          <p:cNvSpPr txBox="1"/>
          <p:nvPr/>
        </p:nvSpPr>
        <p:spPr>
          <a:xfrm>
            <a:off x="6476838" y="3228975"/>
            <a:ext cx="3857529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00">
                <a:solidFill>
                  <a:srgbClr val="28333E"/>
                </a:solidFill>
                <a:latin typeface="PingFang SC"/>
                <a:ea typeface="PingFang SC"/>
                <a:cs typeface="PingFang SC"/>
              </a:rPr>
              <a:t>若候选点 i 与 j 距离过近，则 x_i + x_j ≤ 1</a:t>
            </a:r>
            <a:endParaRPr lang="zh-CN" sz="1000"/>
          </a:p>
        </p:txBody>
      </p:sp>
      <p:sp>
        <p:nvSpPr>
          <p:cNvPr id="20" name="TextBox 20"/>
          <p:cNvSpPr txBox="1"/>
          <p:nvPr/>
        </p:nvSpPr>
        <p:spPr>
          <a:xfrm>
            <a:off x="6476838" y="3562350"/>
            <a:ext cx="3428914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00">
                <a:solidFill>
                  <a:srgbClr val="28333E"/>
                </a:solidFill>
                <a:latin typeface="PingFang SC"/>
                <a:ea typeface="PingFang SC"/>
                <a:cs typeface="PingFang SC"/>
              </a:rPr>
              <a:t>这类约束称为冲突边约束</a:t>
            </a:r>
            <a:endParaRPr lang="zh-CN" sz="1000"/>
          </a:p>
        </p:txBody>
      </p:sp>
      <p:sp>
        <p:nvSpPr>
          <p:cNvPr id="21" name="TextBox 21"/>
          <p:cNvSpPr txBox="1"/>
          <p:nvPr/>
        </p:nvSpPr>
        <p:spPr>
          <a:xfrm>
            <a:off x="6476838" y="3905250"/>
            <a:ext cx="3905152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00">
                <a:solidFill>
                  <a:srgbClr val="28333E"/>
                </a:solidFill>
                <a:latin typeface="PingFang SC"/>
                <a:ea typeface="PingFang SC"/>
                <a:cs typeface="PingFang SC"/>
              </a:rPr>
              <a:t>作用： 避免重点缓存点集中在同一小片区域</a:t>
            </a:r>
            <a:endParaRPr lang="zh-CN" sz="1000"/>
          </a:p>
        </p:txBody>
      </p:sp>
      <p:sp>
        <p:nvSpPr>
          <p:cNvPr id="22" name="TextBox 22"/>
          <p:cNvSpPr txBox="1"/>
          <p:nvPr/>
        </p:nvSpPr>
        <p:spPr>
          <a:xfrm>
            <a:off x="1962101" y="5476875"/>
            <a:ext cx="1523962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8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一句话解释</a:t>
            </a:r>
            <a:endParaRPr lang="zh-CN" sz="1080"/>
          </a:p>
        </p:txBody>
      </p:sp>
      <p:sp>
        <p:nvSpPr>
          <p:cNvPr id="23" name="TextBox 23"/>
          <p:cNvSpPr txBox="1"/>
          <p:nvPr/>
        </p:nvSpPr>
        <p:spPr>
          <a:xfrm>
            <a:off x="1962101" y="5743575"/>
            <a:ext cx="7715057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20">
                <a:solidFill>
                  <a:srgbClr val="738191"/>
                </a:solidFill>
                <a:latin typeface="PingFang SC"/>
                <a:ea typeface="PingFang SC"/>
                <a:cs typeface="PingFang SC"/>
              </a:rPr>
              <a:t>任务 3 是布局选址问题：候选货位的位置已知，模型决定哪些位置被启用为重点缓存/中转货位。</a:t>
            </a:r>
            <a:endParaRPr lang="zh-CN" sz="720"/>
          </a:p>
        </p:txBody>
      </p:sp>
      <p:sp>
        <p:nvSpPr>
          <p:cNvPr id="24" name="TextBox 24"/>
          <p:cNvSpPr txBox="1"/>
          <p:nvPr/>
        </p:nvSpPr>
        <p:spPr>
          <a:xfrm>
            <a:off x="676258" y="6438900"/>
            <a:ext cx="3428914" cy="1524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70">
                <a:solidFill>
                  <a:srgbClr val="748292"/>
                </a:solidFill>
                <a:latin typeface="PingFang SC"/>
                <a:ea typeface="PingFang SC"/>
                <a:cs typeface="PingFang SC"/>
              </a:rPr>
              <a:t>AGV 仓储优化课程项目 · 本地 CSV 数据 · Python 自实现算法</a:t>
            </a:r>
            <a:endParaRPr lang="zh-CN" sz="670"/>
          </a:p>
        </p:txBody>
      </p:sp>
      <p:sp>
        <p:nvSpPr>
          <p:cNvPr id="25" name="TextBox 25"/>
          <p:cNvSpPr txBox="1"/>
          <p:nvPr/>
        </p:nvSpPr>
        <p:spPr>
          <a:xfrm>
            <a:off x="11363041" y="6438900"/>
            <a:ext cx="285743" cy="1524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30">
                <a:solidFill>
                  <a:srgbClr val="748292"/>
                </a:solidFill>
                <a:latin typeface="PingFang SC"/>
                <a:ea typeface="PingFang SC"/>
                <a:cs typeface="PingFang SC"/>
              </a:rPr>
              <a:t>20</a:t>
            </a:r>
            <a:endParaRPr lang="zh-CN" sz="83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904852" y="2819400"/>
            <a:ext cx="4914777" cy="1676400"/>
          </a:xfrm>
          <a:prstGeom prst="rect">
            <a:avLst/>
          </a:prstGeom>
          <a:noFill/>
          <a:ln w="12700">
            <a:solidFill>
              <a:srgbClr val="E6EBEC"/>
            </a:solidFill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6476838" y="2705100"/>
            <a:ext cx="3143171" cy="3200400"/>
          </a:xfrm>
          <a:prstGeom prst="rect">
            <a:avLst/>
          </a:prstGeom>
          <a:noFill/>
          <a:ln w="12700">
            <a:solidFill>
              <a:srgbClr val="E6EBEC"/>
            </a:solidFill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685783" y="571500"/>
            <a:ext cx="66673" cy="66675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857229" y="2819400"/>
            <a:ext cx="47624" cy="16764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6476838" y="2705100"/>
            <a:ext cx="3143171" cy="4762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6476838" y="3448050"/>
            <a:ext cx="3143171" cy="47625"/>
          </a:xfrm>
          <a:prstGeom prst="rect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6476838" y="4191000"/>
            <a:ext cx="3143171" cy="47625"/>
          </a:xfrm>
          <a:prstGeom prst="rect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6476838" y="4933950"/>
            <a:ext cx="3143171" cy="47625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685783" y="6248400"/>
            <a:ext cx="2857429" cy="9525"/>
          </a:xfrm>
          <a:prstGeom prst="rect">
            <a:avLst/>
          </a:prstGeom>
          <a:solidFill>
            <a:srgbClr val="D6DDE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857229" y="552450"/>
            <a:ext cx="1809705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40">
                <a:solidFill>
                  <a:srgbClr val="56616D"/>
                </a:solidFill>
                <a:latin typeface="PingFang SC"/>
                <a:ea typeface="PingFang SC"/>
                <a:cs typeface="PingFang SC"/>
              </a:rPr>
              <a:t>ALGORITHM · PENALTY</a:t>
            </a:r>
            <a:endParaRPr lang="zh-CN" sz="840"/>
          </a:p>
        </p:txBody>
      </p:sp>
      <p:sp>
        <p:nvSpPr>
          <p:cNvPr id="12" name="TextBox 12"/>
          <p:cNvSpPr txBox="1"/>
          <p:nvPr/>
        </p:nvSpPr>
        <p:spPr>
          <a:xfrm>
            <a:off x="685783" y="866775"/>
            <a:ext cx="9620009" cy="5334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95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二次罚函数法：把难处理的约束变成逐渐加重的惩罚。</a:t>
            </a:r>
            <a:endParaRPr lang="zh-CN" sz="2950"/>
          </a:p>
        </p:txBody>
      </p:sp>
      <p:sp>
        <p:nvSpPr>
          <p:cNvPr id="13" name="TextBox 13"/>
          <p:cNvSpPr txBox="1"/>
          <p:nvPr/>
        </p:nvSpPr>
        <p:spPr>
          <a:xfrm>
            <a:off x="704832" y="1895475"/>
            <a:ext cx="9239019" cy="2476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8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任务 3 有选中数量约束和间距约束。罚函数法先求一个连续松弛解，再逐步提高罚参数，让解越来越接近可行。</a:t>
            </a:r>
            <a:endParaRPr lang="zh-CN" sz="1180"/>
          </a:p>
        </p:txBody>
      </p:sp>
      <p:sp>
        <p:nvSpPr>
          <p:cNvPr id="14" name="TextBox 14"/>
          <p:cNvSpPr txBox="1"/>
          <p:nvPr/>
        </p:nvSpPr>
        <p:spPr>
          <a:xfrm>
            <a:off x="1057249" y="2981325"/>
            <a:ext cx="1714457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6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罚函数形式</a:t>
            </a:r>
            <a:endParaRPr lang="zh-CN" sz="1260"/>
          </a:p>
        </p:txBody>
      </p:sp>
      <p:sp>
        <p:nvSpPr>
          <p:cNvPr id="15" name="TextBox 15"/>
          <p:cNvSpPr txBox="1"/>
          <p:nvPr/>
        </p:nvSpPr>
        <p:spPr>
          <a:xfrm>
            <a:off x="1047724" y="3295650"/>
            <a:ext cx="4952876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00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Φρ(x)=f(x)+ρ/2·||h(x)||²+ρ/2·||max(g(x),0)||²</a:t>
            </a:r>
            <a:endParaRPr lang="zh-CN" sz="1000"/>
          </a:p>
        </p:txBody>
      </p:sp>
      <p:sp>
        <p:nvSpPr>
          <p:cNvPr id="16" name="TextBox 16"/>
          <p:cNvSpPr txBox="1"/>
          <p:nvPr/>
        </p:nvSpPr>
        <p:spPr>
          <a:xfrm>
            <a:off x="1047724" y="3629025"/>
            <a:ext cx="3714657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00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h(x)=0 表示选中数量等式约束</a:t>
            </a:r>
            <a:endParaRPr lang="zh-CN" sz="1000"/>
          </a:p>
        </p:txBody>
      </p:sp>
      <p:sp>
        <p:nvSpPr>
          <p:cNvPr id="17" name="TextBox 17"/>
          <p:cNvSpPr txBox="1"/>
          <p:nvPr/>
        </p:nvSpPr>
        <p:spPr>
          <a:xfrm>
            <a:off x="1047724" y="3952875"/>
            <a:ext cx="4095648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00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g(x)≤0 表示距离冲突不等式约束</a:t>
            </a:r>
            <a:endParaRPr lang="zh-CN" sz="1000"/>
          </a:p>
        </p:txBody>
      </p:sp>
      <p:sp>
        <p:nvSpPr>
          <p:cNvPr id="18" name="TextBox 18"/>
          <p:cNvSpPr txBox="1"/>
          <p:nvPr/>
        </p:nvSpPr>
        <p:spPr>
          <a:xfrm>
            <a:off x="6629234" y="2886075"/>
            <a:ext cx="1428714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7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初始化</a:t>
            </a:r>
            <a:endParaRPr lang="zh-CN" sz="1270"/>
          </a:p>
        </p:txBody>
      </p:sp>
      <p:sp>
        <p:nvSpPr>
          <p:cNvPr id="19" name="TextBox 19"/>
          <p:cNvSpPr txBox="1"/>
          <p:nvPr/>
        </p:nvSpPr>
        <p:spPr>
          <a:xfrm>
            <a:off x="6629234" y="3190875"/>
            <a:ext cx="2476438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3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给定连续变量 x 和罚参数 ρ</a:t>
            </a:r>
            <a:endParaRPr lang="zh-CN" sz="830"/>
          </a:p>
        </p:txBody>
      </p:sp>
      <p:sp>
        <p:nvSpPr>
          <p:cNvPr id="20" name="TextBox 20"/>
          <p:cNvSpPr txBox="1"/>
          <p:nvPr/>
        </p:nvSpPr>
        <p:spPr>
          <a:xfrm>
            <a:off x="6629234" y="3629025"/>
            <a:ext cx="1523962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7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解子问题</a:t>
            </a:r>
            <a:endParaRPr lang="zh-CN" sz="1270"/>
          </a:p>
        </p:txBody>
      </p:sp>
      <p:sp>
        <p:nvSpPr>
          <p:cNvPr id="21" name="TextBox 21"/>
          <p:cNvSpPr txBox="1"/>
          <p:nvPr/>
        </p:nvSpPr>
        <p:spPr>
          <a:xfrm>
            <a:off x="6629234" y="3933825"/>
            <a:ext cx="2476438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3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最小化当前罚函数 Φρ(x)</a:t>
            </a:r>
            <a:endParaRPr lang="zh-CN" sz="830"/>
          </a:p>
        </p:txBody>
      </p:sp>
      <p:sp>
        <p:nvSpPr>
          <p:cNvPr id="22" name="TextBox 22"/>
          <p:cNvSpPr txBox="1"/>
          <p:nvPr/>
        </p:nvSpPr>
        <p:spPr>
          <a:xfrm>
            <a:off x="6629234" y="4371975"/>
            <a:ext cx="1619210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7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检查违反量</a:t>
            </a:r>
            <a:endParaRPr lang="zh-CN" sz="1270"/>
          </a:p>
        </p:txBody>
      </p:sp>
      <p:sp>
        <p:nvSpPr>
          <p:cNvPr id="23" name="TextBox 23"/>
          <p:cNvSpPr txBox="1"/>
          <p:nvPr/>
        </p:nvSpPr>
        <p:spPr>
          <a:xfrm>
            <a:off x="6629234" y="4676775"/>
            <a:ext cx="2857429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3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等式和不等式违反量足够小则停止</a:t>
            </a:r>
            <a:endParaRPr lang="zh-CN" sz="830"/>
          </a:p>
        </p:txBody>
      </p:sp>
      <p:sp>
        <p:nvSpPr>
          <p:cNvPr id="24" name="TextBox 24"/>
          <p:cNvSpPr txBox="1"/>
          <p:nvPr/>
        </p:nvSpPr>
        <p:spPr>
          <a:xfrm>
            <a:off x="6629234" y="5114925"/>
            <a:ext cx="1523962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7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增大 ρ</a:t>
            </a:r>
            <a:endParaRPr lang="zh-CN" sz="1270"/>
          </a:p>
        </p:txBody>
      </p:sp>
      <p:sp>
        <p:nvSpPr>
          <p:cNvPr id="25" name="TextBox 25"/>
          <p:cNvSpPr txBox="1"/>
          <p:nvPr/>
        </p:nvSpPr>
        <p:spPr>
          <a:xfrm>
            <a:off x="6629234" y="5419725"/>
            <a:ext cx="2762181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3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约束惩罚变强，继续外层迭代</a:t>
            </a:r>
            <a:endParaRPr lang="zh-CN" sz="830"/>
          </a:p>
        </p:txBody>
      </p:sp>
      <p:sp>
        <p:nvSpPr>
          <p:cNvPr id="26" name="TextBox 26"/>
          <p:cNvSpPr txBox="1"/>
          <p:nvPr/>
        </p:nvSpPr>
        <p:spPr>
          <a:xfrm>
            <a:off x="685783" y="6429375"/>
            <a:ext cx="4952876" cy="1524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70">
                <a:solidFill>
                  <a:srgbClr val="7C8793"/>
                </a:solidFill>
                <a:latin typeface="PingFang SC"/>
                <a:ea typeface="PingFang SC"/>
                <a:cs typeface="PingFang SC"/>
              </a:rPr>
              <a:t>AGV 仓储优化课程项目 · 本地 CSV 数据 · Python 自实现算法</a:t>
            </a:r>
            <a:endParaRPr lang="zh-CN" sz="670"/>
          </a:p>
        </p:txBody>
      </p:sp>
      <p:sp>
        <p:nvSpPr>
          <p:cNvPr id="27" name="TextBox 27"/>
          <p:cNvSpPr txBox="1"/>
          <p:nvPr/>
        </p:nvSpPr>
        <p:spPr>
          <a:xfrm>
            <a:off x="11334467" y="6429375"/>
            <a:ext cx="266693" cy="1524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right"/>
            <a:r>
              <a:rPr lang="zh-CN" sz="720">
                <a:solidFill>
                  <a:srgbClr val="7C8793"/>
                </a:solidFill>
                <a:latin typeface="PingFang SC"/>
                <a:ea typeface="PingFang SC"/>
                <a:cs typeface="PingFang SC"/>
              </a:rPr>
              <a:t>21</a:t>
            </a:r>
            <a:endParaRPr lang="zh-CN" sz="72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685783" y="571500"/>
            <a:ext cx="66673" cy="66675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ine 3"/>
          <p:cNvSpPr/>
          <p:nvPr/>
        </p:nvSpPr>
        <p:spPr>
          <a:xfrm>
            <a:off x="685783" y="6248400"/>
            <a:ext cx="2857429" cy="0"/>
          </a:xfrm>
          <a:prstGeom prst="line">
            <a:avLst/>
          </a:prstGeom>
          <a:noFill/>
          <a:ln w="9525">
            <a:solidFill>
              <a:srgbClr val="D6DDE3"/>
            </a:solidFill>
          </a:ln>
        </p:spPr>
        <p:txBody>
          <a:bodyPr/>
          <a:lstStyle/>
          <a:p/>
        </p:txBody>
      </p:sp>
      <p:sp>
        <p:nvSpPr>
          <p:cNvPr id="4" name="Line 4"/>
          <p:cNvSpPr/>
          <p:nvPr/>
        </p:nvSpPr>
        <p:spPr>
          <a:xfrm>
            <a:off x="2971726" y="3448050"/>
            <a:ext cx="628634" cy="0"/>
          </a:xfrm>
          <a:prstGeom prst="line">
            <a:avLst/>
          </a:prstGeom>
          <a:noFill/>
          <a:ln w="12700">
            <a:solidFill>
              <a:srgbClr val="A9B3BE"/>
            </a:solidFill>
          </a:ln>
        </p:spPr>
        <p:txBody>
          <a:bodyPr/>
          <a:lstStyle/>
          <a:p/>
        </p:txBody>
      </p:sp>
      <p:sp>
        <p:nvSpPr>
          <p:cNvPr id="5" name="Line 5"/>
          <p:cNvSpPr/>
          <p:nvPr/>
        </p:nvSpPr>
        <p:spPr>
          <a:xfrm>
            <a:off x="5695808" y="3448050"/>
            <a:ext cx="628634" cy="0"/>
          </a:xfrm>
          <a:prstGeom prst="line">
            <a:avLst/>
          </a:prstGeom>
          <a:noFill/>
          <a:ln w="12700">
            <a:solidFill>
              <a:srgbClr val="A9B3BE"/>
            </a:solidFill>
          </a:ln>
        </p:spPr>
        <p:txBody>
          <a:bodyPr/>
          <a:lstStyle/>
          <a:p/>
        </p:txBody>
      </p:sp>
      <p:sp>
        <p:nvSpPr>
          <p:cNvPr id="6" name="Line 6"/>
          <p:cNvSpPr/>
          <p:nvPr/>
        </p:nvSpPr>
        <p:spPr>
          <a:xfrm>
            <a:off x="8419889" y="3448050"/>
            <a:ext cx="628634" cy="0"/>
          </a:xfrm>
          <a:prstGeom prst="line">
            <a:avLst/>
          </a:prstGeom>
          <a:noFill/>
          <a:ln w="12700">
            <a:solidFill>
              <a:srgbClr val="A9B3BE"/>
            </a:solidFill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876278" y="2952750"/>
            <a:ext cx="2095448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FE6E8"/>
            </a:solidFill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3600360" y="2952750"/>
            <a:ext cx="2095448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FE6E8"/>
            </a:solidFill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6324442" y="2952750"/>
            <a:ext cx="2095448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FE6E8"/>
            </a:solidFill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9048524" y="2952750"/>
            <a:ext cx="2095448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FE6E8"/>
            </a:solidFill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1743031" y="5029200"/>
            <a:ext cx="8105572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E0E8EA"/>
            </a:solidFill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876278" y="2952750"/>
            <a:ext cx="2095448" cy="381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3600360" y="2952750"/>
            <a:ext cx="2095448" cy="38100"/>
          </a:xfrm>
          <a:prstGeom prst="rect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6324442" y="2952750"/>
            <a:ext cx="2095448" cy="38100"/>
          </a:xfrm>
          <a:prstGeom prst="rect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9048524" y="2952750"/>
            <a:ext cx="2095448" cy="38100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1743031" y="5029200"/>
            <a:ext cx="47624" cy="81915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857229" y="533400"/>
            <a:ext cx="2476438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20" b="1">
                <a:solidFill>
                  <a:srgbClr val="617080"/>
                </a:solidFill>
                <a:latin typeface="PingFang SC"/>
                <a:ea typeface="PingFang SC"/>
                <a:cs typeface="PingFang SC"/>
              </a:rPr>
              <a:t>ALGORITHM · PROJECTED BB</a:t>
            </a:r>
            <a:endParaRPr lang="zh-CN" sz="720"/>
          </a:p>
        </p:txBody>
      </p:sp>
      <p:sp>
        <p:nvSpPr>
          <p:cNvPr id="18" name="TextBox 18"/>
          <p:cNvSpPr txBox="1"/>
          <p:nvPr/>
        </p:nvSpPr>
        <p:spPr>
          <a:xfrm>
            <a:off x="685783" y="866775"/>
            <a:ext cx="7810305" cy="5334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800" b="1">
                <a:solidFill>
                  <a:srgbClr val="12191F"/>
                </a:solidFill>
                <a:latin typeface="PingFang SC"/>
                <a:ea typeface="PingFang SC"/>
                <a:cs typeface="PingFang SC"/>
              </a:rPr>
              <a:t>投影 BB 梯度法： 高效求解罚函数子问题。</a:t>
            </a:r>
            <a:endParaRPr lang="zh-CN" sz="2800"/>
          </a:p>
        </p:txBody>
      </p:sp>
      <p:sp>
        <p:nvSpPr>
          <p:cNvPr id="19" name="TextBox 19"/>
          <p:cNvSpPr txBox="1"/>
          <p:nvPr/>
        </p:nvSpPr>
        <p:spPr>
          <a:xfrm>
            <a:off x="704832" y="1905000"/>
            <a:ext cx="8572286" cy="2476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50">
                <a:solidFill>
                  <a:srgbClr val="637383"/>
                </a:solidFill>
                <a:latin typeface="PingFang SC"/>
                <a:ea typeface="PingFang SC"/>
                <a:cs typeface="PingFang SC"/>
              </a:rPr>
              <a:t>罚函数子问题仍要求变量保持在 0 到 1 之间。投影保证边界可行，BB 步长让梯度法比固定步长更快。</a:t>
            </a:r>
            <a:endParaRPr lang="zh-CN" sz="1150"/>
          </a:p>
        </p:txBody>
      </p:sp>
      <p:sp>
        <p:nvSpPr>
          <p:cNvPr id="20" name="TextBox 20"/>
          <p:cNvSpPr txBox="1"/>
          <p:nvPr/>
        </p:nvSpPr>
        <p:spPr>
          <a:xfrm>
            <a:off x="1028674" y="3133725"/>
            <a:ext cx="1619210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80" b="1">
                <a:solidFill>
                  <a:srgbClr val="151B20"/>
                </a:solidFill>
                <a:latin typeface="PingFang SC"/>
                <a:ea typeface="PingFang SC"/>
                <a:cs typeface="PingFang SC"/>
              </a:rPr>
              <a:t>梯度方向</a:t>
            </a:r>
            <a:endParaRPr lang="zh-CN" sz="1280"/>
          </a:p>
        </p:txBody>
      </p:sp>
      <p:sp>
        <p:nvSpPr>
          <p:cNvPr id="21" name="TextBox 21"/>
          <p:cNvSpPr txBox="1"/>
          <p:nvPr/>
        </p:nvSpPr>
        <p:spPr>
          <a:xfrm>
            <a:off x="1028674" y="3438525"/>
            <a:ext cx="1714457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60">
                <a:solidFill>
                  <a:srgbClr val="6D7C8B"/>
                </a:solidFill>
                <a:latin typeface="PingFang SC"/>
                <a:ea typeface="PingFang SC"/>
                <a:cs typeface="PingFang SC"/>
              </a:rPr>
              <a:t>根据当前罚函数计算 ∇φ(x)</a:t>
            </a:r>
            <a:endParaRPr lang="zh-CN" sz="860"/>
          </a:p>
        </p:txBody>
      </p:sp>
      <p:sp>
        <p:nvSpPr>
          <p:cNvPr id="22" name="TextBox 22"/>
          <p:cNvSpPr txBox="1"/>
          <p:nvPr/>
        </p:nvSpPr>
        <p:spPr>
          <a:xfrm>
            <a:off x="3752756" y="3133725"/>
            <a:ext cx="1619210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80" b="1">
                <a:solidFill>
                  <a:srgbClr val="151B20"/>
                </a:solidFill>
                <a:latin typeface="PingFang SC"/>
                <a:ea typeface="PingFang SC"/>
                <a:cs typeface="PingFang SC"/>
              </a:rPr>
              <a:t>BB 步长</a:t>
            </a:r>
            <a:endParaRPr lang="zh-CN" sz="1280"/>
          </a:p>
        </p:txBody>
      </p:sp>
      <p:sp>
        <p:nvSpPr>
          <p:cNvPr id="23" name="TextBox 23"/>
          <p:cNvSpPr txBox="1"/>
          <p:nvPr/>
        </p:nvSpPr>
        <p:spPr>
          <a:xfrm>
            <a:off x="3752756" y="3438525"/>
            <a:ext cx="1857329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60">
                <a:solidFill>
                  <a:srgbClr val="6D7C8B"/>
                </a:solidFill>
                <a:latin typeface="PingFang SC"/>
                <a:ea typeface="PingFang SC"/>
                <a:cs typeface="PingFang SC"/>
              </a:rPr>
              <a:t>用前后两次迭代差分估计合适步长</a:t>
            </a:r>
            <a:endParaRPr lang="zh-CN" sz="860"/>
          </a:p>
        </p:txBody>
      </p:sp>
      <p:sp>
        <p:nvSpPr>
          <p:cNvPr id="24" name="TextBox 24"/>
          <p:cNvSpPr txBox="1"/>
          <p:nvPr/>
        </p:nvSpPr>
        <p:spPr>
          <a:xfrm>
            <a:off x="6476838" y="3133725"/>
            <a:ext cx="1619210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80" b="1">
                <a:solidFill>
                  <a:srgbClr val="151B20"/>
                </a:solidFill>
                <a:latin typeface="PingFang SC"/>
                <a:ea typeface="PingFang SC"/>
                <a:cs typeface="PingFang SC"/>
              </a:rPr>
              <a:t>投影</a:t>
            </a:r>
            <a:endParaRPr lang="zh-CN" sz="1280"/>
          </a:p>
        </p:txBody>
      </p:sp>
      <p:sp>
        <p:nvSpPr>
          <p:cNvPr id="25" name="TextBox 25"/>
          <p:cNvSpPr txBox="1"/>
          <p:nvPr/>
        </p:nvSpPr>
        <p:spPr>
          <a:xfrm>
            <a:off x="6476838" y="3438525"/>
            <a:ext cx="1762081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60">
                <a:solidFill>
                  <a:srgbClr val="6D7C8B"/>
                </a:solidFill>
                <a:latin typeface="PingFang SC"/>
                <a:ea typeface="PingFang SC"/>
                <a:cs typeface="PingFang SC"/>
              </a:rPr>
              <a:t>把 x - α∇φ 投影回 0≤x≤1</a:t>
            </a:r>
            <a:endParaRPr lang="zh-CN" sz="860"/>
          </a:p>
        </p:txBody>
      </p:sp>
      <p:sp>
        <p:nvSpPr>
          <p:cNvPr id="26" name="TextBox 26"/>
          <p:cNvSpPr txBox="1"/>
          <p:nvPr/>
        </p:nvSpPr>
        <p:spPr>
          <a:xfrm>
            <a:off x="9200920" y="3133725"/>
            <a:ext cx="1619210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80" b="1">
                <a:solidFill>
                  <a:srgbClr val="151B20"/>
                </a:solidFill>
                <a:latin typeface="PingFang SC"/>
                <a:ea typeface="PingFang SC"/>
                <a:cs typeface="PingFang SC"/>
              </a:rPr>
              <a:t>线搜索</a:t>
            </a:r>
            <a:endParaRPr lang="zh-CN" sz="1280"/>
          </a:p>
        </p:txBody>
      </p:sp>
      <p:sp>
        <p:nvSpPr>
          <p:cNvPr id="27" name="TextBox 27"/>
          <p:cNvSpPr txBox="1"/>
          <p:nvPr/>
        </p:nvSpPr>
        <p:spPr>
          <a:xfrm>
            <a:off x="9200920" y="3438525"/>
            <a:ext cx="1790655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60">
                <a:solidFill>
                  <a:srgbClr val="6D7C8B"/>
                </a:solidFill>
                <a:latin typeface="PingFang SC"/>
                <a:ea typeface="PingFang SC"/>
                <a:cs typeface="PingFang SC"/>
              </a:rPr>
              <a:t>若下降不足，缩小步长保证稳定</a:t>
            </a:r>
            <a:endParaRPr lang="zh-CN" sz="860"/>
          </a:p>
        </p:txBody>
      </p:sp>
      <p:sp>
        <p:nvSpPr>
          <p:cNvPr id="28" name="TextBox 28"/>
          <p:cNvSpPr txBox="1"/>
          <p:nvPr/>
        </p:nvSpPr>
        <p:spPr>
          <a:xfrm>
            <a:off x="1943051" y="5210175"/>
            <a:ext cx="2381190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40" b="1">
                <a:solidFill>
                  <a:srgbClr val="151B20"/>
                </a:solidFill>
                <a:latin typeface="PingFang SC"/>
                <a:ea typeface="PingFang SC"/>
                <a:cs typeface="PingFang SC"/>
              </a:rPr>
              <a:t>为什么适合这里</a:t>
            </a:r>
            <a:endParaRPr lang="zh-CN" sz="1240"/>
          </a:p>
        </p:txBody>
      </p:sp>
      <p:sp>
        <p:nvSpPr>
          <p:cNvPr id="29" name="TextBox 29"/>
          <p:cNvSpPr txBox="1"/>
          <p:nvPr/>
        </p:nvSpPr>
        <p:spPr>
          <a:xfrm>
            <a:off x="1943051" y="5534025"/>
            <a:ext cx="7810305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19">
                <a:solidFill>
                  <a:srgbClr val="1D242B"/>
                </a:solidFill>
                <a:latin typeface="PingFang SC"/>
                <a:ea typeface="PingFang SC"/>
                <a:cs typeface="PingFang SC"/>
              </a:rPr>
              <a:t>任务 3 的连续松弛变量天然有盒约束 0≤x≤1，投影梯度法可以保持迭代始终在这个范围内。</a:t>
            </a:r>
            <a:endParaRPr lang="zh-CN" sz="1019"/>
          </a:p>
        </p:txBody>
      </p:sp>
      <p:sp>
        <p:nvSpPr>
          <p:cNvPr id="30" name="TextBox 30"/>
          <p:cNvSpPr txBox="1"/>
          <p:nvPr/>
        </p:nvSpPr>
        <p:spPr>
          <a:xfrm>
            <a:off x="685783" y="6448425"/>
            <a:ext cx="4000400" cy="1524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30">
                <a:solidFill>
                  <a:srgbClr val="77808A"/>
                </a:solidFill>
                <a:latin typeface="PingFang SC"/>
                <a:ea typeface="PingFang SC"/>
                <a:cs typeface="PingFang SC"/>
              </a:rPr>
              <a:t>AGV 仓储优化课程项目 · 本地 CSV 数据 · Python 自实现算法</a:t>
            </a:r>
            <a:endParaRPr lang="zh-CN" sz="630"/>
          </a:p>
        </p:txBody>
      </p:sp>
      <p:sp>
        <p:nvSpPr>
          <p:cNvPr id="31" name="TextBox 31"/>
          <p:cNvSpPr txBox="1"/>
          <p:nvPr/>
        </p:nvSpPr>
        <p:spPr>
          <a:xfrm>
            <a:off x="11363041" y="6448425"/>
            <a:ext cx="228594" cy="1524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20">
                <a:solidFill>
                  <a:srgbClr val="687684"/>
                </a:solidFill>
                <a:latin typeface="PingFang SC"/>
                <a:ea typeface="PingFang SC"/>
                <a:cs typeface="PingFang SC"/>
              </a:rPr>
              <a:t>22</a:t>
            </a:r>
            <a:endParaRPr lang="zh-CN" sz="72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685783" y="571500"/>
            <a:ext cx="66673" cy="66675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Line 3"/>
          <p:cNvSpPr/>
          <p:nvPr/>
        </p:nvSpPr>
        <p:spPr>
          <a:xfrm>
            <a:off x="685783" y="6248400"/>
            <a:ext cx="2847904" cy="0"/>
          </a:xfrm>
          <a:prstGeom prst="line">
            <a:avLst/>
          </a:prstGeom>
          <a:noFill/>
          <a:ln w="12700">
            <a:solidFill>
              <a:srgbClr val="D6DDE3"/>
            </a:solidFill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676258" y="2590800"/>
            <a:ext cx="5352916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6486363" y="5286375"/>
            <a:ext cx="4009925" cy="581025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942951" y="2647950"/>
            <a:ext cx="4819530" cy="3286125"/>
          </a:xfrm>
          <a:prstGeom prst="rect">
            <a:avLst/>
          </a:prstGeom>
          <a:solidFill>
            <a:srgbClr val="E2E7EC"/>
          </a:solidFill>
          <a:ln w="12700">
            <a:solidFill>
              <a:srgbClr val="EDF2F4"/>
            </a:solidFill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6486363" y="5286375"/>
            <a:ext cx="47624" cy="581025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Line 8"/>
          <p:cNvSpPr/>
          <p:nvPr/>
        </p:nvSpPr>
        <p:spPr>
          <a:xfrm>
            <a:off x="981050" y="2667000"/>
            <a:ext cx="0" cy="325755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9" name="Line 9"/>
          <p:cNvSpPr/>
          <p:nvPr/>
        </p:nvSpPr>
        <p:spPr>
          <a:xfrm>
            <a:off x="1128684" y="2667000"/>
            <a:ext cx="0" cy="325755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10" name="Line 10"/>
          <p:cNvSpPr/>
          <p:nvPr/>
        </p:nvSpPr>
        <p:spPr>
          <a:xfrm>
            <a:off x="1276318" y="2667000"/>
            <a:ext cx="0" cy="325755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11" name="Line 11"/>
          <p:cNvSpPr/>
          <p:nvPr/>
        </p:nvSpPr>
        <p:spPr>
          <a:xfrm>
            <a:off x="1423952" y="2667000"/>
            <a:ext cx="0" cy="325755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12" name="Line 12"/>
          <p:cNvSpPr/>
          <p:nvPr/>
        </p:nvSpPr>
        <p:spPr>
          <a:xfrm>
            <a:off x="1571586" y="2667000"/>
            <a:ext cx="0" cy="325755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13" name="Line 13"/>
          <p:cNvSpPr/>
          <p:nvPr/>
        </p:nvSpPr>
        <p:spPr>
          <a:xfrm>
            <a:off x="1719220" y="2667000"/>
            <a:ext cx="0" cy="325755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14" name="Line 14"/>
          <p:cNvSpPr/>
          <p:nvPr/>
        </p:nvSpPr>
        <p:spPr>
          <a:xfrm>
            <a:off x="1866853" y="2667000"/>
            <a:ext cx="0" cy="325755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15" name="Line 15"/>
          <p:cNvSpPr/>
          <p:nvPr/>
        </p:nvSpPr>
        <p:spPr>
          <a:xfrm>
            <a:off x="2014487" y="2667000"/>
            <a:ext cx="0" cy="325755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16" name="Line 16"/>
          <p:cNvSpPr/>
          <p:nvPr/>
        </p:nvSpPr>
        <p:spPr>
          <a:xfrm>
            <a:off x="2162121" y="2667000"/>
            <a:ext cx="0" cy="325755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17" name="Line 17"/>
          <p:cNvSpPr/>
          <p:nvPr/>
        </p:nvSpPr>
        <p:spPr>
          <a:xfrm>
            <a:off x="2309755" y="2667000"/>
            <a:ext cx="0" cy="325755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18" name="Line 18"/>
          <p:cNvSpPr/>
          <p:nvPr/>
        </p:nvSpPr>
        <p:spPr>
          <a:xfrm>
            <a:off x="2457389" y="2667000"/>
            <a:ext cx="0" cy="325755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>
            <a:off x="2605022" y="2667000"/>
            <a:ext cx="0" cy="325755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20" name="Line 20"/>
          <p:cNvSpPr/>
          <p:nvPr/>
        </p:nvSpPr>
        <p:spPr>
          <a:xfrm>
            <a:off x="2752656" y="2667000"/>
            <a:ext cx="0" cy="325755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>
            <a:off x="2900290" y="2667000"/>
            <a:ext cx="0" cy="325755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22" name="Line 22"/>
          <p:cNvSpPr/>
          <p:nvPr/>
        </p:nvSpPr>
        <p:spPr>
          <a:xfrm>
            <a:off x="3047924" y="2667000"/>
            <a:ext cx="0" cy="325755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23" name="Line 23"/>
          <p:cNvSpPr/>
          <p:nvPr/>
        </p:nvSpPr>
        <p:spPr>
          <a:xfrm>
            <a:off x="3195558" y="2667000"/>
            <a:ext cx="0" cy="325755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24" name="Line 24"/>
          <p:cNvSpPr/>
          <p:nvPr/>
        </p:nvSpPr>
        <p:spPr>
          <a:xfrm>
            <a:off x="3343191" y="2667000"/>
            <a:ext cx="0" cy="325755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3490825" y="2667000"/>
            <a:ext cx="0" cy="325755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3638459" y="2667000"/>
            <a:ext cx="0" cy="325755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>
            <a:off x="3786093" y="2667000"/>
            <a:ext cx="0" cy="325755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>
            <a:off x="3933727" y="2667000"/>
            <a:ext cx="0" cy="325755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>
            <a:off x="4081360" y="2667000"/>
            <a:ext cx="0" cy="325755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>
            <a:off x="4228994" y="2667000"/>
            <a:ext cx="0" cy="325755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4376628" y="2667000"/>
            <a:ext cx="0" cy="325755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4524262" y="2667000"/>
            <a:ext cx="0" cy="325755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>
            <a:off x="4671896" y="2667000"/>
            <a:ext cx="0" cy="325755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4819530" y="2667000"/>
            <a:ext cx="0" cy="325755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>
            <a:off x="4967163" y="2667000"/>
            <a:ext cx="0" cy="325755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>
            <a:off x="5114797" y="2667000"/>
            <a:ext cx="0" cy="325755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5262431" y="2667000"/>
            <a:ext cx="0" cy="325755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5410065" y="2667000"/>
            <a:ext cx="0" cy="325755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5557699" y="2667000"/>
            <a:ext cx="0" cy="325755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5705332" y="2667000"/>
            <a:ext cx="0" cy="325755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>
            <a:off x="962001" y="2676525"/>
            <a:ext cx="4771906" cy="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>
            <a:off x="962001" y="2824162"/>
            <a:ext cx="4771906" cy="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>
            <a:off x="962001" y="2971800"/>
            <a:ext cx="4771906" cy="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44" name="Line 44"/>
          <p:cNvSpPr/>
          <p:nvPr/>
        </p:nvSpPr>
        <p:spPr>
          <a:xfrm>
            <a:off x="962001" y="3119438"/>
            <a:ext cx="4771906" cy="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>
            <a:off x="962001" y="3267075"/>
            <a:ext cx="4771906" cy="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>
            <a:off x="962001" y="3414712"/>
            <a:ext cx="4771906" cy="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>
            <a:off x="962001" y="3562350"/>
            <a:ext cx="4771906" cy="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>
            <a:off x="962001" y="3709987"/>
            <a:ext cx="4771906" cy="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>
            <a:off x="962001" y="3857625"/>
            <a:ext cx="4771906" cy="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>
            <a:off x="962001" y="4005263"/>
            <a:ext cx="4771906" cy="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>
            <a:off x="962001" y="4152900"/>
            <a:ext cx="4771906" cy="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52" name="Line 52"/>
          <p:cNvSpPr/>
          <p:nvPr/>
        </p:nvSpPr>
        <p:spPr>
          <a:xfrm>
            <a:off x="962001" y="4300538"/>
            <a:ext cx="4771906" cy="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>
            <a:off x="962001" y="4448175"/>
            <a:ext cx="4771906" cy="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54" name="Line 54"/>
          <p:cNvSpPr/>
          <p:nvPr/>
        </p:nvSpPr>
        <p:spPr>
          <a:xfrm>
            <a:off x="962001" y="4595812"/>
            <a:ext cx="4771906" cy="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55" name="Line 55"/>
          <p:cNvSpPr/>
          <p:nvPr/>
        </p:nvSpPr>
        <p:spPr>
          <a:xfrm>
            <a:off x="962001" y="4743450"/>
            <a:ext cx="4771906" cy="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56" name="Line 56"/>
          <p:cNvSpPr/>
          <p:nvPr/>
        </p:nvSpPr>
        <p:spPr>
          <a:xfrm>
            <a:off x="962001" y="4891088"/>
            <a:ext cx="4771906" cy="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57" name="Line 57"/>
          <p:cNvSpPr/>
          <p:nvPr/>
        </p:nvSpPr>
        <p:spPr>
          <a:xfrm>
            <a:off x="962001" y="5038725"/>
            <a:ext cx="4771906" cy="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58" name="Line 58"/>
          <p:cNvSpPr/>
          <p:nvPr/>
        </p:nvSpPr>
        <p:spPr>
          <a:xfrm>
            <a:off x="962001" y="5186362"/>
            <a:ext cx="4771906" cy="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59" name="Line 59"/>
          <p:cNvSpPr/>
          <p:nvPr/>
        </p:nvSpPr>
        <p:spPr>
          <a:xfrm>
            <a:off x="962001" y="5334000"/>
            <a:ext cx="4771906" cy="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60" name="Line 60"/>
          <p:cNvSpPr/>
          <p:nvPr/>
        </p:nvSpPr>
        <p:spPr>
          <a:xfrm>
            <a:off x="962001" y="5481638"/>
            <a:ext cx="4771906" cy="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61" name="Line 61"/>
          <p:cNvSpPr/>
          <p:nvPr/>
        </p:nvSpPr>
        <p:spPr>
          <a:xfrm>
            <a:off x="962001" y="5629275"/>
            <a:ext cx="4771906" cy="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62" name="Line 62"/>
          <p:cNvSpPr/>
          <p:nvPr/>
        </p:nvSpPr>
        <p:spPr>
          <a:xfrm>
            <a:off x="962001" y="5776912"/>
            <a:ext cx="4771906" cy="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63" name="Line 63"/>
          <p:cNvSpPr/>
          <p:nvPr/>
        </p:nvSpPr>
        <p:spPr>
          <a:xfrm>
            <a:off x="962001" y="5924550"/>
            <a:ext cx="4771906" cy="0"/>
          </a:xfrm>
          <a:prstGeom prst="line">
            <a:avLst/>
          </a:prstGeom>
          <a:noFill/>
          <a:ln w="12700">
            <a:solidFill>
              <a:srgbClr val="F7F9F8"/>
            </a:solidFill>
          </a:ln>
        </p:spPr>
        <p:txBody>
          <a:bodyPr/>
          <a:lstStyle/>
          <a:p/>
        </p:txBody>
      </p:sp>
      <p:sp>
        <p:nvSpPr>
          <p:cNvPr id="64" name="Rect 64"/>
          <p:cNvSpPr/>
          <p:nvPr/>
        </p:nvSpPr>
        <p:spPr>
          <a:xfrm>
            <a:off x="2485963" y="270510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Rect 65"/>
          <p:cNvSpPr/>
          <p:nvPr/>
        </p:nvSpPr>
        <p:spPr>
          <a:xfrm>
            <a:off x="2628834" y="2705100"/>
            <a:ext cx="123822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Rect 66"/>
          <p:cNvSpPr/>
          <p:nvPr/>
        </p:nvSpPr>
        <p:spPr>
          <a:xfrm>
            <a:off x="2781230" y="270510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Rect 67"/>
          <p:cNvSpPr/>
          <p:nvPr/>
        </p:nvSpPr>
        <p:spPr>
          <a:xfrm>
            <a:off x="4400440" y="270510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Rect 68"/>
          <p:cNvSpPr/>
          <p:nvPr/>
        </p:nvSpPr>
        <p:spPr>
          <a:xfrm>
            <a:off x="4543311" y="2705100"/>
            <a:ext cx="123822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Rect 69"/>
          <p:cNvSpPr/>
          <p:nvPr/>
        </p:nvSpPr>
        <p:spPr>
          <a:xfrm>
            <a:off x="4695708" y="270510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Rect 70"/>
          <p:cNvSpPr/>
          <p:nvPr/>
        </p:nvSpPr>
        <p:spPr>
          <a:xfrm>
            <a:off x="5571986" y="3438525"/>
            <a:ext cx="123822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Rect 71"/>
          <p:cNvSpPr/>
          <p:nvPr/>
        </p:nvSpPr>
        <p:spPr>
          <a:xfrm>
            <a:off x="5571986" y="3581400"/>
            <a:ext cx="123822" cy="12382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Rect 72"/>
          <p:cNvSpPr/>
          <p:nvPr/>
        </p:nvSpPr>
        <p:spPr>
          <a:xfrm>
            <a:off x="5571986" y="3733800"/>
            <a:ext cx="123822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Rect 73"/>
          <p:cNvSpPr/>
          <p:nvPr/>
        </p:nvSpPr>
        <p:spPr>
          <a:xfrm>
            <a:off x="5571986" y="4610100"/>
            <a:ext cx="123822" cy="12382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Rect 74"/>
          <p:cNvSpPr/>
          <p:nvPr/>
        </p:nvSpPr>
        <p:spPr>
          <a:xfrm>
            <a:off x="5571986" y="4762500"/>
            <a:ext cx="123822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Rect 75"/>
          <p:cNvSpPr/>
          <p:nvPr/>
        </p:nvSpPr>
        <p:spPr>
          <a:xfrm>
            <a:off x="5571986" y="4905375"/>
            <a:ext cx="123822" cy="12382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6" name="Rect 76"/>
          <p:cNvSpPr/>
          <p:nvPr/>
        </p:nvSpPr>
        <p:spPr>
          <a:xfrm>
            <a:off x="2038299" y="5791200"/>
            <a:ext cx="123822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Rect 77"/>
          <p:cNvSpPr/>
          <p:nvPr/>
        </p:nvSpPr>
        <p:spPr>
          <a:xfrm>
            <a:off x="2190695" y="579120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Rect 78"/>
          <p:cNvSpPr/>
          <p:nvPr/>
        </p:nvSpPr>
        <p:spPr>
          <a:xfrm>
            <a:off x="2333567" y="5791200"/>
            <a:ext cx="123822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9" name="Rect 79"/>
          <p:cNvSpPr/>
          <p:nvPr/>
        </p:nvSpPr>
        <p:spPr>
          <a:xfrm>
            <a:off x="4105172" y="579120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0" name="Rect 80"/>
          <p:cNvSpPr/>
          <p:nvPr/>
        </p:nvSpPr>
        <p:spPr>
          <a:xfrm>
            <a:off x="4248044" y="5791200"/>
            <a:ext cx="123822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Rect 81"/>
          <p:cNvSpPr/>
          <p:nvPr/>
        </p:nvSpPr>
        <p:spPr>
          <a:xfrm>
            <a:off x="4400440" y="5791200"/>
            <a:ext cx="114297" cy="11430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Ellipse 82"/>
          <p:cNvSpPr/>
          <p:nvPr/>
        </p:nvSpPr>
        <p:spPr>
          <a:xfrm>
            <a:off x="1781130" y="34671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Ellipse 83"/>
          <p:cNvSpPr/>
          <p:nvPr/>
        </p:nvSpPr>
        <p:spPr>
          <a:xfrm>
            <a:off x="1924002" y="34671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4" name="Ellipse 84"/>
          <p:cNvSpPr/>
          <p:nvPr/>
        </p:nvSpPr>
        <p:spPr>
          <a:xfrm>
            <a:off x="2076398" y="34671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Ellipse 85"/>
          <p:cNvSpPr/>
          <p:nvPr/>
        </p:nvSpPr>
        <p:spPr>
          <a:xfrm>
            <a:off x="2219270" y="34671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Ellipse 86"/>
          <p:cNvSpPr/>
          <p:nvPr/>
        </p:nvSpPr>
        <p:spPr>
          <a:xfrm>
            <a:off x="2371666" y="3467100"/>
            <a:ext cx="47624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7" name="Ellipse 87"/>
          <p:cNvSpPr/>
          <p:nvPr/>
        </p:nvSpPr>
        <p:spPr>
          <a:xfrm>
            <a:off x="2657409" y="34671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8" name="Ellipse 88"/>
          <p:cNvSpPr/>
          <p:nvPr/>
        </p:nvSpPr>
        <p:spPr>
          <a:xfrm>
            <a:off x="2952676" y="34671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Ellipse 89"/>
          <p:cNvSpPr/>
          <p:nvPr/>
        </p:nvSpPr>
        <p:spPr>
          <a:xfrm>
            <a:off x="3105072" y="34671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Ellipse 90"/>
          <p:cNvSpPr/>
          <p:nvPr/>
        </p:nvSpPr>
        <p:spPr>
          <a:xfrm>
            <a:off x="3543211" y="34671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1" name="Ellipse 91"/>
          <p:cNvSpPr/>
          <p:nvPr/>
        </p:nvSpPr>
        <p:spPr>
          <a:xfrm>
            <a:off x="3695608" y="34671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Ellipse 92"/>
          <p:cNvSpPr/>
          <p:nvPr/>
        </p:nvSpPr>
        <p:spPr>
          <a:xfrm>
            <a:off x="3838479" y="34671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3" name="Ellipse 93"/>
          <p:cNvSpPr/>
          <p:nvPr/>
        </p:nvSpPr>
        <p:spPr>
          <a:xfrm>
            <a:off x="3990875" y="3467100"/>
            <a:ext cx="47624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4" name="Ellipse 94"/>
          <p:cNvSpPr/>
          <p:nvPr/>
        </p:nvSpPr>
        <p:spPr>
          <a:xfrm>
            <a:off x="4276618" y="34671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Ellipse 95"/>
          <p:cNvSpPr/>
          <p:nvPr/>
        </p:nvSpPr>
        <p:spPr>
          <a:xfrm>
            <a:off x="4429014" y="34671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6" name="Ellipse 96"/>
          <p:cNvSpPr/>
          <p:nvPr/>
        </p:nvSpPr>
        <p:spPr>
          <a:xfrm>
            <a:off x="4571886" y="34671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7" name="Ellipse 97"/>
          <p:cNvSpPr/>
          <p:nvPr/>
        </p:nvSpPr>
        <p:spPr>
          <a:xfrm>
            <a:off x="1924002" y="36099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8" name="Ellipse 98"/>
          <p:cNvSpPr/>
          <p:nvPr/>
        </p:nvSpPr>
        <p:spPr>
          <a:xfrm>
            <a:off x="2076398" y="3609975"/>
            <a:ext cx="57149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99" name="Ellipse 99"/>
          <p:cNvSpPr/>
          <p:nvPr/>
        </p:nvSpPr>
        <p:spPr>
          <a:xfrm>
            <a:off x="2219270" y="36099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" name="Ellipse 100"/>
          <p:cNvSpPr/>
          <p:nvPr/>
        </p:nvSpPr>
        <p:spPr>
          <a:xfrm>
            <a:off x="2362141" y="360997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Ellipse 101"/>
          <p:cNvSpPr/>
          <p:nvPr/>
        </p:nvSpPr>
        <p:spPr>
          <a:xfrm>
            <a:off x="2657409" y="360997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Ellipse 102"/>
          <p:cNvSpPr/>
          <p:nvPr/>
        </p:nvSpPr>
        <p:spPr>
          <a:xfrm>
            <a:off x="2809805" y="36099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Ellipse 103"/>
          <p:cNvSpPr/>
          <p:nvPr/>
        </p:nvSpPr>
        <p:spPr>
          <a:xfrm>
            <a:off x="2952676" y="3609975"/>
            <a:ext cx="57149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Ellipse 104"/>
          <p:cNvSpPr/>
          <p:nvPr/>
        </p:nvSpPr>
        <p:spPr>
          <a:xfrm>
            <a:off x="3105072" y="36099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Ellipse 105"/>
          <p:cNvSpPr/>
          <p:nvPr/>
        </p:nvSpPr>
        <p:spPr>
          <a:xfrm>
            <a:off x="3543211" y="36099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" name="Ellipse 106"/>
          <p:cNvSpPr/>
          <p:nvPr/>
        </p:nvSpPr>
        <p:spPr>
          <a:xfrm>
            <a:off x="3695608" y="3609975"/>
            <a:ext cx="57149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Ellipse 107"/>
          <p:cNvSpPr/>
          <p:nvPr/>
        </p:nvSpPr>
        <p:spPr>
          <a:xfrm>
            <a:off x="3838479" y="36099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" name="Ellipse 108"/>
          <p:cNvSpPr/>
          <p:nvPr/>
        </p:nvSpPr>
        <p:spPr>
          <a:xfrm>
            <a:off x="3981350" y="360997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" name="Ellipse 109"/>
          <p:cNvSpPr/>
          <p:nvPr/>
        </p:nvSpPr>
        <p:spPr>
          <a:xfrm>
            <a:off x="4133747" y="36099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" name="Ellipse 110"/>
          <p:cNvSpPr/>
          <p:nvPr/>
        </p:nvSpPr>
        <p:spPr>
          <a:xfrm>
            <a:off x="4276618" y="3609975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" name="Ellipse 111"/>
          <p:cNvSpPr/>
          <p:nvPr/>
        </p:nvSpPr>
        <p:spPr>
          <a:xfrm>
            <a:off x="1781130" y="39052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Ellipse 112"/>
          <p:cNvSpPr/>
          <p:nvPr/>
        </p:nvSpPr>
        <p:spPr>
          <a:xfrm>
            <a:off x="1924002" y="39052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" name="Ellipse 113"/>
          <p:cNvSpPr/>
          <p:nvPr/>
        </p:nvSpPr>
        <p:spPr>
          <a:xfrm>
            <a:off x="2076398" y="39052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" name="Ellipse 114"/>
          <p:cNvSpPr/>
          <p:nvPr/>
        </p:nvSpPr>
        <p:spPr>
          <a:xfrm>
            <a:off x="2219270" y="39052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" name="Ellipse 115"/>
          <p:cNvSpPr/>
          <p:nvPr/>
        </p:nvSpPr>
        <p:spPr>
          <a:xfrm>
            <a:off x="2362141" y="3905250"/>
            <a:ext cx="66673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" name="Ellipse 116"/>
          <p:cNvSpPr/>
          <p:nvPr/>
        </p:nvSpPr>
        <p:spPr>
          <a:xfrm>
            <a:off x="2514537" y="39052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" name="Ellipse 117"/>
          <p:cNvSpPr/>
          <p:nvPr/>
        </p:nvSpPr>
        <p:spPr>
          <a:xfrm>
            <a:off x="2657409" y="3905250"/>
            <a:ext cx="66673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" name="Ellipse 118"/>
          <p:cNvSpPr/>
          <p:nvPr/>
        </p:nvSpPr>
        <p:spPr>
          <a:xfrm>
            <a:off x="2952676" y="39052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" name="Ellipse 119"/>
          <p:cNvSpPr/>
          <p:nvPr/>
        </p:nvSpPr>
        <p:spPr>
          <a:xfrm>
            <a:off x="3105072" y="39052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" name="Ellipse 120"/>
          <p:cNvSpPr/>
          <p:nvPr/>
        </p:nvSpPr>
        <p:spPr>
          <a:xfrm>
            <a:off x="3543211" y="39052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" name="Ellipse 121"/>
          <p:cNvSpPr/>
          <p:nvPr/>
        </p:nvSpPr>
        <p:spPr>
          <a:xfrm>
            <a:off x="3695608" y="39052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" name="Ellipse 122"/>
          <p:cNvSpPr/>
          <p:nvPr/>
        </p:nvSpPr>
        <p:spPr>
          <a:xfrm>
            <a:off x="3838479" y="39052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" name="Ellipse 123"/>
          <p:cNvSpPr/>
          <p:nvPr/>
        </p:nvSpPr>
        <p:spPr>
          <a:xfrm>
            <a:off x="3981350" y="3905250"/>
            <a:ext cx="66673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" name="Ellipse 124"/>
          <p:cNvSpPr/>
          <p:nvPr/>
        </p:nvSpPr>
        <p:spPr>
          <a:xfrm>
            <a:off x="4133747" y="39052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" name="Ellipse 125"/>
          <p:cNvSpPr/>
          <p:nvPr/>
        </p:nvSpPr>
        <p:spPr>
          <a:xfrm>
            <a:off x="4276618" y="3905250"/>
            <a:ext cx="66673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" name="Ellipse 126"/>
          <p:cNvSpPr/>
          <p:nvPr/>
        </p:nvSpPr>
        <p:spPr>
          <a:xfrm>
            <a:off x="4429014" y="39052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" name="Ellipse 127"/>
          <p:cNvSpPr/>
          <p:nvPr/>
        </p:nvSpPr>
        <p:spPr>
          <a:xfrm>
            <a:off x="4571886" y="39052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" name="Ellipse 128"/>
          <p:cNvSpPr/>
          <p:nvPr/>
        </p:nvSpPr>
        <p:spPr>
          <a:xfrm>
            <a:off x="4724282" y="39052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" name="Ellipse 129"/>
          <p:cNvSpPr/>
          <p:nvPr/>
        </p:nvSpPr>
        <p:spPr>
          <a:xfrm>
            <a:off x="1781130" y="40576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" name="Ellipse 130"/>
          <p:cNvSpPr/>
          <p:nvPr/>
        </p:nvSpPr>
        <p:spPr>
          <a:xfrm>
            <a:off x="1924002" y="40576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" name="Ellipse 131"/>
          <p:cNvSpPr/>
          <p:nvPr/>
        </p:nvSpPr>
        <p:spPr>
          <a:xfrm>
            <a:off x="2076398" y="40576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" name="Ellipse 132"/>
          <p:cNvSpPr/>
          <p:nvPr/>
        </p:nvSpPr>
        <p:spPr>
          <a:xfrm>
            <a:off x="2219270" y="40576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" name="Ellipse 133"/>
          <p:cNvSpPr/>
          <p:nvPr/>
        </p:nvSpPr>
        <p:spPr>
          <a:xfrm>
            <a:off x="2514537" y="40576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" name="Ellipse 134"/>
          <p:cNvSpPr/>
          <p:nvPr/>
        </p:nvSpPr>
        <p:spPr>
          <a:xfrm>
            <a:off x="2657409" y="40576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" name="Ellipse 135"/>
          <p:cNvSpPr/>
          <p:nvPr/>
        </p:nvSpPr>
        <p:spPr>
          <a:xfrm>
            <a:off x="2809805" y="40576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" name="Ellipse 136"/>
          <p:cNvSpPr/>
          <p:nvPr/>
        </p:nvSpPr>
        <p:spPr>
          <a:xfrm>
            <a:off x="2952676" y="40576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" name="Ellipse 137"/>
          <p:cNvSpPr/>
          <p:nvPr/>
        </p:nvSpPr>
        <p:spPr>
          <a:xfrm>
            <a:off x="3105072" y="40576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" name="Ellipse 138"/>
          <p:cNvSpPr/>
          <p:nvPr/>
        </p:nvSpPr>
        <p:spPr>
          <a:xfrm>
            <a:off x="3543211" y="40576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" name="Ellipse 139"/>
          <p:cNvSpPr/>
          <p:nvPr/>
        </p:nvSpPr>
        <p:spPr>
          <a:xfrm>
            <a:off x="3695608" y="40576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" name="Ellipse 140"/>
          <p:cNvSpPr/>
          <p:nvPr/>
        </p:nvSpPr>
        <p:spPr>
          <a:xfrm>
            <a:off x="3838479" y="40576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" name="Ellipse 141"/>
          <p:cNvSpPr/>
          <p:nvPr/>
        </p:nvSpPr>
        <p:spPr>
          <a:xfrm>
            <a:off x="3981350" y="4057650"/>
            <a:ext cx="66673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" name="Ellipse 142"/>
          <p:cNvSpPr/>
          <p:nvPr/>
        </p:nvSpPr>
        <p:spPr>
          <a:xfrm>
            <a:off x="4133747" y="40576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" name="Ellipse 143"/>
          <p:cNvSpPr/>
          <p:nvPr/>
        </p:nvSpPr>
        <p:spPr>
          <a:xfrm>
            <a:off x="4276618" y="40576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" name="Ellipse 144"/>
          <p:cNvSpPr/>
          <p:nvPr/>
        </p:nvSpPr>
        <p:spPr>
          <a:xfrm>
            <a:off x="4429014" y="40576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" name="Ellipse 145"/>
          <p:cNvSpPr/>
          <p:nvPr/>
        </p:nvSpPr>
        <p:spPr>
          <a:xfrm>
            <a:off x="4571886" y="40576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" name="Ellipse 146"/>
          <p:cNvSpPr/>
          <p:nvPr/>
        </p:nvSpPr>
        <p:spPr>
          <a:xfrm>
            <a:off x="4724282" y="40576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" name="Ellipse 147"/>
          <p:cNvSpPr/>
          <p:nvPr/>
        </p:nvSpPr>
        <p:spPr>
          <a:xfrm>
            <a:off x="4867153" y="40576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" name="Ellipse 148"/>
          <p:cNvSpPr/>
          <p:nvPr/>
        </p:nvSpPr>
        <p:spPr>
          <a:xfrm>
            <a:off x="1781130" y="44958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" name="Ellipse 149"/>
          <p:cNvSpPr/>
          <p:nvPr/>
        </p:nvSpPr>
        <p:spPr>
          <a:xfrm>
            <a:off x="1924002" y="44958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" name="Ellipse 150"/>
          <p:cNvSpPr/>
          <p:nvPr/>
        </p:nvSpPr>
        <p:spPr>
          <a:xfrm>
            <a:off x="2076398" y="44958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1" name="Ellipse 151"/>
          <p:cNvSpPr/>
          <p:nvPr/>
        </p:nvSpPr>
        <p:spPr>
          <a:xfrm>
            <a:off x="2219270" y="44958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" name="Ellipse 152"/>
          <p:cNvSpPr/>
          <p:nvPr/>
        </p:nvSpPr>
        <p:spPr>
          <a:xfrm>
            <a:off x="2514537" y="44958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" name="Ellipse 153"/>
          <p:cNvSpPr/>
          <p:nvPr/>
        </p:nvSpPr>
        <p:spPr>
          <a:xfrm>
            <a:off x="2657409" y="44958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" name="Ellipse 154"/>
          <p:cNvSpPr/>
          <p:nvPr/>
        </p:nvSpPr>
        <p:spPr>
          <a:xfrm>
            <a:off x="2809805" y="44958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" name="Ellipse 155"/>
          <p:cNvSpPr/>
          <p:nvPr/>
        </p:nvSpPr>
        <p:spPr>
          <a:xfrm>
            <a:off x="2952676" y="44958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" name="Ellipse 156"/>
          <p:cNvSpPr/>
          <p:nvPr/>
        </p:nvSpPr>
        <p:spPr>
          <a:xfrm>
            <a:off x="3105072" y="44958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" name="Ellipse 157"/>
          <p:cNvSpPr/>
          <p:nvPr/>
        </p:nvSpPr>
        <p:spPr>
          <a:xfrm>
            <a:off x="3695608" y="44958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" name="Ellipse 158"/>
          <p:cNvSpPr/>
          <p:nvPr/>
        </p:nvSpPr>
        <p:spPr>
          <a:xfrm>
            <a:off x="3838479" y="44958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59" name="Ellipse 159"/>
          <p:cNvSpPr/>
          <p:nvPr/>
        </p:nvSpPr>
        <p:spPr>
          <a:xfrm>
            <a:off x="3981350" y="4495800"/>
            <a:ext cx="66673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0" name="Ellipse 160"/>
          <p:cNvSpPr/>
          <p:nvPr/>
        </p:nvSpPr>
        <p:spPr>
          <a:xfrm>
            <a:off x="4133747" y="44958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1" name="Ellipse 161"/>
          <p:cNvSpPr/>
          <p:nvPr/>
        </p:nvSpPr>
        <p:spPr>
          <a:xfrm>
            <a:off x="4276618" y="44958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2" name="Ellipse 162"/>
          <p:cNvSpPr/>
          <p:nvPr/>
        </p:nvSpPr>
        <p:spPr>
          <a:xfrm>
            <a:off x="4429014" y="44958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3" name="Ellipse 163"/>
          <p:cNvSpPr/>
          <p:nvPr/>
        </p:nvSpPr>
        <p:spPr>
          <a:xfrm>
            <a:off x="4571886" y="44958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4" name="Ellipse 164"/>
          <p:cNvSpPr/>
          <p:nvPr/>
        </p:nvSpPr>
        <p:spPr>
          <a:xfrm>
            <a:off x="4724282" y="44958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5" name="Ellipse 165"/>
          <p:cNvSpPr/>
          <p:nvPr/>
        </p:nvSpPr>
        <p:spPr>
          <a:xfrm>
            <a:off x="4867153" y="44958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6" name="Ellipse 166"/>
          <p:cNvSpPr/>
          <p:nvPr/>
        </p:nvSpPr>
        <p:spPr>
          <a:xfrm>
            <a:off x="1781130" y="4648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7" name="Ellipse 167"/>
          <p:cNvSpPr/>
          <p:nvPr/>
        </p:nvSpPr>
        <p:spPr>
          <a:xfrm>
            <a:off x="1924002" y="4648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8" name="Ellipse 168"/>
          <p:cNvSpPr/>
          <p:nvPr/>
        </p:nvSpPr>
        <p:spPr>
          <a:xfrm>
            <a:off x="2076398" y="4648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9" name="Ellipse 169"/>
          <p:cNvSpPr/>
          <p:nvPr/>
        </p:nvSpPr>
        <p:spPr>
          <a:xfrm>
            <a:off x="2219270" y="4648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0" name="Ellipse 170"/>
          <p:cNvSpPr/>
          <p:nvPr/>
        </p:nvSpPr>
        <p:spPr>
          <a:xfrm>
            <a:off x="2362141" y="4648200"/>
            <a:ext cx="66673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1" name="Ellipse 171"/>
          <p:cNvSpPr/>
          <p:nvPr/>
        </p:nvSpPr>
        <p:spPr>
          <a:xfrm>
            <a:off x="2514537" y="4648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2" name="Ellipse 172"/>
          <p:cNvSpPr/>
          <p:nvPr/>
        </p:nvSpPr>
        <p:spPr>
          <a:xfrm>
            <a:off x="2657409" y="4648200"/>
            <a:ext cx="66673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3" name="Ellipse 173"/>
          <p:cNvSpPr/>
          <p:nvPr/>
        </p:nvSpPr>
        <p:spPr>
          <a:xfrm>
            <a:off x="2809805" y="4648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4" name="Ellipse 174"/>
          <p:cNvSpPr/>
          <p:nvPr/>
        </p:nvSpPr>
        <p:spPr>
          <a:xfrm>
            <a:off x="2952676" y="4648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5" name="Ellipse 175"/>
          <p:cNvSpPr/>
          <p:nvPr/>
        </p:nvSpPr>
        <p:spPr>
          <a:xfrm>
            <a:off x="3105072" y="4648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6" name="Ellipse 176"/>
          <p:cNvSpPr/>
          <p:nvPr/>
        </p:nvSpPr>
        <p:spPr>
          <a:xfrm>
            <a:off x="3543211" y="4648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7" name="Ellipse 177"/>
          <p:cNvSpPr/>
          <p:nvPr/>
        </p:nvSpPr>
        <p:spPr>
          <a:xfrm>
            <a:off x="3695608" y="4648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8" name="Ellipse 178"/>
          <p:cNvSpPr/>
          <p:nvPr/>
        </p:nvSpPr>
        <p:spPr>
          <a:xfrm>
            <a:off x="3981350" y="4648200"/>
            <a:ext cx="66673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79" name="Ellipse 179"/>
          <p:cNvSpPr/>
          <p:nvPr/>
        </p:nvSpPr>
        <p:spPr>
          <a:xfrm>
            <a:off x="4133747" y="4648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0" name="Ellipse 180"/>
          <p:cNvSpPr/>
          <p:nvPr/>
        </p:nvSpPr>
        <p:spPr>
          <a:xfrm>
            <a:off x="4276618" y="4648200"/>
            <a:ext cx="66673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1" name="Ellipse 181"/>
          <p:cNvSpPr/>
          <p:nvPr/>
        </p:nvSpPr>
        <p:spPr>
          <a:xfrm>
            <a:off x="4429014" y="4648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2" name="Ellipse 182"/>
          <p:cNvSpPr/>
          <p:nvPr/>
        </p:nvSpPr>
        <p:spPr>
          <a:xfrm>
            <a:off x="4724282" y="4648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3" name="Ellipse 183"/>
          <p:cNvSpPr/>
          <p:nvPr/>
        </p:nvSpPr>
        <p:spPr>
          <a:xfrm>
            <a:off x="4867153" y="464820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4" name="Ellipse 184"/>
          <p:cNvSpPr/>
          <p:nvPr/>
        </p:nvSpPr>
        <p:spPr>
          <a:xfrm>
            <a:off x="1924002" y="4933950"/>
            <a:ext cx="57149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5" name="Ellipse 185"/>
          <p:cNvSpPr/>
          <p:nvPr/>
        </p:nvSpPr>
        <p:spPr>
          <a:xfrm>
            <a:off x="2076398" y="4933950"/>
            <a:ext cx="57149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6" name="Ellipse 186"/>
          <p:cNvSpPr/>
          <p:nvPr/>
        </p:nvSpPr>
        <p:spPr>
          <a:xfrm>
            <a:off x="2362141" y="49339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7" name="Ellipse 187"/>
          <p:cNvSpPr/>
          <p:nvPr/>
        </p:nvSpPr>
        <p:spPr>
          <a:xfrm>
            <a:off x="2657409" y="49339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8" name="Ellipse 188"/>
          <p:cNvSpPr/>
          <p:nvPr/>
        </p:nvSpPr>
        <p:spPr>
          <a:xfrm>
            <a:off x="2952676" y="4933950"/>
            <a:ext cx="57149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89" name="Ellipse 189"/>
          <p:cNvSpPr/>
          <p:nvPr/>
        </p:nvSpPr>
        <p:spPr>
          <a:xfrm>
            <a:off x="3105072" y="4933950"/>
            <a:ext cx="57149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0" name="Ellipse 190"/>
          <p:cNvSpPr/>
          <p:nvPr/>
        </p:nvSpPr>
        <p:spPr>
          <a:xfrm>
            <a:off x="3543211" y="4933950"/>
            <a:ext cx="57149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1" name="Ellipse 191"/>
          <p:cNvSpPr/>
          <p:nvPr/>
        </p:nvSpPr>
        <p:spPr>
          <a:xfrm>
            <a:off x="3695608" y="4933950"/>
            <a:ext cx="57149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2" name="Ellipse 192"/>
          <p:cNvSpPr/>
          <p:nvPr/>
        </p:nvSpPr>
        <p:spPr>
          <a:xfrm>
            <a:off x="3981350" y="49339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3" name="Ellipse 193"/>
          <p:cNvSpPr/>
          <p:nvPr/>
        </p:nvSpPr>
        <p:spPr>
          <a:xfrm>
            <a:off x="4276618" y="4933950"/>
            <a:ext cx="66673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4" name="Ellipse 194"/>
          <p:cNvSpPr/>
          <p:nvPr/>
        </p:nvSpPr>
        <p:spPr>
          <a:xfrm>
            <a:off x="4571886" y="4933950"/>
            <a:ext cx="57149" cy="6667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5" name="Ellipse 195"/>
          <p:cNvSpPr/>
          <p:nvPr/>
        </p:nvSpPr>
        <p:spPr>
          <a:xfrm>
            <a:off x="2219270" y="49434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6" name="Ellipse 196"/>
          <p:cNvSpPr/>
          <p:nvPr/>
        </p:nvSpPr>
        <p:spPr>
          <a:xfrm>
            <a:off x="3838479" y="49434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7" name="Ellipse 197"/>
          <p:cNvSpPr/>
          <p:nvPr/>
        </p:nvSpPr>
        <p:spPr>
          <a:xfrm>
            <a:off x="4133747" y="4943475"/>
            <a:ext cx="57149" cy="47625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8" name="Ellipse 198"/>
          <p:cNvSpPr/>
          <p:nvPr/>
        </p:nvSpPr>
        <p:spPr>
          <a:xfrm>
            <a:off x="4429014" y="4943475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199" name="Ellipse 199"/>
          <p:cNvSpPr/>
          <p:nvPr/>
        </p:nvSpPr>
        <p:spPr>
          <a:xfrm>
            <a:off x="1781130" y="50863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0" name="Ellipse 200"/>
          <p:cNvSpPr/>
          <p:nvPr/>
        </p:nvSpPr>
        <p:spPr>
          <a:xfrm>
            <a:off x="1924002" y="50863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Ellipse 201"/>
          <p:cNvSpPr/>
          <p:nvPr/>
        </p:nvSpPr>
        <p:spPr>
          <a:xfrm>
            <a:off x="2076398" y="50863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Ellipse 202"/>
          <p:cNvSpPr/>
          <p:nvPr/>
        </p:nvSpPr>
        <p:spPr>
          <a:xfrm>
            <a:off x="2219270" y="50863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Ellipse 203"/>
          <p:cNvSpPr/>
          <p:nvPr/>
        </p:nvSpPr>
        <p:spPr>
          <a:xfrm>
            <a:off x="2371666" y="5086350"/>
            <a:ext cx="47624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Ellipse 204"/>
          <p:cNvSpPr/>
          <p:nvPr/>
        </p:nvSpPr>
        <p:spPr>
          <a:xfrm>
            <a:off x="2657409" y="50863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Ellipse 205"/>
          <p:cNvSpPr/>
          <p:nvPr/>
        </p:nvSpPr>
        <p:spPr>
          <a:xfrm>
            <a:off x="3105072" y="50863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6" name="Ellipse 206"/>
          <p:cNvSpPr/>
          <p:nvPr/>
        </p:nvSpPr>
        <p:spPr>
          <a:xfrm>
            <a:off x="3543211" y="50863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7" name="Ellipse 207"/>
          <p:cNvSpPr/>
          <p:nvPr/>
        </p:nvSpPr>
        <p:spPr>
          <a:xfrm>
            <a:off x="3695608" y="50863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8" name="Ellipse 208"/>
          <p:cNvSpPr/>
          <p:nvPr/>
        </p:nvSpPr>
        <p:spPr>
          <a:xfrm>
            <a:off x="4133747" y="50863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09" name="Ellipse 209"/>
          <p:cNvSpPr/>
          <p:nvPr/>
        </p:nvSpPr>
        <p:spPr>
          <a:xfrm>
            <a:off x="4276618" y="50863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0" name="Ellipse 210"/>
          <p:cNvSpPr/>
          <p:nvPr/>
        </p:nvSpPr>
        <p:spPr>
          <a:xfrm>
            <a:off x="4429014" y="50863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1" name="Ellipse 211"/>
          <p:cNvSpPr/>
          <p:nvPr/>
        </p:nvSpPr>
        <p:spPr>
          <a:xfrm>
            <a:off x="4571886" y="5086350"/>
            <a:ext cx="57149" cy="57150"/>
          </a:xfrm>
          <a:prstGeom prst="ellipse">
            <a:avLst/>
          </a:prstGeom>
          <a:solidFill>
            <a:srgbClr val="9099A5"/>
          </a:solidFill>
          <a:ln>
            <a:noFill/>
          </a:ln>
        </p:spPr>
        <p:txBody>
          <a:bodyPr/>
          <a:lstStyle/>
          <a:p/>
        </p:txBody>
      </p:sp>
      <p:sp>
        <p:nvSpPr>
          <p:cNvPr id="212" name="Rect 212"/>
          <p:cNvSpPr/>
          <p:nvPr/>
        </p:nvSpPr>
        <p:spPr>
          <a:xfrm>
            <a:off x="2781230" y="3438525"/>
            <a:ext cx="114297" cy="114300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3" name="Rect 213"/>
          <p:cNvSpPr/>
          <p:nvPr/>
        </p:nvSpPr>
        <p:spPr>
          <a:xfrm>
            <a:off x="4105172" y="3438525"/>
            <a:ext cx="114297" cy="114300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4" name="Rect 214"/>
          <p:cNvSpPr/>
          <p:nvPr/>
        </p:nvSpPr>
        <p:spPr>
          <a:xfrm>
            <a:off x="1752556" y="3590925"/>
            <a:ext cx="104772" cy="104775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5" name="Rect 215"/>
          <p:cNvSpPr/>
          <p:nvPr/>
        </p:nvSpPr>
        <p:spPr>
          <a:xfrm>
            <a:off x="4848104" y="3886200"/>
            <a:ext cx="104772" cy="104775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6" name="Rect 216"/>
          <p:cNvSpPr/>
          <p:nvPr/>
        </p:nvSpPr>
        <p:spPr>
          <a:xfrm>
            <a:off x="2343091" y="4476750"/>
            <a:ext cx="104772" cy="104775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7" name="Rect 217"/>
          <p:cNvSpPr/>
          <p:nvPr/>
        </p:nvSpPr>
        <p:spPr>
          <a:xfrm>
            <a:off x="3524162" y="4476750"/>
            <a:ext cx="104772" cy="104775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8" name="Rect 218"/>
          <p:cNvSpPr/>
          <p:nvPr/>
        </p:nvSpPr>
        <p:spPr>
          <a:xfrm>
            <a:off x="4552836" y="4619625"/>
            <a:ext cx="104772" cy="104775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9" name="Rect 219"/>
          <p:cNvSpPr/>
          <p:nvPr/>
        </p:nvSpPr>
        <p:spPr>
          <a:xfrm>
            <a:off x="1752556" y="4914900"/>
            <a:ext cx="104772" cy="104775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" name="Rect 220"/>
          <p:cNvSpPr/>
          <p:nvPr/>
        </p:nvSpPr>
        <p:spPr>
          <a:xfrm>
            <a:off x="2781230" y="5057775"/>
            <a:ext cx="114297" cy="114300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" name="Rect 221"/>
          <p:cNvSpPr/>
          <p:nvPr/>
        </p:nvSpPr>
        <p:spPr>
          <a:xfrm>
            <a:off x="3962301" y="5057775"/>
            <a:ext cx="104772" cy="114300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" name="TextBox 222"/>
          <p:cNvSpPr txBox="1"/>
          <p:nvPr/>
        </p:nvSpPr>
        <p:spPr>
          <a:xfrm>
            <a:off x="857229" y="552450"/>
            <a:ext cx="1123922" cy="1524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40">
                <a:solidFill>
                  <a:srgbClr val="596575"/>
                </a:solidFill>
                <a:latin typeface="PingFang SC"/>
                <a:ea typeface="PingFang SC"/>
                <a:cs typeface="PingFang SC"/>
              </a:rPr>
              <a:t>TASK 3 · RESULT</a:t>
            </a:r>
            <a:endParaRPr lang="zh-CN" sz="840"/>
          </a:p>
        </p:txBody>
      </p:sp>
      <p:sp>
        <p:nvSpPr>
          <p:cNvPr id="223" name="TextBox 223"/>
          <p:cNvSpPr txBox="1"/>
          <p:nvPr/>
        </p:nvSpPr>
        <p:spPr>
          <a:xfrm>
            <a:off x="676258" y="866775"/>
            <a:ext cx="7238819" cy="4953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72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任务 3 输出一组分散的重点缓存/中转货位。</a:t>
            </a:r>
            <a:endParaRPr lang="zh-CN" sz="2720"/>
          </a:p>
        </p:txBody>
      </p:sp>
      <p:sp>
        <p:nvSpPr>
          <p:cNvPr id="224" name="TextBox 224"/>
          <p:cNvSpPr txBox="1"/>
          <p:nvPr/>
        </p:nvSpPr>
        <p:spPr>
          <a:xfrm>
            <a:off x="704832" y="1914525"/>
            <a:ext cx="7762681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80">
                <a:solidFill>
                  <a:srgbClr val="627184"/>
                </a:solidFill>
                <a:latin typeface="PingFang SC"/>
                <a:ea typeface="PingFang SC"/>
                <a:cs typeface="PingFang SC"/>
              </a:rPr>
              <a:t>最终结果从候选货位中选出 10 个点，并满足最小间距要求；红色方块就是布局层面的启用点位。</a:t>
            </a:r>
            <a:endParaRPr lang="zh-CN" sz="1080"/>
          </a:p>
        </p:txBody>
      </p:sp>
      <p:sp>
        <p:nvSpPr>
          <p:cNvPr id="225" name="TextBox 225"/>
          <p:cNvSpPr txBox="1"/>
          <p:nvPr/>
        </p:nvSpPr>
        <p:spPr>
          <a:xfrm>
            <a:off x="6438739" y="2800350"/>
            <a:ext cx="704832" cy="4000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720" b="1">
                <a:solidFill>
                  <a:srgbClr val="F25E4B"/>
                </a:solidFill>
                <a:latin typeface="PingFang SC"/>
                <a:ea typeface="PingFang SC"/>
                <a:cs typeface="PingFang SC"/>
              </a:rPr>
              <a:t>10</a:t>
            </a:r>
            <a:endParaRPr lang="zh-CN" sz="2720"/>
          </a:p>
        </p:txBody>
      </p:sp>
      <p:sp>
        <p:nvSpPr>
          <p:cNvPr id="226" name="TextBox 226"/>
          <p:cNvSpPr txBox="1"/>
          <p:nvPr/>
        </p:nvSpPr>
        <p:spPr>
          <a:xfrm>
            <a:off x="6448264" y="3219450"/>
            <a:ext cx="1000100" cy="1619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3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选中重点货位</a:t>
            </a:r>
            <a:endParaRPr lang="zh-CN" sz="930"/>
          </a:p>
        </p:txBody>
      </p:sp>
      <p:sp>
        <p:nvSpPr>
          <p:cNvPr id="227" name="TextBox 227"/>
          <p:cNvSpPr txBox="1"/>
          <p:nvPr/>
        </p:nvSpPr>
        <p:spPr>
          <a:xfrm>
            <a:off x="6448264" y="3448050"/>
            <a:ext cx="952476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20">
                <a:solidFill>
                  <a:srgbClr val="627184"/>
                </a:solidFill>
                <a:latin typeface="PingFang SC"/>
                <a:ea typeface="PingFang SC"/>
                <a:cs typeface="PingFang SC"/>
              </a:rPr>
              <a:t>固定选择数量</a:t>
            </a:r>
            <a:endParaRPr lang="zh-CN" sz="720"/>
          </a:p>
        </p:txBody>
      </p:sp>
      <p:sp>
        <p:nvSpPr>
          <p:cNvPr id="228" name="TextBox 228"/>
          <p:cNvSpPr txBox="1"/>
          <p:nvPr/>
        </p:nvSpPr>
        <p:spPr>
          <a:xfrm>
            <a:off x="8591335" y="2800350"/>
            <a:ext cx="514337" cy="4000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720" b="1">
                <a:solidFill>
                  <a:srgbClr val="2276FF"/>
                </a:solidFill>
                <a:latin typeface="PingFang SC"/>
                <a:ea typeface="PingFang SC"/>
                <a:cs typeface="PingFang SC"/>
              </a:rPr>
              <a:t>7</a:t>
            </a:r>
            <a:endParaRPr lang="zh-CN" sz="2720"/>
          </a:p>
        </p:txBody>
      </p:sp>
      <p:sp>
        <p:nvSpPr>
          <p:cNvPr id="229" name="TextBox 229"/>
          <p:cNvSpPr txBox="1"/>
          <p:nvPr/>
        </p:nvSpPr>
        <p:spPr>
          <a:xfrm>
            <a:off x="8591335" y="3219450"/>
            <a:ext cx="1066773" cy="1619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3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最小两两距离</a:t>
            </a:r>
            <a:endParaRPr lang="zh-CN" sz="930"/>
          </a:p>
        </p:txBody>
      </p:sp>
      <p:sp>
        <p:nvSpPr>
          <p:cNvPr id="230" name="TextBox 230"/>
          <p:cNvSpPr txBox="1"/>
          <p:nvPr/>
        </p:nvSpPr>
        <p:spPr>
          <a:xfrm>
            <a:off x="8591335" y="3448050"/>
            <a:ext cx="857229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20">
                <a:solidFill>
                  <a:srgbClr val="627184"/>
                </a:solidFill>
                <a:latin typeface="PingFang SC"/>
                <a:ea typeface="PingFang SC"/>
                <a:cs typeface="PingFang SC"/>
              </a:rPr>
              <a:t>要求大于 6</a:t>
            </a:r>
            <a:endParaRPr lang="zh-CN" sz="720"/>
          </a:p>
        </p:txBody>
      </p:sp>
      <p:sp>
        <p:nvSpPr>
          <p:cNvPr id="231" name="TextBox 231"/>
          <p:cNvSpPr txBox="1"/>
          <p:nvPr/>
        </p:nvSpPr>
        <p:spPr>
          <a:xfrm>
            <a:off x="6438739" y="4086225"/>
            <a:ext cx="990575" cy="4000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720" b="1">
                <a:solidFill>
                  <a:srgbClr val="E6A72A"/>
                </a:solidFill>
                <a:latin typeface="PingFang SC"/>
                <a:ea typeface="PingFang SC"/>
                <a:cs typeface="PingFang SC"/>
              </a:rPr>
              <a:t>2165</a:t>
            </a:r>
            <a:endParaRPr lang="zh-CN" sz="2720"/>
          </a:p>
        </p:txBody>
      </p:sp>
      <p:sp>
        <p:nvSpPr>
          <p:cNvPr id="232" name="TextBox 232"/>
          <p:cNvSpPr txBox="1"/>
          <p:nvPr/>
        </p:nvSpPr>
        <p:spPr>
          <a:xfrm>
            <a:off x="6448264" y="4495800"/>
            <a:ext cx="981050" cy="1619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3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冲突边数量</a:t>
            </a:r>
            <a:endParaRPr lang="zh-CN" sz="930"/>
          </a:p>
        </p:txBody>
      </p:sp>
      <p:sp>
        <p:nvSpPr>
          <p:cNvPr id="233" name="TextBox 233"/>
          <p:cNvSpPr txBox="1"/>
          <p:nvPr/>
        </p:nvSpPr>
        <p:spPr>
          <a:xfrm>
            <a:off x="6448264" y="4724400"/>
            <a:ext cx="1333467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20">
                <a:solidFill>
                  <a:srgbClr val="627184"/>
                </a:solidFill>
                <a:latin typeface="PingFang SC"/>
                <a:ea typeface="PingFang SC"/>
                <a:cs typeface="PingFang SC"/>
              </a:rPr>
              <a:t>候选点之间过近关系</a:t>
            </a:r>
            <a:endParaRPr lang="zh-CN" sz="720"/>
          </a:p>
        </p:txBody>
      </p:sp>
      <p:sp>
        <p:nvSpPr>
          <p:cNvPr id="234" name="TextBox 234"/>
          <p:cNvSpPr txBox="1"/>
          <p:nvPr/>
        </p:nvSpPr>
        <p:spPr>
          <a:xfrm>
            <a:off x="8591335" y="4086225"/>
            <a:ext cx="514337" cy="4000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720" b="1">
                <a:solidFill>
                  <a:srgbClr val="35A66A"/>
                </a:solidFill>
                <a:latin typeface="PingFang SC"/>
                <a:ea typeface="PingFang SC"/>
                <a:cs typeface="PingFang SC"/>
              </a:rPr>
              <a:t>2</a:t>
            </a:r>
            <a:endParaRPr lang="zh-CN" sz="2720"/>
          </a:p>
        </p:txBody>
      </p:sp>
      <p:sp>
        <p:nvSpPr>
          <p:cNvPr id="235" name="TextBox 235"/>
          <p:cNvSpPr txBox="1"/>
          <p:nvPr/>
        </p:nvSpPr>
        <p:spPr>
          <a:xfrm>
            <a:off x="8591335" y="4495800"/>
            <a:ext cx="1104872" cy="1619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3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罚函数外层迭代</a:t>
            </a:r>
            <a:endParaRPr lang="zh-CN" sz="930"/>
          </a:p>
        </p:txBody>
      </p:sp>
      <p:sp>
        <p:nvSpPr>
          <p:cNvPr id="236" name="TextBox 236"/>
          <p:cNvSpPr txBox="1"/>
          <p:nvPr/>
        </p:nvSpPr>
        <p:spPr>
          <a:xfrm>
            <a:off x="8591335" y="4724400"/>
            <a:ext cx="914377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20">
                <a:solidFill>
                  <a:srgbClr val="627184"/>
                </a:solidFill>
                <a:latin typeface="PingFang SC"/>
                <a:ea typeface="PingFang SC"/>
                <a:cs typeface="PingFang SC"/>
              </a:rPr>
              <a:t>耗时 0.095s</a:t>
            </a:r>
            <a:endParaRPr lang="zh-CN" sz="720"/>
          </a:p>
        </p:txBody>
      </p:sp>
      <p:sp>
        <p:nvSpPr>
          <p:cNvPr id="237" name="TextBox 237"/>
          <p:cNvSpPr txBox="1"/>
          <p:nvPr/>
        </p:nvSpPr>
        <p:spPr>
          <a:xfrm>
            <a:off x="6667333" y="5457825"/>
            <a:ext cx="857229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6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结果解释</a:t>
            </a:r>
            <a:endParaRPr lang="zh-CN" sz="1060"/>
          </a:p>
        </p:txBody>
      </p:sp>
      <p:sp>
        <p:nvSpPr>
          <p:cNvPr id="238" name="TextBox 238"/>
          <p:cNvSpPr txBox="1"/>
          <p:nvPr/>
        </p:nvSpPr>
        <p:spPr>
          <a:xfrm>
            <a:off x="6667333" y="5743575"/>
            <a:ext cx="3733707" cy="2857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20">
                <a:solidFill>
                  <a:srgbClr val="627184"/>
                </a:solidFill>
                <a:latin typeface="PingFang SC"/>
                <a:ea typeface="PingFang SC"/>
                <a:cs typeface="PingFang SC"/>
              </a:rPr>
              <a:t>这些点可以作为后续高频货物前置、工位前补货和 AGV</a:t>
            </a:r>
            <a:endParaRPr lang="zh-CN" sz="720"/>
          </a:p>
          <a:p>
            <a:pPr algn="left"/>
            <a:r>
              <a:rPr lang="zh-CN" sz="720">
                <a:solidFill>
                  <a:srgbClr val="627184"/>
                </a:solidFill>
                <a:latin typeface="PingFang SC"/>
                <a:ea typeface="PingFang SC"/>
                <a:cs typeface="PingFang SC"/>
              </a:rPr>
              <a:t>临时中转的重点位置。</a:t>
            </a:r>
            <a:endParaRPr lang="zh-CN" sz="720"/>
          </a:p>
        </p:txBody>
      </p:sp>
      <p:sp>
        <p:nvSpPr>
          <p:cNvPr id="239" name="TextBox 239"/>
          <p:cNvSpPr txBox="1"/>
          <p:nvPr/>
        </p:nvSpPr>
        <p:spPr>
          <a:xfrm>
            <a:off x="676258" y="6448425"/>
            <a:ext cx="3476538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50">
                <a:solidFill>
                  <a:srgbClr val="627184"/>
                </a:solidFill>
                <a:latin typeface="PingFang SC"/>
                <a:ea typeface="PingFang SC"/>
                <a:cs typeface="PingFang SC"/>
              </a:rPr>
              <a:t>AGV 仓储优化课程项目 · 本地 CSV 数据 · Python 自实现算法</a:t>
            </a:r>
            <a:endParaRPr lang="zh-CN" sz="650"/>
          </a:p>
        </p:txBody>
      </p:sp>
      <p:sp>
        <p:nvSpPr>
          <p:cNvPr id="240" name="TextBox 240"/>
          <p:cNvSpPr txBox="1"/>
          <p:nvPr/>
        </p:nvSpPr>
        <p:spPr>
          <a:xfrm>
            <a:off x="11363041" y="6438900"/>
            <a:ext cx="171446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40">
                <a:solidFill>
                  <a:srgbClr val="627184"/>
                </a:solidFill>
                <a:latin typeface="PingFang SC"/>
                <a:ea typeface="PingFang SC"/>
                <a:cs typeface="PingFang SC"/>
              </a:rPr>
              <a:t>23</a:t>
            </a:r>
            <a:endParaRPr lang="zh-CN" sz="74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685783" y="571500"/>
            <a:ext cx="66673" cy="66675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838179" y="2724150"/>
            <a:ext cx="5619610" cy="2857500"/>
          </a:xfrm>
          <a:prstGeom prst="rect">
            <a:avLst/>
          </a:prstGeom>
          <a:solidFill>
            <a:srgbClr val="1D2630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6934027" y="2867025"/>
            <a:ext cx="3428914" cy="838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BEC"/>
            </a:solidFill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6934027" y="4029075"/>
            <a:ext cx="3428914" cy="838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BEC"/>
            </a:solidFill>
          </a:ln>
        </p:spPr>
        <p:txBody>
          <a:bodyPr/>
          <a:lstStyle/>
          <a:p/>
        </p:txBody>
      </p:sp>
      <p:sp>
        <p:nvSpPr>
          <p:cNvPr id="6" name="Line 6"/>
          <p:cNvSpPr/>
          <p:nvPr/>
        </p:nvSpPr>
        <p:spPr>
          <a:xfrm>
            <a:off x="685783" y="6248400"/>
            <a:ext cx="2847904" cy="0"/>
          </a:xfrm>
          <a:prstGeom prst="line">
            <a:avLst/>
          </a:prstGeom>
          <a:noFill/>
          <a:ln w="12700">
            <a:solidFill>
              <a:srgbClr val="D6DDE3"/>
            </a:solidFill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6934027" y="2876550"/>
            <a:ext cx="47624" cy="81915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6934027" y="4038600"/>
            <a:ext cx="47624" cy="819150"/>
          </a:xfrm>
          <a:prstGeom prst="rect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857229" y="552450"/>
            <a:ext cx="1619210" cy="1428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19" b="1">
                <a:solidFill>
                  <a:srgbClr val="4E5B67"/>
                </a:solidFill>
                <a:latin typeface="Arial"/>
                <a:ea typeface="Arial"/>
                <a:cs typeface="Arial"/>
              </a:rPr>
              <a:t>EXPERIMENT SETUP</a:t>
            </a:r>
            <a:endParaRPr lang="zh-CN" sz="919"/>
          </a:p>
        </p:txBody>
      </p:sp>
      <p:sp>
        <p:nvSpPr>
          <p:cNvPr id="10" name="TextBox 10"/>
          <p:cNvSpPr txBox="1"/>
          <p:nvPr/>
        </p:nvSpPr>
        <p:spPr>
          <a:xfrm>
            <a:off x="685783" y="895350"/>
            <a:ext cx="8858029" cy="457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80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实验设置： 数据、 模型、 算法都已经自动化串联。</a:t>
            </a:r>
            <a:endParaRPr lang="zh-CN" sz="2800"/>
          </a:p>
        </p:txBody>
      </p:sp>
      <p:sp>
        <p:nvSpPr>
          <p:cNvPr id="11" name="TextBox 11"/>
          <p:cNvSpPr txBox="1"/>
          <p:nvPr/>
        </p:nvSpPr>
        <p:spPr>
          <a:xfrm>
            <a:off x="704832" y="1914525"/>
            <a:ext cx="8096048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0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仓库 CSV 被统一读取成坐标、 货量和距离矩阵； 三个求解脚本分别构造模型并调用对应算法。</a:t>
            </a:r>
            <a:endParaRPr lang="zh-CN" sz="1200"/>
          </a:p>
        </p:txBody>
      </p:sp>
      <p:sp>
        <p:nvSpPr>
          <p:cNvPr id="12" name="TextBox 12"/>
          <p:cNvSpPr txBox="1"/>
          <p:nvPr/>
        </p:nvSpPr>
        <p:spPr>
          <a:xfrm>
            <a:off x="1085823" y="3009900"/>
            <a:ext cx="2000200" cy="2190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70">
                <a:solidFill>
                  <a:srgbClr val="DCE4EA"/>
                </a:solidFill>
                <a:latin typeface="Menlo"/>
                <a:ea typeface="Menlo"/>
                <a:cs typeface="Menlo"/>
              </a:rPr>
              <a:t>warehouse_data.py</a:t>
            </a:r>
            <a:endParaRPr lang="zh-CN" sz="1170"/>
          </a:p>
        </p:txBody>
      </p:sp>
      <p:sp>
        <p:nvSpPr>
          <p:cNvPr id="13" name="TextBox 13"/>
          <p:cNvSpPr txBox="1"/>
          <p:nvPr/>
        </p:nvSpPr>
        <p:spPr>
          <a:xfrm>
            <a:off x="3238419" y="3009900"/>
            <a:ext cx="2476438" cy="2190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80">
                <a:solidFill>
                  <a:srgbClr val="DCE4EA"/>
                </a:solidFill>
                <a:latin typeface="PingFang SC"/>
                <a:ea typeface="PingFang SC"/>
                <a:cs typeface="PingFang SC"/>
              </a:rPr>
              <a:t>读取地图、 托盘、 AGV、 工位</a:t>
            </a:r>
            <a:endParaRPr lang="zh-CN" sz="1080"/>
          </a:p>
        </p:txBody>
      </p:sp>
      <p:sp>
        <p:nvSpPr>
          <p:cNvPr id="14" name="TextBox 14"/>
          <p:cNvSpPr txBox="1"/>
          <p:nvPr/>
        </p:nvSpPr>
        <p:spPr>
          <a:xfrm>
            <a:off x="1085823" y="3371850"/>
            <a:ext cx="2476438" cy="2190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70">
                <a:solidFill>
                  <a:srgbClr val="DCE4EA"/>
                </a:solidFill>
                <a:latin typeface="Menlo"/>
                <a:ea typeface="Menlo"/>
                <a:cs typeface="Menlo"/>
              </a:rPr>
              <a:t>solve_agv_assignment.py</a:t>
            </a:r>
            <a:endParaRPr lang="zh-CN" sz="1170"/>
          </a:p>
        </p:txBody>
      </p:sp>
      <p:sp>
        <p:nvSpPr>
          <p:cNvPr id="15" name="TextBox 15"/>
          <p:cNvSpPr txBox="1"/>
          <p:nvPr/>
        </p:nvSpPr>
        <p:spPr>
          <a:xfrm>
            <a:off x="3238419" y="3371850"/>
            <a:ext cx="2476438" cy="2190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80">
                <a:solidFill>
                  <a:srgbClr val="DCE4EA"/>
                </a:solidFill>
                <a:latin typeface="PingFang SC"/>
                <a:ea typeface="PingFang SC"/>
                <a:cs typeface="PingFang SC"/>
              </a:rPr>
              <a:t>构造并求解任务分配模型</a:t>
            </a:r>
            <a:endParaRPr lang="zh-CN" sz="1080"/>
          </a:p>
        </p:txBody>
      </p:sp>
      <p:sp>
        <p:nvSpPr>
          <p:cNvPr id="16" name="TextBox 16"/>
          <p:cNvSpPr txBox="1"/>
          <p:nvPr/>
        </p:nvSpPr>
        <p:spPr>
          <a:xfrm>
            <a:off x="1085823" y="3733800"/>
            <a:ext cx="2571686" cy="2190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70">
                <a:solidFill>
                  <a:srgbClr val="DCE4EA"/>
                </a:solidFill>
                <a:latin typeface="Menlo"/>
                <a:ea typeface="Menlo"/>
                <a:cs typeface="Menlo"/>
              </a:rPr>
              <a:t>solve_dynamic_partition.py</a:t>
            </a:r>
            <a:endParaRPr lang="zh-CN" sz="1170"/>
          </a:p>
        </p:txBody>
      </p:sp>
      <p:sp>
        <p:nvSpPr>
          <p:cNvPr id="17" name="TextBox 17"/>
          <p:cNvSpPr txBox="1"/>
          <p:nvPr/>
        </p:nvSpPr>
        <p:spPr>
          <a:xfrm>
            <a:off x="3409865" y="3733800"/>
            <a:ext cx="2476438" cy="2190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80">
                <a:solidFill>
                  <a:srgbClr val="DCE4EA"/>
                </a:solidFill>
                <a:latin typeface="PingFang SC"/>
                <a:ea typeface="PingFang SC"/>
                <a:cs typeface="PingFang SC"/>
              </a:rPr>
              <a:t>构造并求解动态分区模型</a:t>
            </a:r>
            <a:endParaRPr lang="zh-CN" sz="1080"/>
          </a:p>
        </p:txBody>
      </p:sp>
      <p:sp>
        <p:nvSpPr>
          <p:cNvPr id="18" name="TextBox 18"/>
          <p:cNvSpPr txBox="1"/>
          <p:nvPr/>
        </p:nvSpPr>
        <p:spPr>
          <a:xfrm>
            <a:off x="1085823" y="4095750"/>
            <a:ext cx="2571686" cy="2190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70">
                <a:solidFill>
                  <a:srgbClr val="DCE4EA"/>
                </a:solidFill>
                <a:latin typeface="Menlo"/>
                <a:ea typeface="Menlo"/>
                <a:cs typeface="Menlo"/>
              </a:rPr>
              <a:t>solve_warehouse_layout.py</a:t>
            </a:r>
            <a:endParaRPr lang="zh-CN" sz="1170"/>
          </a:p>
        </p:txBody>
      </p:sp>
      <p:sp>
        <p:nvSpPr>
          <p:cNvPr id="19" name="TextBox 19"/>
          <p:cNvSpPr txBox="1"/>
          <p:nvPr/>
        </p:nvSpPr>
        <p:spPr>
          <a:xfrm>
            <a:off x="3409865" y="4095750"/>
            <a:ext cx="2762181" cy="2190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80">
                <a:solidFill>
                  <a:srgbClr val="DCE4EA"/>
                </a:solidFill>
                <a:latin typeface="PingFang SC"/>
                <a:ea typeface="PingFang SC"/>
                <a:cs typeface="PingFang SC"/>
              </a:rPr>
              <a:t>构造并求解重点货位选择模型</a:t>
            </a:r>
            <a:endParaRPr lang="zh-CN" sz="1080"/>
          </a:p>
        </p:txBody>
      </p:sp>
      <p:sp>
        <p:nvSpPr>
          <p:cNvPr id="20" name="TextBox 20"/>
          <p:cNvSpPr txBox="1"/>
          <p:nvPr/>
        </p:nvSpPr>
        <p:spPr>
          <a:xfrm>
            <a:off x="1085823" y="4457700"/>
            <a:ext cx="1428714" cy="2190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70">
                <a:solidFill>
                  <a:srgbClr val="9ADFB9"/>
                </a:solidFill>
                <a:latin typeface="Menlo"/>
                <a:ea typeface="Menlo"/>
                <a:cs typeface="Menlo"/>
              </a:rPr>
              <a:t>algorithms/</a:t>
            </a:r>
            <a:endParaRPr lang="zh-CN" sz="1170"/>
          </a:p>
        </p:txBody>
      </p:sp>
      <p:sp>
        <p:nvSpPr>
          <p:cNvPr id="21" name="TextBox 21"/>
          <p:cNvSpPr txBox="1"/>
          <p:nvPr/>
        </p:nvSpPr>
        <p:spPr>
          <a:xfrm>
            <a:off x="3238419" y="4457700"/>
            <a:ext cx="2476438" cy="2190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80">
                <a:solidFill>
                  <a:srgbClr val="9ADFB9"/>
                </a:solidFill>
                <a:latin typeface="PingFang SC"/>
                <a:ea typeface="PingFang SC"/>
                <a:cs typeface="PingFang SC"/>
              </a:rPr>
              <a:t>教材算法的 Python 实现</a:t>
            </a:r>
            <a:endParaRPr lang="zh-CN" sz="1080"/>
          </a:p>
        </p:txBody>
      </p:sp>
      <p:sp>
        <p:nvSpPr>
          <p:cNvPr id="22" name="TextBox 22"/>
          <p:cNvSpPr txBox="1"/>
          <p:nvPr/>
        </p:nvSpPr>
        <p:spPr>
          <a:xfrm>
            <a:off x="1085823" y="4819650"/>
            <a:ext cx="2190695" cy="2190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70">
                <a:solidFill>
                  <a:srgbClr val="9ADFB9"/>
                </a:solidFill>
                <a:latin typeface="Menlo"/>
                <a:ea typeface="Menlo"/>
                <a:cs typeface="Menlo"/>
              </a:rPr>
              <a:t>run_all_textbook.py</a:t>
            </a:r>
            <a:endParaRPr lang="zh-CN" sz="1170"/>
          </a:p>
        </p:txBody>
      </p:sp>
      <p:sp>
        <p:nvSpPr>
          <p:cNvPr id="23" name="TextBox 23"/>
          <p:cNvSpPr txBox="1"/>
          <p:nvPr/>
        </p:nvSpPr>
        <p:spPr>
          <a:xfrm>
            <a:off x="3238419" y="4819650"/>
            <a:ext cx="2714557" cy="2190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080">
                <a:solidFill>
                  <a:srgbClr val="9ADFB9"/>
                </a:solidFill>
                <a:latin typeface="PingFang SC"/>
                <a:ea typeface="PingFang SC"/>
                <a:cs typeface="PingFang SC"/>
              </a:rPr>
              <a:t>一键运行三个实验并输出结果</a:t>
            </a:r>
            <a:endParaRPr lang="zh-CN" sz="1080"/>
          </a:p>
        </p:txBody>
      </p:sp>
      <p:sp>
        <p:nvSpPr>
          <p:cNvPr id="24" name="TextBox 24"/>
          <p:cNvSpPr txBox="1"/>
          <p:nvPr/>
        </p:nvSpPr>
        <p:spPr>
          <a:xfrm>
            <a:off x="7105472" y="3028950"/>
            <a:ext cx="666733" cy="1809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0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环境</a:t>
            </a:r>
            <a:endParaRPr lang="zh-CN" sz="1200"/>
          </a:p>
        </p:txBody>
      </p:sp>
      <p:sp>
        <p:nvSpPr>
          <p:cNvPr id="25" name="TextBox 25"/>
          <p:cNvSpPr txBox="1"/>
          <p:nvPr/>
        </p:nvSpPr>
        <p:spPr>
          <a:xfrm>
            <a:off x="7105472" y="3314700"/>
            <a:ext cx="3143171" cy="3429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40">
                <a:solidFill>
                  <a:srgbClr val="6E7A86"/>
                </a:solidFill>
                <a:latin typeface="PingFang SC"/>
                <a:ea typeface="PingFang SC"/>
                <a:cs typeface="PingFang SC"/>
              </a:rPr>
              <a:t>Python 虚拟环境中安装</a:t>
            </a:r>
            <a:endParaRPr lang="zh-CN" sz="840"/>
          </a:p>
          <a:p>
            <a:pPr algn="left"/>
            <a:r>
              <a:rPr lang="zh-CN" sz="840">
                <a:solidFill>
                  <a:srgbClr val="6E7A86"/>
                </a:solidFill>
                <a:latin typeface="PingFang SC"/>
                <a:ea typeface="PingFang SC"/>
                <a:cs typeface="PingFang SC"/>
              </a:rPr>
              <a:t>numpy、 scipy、 pandas、 matplotlib 等常用科学计算库。</a:t>
            </a:r>
            <a:endParaRPr lang="zh-CN" sz="840"/>
          </a:p>
        </p:txBody>
      </p:sp>
      <p:sp>
        <p:nvSpPr>
          <p:cNvPr id="26" name="TextBox 26"/>
          <p:cNvSpPr txBox="1"/>
          <p:nvPr/>
        </p:nvSpPr>
        <p:spPr>
          <a:xfrm>
            <a:off x="7105472" y="4191000"/>
            <a:ext cx="1000100" cy="18097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0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复现方式</a:t>
            </a:r>
            <a:endParaRPr lang="zh-CN" sz="1200"/>
          </a:p>
        </p:txBody>
      </p:sp>
      <p:sp>
        <p:nvSpPr>
          <p:cNvPr id="27" name="TextBox 27"/>
          <p:cNvSpPr txBox="1"/>
          <p:nvPr/>
        </p:nvSpPr>
        <p:spPr>
          <a:xfrm>
            <a:off x="7105472" y="4476750"/>
            <a:ext cx="3143171" cy="3429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40">
                <a:solidFill>
                  <a:srgbClr val="6E7A86"/>
                </a:solidFill>
                <a:latin typeface="PingFang SC"/>
                <a:ea typeface="PingFang SC"/>
                <a:cs typeface="PingFang SC"/>
              </a:rPr>
              <a:t>运行统一入口脚本，即可依次生成三个任务的模型、求解结</a:t>
            </a:r>
            <a:endParaRPr lang="zh-CN" sz="840"/>
          </a:p>
          <a:p>
            <a:pPr algn="left"/>
            <a:r>
              <a:rPr lang="zh-CN" sz="840">
                <a:solidFill>
                  <a:srgbClr val="6E7A86"/>
                </a:solidFill>
                <a:latin typeface="PingFang SC"/>
                <a:ea typeface="PingFang SC"/>
                <a:cs typeface="PingFang SC"/>
              </a:rPr>
              <a:t>果和 CSV 输出。</a:t>
            </a:r>
            <a:endParaRPr lang="zh-CN" sz="840"/>
          </a:p>
        </p:txBody>
      </p:sp>
      <p:sp>
        <p:nvSpPr>
          <p:cNvPr id="28" name="TextBox 28"/>
          <p:cNvSpPr txBox="1"/>
          <p:nvPr/>
        </p:nvSpPr>
        <p:spPr>
          <a:xfrm>
            <a:off x="685783" y="6429375"/>
            <a:ext cx="3333667" cy="1333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60">
                <a:solidFill>
                  <a:srgbClr val="6B7784"/>
                </a:solidFill>
                <a:latin typeface="PingFang SC"/>
                <a:ea typeface="PingFang SC"/>
                <a:cs typeface="PingFang SC"/>
              </a:rPr>
              <a:t>AGV 仓储优化课程项目 · 本地 CSV 数据 · Python 自实现算法</a:t>
            </a:r>
            <a:endParaRPr lang="zh-CN" sz="760"/>
          </a:p>
        </p:txBody>
      </p:sp>
      <p:sp>
        <p:nvSpPr>
          <p:cNvPr id="29" name="TextBox 29"/>
          <p:cNvSpPr txBox="1"/>
          <p:nvPr/>
        </p:nvSpPr>
        <p:spPr>
          <a:xfrm>
            <a:off x="11372566" y="6429375"/>
            <a:ext cx="266693" cy="1333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19">
                <a:solidFill>
                  <a:srgbClr val="6B7784"/>
                </a:solidFill>
                <a:latin typeface="PingFang SC"/>
                <a:ea typeface="PingFang SC"/>
                <a:cs typeface="PingFang SC"/>
              </a:rPr>
              <a:t>24</a:t>
            </a:r>
            <a:endParaRPr lang="zh-CN" sz="919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685783" y="571500"/>
            <a:ext cx="66673" cy="66675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685783" y="6248400"/>
            <a:ext cx="2857429" cy="9525"/>
          </a:xfrm>
          <a:prstGeom prst="rect">
            <a:avLst/>
          </a:prstGeom>
          <a:solidFill>
            <a:srgbClr val="DCE2E6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Line 4"/>
          <p:cNvSpPr/>
          <p:nvPr/>
        </p:nvSpPr>
        <p:spPr>
          <a:xfrm>
            <a:off x="2447864" y="3619500"/>
            <a:ext cx="447664" cy="0"/>
          </a:xfrm>
          <a:prstGeom prst="line">
            <a:avLst/>
          </a:prstGeom>
          <a:noFill/>
          <a:ln w="15240">
            <a:solidFill>
              <a:srgbClr val="A9B3BE"/>
            </a:solidFill>
          </a:ln>
        </p:spPr>
        <p:txBody>
          <a:bodyPr/>
          <a:lstStyle/>
          <a:p/>
        </p:txBody>
      </p:sp>
      <p:sp>
        <p:nvSpPr>
          <p:cNvPr id="5" name="Line 5"/>
          <p:cNvSpPr/>
          <p:nvPr/>
        </p:nvSpPr>
        <p:spPr>
          <a:xfrm>
            <a:off x="4657609" y="3619500"/>
            <a:ext cx="447664" cy="0"/>
          </a:xfrm>
          <a:prstGeom prst="line">
            <a:avLst/>
          </a:prstGeom>
          <a:noFill/>
          <a:ln w="15240">
            <a:solidFill>
              <a:srgbClr val="A9B3BE"/>
            </a:solidFill>
          </a:ln>
        </p:spPr>
        <p:txBody>
          <a:bodyPr/>
          <a:lstStyle/>
          <a:p/>
        </p:txBody>
      </p:sp>
      <p:sp>
        <p:nvSpPr>
          <p:cNvPr id="6" name="Line 6"/>
          <p:cNvSpPr/>
          <p:nvPr/>
        </p:nvSpPr>
        <p:spPr>
          <a:xfrm>
            <a:off x="6867353" y="3619500"/>
            <a:ext cx="447664" cy="0"/>
          </a:xfrm>
          <a:prstGeom prst="line">
            <a:avLst/>
          </a:prstGeom>
          <a:noFill/>
          <a:ln w="15240">
            <a:solidFill>
              <a:srgbClr val="A9B3BE"/>
            </a:solidFill>
          </a:ln>
        </p:spPr>
        <p:txBody>
          <a:bodyPr/>
          <a:lstStyle/>
          <a:p/>
        </p:txBody>
      </p:sp>
      <p:sp>
        <p:nvSpPr>
          <p:cNvPr id="7" name="Line 7"/>
          <p:cNvSpPr/>
          <p:nvPr/>
        </p:nvSpPr>
        <p:spPr>
          <a:xfrm>
            <a:off x="9077098" y="3619500"/>
            <a:ext cx="447664" cy="0"/>
          </a:xfrm>
          <a:prstGeom prst="line">
            <a:avLst/>
          </a:prstGeom>
          <a:noFill/>
          <a:ln w="15240">
            <a:solidFill>
              <a:srgbClr val="A9B3BE"/>
            </a:solidFill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685783" y="3124200"/>
            <a:ext cx="1771606" cy="97155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C"/>
            </a:solidFill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2895528" y="3124200"/>
            <a:ext cx="1771606" cy="97155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C"/>
            </a:solidFill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5105272" y="3124200"/>
            <a:ext cx="1771606" cy="97155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C"/>
            </a:solidFill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7315017" y="3124200"/>
            <a:ext cx="1771606" cy="97155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C"/>
            </a:solidFill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9524762" y="3124200"/>
            <a:ext cx="1771606" cy="97155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C"/>
            </a:solidFill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2057349" y="4953000"/>
            <a:ext cx="7810305" cy="74295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C"/>
            </a:solidFill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685783" y="3124200"/>
            <a:ext cx="1762081" cy="47625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2895528" y="3124200"/>
            <a:ext cx="1762081" cy="47625"/>
          </a:xfrm>
          <a:prstGeom prst="rect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5105272" y="3124200"/>
            <a:ext cx="1762081" cy="47625"/>
          </a:xfrm>
          <a:prstGeom prst="rect">
            <a:avLst/>
          </a:prstGeom>
          <a:solidFill>
            <a:srgbClr val="E6A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7315017" y="3124200"/>
            <a:ext cx="1762081" cy="47625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9524762" y="3124200"/>
            <a:ext cx="1762081" cy="47625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2057349" y="4953000"/>
            <a:ext cx="47624" cy="742950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857229" y="552450"/>
            <a:ext cx="1238219" cy="1524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40">
                <a:solidFill>
                  <a:srgbClr val="4E5B67"/>
                </a:solidFill>
                <a:latin typeface="PingFang SC"/>
                <a:ea typeface="PingFang SC"/>
                <a:cs typeface="PingFang SC"/>
              </a:rPr>
              <a:t>AUTOMATION</a:t>
            </a:r>
            <a:endParaRPr lang="zh-CN" sz="840"/>
          </a:p>
        </p:txBody>
      </p:sp>
      <p:sp>
        <p:nvSpPr>
          <p:cNvPr id="21" name="TextBox 21"/>
          <p:cNvSpPr txBox="1"/>
          <p:nvPr/>
        </p:nvSpPr>
        <p:spPr>
          <a:xfrm>
            <a:off x="685783" y="895350"/>
            <a:ext cx="6857829" cy="4953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82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建模和求解流程是自动化的。</a:t>
            </a:r>
            <a:endParaRPr lang="zh-CN" sz="2820"/>
          </a:p>
        </p:txBody>
      </p:sp>
      <p:sp>
        <p:nvSpPr>
          <p:cNvPr id="22" name="TextBox 22"/>
          <p:cNvSpPr txBox="1"/>
          <p:nvPr/>
        </p:nvSpPr>
        <p:spPr>
          <a:xfrm>
            <a:off x="704832" y="1914525"/>
            <a:ext cx="8572286" cy="4191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20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实验并不是手工填矩阵，而是由代码从数据生成距离矩阵、目标向量、约束矩阵，再调用自实现算法</a:t>
            </a:r>
            <a:endParaRPr lang="zh-CN" sz="1200"/>
          </a:p>
          <a:p>
            <a:pPr algn="left"/>
            <a:r>
              <a:rPr lang="zh-CN" sz="120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。</a:t>
            </a:r>
            <a:endParaRPr lang="zh-CN" sz="1200"/>
          </a:p>
        </p:txBody>
      </p:sp>
      <p:sp>
        <p:nvSpPr>
          <p:cNvPr id="23" name="TextBox 23"/>
          <p:cNvSpPr txBox="1"/>
          <p:nvPr/>
        </p:nvSpPr>
        <p:spPr>
          <a:xfrm>
            <a:off x="838179" y="3324225"/>
            <a:ext cx="1000100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8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CSV 数据</a:t>
            </a:r>
            <a:endParaRPr lang="zh-CN" sz="1380"/>
          </a:p>
        </p:txBody>
      </p:sp>
      <p:sp>
        <p:nvSpPr>
          <p:cNvPr id="24" name="TextBox 24"/>
          <p:cNvSpPr txBox="1"/>
          <p:nvPr/>
        </p:nvSpPr>
        <p:spPr>
          <a:xfrm>
            <a:off x="838179" y="3619500"/>
            <a:ext cx="1571586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19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地图、托盘、AGV、工位</a:t>
            </a:r>
            <a:endParaRPr lang="zh-CN" sz="919"/>
          </a:p>
        </p:txBody>
      </p:sp>
      <p:sp>
        <p:nvSpPr>
          <p:cNvPr id="25" name="TextBox 25"/>
          <p:cNvSpPr txBox="1"/>
          <p:nvPr/>
        </p:nvSpPr>
        <p:spPr>
          <a:xfrm>
            <a:off x="3047924" y="3324225"/>
            <a:ext cx="1000100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8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特征计算</a:t>
            </a:r>
            <a:endParaRPr lang="zh-CN" sz="1380"/>
          </a:p>
        </p:txBody>
      </p:sp>
      <p:sp>
        <p:nvSpPr>
          <p:cNvPr id="26" name="TextBox 26"/>
          <p:cNvSpPr txBox="1"/>
          <p:nvPr/>
        </p:nvSpPr>
        <p:spPr>
          <a:xfrm>
            <a:off x="3047924" y="3619500"/>
            <a:ext cx="1495388" cy="3048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0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曼哈顿距离、货量统计、冲</a:t>
            </a:r>
            <a:endParaRPr lang="zh-CN" sz="900"/>
          </a:p>
          <a:p>
            <a:pPr algn="left"/>
            <a:r>
              <a:rPr lang="zh-CN" sz="90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突边</a:t>
            </a:r>
            <a:endParaRPr lang="zh-CN" sz="900"/>
          </a:p>
        </p:txBody>
      </p:sp>
      <p:sp>
        <p:nvSpPr>
          <p:cNvPr id="27" name="TextBox 27"/>
          <p:cNvSpPr txBox="1"/>
          <p:nvPr/>
        </p:nvSpPr>
        <p:spPr>
          <a:xfrm>
            <a:off x="5257669" y="3324225"/>
            <a:ext cx="1000100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8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模型生成</a:t>
            </a:r>
            <a:endParaRPr lang="zh-CN" sz="1380"/>
          </a:p>
        </p:txBody>
      </p:sp>
      <p:sp>
        <p:nvSpPr>
          <p:cNvPr id="28" name="TextBox 28"/>
          <p:cNvSpPr txBox="1"/>
          <p:nvPr/>
        </p:nvSpPr>
        <p:spPr>
          <a:xfrm>
            <a:off x="5257669" y="3619500"/>
            <a:ext cx="1523962" cy="3048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0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目标向量 c、约束矩阵 </a:t>
            </a:r>
            <a:endParaRPr lang="zh-CN" sz="900"/>
          </a:p>
          <a:p>
            <a:pPr algn="left"/>
            <a:r>
              <a:rPr lang="zh-CN" sz="90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A、右端项 b</a:t>
            </a:r>
            <a:endParaRPr lang="zh-CN" sz="900"/>
          </a:p>
        </p:txBody>
      </p:sp>
      <p:sp>
        <p:nvSpPr>
          <p:cNvPr id="29" name="TextBox 29"/>
          <p:cNvSpPr txBox="1"/>
          <p:nvPr/>
        </p:nvSpPr>
        <p:spPr>
          <a:xfrm>
            <a:off x="7467413" y="3324225"/>
            <a:ext cx="1000100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8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算法求解</a:t>
            </a:r>
            <a:endParaRPr lang="zh-CN" sz="1380"/>
          </a:p>
        </p:txBody>
      </p:sp>
      <p:sp>
        <p:nvSpPr>
          <p:cNvPr id="30" name="TextBox 30"/>
          <p:cNvSpPr txBox="1"/>
          <p:nvPr/>
        </p:nvSpPr>
        <p:spPr>
          <a:xfrm>
            <a:off x="7467413" y="3619500"/>
            <a:ext cx="1523962" cy="3048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0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内点法、罚函数法、投影 </a:t>
            </a:r>
            <a:endParaRPr lang="zh-CN" sz="900"/>
          </a:p>
          <a:p>
            <a:pPr algn="left"/>
            <a:r>
              <a:rPr lang="zh-CN" sz="90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BB</a:t>
            </a:r>
            <a:endParaRPr lang="zh-CN" sz="900"/>
          </a:p>
        </p:txBody>
      </p:sp>
      <p:sp>
        <p:nvSpPr>
          <p:cNvPr id="31" name="TextBox 31"/>
          <p:cNvSpPr txBox="1"/>
          <p:nvPr/>
        </p:nvSpPr>
        <p:spPr>
          <a:xfrm>
            <a:off x="9677158" y="3324225"/>
            <a:ext cx="1000100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8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结果输出</a:t>
            </a:r>
            <a:endParaRPr lang="zh-CN" sz="1380"/>
          </a:p>
        </p:txBody>
      </p:sp>
      <p:sp>
        <p:nvSpPr>
          <p:cNvPr id="32" name="TextBox 32"/>
          <p:cNvSpPr txBox="1"/>
          <p:nvPr/>
        </p:nvSpPr>
        <p:spPr>
          <a:xfrm>
            <a:off x="9677158" y="3619500"/>
            <a:ext cx="1523962" cy="3048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0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分配表、分区负载、重点货</a:t>
            </a:r>
            <a:endParaRPr lang="zh-CN" sz="900"/>
          </a:p>
          <a:p>
            <a:pPr algn="left"/>
            <a:r>
              <a:rPr lang="zh-CN" sz="90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位</a:t>
            </a:r>
            <a:endParaRPr lang="zh-CN" sz="900"/>
          </a:p>
        </p:txBody>
      </p:sp>
      <p:sp>
        <p:nvSpPr>
          <p:cNvPr id="33" name="TextBox 33"/>
          <p:cNvSpPr txBox="1"/>
          <p:nvPr/>
        </p:nvSpPr>
        <p:spPr>
          <a:xfrm>
            <a:off x="2247844" y="5114925"/>
            <a:ext cx="1714457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6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自动化的好处</a:t>
            </a:r>
            <a:endParaRPr lang="zh-CN" sz="1360"/>
          </a:p>
        </p:txBody>
      </p:sp>
      <p:sp>
        <p:nvSpPr>
          <p:cNvPr id="34" name="TextBox 34"/>
          <p:cNvSpPr txBox="1"/>
          <p:nvPr/>
        </p:nvSpPr>
        <p:spPr>
          <a:xfrm>
            <a:off x="2247844" y="5391150"/>
            <a:ext cx="6953076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19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换一批仓库坐标或托盘货量后，不需要重新手推模型；代码会重新生成问题规模、距离矩阵和约束结构。</a:t>
            </a:r>
            <a:endParaRPr lang="zh-CN" sz="919"/>
          </a:p>
        </p:txBody>
      </p:sp>
      <p:sp>
        <p:nvSpPr>
          <p:cNvPr id="35" name="TextBox 35"/>
          <p:cNvSpPr txBox="1"/>
          <p:nvPr/>
        </p:nvSpPr>
        <p:spPr>
          <a:xfrm>
            <a:off x="685783" y="6448425"/>
            <a:ext cx="3428914" cy="1524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9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AGV 仓储优化课程项目 · 本地 CSV 数据 · Python 自实现算法</a:t>
            </a:r>
            <a:endParaRPr lang="zh-CN" sz="690"/>
          </a:p>
        </p:txBody>
      </p:sp>
      <p:sp>
        <p:nvSpPr>
          <p:cNvPr id="36" name="TextBox 36"/>
          <p:cNvSpPr txBox="1"/>
          <p:nvPr/>
        </p:nvSpPr>
        <p:spPr>
          <a:xfrm>
            <a:off x="11353516" y="6438900"/>
            <a:ext cx="247644" cy="1524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4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25</a:t>
            </a:r>
            <a:endParaRPr lang="zh-CN" sz="84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685783" y="571500"/>
            <a:ext cx="66673" cy="66675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781030" y="2724150"/>
            <a:ext cx="10096248" cy="289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5EA"/>
            </a:solidFill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781030" y="2724150"/>
            <a:ext cx="10096248" cy="438150"/>
          </a:xfrm>
          <a:prstGeom prst="rect">
            <a:avLst/>
          </a:prstGeom>
          <a:solidFill>
            <a:srgbClr val="1D263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781030" y="3981450"/>
            <a:ext cx="10096248" cy="81915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Line 6"/>
          <p:cNvSpPr/>
          <p:nvPr/>
        </p:nvSpPr>
        <p:spPr>
          <a:xfrm>
            <a:off x="781030" y="3162300"/>
            <a:ext cx="10096248" cy="0"/>
          </a:xfrm>
          <a:prstGeom prst="line">
            <a:avLst/>
          </a:prstGeom>
          <a:noFill/>
          <a:ln w="12700">
            <a:solidFill>
              <a:srgbClr val="E4E8EC"/>
            </a:solidFill>
          </a:ln>
        </p:spPr>
        <p:txBody>
          <a:bodyPr/>
          <a:lstStyle/>
          <a:p/>
        </p:txBody>
      </p:sp>
      <p:sp>
        <p:nvSpPr>
          <p:cNvPr id="7" name="Line 7"/>
          <p:cNvSpPr/>
          <p:nvPr/>
        </p:nvSpPr>
        <p:spPr>
          <a:xfrm>
            <a:off x="781030" y="3981450"/>
            <a:ext cx="10096248" cy="0"/>
          </a:xfrm>
          <a:prstGeom prst="line">
            <a:avLst/>
          </a:prstGeom>
          <a:noFill/>
          <a:ln w="12700">
            <a:solidFill>
              <a:srgbClr val="E0E5EA"/>
            </a:solidFill>
          </a:ln>
        </p:spPr>
        <p:txBody>
          <a:bodyPr/>
          <a:lstStyle/>
          <a:p/>
        </p:txBody>
      </p:sp>
      <p:sp>
        <p:nvSpPr>
          <p:cNvPr id="8" name="Line 8"/>
          <p:cNvSpPr/>
          <p:nvPr/>
        </p:nvSpPr>
        <p:spPr>
          <a:xfrm>
            <a:off x="781030" y="4800600"/>
            <a:ext cx="10096248" cy="0"/>
          </a:xfrm>
          <a:prstGeom prst="line">
            <a:avLst/>
          </a:prstGeom>
          <a:noFill/>
          <a:ln w="12700">
            <a:solidFill>
              <a:srgbClr val="E0E5EA"/>
            </a:solidFill>
          </a:ln>
        </p:spPr>
        <p:txBody>
          <a:bodyPr/>
          <a:lstStyle/>
          <a:p/>
        </p:txBody>
      </p:sp>
      <p:sp>
        <p:nvSpPr>
          <p:cNvPr id="9" name="Line 9"/>
          <p:cNvSpPr/>
          <p:nvPr/>
        </p:nvSpPr>
        <p:spPr>
          <a:xfrm>
            <a:off x="781030" y="5619750"/>
            <a:ext cx="10096248" cy="0"/>
          </a:xfrm>
          <a:prstGeom prst="line">
            <a:avLst/>
          </a:prstGeom>
          <a:noFill/>
          <a:ln w="12700">
            <a:solidFill>
              <a:srgbClr val="E0E5EA"/>
            </a:solidFill>
          </a:ln>
        </p:spPr>
        <p:txBody>
          <a:bodyPr/>
          <a:lstStyle/>
          <a:p/>
        </p:txBody>
      </p:sp>
      <p:sp>
        <p:nvSpPr>
          <p:cNvPr id="10" name="Line 10"/>
          <p:cNvSpPr/>
          <p:nvPr/>
        </p:nvSpPr>
        <p:spPr>
          <a:xfrm>
            <a:off x="781030" y="2724150"/>
            <a:ext cx="10096248" cy="0"/>
          </a:xfrm>
          <a:prstGeom prst="line">
            <a:avLst/>
          </a:prstGeom>
          <a:noFill/>
          <a:ln w="12700">
            <a:solidFill>
              <a:srgbClr val="1D2630"/>
            </a:solidFill>
          </a:ln>
        </p:spPr>
        <p:txBody>
          <a:bodyPr/>
          <a:lstStyle/>
          <a:p/>
        </p:txBody>
      </p:sp>
      <p:sp>
        <p:nvSpPr>
          <p:cNvPr id="11" name="Line 11"/>
          <p:cNvSpPr/>
          <p:nvPr/>
        </p:nvSpPr>
        <p:spPr>
          <a:xfrm>
            <a:off x="781030" y="2724150"/>
            <a:ext cx="0" cy="2895600"/>
          </a:xfrm>
          <a:prstGeom prst="line">
            <a:avLst/>
          </a:prstGeom>
          <a:noFill/>
          <a:ln w="12700">
            <a:solidFill>
              <a:srgbClr val="E0E5EA"/>
            </a:solidFill>
          </a:ln>
        </p:spPr>
        <p:txBody>
          <a:bodyPr/>
          <a:lstStyle/>
          <a:p/>
        </p:txBody>
      </p:sp>
      <p:sp>
        <p:nvSpPr>
          <p:cNvPr id="12" name="Line 12"/>
          <p:cNvSpPr/>
          <p:nvPr/>
        </p:nvSpPr>
        <p:spPr>
          <a:xfrm>
            <a:off x="10877278" y="2724150"/>
            <a:ext cx="0" cy="2895600"/>
          </a:xfrm>
          <a:prstGeom prst="line">
            <a:avLst/>
          </a:prstGeom>
          <a:noFill/>
          <a:ln w="12700">
            <a:solidFill>
              <a:srgbClr val="E0E5EA"/>
            </a:solidFill>
          </a:ln>
        </p:spPr>
        <p:txBody>
          <a:bodyPr/>
          <a:lstStyle/>
          <a:p/>
        </p:txBody>
      </p:sp>
      <p:sp>
        <p:nvSpPr>
          <p:cNvPr id="13" name="Line 13"/>
          <p:cNvSpPr/>
          <p:nvPr/>
        </p:nvSpPr>
        <p:spPr>
          <a:xfrm>
            <a:off x="685783" y="6248400"/>
            <a:ext cx="2857429" cy="0"/>
          </a:xfrm>
          <a:prstGeom prst="line">
            <a:avLst/>
          </a:prstGeom>
          <a:noFill/>
          <a:ln w="12700">
            <a:solidFill>
              <a:srgbClr val="D6DDE3"/>
            </a:solidFill>
          </a:ln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857229" y="542925"/>
            <a:ext cx="1428714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60">
                <a:solidFill>
                  <a:srgbClr val="5F6D7A"/>
                </a:solidFill>
                <a:latin typeface="PingFang SC"/>
                <a:ea typeface="PingFang SC"/>
                <a:cs typeface="PingFang SC"/>
              </a:rPr>
              <a:t>ALGORITHM MAP</a:t>
            </a:r>
            <a:endParaRPr lang="zh-CN" sz="760"/>
          </a:p>
        </p:txBody>
      </p:sp>
      <p:sp>
        <p:nvSpPr>
          <p:cNvPr id="15" name="TextBox 15"/>
          <p:cNvSpPr txBox="1"/>
          <p:nvPr/>
        </p:nvSpPr>
        <p:spPr>
          <a:xfrm>
            <a:off x="685783" y="866775"/>
            <a:ext cx="5905352" cy="457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70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算法选择与三个任务——对应。</a:t>
            </a:r>
            <a:endParaRPr lang="zh-CN" sz="2700"/>
          </a:p>
        </p:txBody>
      </p:sp>
      <p:sp>
        <p:nvSpPr>
          <p:cNvPr id="16" name="TextBox 16"/>
          <p:cNvSpPr txBox="1"/>
          <p:nvPr/>
        </p:nvSpPr>
        <p:spPr>
          <a:xfrm>
            <a:off x="695308" y="1895475"/>
            <a:ext cx="6191095" cy="4381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6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线性规划问题交给原始–对偶内点法；带 0–1</a:t>
            </a:r>
            <a:endParaRPr lang="zh-CN" sz="1160"/>
          </a:p>
          <a:p>
            <a:pPr algn="left"/>
            <a:r>
              <a:rPr lang="zh-CN" sz="116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选择和空间冲突的布局问题先连续松弛，再用罚函数与投影梯度处理。</a:t>
            </a:r>
            <a:endParaRPr lang="zh-CN" sz="1160"/>
          </a:p>
        </p:txBody>
      </p:sp>
      <p:sp>
        <p:nvSpPr>
          <p:cNvPr id="17" name="TextBox 17"/>
          <p:cNvSpPr txBox="1"/>
          <p:nvPr/>
        </p:nvSpPr>
        <p:spPr>
          <a:xfrm>
            <a:off x="1028674" y="2876550"/>
            <a:ext cx="571486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8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任务</a:t>
            </a:r>
            <a:endParaRPr lang="zh-CN" sz="880"/>
          </a:p>
        </p:txBody>
      </p:sp>
      <p:sp>
        <p:nvSpPr>
          <p:cNvPr id="18" name="TextBox 18"/>
          <p:cNvSpPr txBox="1"/>
          <p:nvPr/>
        </p:nvSpPr>
        <p:spPr>
          <a:xfrm>
            <a:off x="2266893" y="2876550"/>
            <a:ext cx="666733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8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问题</a:t>
            </a:r>
            <a:endParaRPr lang="zh-CN" sz="880"/>
          </a:p>
        </p:txBody>
      </p:sp>
      <p:sp>
        <p:nvSpPr>
          <p:cNvPr id="19" name="TextBox 19"/>
          <p:cNvSpPr txBox="1"/>
          <p:nvPr/>
        </p:nvSpPr>
        <p:spPr>
          <a:xfrm>
            <a:off x="4095648" y="2876550"/>
            <a:ext cx="761981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8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算法</a:t>
            </a:r>
            <a:endParaRPr lang="zh-CN" sz="880"/>
          </a:p>
        </p:txBody>
      </p:sp>
      <p:sp>
        <p:nvSpPr>
          <p:cNvPr id="20" name="TextBox 20"/>
          <p:cNvSpPr txBox="1"/>
          <p:nvPr/>
        </p:nvSpPr>
        <p:spPr>
          <a:xfrm>
            <a:off x="7334067" y="2876550"/>
            <a:ext cx="1333467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8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为什么合适</a:t>
            </a:r>
            <a:endParaRPr lang="zh-CN" sz="880"/>
          </a:p>
        </p:txBody>
      </p:sp>
      <p:sp>
        <p:nvSpPr>
          <p:cNvPr id="21" name="TextBox 21"/>
          <p:cNvSpPr txBox="1"/>
          <p:nvPr/>
        </p:nvSpPr>
        <p:spPr>
          <a:xfrm>
            <a:off x="1028674" y="3429000"/>
            <a:ext cx="666733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40" b="1">
                <a:solidFill>
                  <a:srgbClr val="2276FF"/>
                </a:solidFill>
                <a:latin typeface="PingFang SC"/>
                <a:ea typeface="PingFang SC"/>
                <a:cs typeface="PingFang SC"/>
              </a:rPr>
              <a:t>任务 1</a:t>
            </a:r>
            <a:endParaRPr lang="zh-CN" sz="940"/>
          </a:p>
        </p:txBody>
      </p:sp>
      <p:sp>
        <p:nvSpPr>
          <p:cNvPr id="22" name="TextBox 22"/>
          <p:cNvSpPr txBox="1"/>
          <p:nvPr/>
        </p:nvSpPr>
        <p:spPr>
          <a:xfrm>
            <a:off x="2266893" y="3429000"/>
            <a:ext cx="1333467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4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AGV 任务分配</a:t>
            </a:r>
            <a:endParaRPr lang="zh-CN" sz="940"/>
          </a:p>
        </p:txBody>
      </p:sp>
      <p:sp>
        <p:nvSpPr>
          <p:cNvPr id="23" name="TextBox 23"/>
          <p:cNvSpPr txBox="1"/>
          <p:nvPr/>
        </p:nvSpPr>
        <p:spPr>
          <a:xfrm>
            <a:off x="4095648" y="3371850"/>
            <a:ext cx="2476438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40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原始–对偶内点法 + 整数恢复</a:t>
            </a:r>
            <a:endParaRPr lang="zh-CN" sz="940"/>
          </a:p>
        </p:txBody>
      </p:sp>
      <p:sp>
        <p:nvSpPr>
          <p:cNvPr id="24" name="TextBox 24"/>
          <p:cNvSpPr txBox="1"/>
          <p:nvPr/>
        </p:nvSpPr>
        <p:spPr>
          <a:xfrm>
            <a:off x="7334067" y="3352800"/>
            <a:ext cx="3428914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4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线性目标和线性约束，最终需要可执行匹配</a:t>
            </a:r>
            <a:endParaRPr lang="zh-CN" sz="940"/>
          </a:p>
        </p:txBody>
      </p:sp>
      <p:sp>
        <p:nvSpPr>
          <p:cNvPr id="25" name="TextBox 25"/>
          <p:cNvSpPr txBox="1"/>
          <p:nvPr/>
        </p:nvSpPr>
        <p:spPr>
          <a:xfrm>
            <a:off x="1028674" y="4248150"/>
            <a:ext cx="666733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40" b="1">
                <a:solidFill>
                  <a:srgbClr val="35A66A"/>
                </a:solidFill>
                <a:latin typeface="PingFang SC"/>
                <a:ea typeface="PingFang SC"/>
                <a:cs typeface="PingFang SC"/>
              </a:rPr>
              <a:t>任务 2</a:t>
            </a:r>
            <a:endParaRPr lang="zh-CN" sz="940"/>
          </a:p>
        </p:txBody>
      </p:sp>
      <p:sp>
        <p:nvSpPr>
          <p:cNvPr id="26" name="TextBox 26"/>
          <p:cNvSpPr txBox="1"/>
          <p:nvPr/>
        </p:nvSpPr>
        <p:spPr>
          <a:xfrm>
            <a:off x="2266893" y="4248150"/>
            <a:ext cx="1142971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4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动态分区</a:t>
            </a:r>
            <a:endParaRPr lang="zh-CN" sz="940"/>
          </a:p>
        </p:txBody>
      </p:sp>
      <p:sp>
        <p:nvSpPr>
          <p:cNvPr id="27" name="TextBox 27"/>
          <p:cNvSpPr txBox="1"/>
          <p:nvPr/>
        </p:nvSpPr>
        <p:spPr>
          <a:xfrm>
            <a:off x="4095648" y="4191000"/>
            <a:ext cx="1809705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40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原始–对偶内点法</a:t>
            </a:r>
            <a:endParaRPr lang="zh-CN" sz="940"/>
          </a:p>
        </p:txBody>
      </p:sp>
      <p:sp>
        <p:nvSpPr>
          <p:cNvPr id="28" name="TextBox 28"/>
          <p:cNvSpPr txBox="1"/>
          <p:nvPr/>
        </p:nvSpPr>
        <p:spPr>
          <a:xfrm>
            <a:off x="7334067" y="4171950"/>
            <a:ext cx="2666933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4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货量流向模型是标准线性规划</a:t>
            </a:r>
            <a:endParaRPr lang="zh-CN" sz="940"/>
          </a:p>
        </p:txBody>
      </p:sp>
      <p:sp>
        <p:nvSpPr>
          <p:cNvPr id="29" name="TextBox 29"/>
          <p:cNvSpPr txBox="1"/>
          <p:nvPr/>
        </p:nvSpPr>
        <p:spPr>
          <a:xfrm>
            <a:off x="1028674" y="5067300"/>
            <a:ext cx="666733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40" b="1">
                <a:solidFill>
                  <a:srgbClr val="F25E4B"/>
                </a:solidFill>
                <a:latin typeface="PingFang SC"/>
                <a:ea typeface="PingFang SC"/>
                <a:cs typeface="PingFang SC"/>
              </a:rPr>
              <a:t>任务 3</a:t>
            </a:r>
            <a:endParaRPr lang="zh-CN" sz="940"/>
          </a:p>
        </p:txBody>
      </p:sp>
      <p:sp>
        <p:nvSpPr>
          <p:cNvPr id="30" name="TextBox 30"/>
          <p:cNvSpPr txBox="1"/>
          <p:nvPr/>
        </p:nvSpPr>
        <p:spPr>
          <a:xfrm>
            <a:off x="2266893" y="5067300"/>
            <a:ext cx="1619210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4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重点缓存货位选择</a:t>
            </a:r>
            <a:endParaRPr lang="zh-CN" sz="940"/>
          </a:p>
        </p:txBody>
      </p:sp>
      <p:sp>
        <p:nvSpPr>
          <p:cNvPr id="31" name="TextBox 31"/>
          <p:cNvSpPr txBox="1"/>
          <p:nvPr/>
        </p:nvSpPr>
        <p:spPr>
          <a:xfrm>
            <a:off x="4095648" y="5010150"/>
            <a:ext cx="3333667" cy="2095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40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二次罚函数法 + 投影 BB 梯度法 + 离散修复</a:t>
            </a:r>
            <a:endParaRPr lang="zh-CN" sz="940"/>
          </a:p>
        </p:txBody>
      </p:sp>
      <p:sp>
        <p:nvSpPr>
          <p:cNvPr id="32" name="TextBox 32"/>
          <p:cNvSpPr txBox="1"/>
          <p:nvPr/>
        </p:nvSpPr>
        <p:spPr>
          <a:xfrm>
            <a:off x="7334067" y="4991100"/>
            <a:ext cx="3143171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94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先求连续松弛，再满足数量和间距约束</a:t>
            </a:r>
            <a:endParaRPr lang="zh-CN" sz="940"/>
          </a:p>
        </p:txBody>
      </p:sp>
      <p:sp>
        <p:nvSpPr>
          <p:cNvPr id="33" name="TextBox 33"/>
          <p:cNvSpPr txBox="1"/>
          <p:nvPr/>
        </p:nvSpPr>
        <p:spPr>
          <a:xfrm>
            <a:off x="685783" y="6419850"/>
            <a:ext cx="3428914" cy="1524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8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AGV 仓储优化课程项目 · 本地 CSV 数据 · Python 自实现算法</a:t>
            </a:r>
            <a:endParaRPr lang="zh-CN" sz="680"/>
          </a:p>
        </p:txBody>
      </p:sp>
      <p:sp>
        <p:nvSpPr>
          <p:cNvPr id="34" name="TextBox 34"/>
          <p:cNvSpPr txBox="1"/>
          <p:nvPr/>
        </p:nvSpPr>
        <p:spPr>
          <a:xfrm>
            <a:off x="11372566" y="6419850"/>
            <a:ext cx="304792" cy="1524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20">
                <a:solidFill>
                  <a:srgbClr val="68717D"/>
                </a:solidFill>
                <a:latin typeface="PingFang SC"/>
                <a:ea typeface="PingFang SC"/>
                <a:cs typeface="PingFang SC"/>
              </a:rPr>
              <a:t>26</a:t>
            </a:r>
            <a:endParaRPr lang="zh-CN" sz="72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685783" y="571500"/>
            <a:ext cx="66673" cy="66675"/>
          </a:xfrm>
          <a:prstGeom prst="rect">
            <a:avLst/>
          </a:prstGeom>
          <a:solidFill>
            <a:srgbClr val="101418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1047724" y="2857500"/>
            <a:ext cx="2666933" cy="1809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EC"/>
            </a:solidFill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4476638" y="2857500"/>
            <a:ext cx="2666933" cy="1809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EC"/>
            </a:solidFill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7905552" y="2857500"/>
            <a:ext cx="2666933" cy="180975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7EC"/>
            </a:solidFill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1809705" y="5162550"/>
            <a:ext cx="8096048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F1"/>
            </a:solidFill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685783" y="6248400"/>
            <a:ext cx="2857429" cy="9525"/>
          </a:xfrm>
          <a:prstGeom prst="rect">
            <a:avLst/>
          </a:prstGeom>
          <a:solidFill>
            <a:srgbClr val="D6DDE3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1047724" y="2857500"/>
            <a:ext cx="2666933" cy="57150"/>
          </a:xfrm>
          <a:prstGeom prst="rect">
            <a:avLst/>
          </a:prstGeom>
          <a:solidFill>
            <a:srgbClr val="227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4476638" y="2857500"/>
            <a:ext cx="2666933" cy="57150"/>
          </a:xfrm>
          <a:prstGeom prst="rect">
            <a:avLst/>
          </a:prstGeom>
          <a:solidFill>
            <a:srgbClr val="35A66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7905552" y="2857500"/>
            <a:ext cx="2666933" cy="57150"/>
          </a:xfrm>
          <a:prstGeom prst="rect">
            <a:avLst/>
          </a:prstGeom>
          <a:solidFill>
            <a:srgbClr val="F25E4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1809705" y="5162550"/>
            <a:ext cx="47624" cy="6858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857229" y="542925"/>
            <a:ext cx="1000100" cy="1619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40" b="1">
                <a:solidFill>
                  <a:srgbClr val="4E5B67"/>
                </a:solidFill>
                <a:latin typeface="PingFang SC"/>
                <a:ea typeface="PingFang SC"/>
                <a:cs typeface="PingFang SC"/>
              </a:rPr>
              <a:t>ANALYSIS</a:t>
            </a:r>
            <a:endParaRPr lang="zh-CN" sz="840"/>
          </a:p>
        </p:txBody>
      </p:sp>
      <p:sp>
        <p:nvSpPr>
          <p:cNvPr id="13" name="TextBox 13"/>
          <p:cNvSpPr txBox="1"/>
          <p:nvPr/>
        </p:nvSpPr>
        <p:spPr>
          <a:xfrm>
            <a:off x="685783" y="895350"/>
            <a:ext cx="8477038" cy="4762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72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综合分析：  三个任务分别优化仓库运行的不同层面。</a:t>
            </a:r>
            <a:endParaRPr lang="zh-CN" sz="2720"/>
          </a:p>
        </p:txBody>
      </p:sp>
      <p:sp>
        <p:nvSpPr>
          <p:cNvPr id="14" name="TextBox 14"/>
          <p:cNvSpPr txBox="1"/>
          <p:nvPr/>
        </p:nvSpPr>
        <p:spPr>
          <a:xfrm>
            <a:off x="704832" y="1914525"/>
            <a:ext cx="6095848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4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它们不是互相重复，而是从当天调度、区域组织到长期布局逐层递进。</a:t>
            </a:r>
            <a:endParaRPr lang="zh-CN" sz="1140"/>
          </a:p>
        </p:txBody>
      </p:sp>
      <p:sp>
        <p:nvSpPr>
          <p:cNvPr id="15" name="TextBox 15"/>
          <p:cNvSpPr txBox="1"/>
          <p:nvPr/>
        </p:nvSpPr>
        <p:spPr>
          <a:xfrm>
            <a:off x="1257269" y="3162300"/>
            <a:ext cx="838179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80" b="1">
                <a:solidFill>
                  <a:srgbClr val="2276FF"/>
                </a:solidFill>
                <a:latin typeface="PingFang SC"/>
                <a:ea typeface="PingFang SC"/>
                <a:cs typeface="PingFang SC"/>
              </a:rPr>
              <a:t>任务 1</a:t>
            </a:r>
            <a:endParaRPr lang="zh-CN" sz="1480"/>
          </a:p>
        </p:txBody>
      </p:sp>
      <p:sp>
        <p:nvSpPr>
          <p:cNvPr id="16" name="TextBox 16"/>
          <p:cNvSpPr txBox="1"/>
          <p:nvPr/>
        </p:nvSpPr>
        <p:spPr>
          <a:xfrm>
            <a:off x="1257269" y="3562350"/>
            <a:ext cx="2333567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5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降低单次搬运路线成本</a:t>
            </a:r>
            <a:endParaRPr lang="zh-CN" sz="1350"/>
          </a:p>
        </p:txBody>
      </p:sp>
      <p:sp>
        <p:nvSpPr>
          <p:cNvPr id="17" name="TextBox 17"/>
          <p:cNvSpPr txBox="1"/>
          <p:nvPr/>
        </p:nvSpPr>
        <p:spPr>
          <a:xfrm>
            <a:off x="1257269" y="4171950"/>
            <a:ext cx="1809705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7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适合解释 AGV 调度效率</a:t>
            </a:r>
            <a:endParaRPr lang="zh-CN" sz="770"/>
          </a:p>
        </p:txBody>
      </p:sp>
      <p:sp>
        <p:nvSpPr>
          <p:cNvPr id="18" name="TextBox 18"/>
          <p:cNvSpPr txBox="1"/>
          <p:nvPr/>
        </p:nvSpPr>
        <p:spPr>
          <a:xfrm>
            <a:off x="4686183" y="3162300"/>
            <a:ext cx="838179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80" b="1">
                <a:solidFill>
                  <a:srgbClr val="35A66A"/>
                </a:solidFill>
                <a:latin typeface="PingFang SC"/>
                <a:ea typeface="PingFang SC"/>
                <a:cs typeface="PingFang SC"/>
              </a:rPr>
              <a:t>任务 2</a:t>
            </a:r>
            <a:endParaRPr lang="zh-CN" sz="1480"/>
          </a:p>
        </p:txBody>
      </p:sp>
      <p:sp>
        <p:nvSpPr>
          <p:cNvPr id="19" name="TextBox 19"/>
          <p:cNvSpPr txBox="1"/>
          <p:nvPr/>
        </p:nvSpPr>
        <p:spPr>
          <a:xfrm>
            <a:off x="4686183" y="3562350"/>
            <a:ext cx="2266893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5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平衡工位服务货量与距</a:t>
            </a:r>
            <a:endParaRPr lang="zh-CN" sz="1350"/>
          </a:p>
        </p:txBody>
      </p:sp>
      <p:sp>
        <p:nvSpPr>
          <p:cNvPr id="20" name="TextBox 20"/>
          <p:cNvSpPr txBox="1"/>
          <p:nvPr/>
        </p:nvSpPr>
        <p:spPr>
          <a:xfrm>
            <a:off x="4686183" y="3800475"/>
            <a:ext cx="304792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5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离</a:t>
            </a:r>
            <a:endParaRPr lang="zh-CN" sz="1350"/>
          </a:p>
        </p:txBody>
      </p:sp>
      <p:sp>
        <p:nvSpPr>
          <p:cNvPr id="21" name="TextBox 21"/>
          <p:cNvSpPr txBox="1"/>
          <p:nvPr/>
        </p:nvSpPr>
        <p:spPr>
          <a:xfrm>
            <a:off x="4686183" y="4171950"/>
            <a:ext cx="1809705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7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适合解释仓库区域组织</a:t>
            </a:r>
            <a:endParaRPr lang="zh-CN" sz="770"/>
          </a:p>
        </p:txBody>
      </p:sp>
      <p:sp>
        <p:nvSpPr>
          <p:cNvPr id="22" name="TextBox 22"/>
          <p:cNvSpPr txBox="1"/>
          <p:nvPr/>
        </p:nvSpPr>
        <p:spPr>
          <a:xfrm>
            <a:off x="8115097" y="3162300"/>
            <a:ext cx="838179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480" b="1">
                <a:solidFill>
                  <a:srgbClr val="F25E4B"/>
                </a:solidFill>
                <a:latin typeface="PingFang SC"/>
                <a:ea typeface="PingFang SC"/>
                <a:cs typeface="PingFang SC"/>
              </a:rPr>
              <a:t>任务 3</a:t>
            </a:r>
            <a:endParaRPr lang="zh-CN" sz="1480"/>
          </a:p>
        </p:txBody>
      </p:sp>
      <p:sp>
        <p:nvSpPr>
          <p:cNvPr id="23" name="TextBox 23"/>
          <p:cNvSpPr txBox="1"/>
          <p:nvPr/>
        </p:nvSpPr>
        <p:spPr>
          <a:xfrm>
            <a:off x="8115097" y="3562350"/>
            <a:ext cx="2333567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5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选择分散的重点缓存点</a:t>
            </a:r>
            <a:endParaRPr lang="zh-CN" sz="1350"/>
          </a:p>
        </p:txBody>
      </p:sp>
      <p:sp>
        <p:nvSpPr>
          <p:cNvPr id="24" name="TextBox 24"/>
          <p:cNvSpPr txBox="1"/>
          <p:nvPr/>
        </p:nvSpPr>
        <p:spPr>
          <a:xfrm>
            <a:off x="8115097" y="4171950"/>
            <a:ext cx="2000200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7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适合解释布局设计与拥堵缓解</a:t>
            </a:r>
            <a:endParaRPr lang="zh-CN" sz="770"/>
          </a:p>
        </p:txBody>
      </p:sp>
      <p:sp>
        <p:nvSpPr>
          <p:cNvPr id="25" name="TextBox 25"/>
          <p:cNvSpPr txBox="1"/>
          <p:nvPr/>
        </p:nvSpPr>
        <p:spPr>
          <a:xfrm>
            <a:off x="1981150" y="5334000"/>
            <a:ext cx="952476" cy="1905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40" b="1">
                <a:solidFill>
                  <a:srgbClr val="101418"/>
                </a:solidFill>
                <a:latin typeface="PingFang SC"/>
                <a:ea typeface="PingFang SC"/>
                <a:cs typeface="PingFang SC"/>
              </a:rPr>
              <a:t>结果口径</a:t>
            </a:r>
            <a:endParaRPr lang="zh-CN" sz="1140"/>
          </a:p>
        </p:txBody>
      </p:sp>
      <p:sp>
        <p:nvSpPr>
          <p:cNvPr id="26" name="TextBox 26"/>
          <p:cNvSpPr txBox="1"/>
          <p:nvPr/>
        </p:nvSpPr>
        <p:spPr>
          <a:xfrm>
            <a:off x="1981150" y="5619750"/>
            <a:ext cx="6572086" cy="1714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4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本实验关注独立建模与自实现算法的可复现闭环： 每个数值结果都来自同一套数据读取、模型生成和求解流程。</a:t>
            </a:r>
            <a:endParaRPr lang="zh-CN" sz="740"/>
          </a:p>
        </p:txBody>
      </p:sp>
      <p:sp>
        <p:nvSpPr>
          <p:cNvPr id="27" name="TextBox 27"/>
          <p:cNvSpPr txBox="1"/>
          <p:nvPr/>
        </p:nvSpPr>
        <p:spPr>
          <a:xfrm>
            <a:off x="685783" y="6448425"/>
            <a:ext cx="3428914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5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AGV 仓储优化课程项目 · 本地 CSV 数据 · Python 自实现算法</a:t>
            </a:r>
            <a:endParaRPr lang="zh-CN" sz="650"/>
          </a:p>
        </p:txBody>
      </p:sp>
      <p:sp>
        <p:nvSpPr>
          <p:cNvPr id="28" name="TextBox 28"/>
          <p:cNvSpPr txBox="1"/>
          <p:nvPr/>
        </p:nvSpPr>
        <p:spPr>
          <a:xfrm>
            <a:off x="11372566" y="6429375"/>
            <a:ext cx="228594" cy="1333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780">
                <a:solidFill>
                  <a:srgbClr val="6A7784"/>
                </a:solidFill>
                <a:latin typeface="PingFang SC"/>
                <a:ea typeface="PingFang SC"/>
                <a:cs typeface="PingFang SC"/>
              </a:rPr>
              <a:t>27</a:t>
            </a:r>
            <a:endParaRPr lang="zh-CN" sz="78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8448464" y="3133725"/>
            <a:ext cx="2390715" cy="1819275"/>
          </a:xfrm>
          <a:prstGeom prst="rect">
            <a:avLst/>
          </a:prstGeom>
          <a:solidFill>
            <a:srgbClr val="101418"/>
          </a:solidFill>
          <a:ln w="12700">
            <a:solidFill>
              <a:srgbClr val="2B3B4C"/>
            </a:solidFill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8505612" y="3238500"/>
            <a:ext cx="2228794" cy="1609725"/>
          </a:xfrm>
          <a:prstGeom prst="rect">
            <a:avLst/>
          </a:prstGeom>
          <a:solidFill>
            <a:srgbClr val="121922"/>
          </a:solidFill>
          <a:ln w="12700">
            <a:solidFill>
              <a:srgbClr val="233242"/>
            </a:solidFill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8543711" y="3295650"/>
            <a:ext cx="2190695" cy="1524000"/>
          </a:xfrm>
          <a:prstGeom prst="rect">
            <a:avLst/>
          </a:prstGeom>
          <a:solidFill>
            <a:srgbClr val="1C2733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Line 5"/>
          <p:cNvSpPr/>
          <p:nvPr/>
        </p:nvSpPr>
        <p:spPr>
          <a:xfrm>
            <a:off x="8543711" y="3295650"/>
            <a:ext cx="0" cy="152400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6" name="Line 6"/>
          <p:cNvSpPr/>
          <p:nvPr/>
        </p:nvSpPr>
        <p:spPr>
          <a:xfrm>
            <a:off x="8619909" y="3295650"/>
            <a:ext cx="0" cy="152400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7" name="Line 7"/>
          <p:cNvSpPr/>
          <p:nvPr/>
        </p:nvSpPr>
        <p:spPr>
          <a:xfrm>
            <a:off x="8696108" y="3295650"/>
            <a:ext cx="0" cy="152400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8" name="Line 8"/>
          <p:cNvSpPr/>
          <p:nvPr/>
        </p:nvSpPr>
        <p:spPr>
          <a:xfrm>
            <a:off x="8772306" y="3295650"/>
            <a:ext cx="0" cy="152400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9" name="Line 9"/>
          <p:cNvSpPr/>
          <p:nvPr/>
        </p:nvSpPr>
        <p:spPr>
          <a:xfrm>
            <a:off x="8848504" y="3295650"/>
            <a:ext cx="0" cy="152400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10" name="Line 10"/>
          <p:cNvSpPr/>
          <p:nvPr/>
        </p:nvSpPr>
        <p:spPr>
          <a:xfrm>
            <a:off x="8924702" y="3295650"/>
            <a:ext cx="0" cy="152400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11" name="Line 11"/>
          <p:cNvSpPr/>
          <p:nvPr/>
        </p:nvSpPr>
        <p:spPr>
          <a:xfrm>
            <a:off x="9000900" y="3295650"/>
            <a:ext cx="0" cy="152400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12" name="Line 12"/>
          <p:cNvSpPr/>
          <p:nvPr/>
        </p:nvSpPr>
        <p:spPr>
          <a:xfrm>
            <a:off x="9077098" y="3295650"/>
            <a:ext cx="0" cy="152400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13" name="Line 13"/>
          <p:cNvSpPr/>
          <p:nvPr/>
        </p:nvSpPr>
        <p:spPr>
          <a:xfrm>
            <a:off x="9153296" y="3295650"/>
            <a:ext cx="0" cy="152400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14" name="Line 14"/>
          <p:cNvSpPr/>
          <p:nvPr/>
        </p:nvSpPr>
        <p:spPr>
          <a:xfrm>
            <a:off x="9229494" y="3295650"/>
            <a:ext cx="0" cy="152400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15" name="Line 15"/>
          <p:cNvSpPr/>
          <p:nvPr/>
        </p:nvSpPr>
        <p:spPr>
          <a:xfrm>
            <a:off x="9305692" y="3295650"/>
            <a:ext cx="0" cy="152400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16" name="Line 16"/>
          <p:cNvSpPr/>
          <p:nvPr/>
        </p:nvSpPr>
        <p:spPr>
          <a:xfrm>
            <a:off x="9381890" y="3295650"/>
            <a:ext cx="0" cy="152400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17" name="Line 17"/>
          <p:cNvSpPr/>
          <p:nvPr/>
        </p:nvSpPr>
        <p:spPr>
          <a:xfrm>
            <a:off x="9458089" y="3295650"/>
            <a:ext cx="0" cy="152400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18" name="Line 18"/>
          <p:cNvSpPr/>
          <p:nvPr/>
        </p:nvSpPr>
        <p:spPr>
          <a:xfrm>
            <a:off x="9534287" y="3295650"/>
            <a:ext cx="0" cy="152400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>
            <a:off x="9610485" y="3295650"/>
            <a:ext cx="0" cy="152400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20" name="Line 20"/>
          <p:cNvSpPr/>
          <p:nvPr/>
        </p:nvSpPr>
        <p:spPr>
          <a:xfrm>
            <a:off x="9686683" y="3295650"/>
            <a:ext cx="0" cy="152400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>
            <a:off x="9762881" y="3295650"/>
            <a:ext cx="0" cy="152400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22" name="Line 22"/>
          <p:cNvSpPr/>
          <p:nvPr/>
        </p:nvSpPr>
        <p:spPr>
          <a:xfrm>
            <a:off x="9839079" y="3295650"/>
            <a:ext cx="0" cy="152400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23" name="Line 23"/>
          <p:cNvSpPr/>
          <p:nvPr/>
        </p:nvSpPr>
        <p:spPr>
          <a:xfrm>
            <a:off x="9915277" y="3295650"/>
            <a:ext cx="0" cy="152400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24" name="Line 24"/>
          <p:cNvSpPr/>
          <p:nvPr/>
        </p:nvSpPr>
        <p:spPr>
          <a:xfrm>
            <a:off x="9991475" y="3295650"/>
            <a:ext cx="0" cy="152400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10067673" y="3295650"/>
            <a:ext cx="0" cy="152400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10143871" y="3295650"/>
            <a:ext cx="0" cy="152400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>
            <a:off x="10220069" y="3295650"/>
            <a:ext cx="0" cy="152400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>
            <a:off x="10296268" y="3295650"/>
            <a:ext cx="0" cy="152400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>
            <a:off x="10372466" y="3295650"/>
            <a:ext cx="0" cy="152400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>
            <a:off x="10448664" y="3295650"/>
            <a:ext cx="0" cy="152400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10524862" y="3295650"/>
            <a:ext cx="0" cy="152400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10601060" y="3295650"/>
            <a:ext cx="0" cy="152400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>
            <a:off x="10677258" y="3295650"/>
            <a:ext cx="0" cy="152400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10753456" y="3295650"/>
            <a:ext cx="0" cy="152400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>
            <a:off x="8543711" y="3295650"/>
            <a:ext cx="2209745" cy="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>
            <a:off x="8543711" y="3371850"/>
            <a:ext cx="2209745" cy="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8543711" y="3448050"/>
            <a:ext cx="2209745" cy="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8543711" y="3524250"/>
            <a:ext cx="2209745" cy="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8543711" y="3600450"/>
            <a:ext cx="2209745" cy="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8543711" y="3676650"/>
            <a:ext cx="2209745" cy="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>
            <a:off x="8543711" y="3752850"/>
            <a:ext cx="2209745" cy="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>
            <a:off x="8543711" y="3829050"/>
            <a:ext cx="2209745" cy="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>
            <a:off x="8543711" y="3905250"/>
            <a:ext cx="2209745" cy="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44" name="Line 44"/>
          <p:cNvSpPr/>
          <p:nvPr/>
        </p:nvSpPr>
        <p:spPr>
          <a:xfrm>
            <a:off x="8543711" y="3981450"/>
            <a:ext cx="2209745" cy="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>
            <a:off x="8543711" y="4057650"/>
            <a:ext cx="2209745" cy="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>
            <a:off x="8543711" y="4133850"/>
            <a:ext cx="2209745" cy="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>
            <a:off x="8543711" y="4210050"/>
            <a:ext cx="2209745" cy="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>
            <a:off x="8543711" y="4286250"/>
            <a:ext cx="2209745" cy="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>
            <a:off x="8543711" y="4362450"/>
            <a:ext cx="2209745" cy="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>
            <a:off x="8543711" y="4438650"/>
            <a:ext cx="2209745" cy="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>
            <a:off x="8543711" y="4514850"/>
            <a:ext cx="2209745" cy="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52" name="Line 52"/>
          <p:cNvSpPr/>
          <p:nvPr/>
        </p:nvSpPr>
        <p:spPr>
          <a:xfrm>
            <a:off x="8543711" y="4591050"/>
            <a:ext cx="2209745" cy="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>
            <a:off x="8543711" y="4667250"/>
            <a:ext cx="2209745" cy="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54" name="Line 54"/>
          <p:cNvSpPr/>
          <p:nvPr/>
        </p:nvSpPr>
        <p:spPr>
          <a:xfrm>
            <a:off x="8543711" y="4743450"/>
            <a:ext cx="2209745" cy="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55" name="Line 55"/>
          <p:cNvSpPr/>
          <p:nvPr/>
        </p:nvSpPr>
        <p:spPr>
          <a:xfrm>
            <a:off x="8543711" y="4819650"/>
            <a:ext cx="2209745" cy="0"/>
          </a:xfrm>
          <a:prstGeom prst="line">
            <a:avLst/>
          </a:prstGeom>
          <a:noFill/>
          <a:ln w="12700">
            <a:solidFill>
              <a:srgbClr val="2B3948"/>
            </a:solidFill>
          </a:ln>
        </p:spPr>
        <p:txBody>
          <a:bodyPr/>
          <a:lstStyle/>
          <a:p/>
        </p:txBody>
      </p:sp>
      <p:sp>
        <p:nvSpPr>
          <p:cNvPr id="56" name="Ellipse 56"/>
          <p:cNvSpPr/>
          <p:nvPr/>
        </p:nvSpPr>
        <p:spPr>
          <a:xfrm>
            <a:off x="8900890" y="3900488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Ellipse 57"/>
          <p:cNvSpPr/>
          <p:nvPr/>
        </p:nvSpPr>
        <p:spPr>
          <a:xfrm>
            <a:off x="9110435" y="3900488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Ellipse 58"/>
          <p:cNvSpPr/>
          <p:nvPr/>
        </p:nvSpPr>
        <p:spPr>
          <a:xfrm>
            <a:off x="9319979" y="3900488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Ellipse 59"/>
          <p:cNvSpPr/>
          <p:nvPr/>
        </p:nvSpPr>
        <p:spPr>
          <a:xfrm>
            <a:off x="9529524" y="3900488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Ellipse 60"/>
          <p:cNvSpPr/>
          <p:nvPr/>
        </p:nvSpPr>
        <p:spPr>
          <a:xfrm>
            <a:off x="9739069" y="3900488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Ellipse 61"/>
          <p:cNvSpPr/>
          <p:nvPr/>
        </p:nvSpPr>
        <p:spPr>
          <a:xfrm>
            <a:off x="8900890" y="4100512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Ellipse 62"/>
          <p:cNvSpPr/>
          <p:nvPr/>
        </p:nvSpPr>
        <p:spPr>
          <a:xfrm>
            <a:off x="9110435" y="4100512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Ellipse 63"/>
          <p:cNvSpPr/>
          <p:nvPr/>
        </p:nvSpPr>
        <p:spPr>
          <a:xfrm>
            <a:off x="9319979" y="4100512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Ellipse 64"/>
          <p:cNvSpPr/>
          <p:nvPr/>
        </p:nvSpPr>
        <p:spPr>
          <a:xfrm>
            <a:off x="9529524" y="4100512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Ellipse 65"/>
          <p:cNvSpPr/>
          <p:nvPr/>
        </p:nvSpPr>
        <p:spPr>
          <a:xfrm>
            <a:off x="9739069" y="4100512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Ellipse 66"/>
          <p:cNvSpPr/>
          <p:nvPr/>
        </p:nvSpPr>
        <p:spPr>
          <a:xfrm>
            <a:off x="8900890" y="4157662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Ellipse 67"/>
          <p:cNvSpPr/>
          <p:nvPr/>
        </p:nvSpPr>
        <p:spPr>
          <a:xfrm>
            <a:off x="9110435" y="4157662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Ellipse 68"/>
          <p:cNvSpPr/>
          <p:nvPr/>
        </p:nvSpPr>
        <p:spPr>
          <a:xfrm>
            <a:off x="9319979" y="4157662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Ellipse 69"/>
          <p:cNvSpPr/>
          <p:nvPr/>
        </p:nvSpPr>
        <p:spPr>
          <a:xfrm>
            <a:off x="9529524" y="4157662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Ellipse 70"/>
          <p:cNvSpPr/>
          <p:nvPr/>
        </p:nvSpPr>
        <p:spPr>
          <a:xfrm>
            <a:off x="8900890" y="4357688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Ellipse 71"/>
          <p:cNvSpPr/>
          <p:nvPr/>
        </p:nvSpPr>
        <p:spPr>
          <a:xfrm>
            <a:off x="9110435" y="4357688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Ellipse 72"/>
          <p:cNvSpPr/>
          <p:nvPr/>
        </p:nvSpPr>
        <p:spPr>
          <a:xfrm>
            <a:off x="9319979" y="4357688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Ellipse 73"/>
          <p:cNvSpPr/>
          <p:nvPr/>
        </p:nvSpPr>
        <p:spPr>
          <a:xfrm>
            <a:off x="9529524" y="4357688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Ellipse 74"/>
          <p:cNvSpPr/>
          <p:nvPr/>
        </p:nvSpPr>
        <p:spPr>
          <a:xfrm>
            <a:off x="9653346" y="3900488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Ellipse 75"/>
          <p:cNvSpPr/>
          <p:nvPr/>
        </p:nvSpPr>
        <p:spPr>
          <a:xfrm>
            <a:off x="9862891" y="3900488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76" name="Ellipse 76"/>
          <p:cNvSpPr/>
          <p:nvPr/>
        </p:nvSpPr>
        <p:spPr>
          <a:xfrm>
            <a:off x="10072436" y="3900488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Ellipse 77"/>
          <p:cNvSpPr/>
          <p:nvPr/>
        </p:nvSpPr>
        <p:spPr>
          <a:xfrm>
            <a:off x="10281980" y="3900488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Ellipse 78"/>
          <p:cNvSpPr/>
          <p:nvPr/>
        </p:nvSpPr>
        <p:spPr>
          <a:xfrm>
            <a:off x="10491525" y="3900488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79" name="Ellipse 79"/>
          <p:cNvSpPr/>
          <p:nvPr/>
        </p:nvSpPr>
        <p:spPr>
          <a:xfrm>
            <a:off x="10701070" y="3900488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80" name="Ellipse 80"/>
          <p:cNvSpPr/>
          <p:nvPr/>
        </p:nvSpPr>
        <p:spPr>
          <a:xfrm>
            <a:off x="9653346" y="4100512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Ellipse 81"/>
          <p:cNvSpPr/>
          <p:nvPr/>
        </p:nvSpPr>
        <p:spPr>
          <a:xfrm>
            <a:off x="9862891" y="4100512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Ellipse 82"/>
          <p:cNvSpPr/>
          <p:nvPr/>
        </p:nvSpPr>
        <p:spPr>
          <a:xfrm>
            <a:off x="10072436" y="4100512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Ellipse 83"/>
          <p:cNvSpPr/>
          <p:nvPr/>
        </p:nvSpPr>
        <p:spPr>
          <a:xfrm>
            <a:off x="10281980" y="4100512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84" name="Ellipse 84"/>
          <p:cNvSpPr/>
          <p:nvPr/>
        </p:nvSpPr>
        <p:spPr>
          <a:xfrm>
            <a:off x="10491525" y="4100512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Ellipse 85"/>
          <p:cNvSpPr/>
          <p:nvPr/>
        </p:nvSpPr>
        <p:spPr>
          <a:xfrm>
            <a:off x="10701070" y="4100512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Ellipse 86"/>
          <p:cNvSpPr/>
          <p:nvPr/>
        </p:nvSpPr>
        <p:spPr>
          <a:xfrm>
            <a:off x="9653346" y="4157662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87" name="Ellipse 87"/>
          <p:cNvSpPr/>
          <p:nvPr/>
        </p:nvSpPr>
        <p:spPr>
          <a:xfrm>
            <a:off x="9862891" y="4157662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88" name="Ellipse 88"/>
          <p:cNvSpPr/>
          <p:nvPr/>
        </p:nvSpPr>
        <p:spPr>
          <a:xfrm>
            <a:off x="10072436" y="4157662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Ellipse 89"/>
          <p:cNvSpPr/>
          <p:nvPr/>
        </p:nvSpPr>
        <p:spPr>
          <a:xfrm>
            <a:off x="10281980" y="4157662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Ellipse 90"/>
          <p:cNvSpPr/>
          <p:nvPr/>
        </p:nvSpPr>
        <p:spPr>
          <a:xfrm>
            <a:off x="10491525" y="4157662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91" name="Ellipse 91"/>
          <p:cNvSpPr/>
          <p:nvPr/>
        </p:nvSpPr>
        <p:spPr>
          <a:xfrm>
            <a:off x="10701070" y="4157662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Ellipse 92"/>
          <p:cNvSpPr/>
          <p:nvPr/>
        </p:nvSpPr>
        <p:spPr>
          <a:xfrm>
            <a:off x="9653346" y="4357688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93" name="Ellipse 93"/>
          <p:cNvSpPr/>
          <p:nvPr/>
        </p:nvSpPr>
        <p:spPr>
          <a:xfrm>
            <a:off x="9862891" y="4357688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94" name="Ellipse 94"/>
          <p:cNvSpPr/>
          <p:nvPr/>
        </p:nvSpPr>
        <p:spPr>
          <a:xfrm>
            <a:off x="10072436" y="4357688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Ellipse 95"/>
          <p:cNvSpPr/>
          <p:nvPr/>
        </p:nvSpPr>
        <p:spPr>
          <a:xfrm>
            <a:off x="10281980" y="4357688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96" name="Ellipse 96"/>
          <p:cNvSpPr/>
          <p:nvPr/>
        </p:nvSpPr>
        <p:spPr>
          <a:xfrm>
            <a:off x="10491525" y="4357688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97" name="Ellipse 97"/>
          <p:cNvSpPr/>
          <p:nvPr/>
        </p:nvSpPr>
        <p:spPr>
          <a:xfrm>
            <a:off x="10701070" y="4357688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98" name="Ellipse 98"/>
          <p:cNvSpPr/>
          <p:nvPr/>
        </p:nvSpPr>
        <p:spPr>
          <a:xfrm>
            <a:off x="8977088" y="4357688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99" name="Ellipse 99"/>
          <p:cNvSpPr/>
          <p:nvPr/>
        </p:nvSpPr>
        <p:spPr>
          <a:xfrm>
            <a:off x="9186633" y="4357688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" name="Ellipse 100"/>
          <p:cNvSpPr/>
          <p:nvPr/>
        </p:nvSpPr>
        <p:spPr>
          <a:xfrm>
            <a:off x="9396178" y="4357688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Ellipse 101"/>
          <p:cNvSpPr/>
          <p:nvPr/>
        </p:nvSpPr>
        <p:spPr>
          <a:xfrm>
            <a:off x="9605722" y="4357688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Ellipse 102"/>
          <p:cNvSpPr/>
          <p:nvPr/>
        </p:nvSpPr>
        <p:spPr>
          <a:xfrm>
            <a:off x="9815267" y="4357688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Ellipse 103"/>
          <p:cNvSpPr/>
          <p:nvPr/>
        </p:nvSpPr>
        <p:spPr>
          <a:xfrm>
            <a:off x="10024812" y="4357688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Ellipse 104"/>
          <p:cNvSpPr/>
          <p:nvPr/>
        </p:nvSpPr>
        <p:spPr>
          <a:xfrm>
            <a:off x="8977088" y="4557712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Ellipse 105"/>
          <p:cNvSpPr/>
          <p:nvPr/>
        </p:nvSpPr>
        <p:spPr>
          <a:xfrm>
            <a:off x="9186633" y="4557712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" name="Ellipse 106"/>
          <p:cNvSpPr/>
          <p:nvPr/>
        </p:nvSpPr>
        <p:spPr>
          <a:xfrm>
            <a:off x="9396178" y="4557712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Ellipse 107"/>
          <p:cNvSpPr/>
          <p:nvPr/>
        </p:nvSpPr>
        <p:spPr>
          <a:xfrm>
            <a:off x="9605722" y="4557712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" name="Ellipse 108"/>
          <p:cNvSpPr/>
          <p:nvPr/>
        </p:nvSpPr>
        <p:spPr>
          <a:xfrm>
            <a:off x="9815267" y="4557712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" name="Ellipse 109"/>
          <p:cNvSpPr/>
          <p:nvPr/>
        </p:nvSpPr>
        <p:spPr>
          <a:xfrm>
            <a:off x="10024812" y="4557712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" name="Ellipse 110"/>
          <p:cNvSpPr/>
          <p:nvPr/>
        </p:nvSpPr>
        <p:spPr>
          <a:xfrm>
            <a:off x="9662871" y="4357688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" name="Ellipse 111"/>
          <p:cNvSpPr/>
          <p:nvPr/>
        </p:nvSpPr>
        <p:spPr>
          <a:xfrm>
            <a:off x="9872416" y="4357688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Ellipse 112"/>
          <p:cNvSpPr/>
          <p:nvPr/>
        </p:nvSpPr>
        <p:spPr>
          <a:xfrm>
            <a:off x="10081960" y="4357688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" name="Ellipse 113"/>
          <p:cNvSpPr/>
          <p:nvPr/>
        </p:nvSpPr>
        <p:spPr>
          <a:xfrm>
            <a:off x="10291505" y="4357688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" name="Ellipse 114"/>
          <p:cNvSpPr/>
          <p:nvPr/>
        </p:nvSpPr>
        <p:spPr>
          <a:xfrm>
            <a:off x="10501050" y="4357688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" name="Ellipse 115"/>
          <p:cNvSpPr/>
          <p:nvPr/>
        </p:nvSpPr>
        <p:spPr>
          <a:xfrm>
            <a:off x="10710595" y="4357688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" name="Ellipse 116"/>
          <p:cNvSpPr/>
          <p:nvPr/>
        </p:nvSpPr>
        <p:spPr>
          <a:xfrm>
            <a:off x="9662871" y="4557712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" name="Ellipse 117"/>
          <p:cNvSpPr/>
          <p:nvPr/>
        </p:nvSpPr>
        <p:spPr>
          <a:xfrm>
            <a:off x="9872416" y="4557712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" name="Ellipse 118"/>
          <p:cNvSpPr/>
          <p:nvPr/>
        </p:nvSpPr>
        <p:spPr>
          <a:xfrm>
            <a:off x="10081960" y="4557712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" name="Ellipse 119"/>
          <p:cNvSpPr/>
          <p:nvPr/>
        </p:nvSpPr>
        <p:spPr>
          <a:xfrm>
            <a:off x="10291505" y="4557712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" name="Ellipse 120"/>
          <p:cNvSpPr/>
          <p:nvPr/>
        </p:nvSpPr>
        <p:spPr>
          <a:xfrm>
            <a:off x="10501050" y="4557712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" name="Ellipse 121"/>
          <p:cNvSpPr/>
          <p:nvPr/>
        </p:nvSpPr>
        <p:spPr>
          <a:xfrm>
            <a:off x="10710595" y="4557712"/>
            <a:ext cx="28574" cy="28575"/>
          </a:xfrm>
          <a:prstGeom prst="ellipse">
            <a:avLst/>
          </a:prstGeom>
          <a:solidFill>
            <a:srgbClr val="8B9AA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" name="Line 122"/>
          <p:cNvSpPr/>
          <p:nvPr/>
        </p:nvSpPr>
        <p:spPr>
          <a:xfrm>
            <a:off x="685783" y="6248400"/>
            <a:ext cx="2857429" cy="0"/>
          </a:xfrm>
          <a:prstGeom prst="line">
            <a:avLst/>
          </a:prstGeom>
          <a:noFill/>
          <a:ln w="12700">
            <a:solidFill>
              <a:srgbClr val="344252"/>
            </a:solidFill>
          </a:ln>
        </p:spPr>
        <p:txBody>
          <a:bodyPr/>
          <a:lstStyle/>
          <a:p/>
        </p:txBody>
      </p:sp>
      <p:sp>
        <p:nvSpPr>
          <p:cNvPr id="123" name="Line 123"/>
          <p:cNvSpPr/>
          <p:nvPr/>
        </p:nvSpPr>
        <p:spPr>
          <a:xfrm>
            <a:off x="8667533" y="3467100"/>
            <a:ext cx="542911" cy="0"/>
          </a:xfrm>
          <a:prstGeom prst="line">
            <a:avLst/>
          </a:prstGeom>
          <a:noFill/>
          <a:ln w="29209">
            <a:solidFill>
              <a:srgbClr val="FF5A4F"/>
            </a:solidFill>
          </a:ln>
        </p:spPr>
        <p:txBody>
          <a:bodyPr/>
          <a:lstStyle/>
          <a:p/>
        </p:txBody>
      </p:sp>
      <p:sp>
        <p:nvSpPr>
          <p:cNvPr id="124" name="Line 124"/>
          <p:cNvSpPr/>
          <p:nvPr/>
        </p:nvSpPr>
        <p:spPr>
          <a:xfrm>
            <a:off x="9210445" y="3467100"/>
            <a:ext cx="0" cy="476250"/>
          </a:xfrm>
          <a:prstGeom prst="line">
            <a:avLst/>
          </a:prstGeom>
          <a:noFill/>
          <a:ln w="29209">
            <a:solidFill>
              <a:srgbClr val="FF5A4F"/>
            </a:solidFill>
          </a:ln>
        </p:spPr>
        <p:txBody>
          <a:bodyPr/>
          <a:lstStyle/>
          <a:p/>
        </p:txBody>
      </p:sp>
      <p:sp>
        <p:nvSpPr>
          <p:cNvPr id="125" name="Line 125"/>
          <p:cNvSpPr/>
          <p:nvPr/>
        </p:nvSpPr>
        <p:spPr>
          <a:xfrm>
            <a:off x="9210445" y="3943350"/>
            <a:ext cx="247644" cy="0"/>
          </a:xfrm>
          <a:prstGeom prst="line">
            <a:avLst/>
          </a:prstGeom>
          <a:noFill/>
          <a:ln w="29209">
            <a:solidFill>
              <a:srgbClr val="FF5A4F"/>
            </a:solidFill>
          </a:ln>
        </p:spPr>
        <p:txBody>
          <a:bodyPr/>
          <a:lstStyle/>
          <a:p/>
        </p:txBody>
      </p:sp>
      <p:sp>
        <p:nvSpPr>
          <p:cNvPr id="126" name="Line 126"/>
          <p:cNvSpPr/>
          <p:nvPr/>
        </p:nvSpPr>
        <p:spPr>
          <a:xfrm>
            <a:off x="8734207" y="3533775"/>
            <a:ext cx="342891" cy="0"/>
          </a:xfrm>
          <a:prstGeom prst="line">
            <a:avLst/>
          </a:prstGeom>
          <a:noFill/>
          <a:ln w="29209">
            <a:solidFill>
              <a:srgbClr val="FF5A4F"/>
            </a:solidFill>
          </a:ln>
        </p:spPr>
        <p:txBody>
          <a:bodyPr/>
          <a:lstStyle/>
          <a:p/>
        </p:txBody>
      </p:sp>
      <p:sp>
        <p:nvSpPr>
          <p:cNvPr id="127" name="Line 127"/>
          <p:cNvSpPr/>
          <p:nvPr/>
        </p:nvSpPr>
        <p:spPr>
          <a:xfrm>
            <a:off x="9077098" y="3533775"/>
            <a:ext cx="0" cy="390525"/>
          </a:xfrm>
          <a:prstGeom prst="line">
            <a:avLst/>
          </a:prstGeom>
          <a:noFill/>
          <a:ln w="29209">
            <a:solidFill>
              <a:srgbClr val="FF5A4F"/>
            </a:solidFill>
          </a:ln>
        </p:spPr>
        <p:txBody>
          <a:bodyPr/>
          <a:lstStyle/>
          <a:p/>
        </p:txBody>
      </p:sp>
      <p:sp>
        <p:nvSpPr>
          <p:cNvPr id="128" name="Line 128"/>
          <p:cNvSpPr/>
          <p:nvPr/>
        </p:nvSpPr>
        <p:spPr>
          <a:xfrm>
            <a:off x="9077098" y="3924300"/>
            <a:ext cx="380990" cy="0"/>
          </a:xfrm>
          <a:prstGeom prst="line">
            <a:avLst/>
          </a:prstGeom>
          <a:noFill/>
          <a:ln w="29209">
            <a:solidFill>
              <a:srgbClr val="FF5A4F"/>
            </a:solidFill>
          </a:ln>
        </p:spPr>
        <p:txBody>
          <a:bodyPr/>
          <a:lstStyle/>
          <a:p/>
        </p:txBody>
      </p:sp>
      <p:sp>
        <p:nvSpPr>
          <p:cNvPr id="129" name="Line 129"/>
          <p:cNvSpPr/>
          <p:nvPr/>
        </p:nvSpPr>
        <p:spPr>
          <a:xfrm>
            <a:off x="10172446" y="3638550"/>
            <a:ext cx="209545" cy="0"/>
          </a:xfrm>
          <a:prstGeom prst="line">
            <a:avLst/>
          </a:prstGeom>
          <a:noFill/>
          <a:ln w="29209">
            <a:solidFill>
              <a:srgbClr val="FF5A4F"/>
            </a:solidFill>
          </a:ln>
        </p:spPr>
        <p:txBody>
          <a:bodyPr/>
          <a:lstStyle/>
          <a:p/>
        </p:txBody>
      </p:sp>
      <p:sp>
        <p:nvSpPr>
          <p:cNvPr id="130" name="Line 130"/>
          <p:cNvSpPr/>
          <p:nvPr/>
        </p:nvSpPr>
        <p:spPr>
          <a:xfrm>
            <a:off x="8581810" y="4086225"/>
            <a:ext cx="361941" cy="0"/>
          </a:xfrm>
          <a:prstGeom prst="line">
            <a:avLst/>
          </a:prstGeom>
          <a:noFill/>
          <a:ln w="29209">
            <a:solidFill>
              <a:srgbClr val="FF5A4F"/>
            </a:solidFill>
          </a:ln>
        </p:spPr>
        <p:txBody>
          <a:bodyPr/>
          <a:lstStyle/>
          <a:p/>
        </p:txBody>
      </p:sp>
      <p:sp>
        <p:nvSpPr>
          <p:cNvPr id="131" name="Line 131"/>
          <p:cNvSpPr/>
          <p:nvPr/>
        </p:nvSpPr>
        <p:spPr>
          <a:xfrm>
            <a:off x="8943751" y="4086225"/>
            <a:ext cx="0" cy="266700"/>
          </a:xfrm>
          <a:prstGeom prst="line">
            <a:avLst/>
          </a:prstGeom>
          <a:noFill/>
          <a:ln w="29209">
            <a:solidFill>
              <a:srgbClr val="FF5A4F"/>
            </a:solidFill>
          </a:ln>
        </p:spPr>
        <p:txBody>
          <a:bodyPr/>
          <a:lstStyle/>
          <a:p/>
        </p:txBody>
      </p:sp>
      <p:sp>
        <p:nvSpPr>
          <p:cNvPr id="132" name="Line 132"/>
          <p:cNvSpPr/>
          <p:nvPr/>
        </p:nvSpPr>
        <p:spPr>
          <a:xfrm>
            <a:off x="9277118" y="3324225"/>
            <a:ext cx="0" cy="609600"/>
          </a:xfrm>
          <a:prstGeom prst="line">
            <a:avLst/>
          </a:prstGeom>
          <a:noFill/>
          <a:ln w="31750">
            <a:solidFill>
              <a:srgbClr val="F4B52A"/>
            </a:solidFill>
          </a:ln>
        </p:spPr>
        <p:txBody>
          <a:bodyPr/>
          <a:lstStyle/>
          <a:p/>
        </p:txBody>
      </p:sp>
      <p:sp>
        <p:nvSpPr>
          <p:cNvPr id="133" name="Line 133"/>
          <p:cNvSpPr/>
          <p:nvPr/>
        </p:nvSpPr>
        <p:spPr>
          <a:xfrm>
            <a:off x="9419989" y="3324225"/>
            <a:ext cx="0" cy="609600"/>
          </a:xfrm>
          <a:prstGeom prst="line">
            <a:avLst/>
          </a:prstGeom>
          <a:noFill/>
          <a:ln w="31750">
            <a:solidFill>
              <a:srgbClr val="F4B52A"/>
            </a:solidFill>
          </a:ln>
        </p:spPr>
        <p:txBody>
          <a:bodyPr/>
          <a:lstStyle/>
          <a:p/>
        </p:txBody>
      </p:sp>
      <p:sp>
        <p:nvSpPr>
          <p:cNvPr id="134" name="Line 134"/>
          <p:cNvSpPr/>
          <p:nvPr/>
        </p:nvSpPr>
        <p:spPr>
          <a:xfrm>
            <a:off x="9077098" y="3933825"/>
            <a:ext cx="380990" cy="0"/>
          </a:xfrm>
          <a:prstGeom prst="line">
            <a:avLst/>
          </a:prstGeom>
          <a:noFill/>
          <a:ln w="31750">
            <a:solidFill>
              <a:srgbClr val="F4B52A"/>
            </a:solidFill>
          </a:ln>
        </p:spPr>
        <p:txBody>
          <a:bodyPr/>
          <a:lstStyle/>
          <a:p/>
        </p:txBody>
      </p:sp>
      <p:sp>
        <p:nvSpPr>
          <p:cNvPr id="135" name="Line 135"/>
          <p:cNvSpPr/>
          <p:nvPr/>
        </p:nvSpPr>
        <p:spPr>
          <a:xfrm>
            <a:off x="10162921" y="3324225"/>
            <a:ext cx="0" cy="885825"/>
          </a:xfrm>
          <a:prstGeom prst="line">
            <a:avLst/>
          </a:prstGeom>
          <a:noFill/>
          <a:ln w="31750">
            <a:solidFill>
              <a:srgbClr val="F4B52A"/>
            </a:solidFill>
          </a:ln>
        </p:spPr>
        <p:txBody>
          <a:bodyPr/>
          <a:lstStyle/>
          <a:p/>
        </p:txBody>
      </p:sp>
      <p:sp>
        <p:nvSpPr>
          <p:cNvPr id="136" name="Line 136"/>
          <p:cNvSpPr/>
          <p:nvPr/>
        </p:nvSpPr>
        <p:spPr>
          <a:xfrm>
            <a:off x="10029574" y="4210050"/>
            <a:ext cx="133347" cy="0"/>
          </a:xfrm>
          <a:prstGeom prst="line">
            <a:avLst/>
          </a:prstGeom>
          <a:noFill/>
          <a:ln w="31750">
            <a:solidFill>
              <a:srgbClr val="F4B52A"/>
            </a:solidFill>
          </a:ln>
        </p:spPr>
        <p:txBody>
          <a:bodyPr/>
          <a:lstStyle/>
          <a:p/>
        </p:txBody>
      </p:sp>
      <p:sp>
        <p:nvSpPr>
          <p:cNvPr id="137" name="Line 137"/>
          <p:cNvSpPr/>
          <p:nvPr/>
        </p:nvSpPr>
        <p:spPr>
          <a:xfrm>
            <a:off x="8943751" y="4352925"/>
            <a:ext cx="104772" cy="0"/>
          </a:xfrm>
          <a:prstGeom prst="line">
            <a:avLst/>
          </a:prstGeom>
          <a:noFill/>
          <a:ln w="31750">
            <a:solidFill>
              <a:srgbClr val="F4B52A"/>
            </a:solidFill>
          </a:ln>
        </p:spPr>
        <p:txBody>
          <a:bodyPr/>
          <a:lstStyle/>
          <a:p/>
        </p:txBody>
      </p:sp>
      <p:sp>
        <p:nvSpPr>
          <p:cNvPr id="138" name="Line 138"/>
          <p:cNvSpPr/>
          <p:nvPr/>
        </p:nvSpPr>
        <p:spPr>
          <a:xfrm>
            <a:off x="9048524" y="4352925"/>
            <a:ext cx="0" cy="409575"/>
          </a:xfrm>
          <a:prstGeom prst="line">
            <a:avLst/>
          </a:prstGeom>
          <a:noFill/>
          <a:ln w="31750">
            <a:solidFill>
              <a:srgbClr val="F4B52A"/>
            </a:solidFill>
          </a:ln>
        </p:spPr>
        <p:txBody>
          <a:bodyPr/>
          <a:lstStyle/>
          <a:p/>
        </p:txBody>
      </p:sp>
      <p:sp>
        <p:nvSpPr>
          <p:cNvPr id="139" name="Line 139"/>
          <p:cNvSpPr/>
          <p:nvPr/>
        </p:nvSpPr>
        <p:spPr>
          <a:xfrm>
            <a:off x="10096248" y="4210050"/>
            <a:ext cx="600060" cy="0"/>
          </a:xfrm>
          <a:prstGeom prst="line">
            <a:avLst/>
          </a:prstGeom>
          <a:noFill/>
          <a:ln w="31750">
            <a:solidFill>
              <a:srgbClr val="F4B52A"/>
            </a:solidFill>
          </a:ln>
        </p:spPr>
        <p:txBody>
          <a:bodyPr/>
          <a:lstStyle/>
          <a:p/>
        </p:txBody>
      </p:sp>
      <p:sp>
        <p:nvSpPr>
          <p:cNvPr id="140" name="Line 140"/>
          <p:cNvSpPr/>
          <p:nvPr/>
        </p:nvSpPr>
        <p:spPr>
          <a:xfrm>
            <a:off x="10096248" y="4210050"/>
            <a:ext cx="0" cy="552450"/>
          </a:xfrm>
          <a:prstGeom prst="line">
            <a:avLst/>
          </a:prstGeom>
          <a:noFill/>
          <a:ln w="31750">
            <a:solidFill>
              <a:srgbClr val="F4B52A"/>
            </a:solidFill>
          </a:ln>
        </p:spPr>
        <p:txBody>
          <a:bodyPr/>
          <a:lstStyle/>
          <a:p/>
        </p:txBody>
      </p:sp>
      <p:sp>
        <p:nvSpPr>
          <p:cNvPr id="141" name="Ellipse 141"/>
          <p:cNvSpPr/>
          <p:nvPr/>
        </p:nvSpPr>
        <p:spPr>
          <a:xfrm>
            <a:off x="9077098" y="3657600"/>
            <a:ext cx="38099" cy="38100"/>
          </a:xfrm>
          <a:prstGeom prst="ellipse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" name="Ellipse 142"/>
          <p:cNvSpPr/>
          <p:nvPr/>
        </p:nvSpPr>
        <p:spPr>
          <a:xfrm>
            <a:off x="9353316" y="3657600"/>
            <a:ext cx="38099" cy="38100"/>
          </a:xfrm>
          <a:prstGeom prst="ellipse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" name="Ellipse 143"/>
          <p:cNvSpPr/>
          <p:nvPr/>
        </p:nvSpPr>
        <p:spPr>
          <a:xfrm>
            <a:off x="9991475" y="3657600"/>
            <a:ext cx="38099" cy="38100"/>
          </a:xfrm>
          <a:prstGeom prst="ellipse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" name="Ellipse 144"/>
          <p:cNvSpPr/>
          <p:nvPr/>
        </p:nvSpPr>
        <p:spPr>
          <a:xfrm>
            <a:off x="10001000" y="3895725"/>
            <a:ext cx="38099" cy="38100"/>
          </a:xfrm>
          <a:prstGeom prst="ellipse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" name="Ellipse 145"/>
          <p:cNvSpPr/>
          <p:nvPr/>
        </p:nvSpPr>
        <p:spPr>
          <a:xfrm>
            <a:off x="10077198" y="3895725"/>
            <a:ext cx="38099" cy="38100"/>
          </a:xfrm>
          <a:prstGeom prst="ellipse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" name="Rect 146"/>
          <p:cNvSpPr/>
          <p:nvPr/>
        </p:nvSpPr>
        <p:spPr>
          <a:xfrm>
            <a:off x="8896128" y="3638550"/>
            <a:ext cx="76198" cy="76200"/>
          </a:xfrm>
          <a:prstGeom prst="rect">
            <a:avLst/>
          </a:prstGeom>
          <a:solidFill>
            <a:srgbClr val="FF5A4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47" name="Rect 147"/>
          <p:cNvSpPr/>
          <p:nvPr/>
        </p:nvSpPr>
        <p:spPr>
          <a:xfrm>
            <a:off x="9191395" y="3714750"/>
            <a:ext cx="76198" cy="76200"/>
          </a:xfrm>
          <a:prstGeom prst="rect">
            <a:avLst/>
          </a:prstGeom>
          <a:solidFill>
            <a:srgbClr val="FF5A4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48" name="Rect 148"/>
          <p:cNvSpPr/>
          <p:nvPr/>
        </p:nvSpPr>
        <p:spPr>
          <a:xfrm>
            <a:off x="9715257" y="3714750"/>
            <a:ext cx="76198" cy="76200"/>
          </a:xfrm>
          <a:prstGeom prst="rect">
            <a:avLst/>
          </a:prstGeom>
          <a:solidFill>
            <a:srgbClr val="FF5A4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49" name="Rect 149"/>
          <p:cNvSpPr/>
          <p:nvPr/>
        </p:nvSpPr>
        <p:spPr>
          <a:xfrm>
            <a:off x="10324842" y="4076700"/>
            <a:ext cx="76198" cy="76200"/>
          </a:xfrm>
          <a:prstGeom prst="rect">
            <a:avLst/>
          </a:prstGeom>
          <a:solidFill>
            <a:srgbClr val="FF5A4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50" name="Rect 150"/>
          <p:cNvSpPr/>
          <p:nvPr/>
        </p:nvSpPr>
        <p:spPr>
          <a:xfrm>
            <a:off x="8905652" y="4314825"/>
            <a:ext cx="76198" cy="76200"/>
          </a:xfrm>
          <a:prstGeom prst="rect">
            <a:avLst/>
          </a:prstGeom>
          <a:solidFill>
            <a:srgbClr val="FF5A4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51" name="Rect 151"/>
          <p:cNvSpPr/>
          <p:nvPr/>
        </p:nvSpPr>
        <p:spPr>
          <a:xfrm>
            <a:off x="9181870" y="4086225"/>
            <a:ext cx="76198" cy="76200"/>
          </a:xfrm>
          <a:prstGeom prst="rect">
            <a:avLst/>
          </a:prstGeom>
          <a:solidFill>
            <a:srgbClr val="FF5A4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52" name="Rect 152"/>
          <p:cNvSpPr/>
          <p:nvPr/>
        </p:nvSpPr>
        <p:spPr>
          <a:xfrm>
            <a:off x="9296168" y="4248150"/>
            <a:ext cx="76198" cy="76200"/>
          </a:xfrm>
          <a:prstGeom prst="rect">
            <a:avLst/>
          </a:prstGeom>
          <a:solidFill>
            <a:srgbClr val="FF5A4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53" name="Rect 153"/>
          <p:cNvSpPr/>
          <p:nvPr/>
        </p:nvSpPr>
        <p:spPr>
          <a:xfrm>
            <a:off x="9705732" y="4086225"/>
            <a:ext cx="76198" cy="76200"/>
          </a:xfrm>
          <a:prstGeom prst="rect">
            <a:avLst/>
          </a:prstGeom>
          <a:solidFill>
            <a:srgbClr val="FF5A4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54" name="Rect 154"/>
          <p:cNvSpPr/>
          <p:nvPr/>
        </p:nvSpPr>
        <p:spPr>
          <a:xfrm>
            <a:off x="9924802" y="4238625"/>
            <a:ext cx="76198" cy="76200"/>
          </a:xfrm>
          <a:prstGeom prst="rect">
            <a:avLst/>
          </a:prstGeom>
          <a:solidFill>
            <a:srgbClr val="FF5A4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55" name="Rect 155"/>
          <p:cNvSpPr/>
          <p:nvPr/>
        </p:nvSpPr>
        <p:spPr>
          <a:xfrm>
            <a:off x="9277118" y="3286125"/>
            <a:ext cx="76198" cy="76200"/>
          </a:xfrm>
          <a:prstGeom prst="rect">
            <a:avLst/>
          </a:prstGeom>
          <a:solidFill>
            <a:srgbClr val="2C7DF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56" name="Rect 156"/>
          <p:cNvSpPr/>
          <p:nvPr/>
        </p:nvSpPr>
        <p:spPr>
          <a:xfrm>
            <a:off x="9353316" y="3286125"/>
            <a:ext cx="76198" cy="76200"/>
          </a:xfrm>
          <a:prstGeom prst="rect">
            <a:avLst/>
          </a:prstGeom>
          <a:solidFill>
            <a:srgbClr val="2C7DF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57" name="Rect 157"/>
          <p:cNvSpPr/>
          <p:nvPr/>
        </p:nvSpPr>
        <p:spPr>
          <a:xfrm>
            <a:off x="9429514" y="3286125"/>
            <a:ext cx="76198" cy="76200"/>
          </a:xfrm>
          <a:prstGeom prst="rect">
            <a:avLst/>
          </a:prstGeom>
          <a:solidFill>
            <a:srgbClr val="2C7DF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58" name="Rect 158"/>
          <p:cNvSpPr/>
          <p:nvPr/>
        </p:nvSpPr>
        <p:spPr>
          <a:xfrm>
            <a:off x="9505712" y="3286125"/>
            <a:ext cx="76198" cy="76200"/>
          </a:xfrm>
          <a:prstGeom prst="rect">
            <a:avLst/>
          </a:prstGeom>
          <a:solidFill>
            <a:srgbClr val="2C7DF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59" name="Rect 159"/>
          <p:cNvSpPr/>
          <p:nvPr/>
        </p:nvSpPr>
        <p:spPr>
          <a:xfrm>
            <a:off x="10096248" y="3286125"/>
            <a:ext cx="76198" cy="76200"/>
          </a:xfrm>
          <a:prstGeom prst="rect">
            <a:avLst/>
          </a:prstGeom>
          <a:solidFill>
            <a:srgbClr val="2C7DF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60" name="Rect 160"/>
          <p:cNvSpPr/>
          <p:nvPr/>
        </p:nvSpPr>
        <p:spPr>
          <a:xfrm>
            <a:off x="10172446" y="3286125"/>
            <a:ext cx="76198" cy="76200"/>
          </a:xfrm>
          <a:prstGeom prst="rect">
            <a:avLst/>
          </a:prstGeom>
          <a:solidFill>
            <a:srgbClr val="2C7DF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61" name="Rect 161"/>
          <p:cNvSpPr/>
          <p:nvPr/>
        </p:nvSpPr>
        <p:spPr>
          <a:xfrm>
            <a:off x="10248644" y="3286125"/>
            <a:ext cx="76198" cy="76200"/>
          </a:xfrm>
          <a:prstGeom prst="rect">
            <a:avLst/>
          </a:prstGeom>
          <a:solidFill>
            <a:srgbClr val="2C7DF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62" name="Rect 162"/>
          <p:cNvSpPr/>
          <p:nvPr/>
        </p:nvSpPr>
        <p:spPr>
          <a:xfrm>
            <a:off x="10324842" y="3286125"/>
            <a:ext cx="76198" cy="76200"/>
          </a:xfrm>
          <a:prstGeom prst="rect">
            <a:avLst/>
          </a:prstGeom>
          <a:solidFill>
            <a:srgbClr val="2C7DF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63" name="Rect 163"/>
          <p:cNvSpPr/>
          <p:nvPr/>
        </p:nvSpPr>
        <p:spPr>
          <a:xfrm>
            <a:off x="9000900" y="4733925"/>
            <a:ext cx="76198" cy="76200"/>
          </a:xfrm>
          <a:prstGeom prst="rect">
            <a:avLst/>
          </a:prstGeom>
          <a:solidFill>
            <a:srgbClr val="2C7DF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64" name="Rect 164"/>
          <p:cNvSpPr/>
          <p:nvPr/>
        </p:nvSpPr>
        <p:spPr>
          <a:xfrm>
            <a:off x="9077098" y="4733925"/>
            <a:ext cx="76198" cy="76200"/>
          </a:xfrm>
          <a:prstGeom prst="rect">
            <a:avLst/>
          </a:prstGeom>
          <a:solidFill>
            <a:srgbClr val="2C7DF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65" name="Rect 165"/>
          <p:cNvSpPr/>
          <p:nvPr/>
        </p:nvSpPr>
        <p:spPr>
          <a:xfrm>
            <a:off x="9153296" y="4733925"/>
            <a:ext cx="76198" cy="76200"/>
          </a:xfrm>
          <a:prstGeom prst="rect">
            <a:avLst/>
          </a:prstGeom>
          <a:solidFill>
            <a:srgbClr val="2C7DF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66" name="Rect 166"/>
          <p:cNvSpPr/>
          <p:nvPr/>
        </p:nvSpPr>
        <p:spPr>
          <a:xfrm>
            <a:off x="9981950" y="4733925"/>
            <a:ext cx="76198" cy="76200"/>
          </a:xfrm>
          <a:prstGeom prst="rect">
            <a:avLst/>
          </a:prstGeom>
          <a:solidFill>
            <a:srgbClr val="2C7DF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67" name="Rect 167"/>
          <p:cNvSpPr/>
          <p:nvPr/>
        </p:nvSpPr>
        <p:spPr>
          <a:xfrm>
            <a:off x="10058149" y="4733925"/>
            <a:ext cx="76198" cy="76200"/>
          </a:xfrm>
          <a:prstGeom prst="rect">
            <a:avLst/>
          </a:prstGeom>
          <a:solidFill>
            <a:srgbClr val="2C7DF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68" name="Rect 168"/>
          <p:cNvSpPr/>
          <p:nvPr/>
        </p:nvSpPr>
        <p:spPr>
          <a:xfrm>
            <a:off x="10134347" y="4733925"/>
            <a:ext cx="76198" cy="76200"/>
          </a:xfrm>
          <a:prstGeom prst="rect">
            <a:avLst/>
          </a:prstGeom>
          <a:solidFill>
            <a:srgbClr val="2C7DF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69" name="Rect 169"/>
          <p:cNvSpPr/>
          <p:nvPr/>
        </p:nvSpPr>
        <p:spPr>
          <a:xfrm>
            <a:off x="10667733" y="3724275"/>
            <a:ext cx="76198" cy="76200"/>
          </a:xfrm>
          <a:prstGeom prst="rect">
            <a:avLst/>
          </a:prstGeom>
          <a:solidFill>
            <a:srgbClr val="2C7DF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70" name="Rect 170"/>
          <p:cNvSpPr/>
          <p:nvPr/>
        </p:nvSpPr>
        <p:spPr>
          <a:xfrm>
            <a:off x="10667733" y="3800475"/>
            <a:ext cx="76198" cy="76200"/>
          </a:xfrm>
          <a:prstGeom prst="rect">
            <a:avLst/>
          </a:prstGeom>
          <a:solidFill>
            <a:srgbClr val="2C7DF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71" name="Rect 171"/>
          <p:cNvSpPr/>
          <p:nvPr/>
        </p:nvSpPr>
        <p:spPr>
          <a:xfrm>
            <a:off x="10667733" y="3876675"/>
            <a:ext cx="76198" cy="76200"/>
          </a:xfrm>
          <a:prstGeom prst="rect">
            <a:avLst/>
          </a:prstGeom>
          <a:solidFill>
            <a:srgbClr val="2C7DF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72" name="Rect 172"/>
          <p:cNvSpPr/>
          <p:nvPr/>
        </p:nvSpPr>
        <p:spPr>
          <a:xfrm>
            <a:off x="10667733" y="4171950"/>
            <a:ext cx="76198" cy="76200"/>
          </a:xfrm>
          <a:prstGeom prst="rect">
            <a:avLst/>
          </a:prstGeom>
          <a:solidFill>
            <a:srgbClr val="2C7DF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73" name="Rect 173"/>
          <p:cNvSpPr/>
          <p:nvPr/>
        </p:nvSpPr>
        <p:spPr>
          <a:xfrm>
            <a:off x="10667733" y="4248150"/>
            <a:ext cx="76198" cy="76200"/>
          </a:xfrm>
          <a:prstGeom prst="rect">
            <a:avLst/>
          </a:prstGeom>
          <a:solidFill>
            <a:srgbClr val="2C7DF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74" name="Rect 174"/>
          <p:cNvSpPr/>
          <p:nvPr/>
        </p:nvSpPr>
        <p:spPr>
          <a:xfrm>
            <a:off x="10667733" y="4324350"/>
            <a:ext cx="76198" cy="76200"/>
          </a:xfrm>
          <a:prstGeom prst="rect">
            <a:avLst/>
          </a:prstGeom>
          <a:solidFill>
            <a:srgbClr val="2C7DF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75" name="Ellipse 175"/>
          <p:cNvSpPr/>
          <p:nvPr/>
        </p:nvSpPr>
        <p:spPr>
          <a:xfrm>
            <a:off x="8637054" y="3436620"/>
            <a:ext cx="60958" cy="60960"/>
          </a:xfrm>
          <a:prstGeom prst="ellipse">
            <a:avLst/>
          </a:prstGeom>
          <a:solidFill>
            <a:srgbClr val="FF5A4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76" name="Ellipse 176"/>
          <p:cNvSpPr/>
          <p:nvPr/>
        </p:nvSpPr>
        <p:spPr>
          <a:xfrm>
            <a:off x="8703727" y="3503295"/>
            <a:ext cx="60958" cy="60960"/>
          </a:xfrm>
          <a:prstGeom prst="ellipse">
            <a:avLst/>
          </a:prstGeom>
          <a:solidFill>
            <a:srgbClr val="FF5A4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77" name="Ellipse 177"/>
          <p:cNvSpPr/>
          <p:nvPr/>
        </p:nvSpPr>
        <p:spPr>
          <a:xfrm>
            <a:off x="9170441" y="3293745"/>
            <a:ext cx="60958" cy="60960"/>
          </a:xfrm>
          <a:prstGeom prst="ellipse">
            <a:avLst/>
          </a:prstGeom>
          <a:solidFill>
            <a:srgbClr val="FF5A4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78" name="Ellipse 178"/>
          <p:cNvSpPr/>
          <p:nvPr/>
        </p:nvSpPr>
        <p:spPr>
          <a:xfrm>
            <a:off x="9503807" y="3608070"/>
            <a:ext cx="60958" cy="60960"/>
          </a:xfrm>
          <a:prstGeom prst="ellipse">
            <a:avLst/>
          </a:prstGeom>
          <a:solidFill>
            <a:srgbClr val="FF5A4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79" name="Ellipse 179"/>
          <p:cNvSpPr/>
          <p:nvPr/>
        </p:nvSpPr>
        <p:spPr>
          <a:xfrm>
            <a:off x="10332462" y="3293745"/>
            <a:ext cx="60958" cy="60960"/>
          </a:xfrm>
          <a:prstGeom prst="ellipse">
            <a:avLst/>
          </a:prstGeom>
          <a:solidFill>
            <a:srgbClr val="FF5A4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80" name="Ellipse 180"/>
          <p:cNvSpPr/>
          <p:nvPr/>
        </p:nvSpPr>
        <p:spPr>
          <a:xfrm>
            <a:off x="10351511" y="3608070"/>
            <a:ext cx="60958" cy="60960"/>
          </a:xfrm>
          <a:prstGeom prst="ellipse">
            <a:avLst/>
          </a:prstGeom>
          <a:solidFill>
            <a:srgbClr val="FF5A4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81" name="Ellipse 181"/>
          <p:cNvSpPr/>
          <p:nvPr/>
        </p:nvSpPr>
        <p:spPr>
          <a:xfrm>
            <a:off x="8551331" y="4055745"/>
            <a:ext cx="60958" cy="60960"/>
          </a:xfrm>
          <a:prstGeom prst="ellipse">
            <a:avLst/>
          </a:prstGeom>
          <a:solidFill>
            <a:srgbClr val="FF5A4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82" name="Ellipse 182"/>
          <p:cNvSpPr/>
          <p:nvPr/>
        </p:nvSpPr>
        <p:spPr>
          <a:xfrm>
            <a:off x="8703727" y="4455795"/>
            <a:ext cx="60958" cy="60960"/>
          </a:xfrm>
          <a:prstGeom prst="ellipse">
            <a:avLst/>
          </a:prstGeom>
          <a:solidFill>
            <a:srgbClr val="FF5A4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83" name="Ellipse 183"/>
          <p:cNvSpPr/>
          <p:nvPr/>
        </p:nvSpPr>
        <p:spPr>
          <a:xfrm>
            <a:off x="9999095" y="4055745"/>
            <a:ext cx="60958" cy="60960"/>
          </a:xfrm>
          <a:prstGeom prst="ellipse">
            <a:avLst/>
          </a:prstGeom>
          <a:solidFill>
            <a:srgbClr val="FF5A4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84" name="Ellipse 184"/>
          <p:cNvSpPr/>
          <p:nvPr/>
        </p:nvSpPr>
        <p:spPr>
          <a:xfrm>
            <a:off x="10275313" y="4179570"/>
            <a:ext cx="60958" cy="60960"/>
          </a:xfrm>
          <a:prstGeom prst="ellipse">
            <a:avLst/>
          </a:prstGeom>
          <a:solidFill>
            <a:srgbClr val="FF5A4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85" name="Ellipse 185"/>
          <p:cNvSpPr/>
          <p:nvPr/>
        </p:nvSpPr>
        <p:spPr>
          <a:xfrm>
            <a:off x="9999095" y="4455795"/>
            <a:ext cx="60958" cy="60960"/>
          </a:xfrm>
          <a:prstGeom prst="ellipse">
            <a:avLst/>
          </a:prstGeom>
          <a:solidFill>
            <a:srgbClr val="FF5A4F"/>
          </a:solidFill>
          <a:ln w="15240">
            <a:solidFill>
              <a:srgbClr val="F4F7FB"/>
            </a:solidFill>
          </a:ln>
        </p:spPr>
        <p:txBody>
          <a:bodyPr/>
          <a:lstStyle/>
          <a:p/>
        </p:txBody>
      </p:sp>
      <p:sp>
        <p:nvSpPr>
          <p:cNvPr id="186" name="Rect 186"/>
          <p:cNvSpPr/>
          <p:nvPr/>
        </p:nvSpPr>
        <p:spPr>
          <a:xfrm>
            <a:off x="685783" y="638175"/>
            <a:ext cx="66673" cy="66675"/>
          </a:xfrm>
          <a:prstGeom prst="rect">
            <a:avLst/>
          </a:prstGeom>
          <a:solidFill>
            <a:srgbClr val="2678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7" name="Rect 187"/>
          <p:cNvSpPr/>
          <p:nvPr/>
        </p:nvSpPr>
        <p:spPr>
          <a:xfrm>
            <a:off x="1028674" y="3181350"/>
            <a:ext cx="57149" cy="57150"/>
          </a:xfrm>
          <a:prstGeom prst="rect">
            <a:avLst/>
          </a:prstGeom>
          <a:solidFill>
            <a:srgbClr val="2678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8" name="Rect 188"/>
          <p:cNvSpPr/>
          <p:nvPr/>
        </p:nvSpPr>
        <p:spPr>
          <a:xfrm>
            <a:off x="1028674" y="3619500"/>
            <a:ext cx="57149" cy="57150"/>
          </a:xfrm>
          <a:prstGeom prst="rect">
            <a:avLst/>
          </a:prstGeom>
          <a:solidFill>
            <a:srgbClr val="2678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9" name="Rect 189"/>
          <p:cNvSpPr/>
          <p:nvPr/>
        </p:nvSpPr>
        <p:spPr>
          <a:xfrm>
            <a:off x="1028674" y="4057650"/>
            <a:ext cx="57149" cy="57150"/>
          </a:xfrm>
          <a:prstGeom prst="rect">
            <a:avLst/>
          </a:prstGeom>
          <a:solidFill>
            <a:srgbClr val="2678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0" name="Rect 190"/>
          <p:cNvSpPr/>
          <p:nvPr/>
        </p:nvSpPr>
        <p:spPr>
          <a:xfrm>
            <a:off x="1028674" y="4476750"/>
            <a:ext cx="57149" cy="57150"/>
          </a:xfrm>
          <a:prstGeom prst="rect">
            <a:avLst/>
          </a:prstGeom>
          <a:solidFill>
            <a:srgbClr val="2678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1" name="TextBox 191"/>
          <p:cNvSpPr txBox="1"/>
          <p:nvPr/>
        </p:nvSpPr>
        <p:spPr>
          <a:xfrm>
            <a:off x="847704" y="609600"/>
            <a:ext cx="1428714" cy="1619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50" b="1">
                <a:solidFill>
                  <a:srgbClr val="B9C5D3"/>
                </a:solidFill>
                <a:latin typeface="PingFang SC"/>
                <a:ea typeface="PingFang SC"/>
                <a:cs typeface="PingFang SC"/>
              </a:rPr>
              <a:t>CONCLUSION</a:t>
            </a:r>
            <a:endParaRPr lang="zh-CN" sz="850"/>
          </a:p>
        </p:txBody>
      </p:sp>
      <p:sp>
        <p:nvSpPr>
          <p:cNvPr id="192" name="TextBox 192"/>
          <p:cNvSpPr txBox="1"/>
          <p:nvPr/>
        </p:nvSpPr>
        <p:spPr>
          <a:xfrm>
            <a:off x="685783" y="1104900"/>
            <a:ext cx="8667533" cy="4762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3000" b="1">
                <a:solidFill>
                  <a:srgbClr val="F7F9FC"/>
                </a:solidFill>
                <a:latin typeface="PingFang SC"/>
                <a:ea typeface="PingFang SC"/>
                <a:cs typeface="PingFang SC"/>
              </a:rPr>
              <a:t>项目总结：用优化建模连接仓库现场和算法实现。</a:t>
            </a:r>
            <a:endParaRPr lang="zh-CN" sz="3000"/>
          </a:p>
        </p:txBody>
      </p:sp>
      <p:sp>
        <p:nvSpPr>
          <p:cNvPr id="193" name="TextBox 193"/>
          <p:cNvSpPr txBox="1"/>
          <p:nvPr/>
        </p:nvSpPr>
        <p:spPr>
          <a:xfrm>
            <a:off x="723882" y="1933575"/>
            <a:ext cx="8096048" cy="4572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40">
                <a:solidFill>
                  <a:srgbClr val="C7D1DC"/>
                </a:solidFill>
                <a:latin typeface="PingFang SC"/>
                <a:ea typeface="PingFang SC"/>
                <a:cs typeface="PingFang SC"/>
              </a:rPr>
              <a:t>我们明确了实体含义，完成了三个模型的自动生成，并用教材算法实现求解。课程项目的重点不只是给出结果</a:t>
            </a:r>
            <a:endParaRPr lang="zh-CN" sz="1340"/>
          </a:p>
          <a:p>
            <a:pPr algn="left"/>
            <a:r>
              <a:rPr lang="zh-CN" sz="1340">
                <a:solidFill>
                  <a:srgbClr val="C7D1DC"/>
                </a:solidFill>
                <a:latin typeface="PingFang SC"/>
                <a:ea typeface="PingFang SC"/>
                <a:cs typeface="PingFang SC"/>
              </a:rPr>
              <a:t>，而是解释结果为什么对应真实仓库决策。</a:t>
            </a:r>
            <a:endParaRPr lang="zh-CN" sz="1340"/>
          </a:p>
        </p:txBody>
      </p:sp>
      <p:sp>
        <p:nvSpPr>
          <p:cNvPr id="194" name="TextBox 194"/>
          <p:cNvSpPr txBox="1"/>
          <p:nvPr/>
        </p:nvSpPr>
        <p:spPr>
          <a:xfrm>
            <a:off x="1200120" y="3105150"/>
            <a:ext cx="6857829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90">
                <a:solidFill>
                  <a:srgbClr val="C7D1DC"/>
                </a:solidFill>
                <a:latin typeface="PingFang SC"/>
                <a:ea typeface="PingFang SC"/>
                <a:cs typeface="PingFang SC"/>
              </a:rPr>
              <a:t>AGV 任务分配：</a:t>
            </a:r>
            <a:r>
              <a:rPr lang="zh-CN" sz="1390">
                <a:solidFill>
                  <a:srgbClr val="C7D1DC"/>
                </a:solidFill>
                <a:latin typeface="PingFang SC"/>
                <a:ea typeface="PingFang SC"/>
                <a:cs typeface="PingFang SC"/>
              </a:rPr>
              <a:t>回答谁去搬，减少搬运路线成本。</a:t>
            </a:r>
            <a:endParaRPr lang="zh-CN" sz="1390"/>
          </a:p>
        </p:txBody>
      </p:sp>
      <p:sp>
        <p:nvSpPr>
          <p:cNvPr id="195" name="TextBox 195"/>
          <p:cNvSpPr txBox="1"/>
          <p:nvPr/>
        </p:nvSpPr>
        <p:spPr>
          <a:xfrm>
            <a:off x="1200120" y="3543300"/>
            <a:ext cx="6857829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90">
                <a:solidFill>
                  <a:srgbClr val="C7D1DC"/>
                </a:solidFill>
                <a:latin typeface="PingFang SC"/>
                <a:ea typeface="PingFang SC"/>
                <a:cs typeface="PingFang SC"/>
              </a:rPr>
              <a:t>动态分区：</a:t>
            </a:r>
            <a:r>
              <a:rPr lang="zh-CN" sz="1390">
                <a:solidFill>
                  <a:srgbClr val="C7D1DC"/>
                </a:solidFill>
                <a:latin typeface="PingFang SC"/>
                <a:ea typeface="PingFang SC"/>
                <a:cs typeface="PingFang SC"/>
              </a:rPr>
              <a:t>回答货量归谁处理，兼顾距离和工位负载。</a:t>
            </a:r>
            <a:endParaRPr lang="zh-CN" sz="1390"/>
          </a:p>
        </p:txBody>
      </p:sp>
      <p:sp>
        <p:nvSpPr>
          <p:cNvPr id="196" name="TextBox 196"/>
          <p:cNvSpPr txBox="1"/>
          <p:nvPr/>
        </p:nvSpPr>
        <p:spPr>
          <a:xfrm>
            <a:off x="1200120" y="3981450"/>
            <a:ext cx="6857829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90">
                <a:solidFill>
                  <a:srgbClr val="C7D1DC"/>
                </a:solidFill>
                <a:latin typeface="PingFang SC"/>
                <a:ea typeface="PingFang SC"/>
                <a:cs typeface="PingFang SC"/>
              </a:rPr>
              <a:t>重点缓存货位选择：</a:t>
            </a:r>
            <a:r>
              <a:rPr lang="zh-CN" sz="1390">
                <a:solidFill>
                  <a:srgbClr val="C7D1DC"/>
                </a:solidFill>
                <a:latin typeface="PingFang SC"/>
                <a:ea typeface="PingFang SC"/>
                <a:cs typeface="PingFang SC"/>
              </a:rPr>
              <a:t>回答哪些位置值得重点使用，改善布局分散性。</a:t>
            </a:r>
            <a:endParaRPr lang="zh-CN" sz="1390"/>
          </a:p>
        </p:txBody>
      </p:sp>
      <p:sp>
        <p:nvSpPr>
          <p:cNvPr id="197" name="TextBox 197"/>
          <p:cNvSpPr txBox="1"/>
          <p:nvPr/>
        </p:nvSpPr>
        <p:spPr>
          <a:xfrm>
            <a:off x="1200120" y="4400550"/>
            <a:ext cx="6857829" cy="22860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90">
                <a:solidFill>
                  <a:srgbClr val="C7D1DC"/>
                </a:solidFill>
                <a:latin typeface="PingFang SC"/>
                <a:ea typeface="PingFang SC"/>
                <a:cs typeface="PingFang SC"/>
              </a:rPr>
              <a:t>后续可扩展：</a:t>
            </a:r>
            <a:r>
              <a:rPr lang="zh-CN" sz="1390">
                <a:solidFill>
                  <a:srgbClr val="C7D1DC"/>
                </a:solidFill>
                <a:latin typeface="PingFang SC"/>
                <a:ea typeface="PingFang SC"/>
                <a:cs typeface="PingFang SC"/>
              </a:rPr>
              <a:t>加入电量、时间窗、拥堵避让、真实道路网络和多目标优化。</a:t>
            </a:r>
            <a:endParaRPr lang="zh-CN" sz="1390"/>
          </a:p>
        </p:txBody>
      </p:sp>
      <p:sp>
        <p:nvSpPr>
          <p:cNvPr id="198" name="TextBox 198"/>
          <p:cNvSpPr txBox="1"/>
          <p:nvPr/>
        </p:nvSpPr>
        <p:spPr>
          <a:xfrm>
            <a:off x="685783" y="6438900"/>
            <a:ext cx="3905152" cy="123825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650">
                <a:solidFill>
                  <a:srgbClr val="7D8A99"/>
                </a:solidFill>
                <a:latin typeface="PingFang SC"/>
                <a:ea typeface="PingFang SC"/>
                <a:cs typeface="PingFang SC"/>
              </a:rPr>
              <a:t>AGV 仓储优化课程项目 · 本地 CSV 数据 · Python 自实现算法</a:t>
            </a:r>
            <a:endParaRPr lang="zh-CN" sz="650"/>
          </a:p>
        </p:txBody>
      </p:sp>
      <p:sp>
        <p:nvSpPr>
          <p:cNvPr id="199" name="TextBox 199"/>
          <p:cNvSpPr txBox="1"/>
          <p:nvPr/>
        </p:nvSpPr>
        <p:spPr>
          <a:xfrm>
            <a:off x="11372566" y="6429375"/>
            <a:ext cx="266693" cy="13335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850">
                <a:solidFill>
                  <a:srgbClr val="8F99A6"/>
                </a:solidFill>
                <a:latin typeface="PingFang SC"/>
                <a:ea typeface="PingFang SC"/>
                <a:cs typeface="PingFang SC"/>
              </a:rPr>
              <a:t>28</a:t>
            </a:r>
            <a:endParaRPr lang="zh-CN" sz="8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28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